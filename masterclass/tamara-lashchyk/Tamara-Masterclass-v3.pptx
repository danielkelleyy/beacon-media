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Lst>
  <p:notesMasterIdLst>
    <p:notesMasterId r:id="rId1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notesMaster" Target="notesMasters/notesMaster1.xml"/><Relationship Id="rId122" Type="http://schemas.openxmlformats.org/officeDocument/2006/relationships/presProps" Target="presProps.xml"/><Relationship Id="rId123" Type="http://schemas.openxmlformats.org/officeDocument/2006/relationships/viewProps" Target="viewProps.xml"/><Relationship Id="rId124" Type="http://schemas.openxmlformats.org/officeDocument/2006/relationships/theme" Target="theme/theme1.xml"/><Relationship Id="rId1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 HOOK]
Welcome in. I'm Tamara, and I'm really glad you're here. Grab a coffee or a glass of wine, whatever time it is where you are. Over the next hour I'm going to tell you why you're still waiting for your turn, and I promise the reason is not the one you've been told. Stay to the end, because the last part is where it all clicks.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 HOOK]
Let me paint a picture, and tell me if this sounds familiar. It's 6 AM. You're at the gym, finally doing something for yourself, and your boss calls. He's got a call with Asia and he doesn't have the numbers. So you jump on. You save his bacon. Then you shower and head into the office like nothing happened. Nobody there will ever hear about it, and you tell yourself that's fine, because your work will speak for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 HOOK]
Be honest. How many of you have said this one out loud? And right behind it come the others. What if they say no? I don't want to make things awkward. I don't want to damage the relationship with my boss. I said every one of those, for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 HOOK]
Nine o'clock team meeting. You put an idea on the table. Crickets. Then Office Bro rolls in late looking like the cat dragged him in, coffee in one hand, bagel in the other. He chews for a while and then lobs out your idea, basically, only dumber. And the room lights up. And you're sitting there thinking, you have got to be kidding me. When is it going to be my turn?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 HOOK]
You finally get home around 8:30. Uber Eats shows up and they forgot your side salad. You don't call. You say nothing, same as you said nothing when that guy jumped into your cab this morning. Another long day, and still no promotion, no raise, no recognition. And lying there that night, the thought you don't say out loud: I want more. This can't be all there is. If any of these four landed a little too close to home, you're in the right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 HOOK]
Before we do anything else, I want to tell you something most experts won't tell you about being underpaid. [Pause. Let it land.] Being underpaid isn't a money problem. It's a playing-small problem. And playing small is an identity problem. Let me show you what I mean.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 HOOK]
So here's what I want you to sit with tonight. Pause. You don't have a negotiation problem. You have an identity problem. I know. You came here thinking I'd hand you a better script. Stay with me, because by the end of this hour I think you'll see your whole career a little differently.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 HOOK]
So, the promise for tonight. You've grown. Your skills, your judgment, your results have all grown. But the way you see yourself hasn't kept pace, and the people across the table can feel it. When you close that gap, you stop asking for permission. You start commanding your worth, and the raises and promotions follow. Let's get into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I'M COVERING TODAY]
Quick roadmap so you know where we're going. First, why the harder-you-work plan quit on you. Then the real cost of waiting. After that I'll walk you through my V.O.I.C.E. Framework. You'll meet three women who went through it, and at the end I'll tell you how to work with me if you want to. Fair warning, I'm going to be straight with you tonight.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I'M COVERING TODAY]
Before we go further, I want to know who's here with me. Type 1, 2 or 3 in the chat. [Read a few answers out loud and react.] Wherever you are, you're in the right room. By the end of tonight I want every one of you thinking about what it takes to get to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I'M COVERING TODAY]
One favor. A lot of what I'm going to say won't sound like normal career advice. You got where you are by being tough and rational and never letting them see you sweat. I get it, I lived that for 26 years. For the next hour, just loosen the grip a little. You can always go back to being tough tomorrow.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[RESULTS DISCLAIMER]
Quick legal bit. The results I'll share are real, but everyone's situation is different and nobody can promise you a number. Okay,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AUTHORITY · BUILD 1/5]
Fair question. Why should you listen to me? I spent 26 years on Wall Street. I negotiated deals where the numbers had a lot of zeros on them, and I led global talent initiatives, which means I sat on the other side of the table deciding who got paid what.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AUTHORITY · BUILD 2/5]
J.P. Morgan. Merrill Lynch, which became Bank of America. Deutsche Bank. I know how these places decide compensation because I was in the rooms where it got decided.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AUTHORITY · BUILD 3/5]
And by the end of it, I was the highest-paid person in my U.S. division. Man or woman. I want you to hear that, because it didn't start that way. I'll tell you how it started in a minute. It was ugly.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AUTHORITY · BUILD 4/5]
I wrote a book called Lose the Gum. It's a survival guide for women on Wall Street, Main Street and every street in between. Yes, the title comes from a real story. Buy me a drink sometime and I'll tell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AUTHORITY · BUILD 5/5]
I received the Women of Wall Street Award for helping advance women's careers in financial services, and a Special Congressional Recognition. I'm proud of both. But none of it is the most useful thing I learned, and that's what I actually want to talk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AUTHORITY]
Most people who teach negotiation studied it. Maybe they're academics, maybe they read the books. I did it, for 26 years. And then I did something most bankers would call insane. I walked away and spent five years on the inside work. The combination of those two things is what I bring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[ORIGIN STORY]
Let me go back. I grew up in a house with no savings. We weren't poor, exactly. But there was nothing in the bank, the credit cards were maxed, and there were nights the lights went off because the bill didn't get paid. If you're wondering where my relationship with money started, it started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[ORIGIN STORY]
When I was 18, my mother died suddenly. Soon after, my father declared bankruptcy. So I put myself through college. I walked out with more than 50 thousand dollars of student debt, which is north of 100 thousand today. And I graduated into a recession.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[ORIGIN STORY]
Two internships on Wall Street and nobody was hiring. So I bagged groceries at the Acme. Honestly, best education I ever got. But I didn't let go of Wall Street. There was money to be made there and I wanted a piece of it. I sent J.P. Morgan hundreds of résumés. Hundreds. Eventually they said yes, probably just to make me stop.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[ORIGIN STORY]
My career took off. People inside the firm and across the industry knew who I was. And I was underpaid. There is nothing more demoralizing than working that hard and not being recognized. I remember sitting in my aunt's bedroom, crying, completely wiped out. And she asked me one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[ORIGIN STORY]
She said, why don't you ask for a raise? And I said, we don't do that. She snapped right back. Men do it all the time, and they do it behind closed doors, which is why you never hear about it. And then the line I still hear in my head: if you want to play with the big boys, you'd better learn to ask for what you want.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[ORIGIN STORY]
So the next day I asked for a meeting with my boss. And I blew it. I was nervous, I fumbled, I asked for way too little. Did I get a raise? Yes. Did I walk out looking like a mature, skilled professional? Absolutely not. I looked like a rookie. That meeting started a lifelong obsession with negotiation, and especially with the psychology behind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[ORIGIN STORY]
Fast forward 26 years. I'm at the top of my game. And I get fired by my boss, two days before she retires. A classic Wall Street F.U. That's not how I wanted my story to end. I started a coaching business, and the first year made good money. But something was off, and I couldn't shake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[ORIGIN STORY]
When the title goes, you find out how much of you was the title. I had to look at myself in a dust-free mirror. So I spent five years in Costa Rica and India stripping it all away, titles and business cards included. What I found underneath was something no bonus ever gave me: a real sense of who I 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[ORIGIN STORY]
That five years changed how I think about success. I believe success without fulfillment is failure. I believe your life will rarely go past the identity you've accepted for yourself. And I believe your greatest asset isn't in your portfolio. It's in the mirror. Hold on to that, because everything else tonight builds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ENEMY]
Let's start with what isn't working, because I don't want you spending another year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ENEMY]
Remember the first thing on our list tonight? I'll just keep working hard and my work will speak for itself. That's the plan most of us were handed. Every one of these makes sense. I did most of them myself. And every one of them leaves the decision about your worth in somebody else's hands.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ENEMY]
This is where most smart women go wrong, through no fault of their own. They decide it's a skills problem. So they buy the book, they watch the YouTube video, they memorize a line. And nothing changes, because the words were fine all along. The gap between what you can do and who you believe you are was still sitting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ENEMY]
Your work has never once walked into a comp meeting and argued for you. Somebody talks about it in that room. The question is whether it's you, or whether you're relying on your boss's memory in December. Trust me, you don't want to rely on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ENEMY]
I have to earn the right to ask. Honey, you earned it years ago. You're still waiting for somebody to sign the permission slip, and I promise you nobody in HR is walking around with a pen looking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ENEMY]
Remember what my aunt said? Men do it all the time, behind closed doors. Nobody calls them greedy. They call them good at business. You get to be good at business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ENEMY]
I watched this for 26 years from the other side of the table. Someone walks in with a great script, and I could usually tell within a few seconds whether they believed a word of it. People buy the woman before they buy the words. That's why the scripts you've already tried didn't stick.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ENEMY]
Day to day, it looks something like this. You shrink your wins. Oh, it was a team effort. You hesitate. You over-explain, which in a negotiation reads as doubt. And you put off the hard conversation until it's unavoidable, or until it's too late. Sound familiar? You don't have to raise your hand for this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ENEMY]
The part people don't expect is how far it travels. The mechanic who pads the bill, the landscaper, sometimes your own family taking you for granted. That's how I know we're dealing with identity. A skills problem would stay at the office, whereas this one follows you 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NOW]
Okay. I'm a finance person, so let's talk numbers for a minute. And then let's talk about the cost that doesn't show up on a pay stub.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NOW]
Sixty-four percent of women never negotiate their salary. Never. Not once. If you're in that group, no judgment. I was almost in that group myself. But you should know you're leaving money on the table that somebody else is picking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NOW · BUILD 1/3]
Here's the math. Say you skip one negotiation and leave $5,000 on the table. Your raises are percentages of your base, so that missing $5,000 grows every year, about 3 percent a year. After ten years, the one conversation you didn't have has cost you about 57 thousand dollars.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NOW · BUILD 2/3]
Twenty years, about 134 thousand. And that's before your bonus and your retirement match, which are percentages of the same number. And before your next employer asks what you're making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NOW · BUILD 3/3]
Over a 30-year career, $237,877. From one missed conversation. I spent my career watching compounding make people rich. It works just as hard against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NOW]
But honestly, the money is not what worries me most. Every time you say nothing, you're rehearsing. You're getting better at being the woman who says nothing. From the outside your life looks great. On the inside you can't figure out why it doesn't feel like enough. That gets heavier every year you don't interrupt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NOW]
Now here's why this matters right now and not in five years. AI is changing the rules. Being the smartest person in the room, the one with all the answers, is becoming less valuable by the month. I could be wrong about how fast, but I'd bet my bonus on the direction. The machine has answers. What it doesn't have is you. Judgment. Influence. Relationships. Standing up for your ideas and leading people. Those are human. The people who thrive over the next decade are the ones who know what makes them unique and how to get paid for it. And you can't do that until you actually know yourself.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NOW]
So yes, the stakes are going up. The good news is that the thing that matters most now is the thing I'm about to show you how we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V.O.I.C.E. FRAMEWORK]
So how do you actually close the gap between who you are and who you're showing up as? I spent years figuring that out, first on Wall Street and then on the inside. I put everything into one framework. Let me show it to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V.O.I.C.E. FRAMEWORK]
It's called the V.O.I.C.E. Framework. Value. Ownership. Identity. Communication. Execution. Five parts, and the order matters. I'm going to walk you through what each one is and why it matters. The detailed how-to is what we do inside the program, together. Tonight is about seeing the whole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V.O.I.C.E. FRAMEWORK]
One thing before we go through it. Negotiation is how we put this into practice, and a raise is one way you can measure it. But the destination is you seeing yourself differently. When that shifts, the negotiation gets a whole lot easier.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V.O.I.C.E. FRAMEWORK]
V is for Value. And the headline here is simple. You have to see your value before you can ask anyone else to see it. Most of the women I work with are terrible at this. Brilliant at their jobs. Terrible at seeing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V.O.I.C.E. FRAMEWORK]
The belief we break first: you've learned to equate hard work with value. Long hours, weekends, saving your boss's bacon at 6 AM. I'm sorry to tell you, companies pay for value. Nobody on a comp committee ever said, well, she seemed really tired.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V.O.I.C.E. FRAMEWORK]
Preparation starts with seeing your own value clearly. The women who walk in having done that work are far more likely to walk out with the raise. Most women skip it, because they don't know where to start or they quietly resist the whole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V.O.I.C.E. FRAMEWORK]
Sit with that one for a second. Most women I work with realize they've never done that math for themselves. Your value is measurable, and until you can see it, you're asking someone else to do math you haven't done. Inside the program we get specific about it. Tonight, just notice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V.O.I.C.E. FRAMEWORK]
The outcome of this piece: she knows what she's worth, and she can say it out loud without flinching. Small shifts. You'll probably notice them before your boss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V.O.I.C.E. FRAMEWORK]
O is for Ownership. If you want a bigger job, make your job bigger. That one's straight from my Wall Street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V.O.I.C.E. FRAMEWORK]
When is it going to be my turn? I hear that one constantly, and notice what's baked into it: it assumes somebody else is running the line. The belief here is that someone is watching and keeping score. When is it going to be my turn? I hear that constantly. The hard truth? Nobody is coming. You are the CEO of your career, and right now the CEO is waiting in the lobby.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V.O.I.C.E. FRAMEWORK]
Waiting to be chosen feels safe, but it's still a strategy, and it's a bad one. The women who move up take ownership of where they're going. They create the opportunity instead of applying for it. Men figured this out a long time ago, behind closed doors, just like my aunt said.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V.O.I.C.E. FRAMEWORK]
The outcome: she stops waiting to be picked, and starts picking herself. This is what it looks like when the CEO finally comes out of the lobby and takes the corner office.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V.O.I.C.E. FRAMEWORK]
I is for Identity. This is the heart of it, and it's the piece you won't find in any negotiation book. Become the woman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V.O.I.C.E. FRAMEWORK]
Here's how that plays out. The woman who sees herself as lucky to be here negotiates very differently from the woman who sees herself as an asset. The woman who fears rejection hints and hopes. The woman who knows her power asks clearly, without apologizing. And the woman who believes her value has to be earned will overdeliver forever and stay underpaid. Same skills, different identity, and a very different paycheck.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V.O.I.C.E. FRAMEWORK]
Your identity is the operating system running underneath everything else. [Read slowly, one line at a time.] If you feel invisible, you stay quiet. If you feel replaceable, you settle. If you believe you're unworthy, you stay underpaid. Now flip it. If you feel valuable, you ask for more. If you feel powerful, you show up differently.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V.O.I.C.E. FRAMEWORK]
Every negotiation feels like a referendum on whether you're enough. That's why it's so emotional. Most women think confidence comes after the promotion. I'll feel it once I get there. It works the other way around. Your career will rarely go further than the identity you've accepted for yourself. You have to become her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V.O.I.C.E. FRAMEWORK]
So here's the good news, and it's the reason I do this work. Identity is not fixed. Identity is constructed. Which means you can rebuild it, on purpose. I did it at 18, I did it again when I left Wall Street, and I watch women do it every cohort.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V.O.I.C.E. FRAMEWORK]
For me it was a house with no savings and the lights getting shut off. You have your own version. You don't have to answer out loud. Just notice what comes up, because whatever it is, it's probably been sitting in on your negotiations.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V.O.I.C.E. FRAMEWORK]
The outcome. She stops wondering whether she deserves more. She just expects it. And people can feel the difference the second she walks in. I want to walk into a room and feel like I belong. So many of you have said that to me. This is where it 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V.O.I.C.E. FRAMEWORK]
C is Communication. Make your value impossible to ignore.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V.O.I.C.E. FRAMEWORK]
So many of you have told me, I want people to take me seriously. Everyone wants the perfect sentence. And look, words matter, I'm not going to pretend otherwise. But people respond to authority and presence far more than they respond to phrasing. When your identity shifts, your communication follows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V.O.I.C.E. FRAMEWORK]
Over-explaining reads as doubt to the person across the table. And in my experience, the person we're really trying to convince is usually ourselves.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V.O.I.C.E. FRAMEWORK]
The outcome: what she says and how she says it finally matches what she can do. And yes, that includes the meeting where Office Bro tries to pitch your idea back to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V.O.I.C.E. FRAMEWORK]
And E, Execution. Courage in action. Because ideas without action are just hopes and dreams.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V.O.I.C.E. FRAMEWORK]
Ideas without action are just hopes and dreams. The belief is, I'll do it when I feel ready. What I've seen over and over is this. The confidence comes after you do the scary thing. Almost never before. If you wait to feel ready, you'll be waiting at your retirement party.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V.O.I.C.E. FRAMEWORK]
Does doing this work mean you stop being afraid? No. I'm afraid every day. But I do it anyway. Fear always comes along for the ride. You just become a woman who isn't stopped by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V.O.I.C.E. FRAMEWORK]
You probably thought of one immediately. That's the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V.O.I.C.E. FRAMEWORK]
The outcome: she has the kind of confidence you only get by actually doing it. Every one of these builds on the last. Confidence is a stack, a bit like compounding.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V.O.I.C.E. FRAMEWORK]
So put it together. She knows her value. She chooses herself. She expects more. Her communication matches her capability. And she acts, even when it's uncomfortable. That's the woman who commands her worth.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V.O.I.C.E. FRAMEWORK]
I built it this way on purpose. Most negotiation programs start and end at communication. Here's what to say. And if you've tried that and it didn't stick, now you know why. We work on the woman saying the words, so the words actually 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V.O.I.C.E. FRAMEWORK]
Let's make this interactive. Which one hit you hardest? Type the letter in the chat. V, O, I, C or E. [Read a few answers out loud and react.] In my experience most people say I. That's usually the one that stings.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[CASE STUDIES]
Enough theory. Let me introduce you to three women. Different fields, very different salaries. What they had in common was the gap we've been talking about all night.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[CASE STUDIES]
Shelly was a highly accomplished executive. She knew she was underpaid. And like so many of you, she thought her work should speak for itself. Negotiating made her skin crawl.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[CASE STUDIES]
Sound familiar? She was doing the old way perfectly. And it was costing her a fortune. We worked on her strategy, sure. But mostly we worked on how she saw herself and the value she brought. Once she saw it, she could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[CASE STUDIES]
Her compensation went from 225 thousand to 435 thousand. And honestly, the number isn't the part I'm proudest of. Shelly stopped waiting for permission. She makes every career decision from ownership now, not fear. That shift is what she gets to keep.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[CASE STUDIES]
Nina did great work. Consistently. And she kept getting passed over for the big opportunities. I don't understand why I keep getting overlooked. That was Nina.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[CASE STUDIES]
Oh, it was a team effort. You've said it. Nina said it every single time, and every single time somebody else got the opportunity. She learned to clearly lay out the business impact she was creating. Same work, same woman, completely different conversation.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[CASE STUDIES]
Her comp went from 185 to 215 thousand, and she's positioned for executive leadership now. The real change? She stopped seeing herself as someone hoping to be noticed. She started acting like the leader she already was, and the title is catching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[CASE STUDIES]
Erica's story is a little different, and I include it on purpose. She had no idea what she was worth. None.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[CASE STUDIES]
When you don't know what you're worth, any offer sounds like a gift. That was Erica. Once she understood what the market would actually pay, and she had the nerve to ask for it, everything shifted.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[CASE STUDIES]
She went from 28 thousand to 80 thousand. Nearly triple. And underneath it, she stopped asking whether she deserved more and started expecting to be paid for the value she creates. Which, if you remember, is the Identity outcome.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[CASE STUDIES]
Three different women, three different numbers. The raise is how we measure it. What they actually walked away with is a different way of seeing themselves, and they get to take that into every room for the rest of their careers.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OFFER]
So if any of that sounds interesting, let me tell you how we can work together. It's called the Amplify Your V.O.I.C.E. Experience. Eight weeks, a small group, and a lot of 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OFFER]
I want to be clear about who this is for. It's for ambitious women who know they can play a bigger game and are ready to do real work. If you want a résumé review or a script library, there are cheaper places to get one, and I'll happily save you the time. This isn't for tire-kickers.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OFFER · BUILD 1/8]
Every week we meet live. Each session builds on the last one, and we mix executive career strategy with the identity work, applied to what's actually happening in your job that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OFFER · BUILD 2/8]
You get the full V.O.I.C.E. curriculum. Tonight you got the map. Inside, you get the turn-by-turn directions.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OFFER · BUILD 3/8]
Hot seats. You bring your actual situation and we work it, live. And you'll be surprised how much you learn from watching someone else's hot seat. Her boss is your boss with a different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OFFER · BUILD 4/8]
We build your personal negotiation strategy. Salary, promotion, bonus, equity, flexibility, a new offer, whatever's on your plate. This is where my 26 years on the Street go to work for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OFFER · BUILD 5/8]
Role play. I know, everyone groans. But remember my first negotiation? I fumbled because I'd never practiced. You get to fumble in front of us, where it's safe, so you don't fumble where it counts.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OFFER · BUILD 6/8]
Executive communication coaching. Presence, authority, influencing decision makers, handling the difficult conversations without over-explaining.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OFFER · BUILD 7/8]
We also build out your long-term career plan. Because this is about the next ten years, and the next raise is only one step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OFFER · BUILD 8/8]
And a private community of women doing the same work. You'll share wins, you'll practice with each other, you'll call each other out. Lovingly. Mostly.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OFFER]
[PLACEHOLDER: presenter notes for bonus once confirmed.]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OFFER]
So here's all of it together. [Walk down the list briefly.] The total value comes to [PLACEHOLDER: total]. I'm not going to charge you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OFFER]
Your investment is [PLACEHOLDER: price]. I'm a finance person, so let's look at it like one. One successful negotiation can pay this back many times over. Shelly's increase was 210 thousand dollars in a single year. And after the first raise, you keep knowing how to do this for every negotiation after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COMMITMENT]
I'm going to be straight with you, because that's who I am. I can't guarantee what your boss or your company will do. Nobody can. If someone promises you a specific number,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COMMITMENT]
But here's what I can promise. If you do the work, you will leave thinking differently, communicating differently and showing up differently than you did when you walked in. I've watched it happen too many times to pretend otherwise.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COMMITMENT]
And my commitment to you: show up and do the work, and I will be right there. I'll challenge you, I'll support you, and I'll tell you what you need to hear even when you don't want to hear it. I can't do this for you. We do it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[SCARCITY + URGENCY]
I keep this group small on purpose. I want to personally coach every woman in it, and I can't do that with a hundred people. There are [PLACEHOLDER: number] seats. When they're gone, enrollment closes.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[SCARCITY + URGENCY]
The next cohort starts [PLACEHOLDER: date]. We review applications in the order they arrive, so if you already know, don't wait.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[SCARCITY + URGENCY]
[PLACEHOLDER: pricing urgency line, if future cohorts will be priced higher.] But the real deadline isn't mine. Every month you don't interrupt this pattern, it gets more expensive and more entrenched. You already know what it's costing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[OBJECTIONS]
Okay. I know what's going on in your head right now, because I've heard all of it. Let's go through it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[OBJECTIONS]
My industry is different. Sure. Your industry determines the numbers and how comp gets structured. But knowing your value and advocating for yourself? That works whether you're in healthcare, tech, law or banking. I've seen it across all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[OBJECTIONS]
I hear this one all the time. Try this reframe: what you're actually having is a business conversation about value. And by the way, your company knows how expensive it is to replace you, even if they never say it out 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[OBJECTIONS]
I don't have time. I know, you're doing the work of three people. That's kind of the point. Staying where you are is costing you more than eight weeks ever will. One conversation can change where your whole career goes.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[OBJECTIONS]
What if they say no? Then you've learned something. A no tells you what's possible, what needs to happen next, and honestly, sometimes whether you're in the right place. And a professional, well-prepared conversation doesn't wreck a healthy relationship. If it does, that tells you something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[OBJECTIONS]
Is it worth it? Do the math on one conversation. And then remember you'll have more of them. Salary, bonus, promotion, the next job offer. You'll use this for the rest of your career.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[OBJECTIONS]
Fair question from a room full of rational, successful women. I spent 26 years on Wall Street. I'm not going to ask you to hug a tree. The identity work is what makes the strategy land, and you just saw what it did for three women.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[OBJECTIONS]
This is the one nobody says out loud. What if they find out I'm not that good? I felt that as the highest-paid person in my division. It's incredibly common, and from what I've seen it tends to hit the most capable people hardest. Your results are real. We work on letting you actually own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Let's recap. The problem is identity, not negotiation skills. You saw the five myths that keep smart women underpaid, and why waiting costs you money and a lot more than money. You saw the V.O.I.C.E. Framework. And you saw what happened for Shelly, Nina and Erica when they closed the gap. That's a lot. Take a breath.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You already have the capability. I know you do, or you wouldn't be here. The question is whether the woman who walks into that room next time is the old version or the one you're ready to 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You can keep doing what you've been doing. You already know where that goes. Or you can get help built for exactly where you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It's a real conversation, with no pressure. If it's not the right fit, I'll tell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So here's the next step. Go to [PLACEHOLDER: URL] and fill out a short application. Tell me where you are, what's keeping you stuck and what you want. I read every one. If it looks like a fit, we'll get on a call and figure out together whether this is right for you. No pressure on that call. It's a conversation. The group is small and the seats go in order. If you felt something tonight, that's your cue.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I'll leave you with the question so many of you have been asking. When is it going to be my turn? You get to decide that. I'm rooting for you, and I've got your back. Go apply, and I'll see you on the other side. [Open Q&amp;A.]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68735"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AAF8A"/>
                </a:solidFill>
                <a:latin typeface="DM Sans"/>
                <a:ea typeface="DM Sans"/>
                <a:cs typeface="DM Sans"/>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68735"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AAF8A"/>
                </a:solidFill>
                <a:latin typeface="DM Sans"/>
                <a:ea typeface="DM Sans"/>
                <a:cs typeface="DM San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4A4A"/>
        </a:solidFill>
      </p:bgPr>
    </p:bg>
    <p:spTree>
      <p:nvGrpSpPr>
        <p:cNvPr id="1" name=""/>
        <p:cNvGrpSpPr/>
        <p:nvPr/>
      </p:nvGrpSpPr>
      <p:grpSpPr>
        <a:xfrm>
          <a:off x="0" y="0"/>
          <a:ext cx="0" cy="0"/>
          <a:chOff x="0" y="0"/>
          <a:chExt cx="0" cy="0"/>
        </a:xfrm>
      </p:grpSpPr>
      <p:sp>
        <p:nvSpPr>
          <p:cNvPr id="2" name="Shape 0"/>
          <p:cNvSpPr/>
          <p:nvPr/>
        </p:nvSpPr>
        <p:spPr>
          <a:xfrm>
            <a:off x="6949440" y="0"/>
            <a:ext cx="5242255" cy="6858000"/>
          </a:xfrm>
          <a:prstGeom prst="rect">
            <a:avLst/>
          </a:prstGeom>
          <a:solidFill>
            <a:srgbClr val="2B5C5C"/>
          </a:solidFill>
          <a:ln w="15875">
            <a:solidFill>
              <a:srgbClr val="8AAF8A"/>
            </a:solidFill>
            <a:prstDash val="dash"/>
          </a:ln>
        </p:spPr>
      </p:sp>
      <p:sp>
        <p:nvSpPr>
          <p:cNvPr id="3" name="Text 1"/>
          <p:cNvSpPr txBox="1"/>
          <p:nvPr/>
        </p:nvSpPr>
        <p:spPr>
          <a:xfrm>
            <a:off x="7269480" y="320040"/>
            <a:ext cx="4602175" cy="320040"/>
          </a:xfrm>
          <a:prstGeom prst="rect">
            <a:avLst/>
          </a:prstGeom>
          <a:noFill/>
          <a:ln/>
        </p:spPr>
        <p:txBody>
          <a:bodyPr wrap="square" lIns="0" tIns="0" rIns="0" bIns="0" rtlCol="0" anchor="ctr">
            <a:normAutofit/>
          </a:bodyPr>
          <a:lstStyle/>
          <a:p>
            <a:pPr algn="l" indent="0" marL="0">
              <a:lnSpc>
                <a:spcPct val="100000"/>
              </a:lnSpc>
              <a:buNone/>
            </a:pPr>
            <a:r>
              <a:rPr lang="en-US" sz="1100" b="1" spc="300" kern="0" dirty="0">
                <a:solidFill>
                  <a:srgbClr val="B7D3B7"/>
                </a:solidFill>
                <a:latin typeface="DM Sans" pitchFamily="34" charset="0"/>
                <a:ea typeface="DM Sans" pitchFamily="34" charset="-122"/>
                <a:cs typeface="DM Sans" pitchFamily="34" charset="-120"/>
              </a:rPr>
              <a:t>PHOTO PLACEHOLDER</a:t>
            </a:r>
            <a:endParaRPr lang="en-US" sz="1100" dirty="0"/>
          </a:p>
        </p:txBody>
      </p:sp>
      <p:sp>
        <p:nvSpPr>
          <p:cNvPr id="4" name="Text 2"/>
          <p:cNvSpPr txBox="1"/>
          <p:nvPr/>
        </p:nvSpPr>
        <p:spPr>
          <a:xfrm>
            <a:off x="7269480" y="731520"/>
            <a:ext cx="4602175" cy="2377440"/>
          </a:xfrm>
          <a:prstGeom prst="rect">
            <a:avLst/>
          </a:prstGeom>
          <a:noFill/>
          <a:ln/>
        </p:spPr>
        <p:txBody>
          <a:bodyPr wrap="square" lIns="0" tIns="0" rIns="0" bIns="0" rtlCol="0" anchor="t">
            <a:normAutofit/>
          </a:bodyPr>
          <a:lstStyle/>
          <a:p>
            <a:pPr algn="l" indent="0" marL="0">
              <a:lnSpc>
                <a:spcPct val="110000"/>
              </a:lnSpc>
              <a:buNone/>
            </a:pPr>
            <a:r>
              <a:rPr lang="en-US" sz="1200" i="1" dirty="0">
                <a:solidFill>
                  <a:srgbClr val="E1F5EE"/>
                </a:solidFill>
                <a:latin typeface="DM Sans" pitchFamily="34" charset="0"/>
                <a:ea typeface="DM Sans" pitchFamily="34" charset="-122"/>
                <a:cs typeface="DM Sans" pitchFamily="34" charset="-120"/>
              </a:rPr>
              <a:t>Tamara, editorial portrait. Standing, arms relaxed, looking straight into camera. Manhattan skyline or a glass-walled boardroom behind her. Warm, direct, a little bit of a smirk.</a:t>
            </a:r>
            <a:endParaRPr lang="en-US" sz="1200" dirty="0"/>
          </a:p>
        </p:txBody>
      </p:sp>
      <p:sp>
        <p:nvSpPr>
          <p:cNvPr id="5" name="Text 3"/>
          <p:cNvSpPr txBox="1"/>
          <p:nvPr/>
        </p:nvSpPr>
        <p:spPr>
          <a:xfrm>
            <a:off x="640080" y="822960"/>
            <a:ext cx="5943600" cy="2834640"/>
          </a:xfrm>
          <a:prstGeom prst="rect">
            <a:avLst/>
          </a:prstGeom>
          <a:noFill/>
          <a:ln/>
        </p:spPr>
        <p:txBody>
          <a:bodyPr wrap="square" lIns="0" tIns="0" rIns="0" bIns="0" rtlCol="0" anchor="b">
            <a:normAutofit/>
          </a:bodyPr>
          <a:lstStyle/>
          <a:p>
            <a:pPr algn="l" indent="0" marL="0">
              <a:lnSpc>
                <a:spcPct val="95000"/>
              </a:lnSpc>
              <a:buNone/>
            </a:pPr>
            <a:r>
              <a:rPr lang="en-US" sz="5000" b="1" dirty="0">
                <a:solidFill>
                  <a:srgbClr val="FFFFFF"/>
                </a:solidFill>
                <a:latin typeface="Cormorant Garamond" pitchFamily="34" charset="0"/>
                <a:ea typeface="Cormorant Garamond" pitchFamily="34" charset="-122"/>
                <a:cs typeface="Cormorant Garamond" pitchFamily="34" charset="-120"/>
              </a:rPr>
              <a:t>Done Waiting </a:t>
            </a:r>
            <a:pPr algn="l" indent="0" marL="0">
              <a:lnSpc>
                <a:spcPct val="95000"/>
              </a:lnSpc>
              <a:buNone/>
            </a:pPr>
            <a:r>
              <a:rPr lang="en-US" sz="5000" b="1" dirty="0">
                <a:solidFill>
                  <a:srgbClr val="B7D3B7"/>
                </a:solidFill>
                <a:latin typeface="Cormorant Garamond" pitchFamily="34" charset="0"/>
                <a:ea typeface="Cormorant Garamond" pitchFamily="34" charset="-122"/>
                <a:cs typeface="Cormorant Garamond" pitchFamily="34" charset="-120"/>
              </a:rPr>
              <a:t>Your Turn</a:t>
            </a:r>
            <a:endParaRPr lang="en-US" sz="5000" dirty="0"/>
          </a:p>
        </p:txBody>
      </p:sp>
      <p:sp>
        <p:nvSpPr>
          <p:cNvPr id="6" name="Text 4"/>
          <p:cNvSpPr txBox="1"/>
          <p:nvPr/>
        </p:nvSpPr>
        <p:spPr>
          <a:xfrm>
            <a:off x="640080" y="3886200"/>
            <a:ext cx="5852160" cy="1188720"/>
          </a:xfrm>
          <a:prstGeom prst="rect">
            <a:avLst/>
          </a:prstGeom>
          <a:noFill/>
          <a:ln/>
        </p:spPr>
        <p:txBody>
          <a:bodyPr wrap="square" lIns="0" tIns="0" rIns="0" bIns="0" rtlCol="0" anchor="t">
            <a:normAutofit/>
          </a:bodyPr>
          <a:lstStyle/>
          <a:p>
            <a:pPr algn="l" indent="0" marL="0">
              <a:lnSpc>
                <a:spcPct val="110000"/>
              </a:lnSpc>
              <a:buNone/>
            </a:pPr>
            <a:r>
              <a:rPr lang="en-US" sz="2000" dirty="0">
                <a:solidFill>
                  <a:srgbClr val="E1F5EE"/>
                </a:solidFill>
                <a:latin typeface="DM Sans" pitchFamily="34" charset="0"/>
                <a:ea typeface="DM Sans" pitchFamily="34" charset="-122"/>
                <a:cs typeface="DM Sans" pitchFamily="34" charset="-120"/>
              </a:rPr>
              <a:t>Why smart, capable women stay underpaid, and the identity shift that changes it</a:t>
            </a:r>
            <a:endParaRPr lang="en-US" sz="2000" dirty="0"/>
          </a:p>
        </p:txBody>
      </p:sp>
      <p:sp>
        <p:nvSpPr>
          <p:cNvPr id="7" name="Text 5"/>
          <p:cNvSpPr txBox="1"/>
          <p:nvPr/>
        </p:nvSpPr>
        <p:spPr>
          <a:xfrm>
            <a:off x="640080" y="5303520"/>
            <a:ext cx="5852160" cy="731520"/>
          </a:xfrm>
          <a:prstGeom prst="rect">
            <a:avLst/>
          </a:prstGeom>
          <a:noFill/>
          <a:ln/>
        </p:spPr>
        <p:txBody>
          <a:bodyPr wrap="square" lIns="0" tIns="0" rIns="0" bIns="0" rtlCol="0" anchor="t">
            <a:normAutofit/>
          </a:bodyPr>
          <a:lstStyle/>
          <a:p>
            <a:pPr algn="l" indent="0" marL="0">
              <a:lnSpc>
                <a:spcPct val="100000"/>
              </a:lnSpc>
              <a:buNone/>
            </a:pPr>
            <a:r>
              <a:rPr lang="en-US" sz="1400" b="1" spc="100" kern="0" dirty="0">
                <a:solidFill>
                  <a:srgbClr val="8AAF8A"/>
                </a:solidFill>
                <a:latin typeface="DM Sans" pitchFamily="34" charset="0"/>
                <a:ea typeface="DM Sans" pitchFamily="34" charset="-122"/>
                <a:cs typeface="DM Sans" pitchFamily="34" charset="-120"/>
              </a:rPr>
              <a:t>A live masterclass with Tamara Lashchyk</a:t>
            </a:r>
            <a:endParaRPr lang="en-US" sz="1400" dirty="0"/>
          </a:p>
        </p:txBody>
      </p:sp>
      <p:sp>
        <p:nvSpPr>
          <p:cNvPr id="25" name="Slide Number Placeholder 0"/>
          <p:cNvSpPr>
            <a:spLocks noGrp="1"/>
          </p:cNvSpPr>
          <p:nvPr>
            <p:ph type="sldNum" sz="quarter" idx="4294967295"/>
          </p:nvPr>
        </p:nvSpPr>
        <p:spPr>
          <a:xfrm>
            <a:off x="11368735"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AAF8A"/>
                </a:solidFill>
                <a:latin typeface="DM Sans"/>
                <a:ea typeface="DM Sans"/>
                <a:cs typeface="DM Sans"/>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5EE"/>
        </a:solidFill>
      </p:bgPr>
    </p:bg>
    <p:spTree>
      <p:nvGrpSpPr>
        <p:cNvPr id="1" name=""/>
        <p:cNvGrpSpPr/>
        <p:nvPr/>
      </p:nvGrpSpPr>
      <p:grpSpPr>
        <a:xfrm>
          <a:off x="0" y="0"/>
          <a:ext cx="0" cy="0"/>
          <a:chOff x="0" y="0"/>
          <a:chExt cx="0" cy="0"/>
        </a:xfrm>
      </p:grpSpPr>
      <p:sp>
        <p:nvSpPr>
          <p:cNvPr id="2" name="Text 0"/>
          <p:cNvSpPr txBox="1"/>
          <p:nvPr/>
        </p:nvSpPr>
        <p:spPr>
          <a:xfrm>
            <a:off x="914400" y="1188720"/>
            <a:ext cx="10362895" cy="411480"/>
          </a:xfrm>
          <a:prstGeom prst="rect">
            <a:avLst/>
          </a:prstGeom>
          <a:noFill/>
          <a:ln/>
        </p:spPr>
        <p:txBody>
          <a:bodyPr wrap="square" lIns="0" tIns="0" rIns="0" bIns="0" rtlCol="0" anchor="ctr">
            <a:normAutofit/>
          </a:bodyPr>
          <a:lstStyle/>
          <a:p>
            <a:pPr algn="ctr" indent="0" marL="0">
              <a:lnSpc>
                <a:spcPct val="100000"/>
              </a:lnSpc>
              <a:buNone/>
            </a:pPr>
            <a:r>
              <a:rPr lang="en-US" sz="1500" b="1" spc="500" kern="0" dirty="0">
                <a:solidFill>
                  <a:srgbClr val="8AAF8A"/>
                </a:solidFill>
                <a:latin typeface="DM Sans" pitchFamily="34" charset="0"/>
                <a:ea typeface="DM Sans" pitchFamily="34" charset="-122"/>
                <a:cs typeface="DM Sans" pitchFamily="34" charset="-120"/>
              </a:rPr>
              <a:t>SOUND FAMILIAR?</a:t>
            </a:r>
            <a:endParaRPr lang="en-US" sz="1500" dirty="0"/>
          </a:p>
        </p:txBody>
      </p:sp>
      <p:sp>
        <p:nvSpPr>
          <p:cNvPr id="3" name="Text 1"/>
          <p:cNvSpPr txBox="1"/>
          <p:nvPr/>
        </p:nvSpPr>
        <p:spPr>
          <a:xfrm>
            <a:off x="914400" y="1645920"/>
            <a:ext cx="10362895" cy="1097280"/>
          </a:xfrm>
          <a:prstGeom prst="rect">
            <a:avLst/>
          </a:prstGeom>
          <a:noFill/>
          <a:ln/>
        </p:spPr>
        <p:txBody>
          <a:bodyPr wrap="square" lIns="0" tIns="0" rIns="0" bIns="0" rtlCol="0" anchor="t">
            <a:normAutofit/>
          </a:bodyPr>
          <a:lstStyle/>
          <a:p>
            <a:pPr algn="ctr" indent="0" marL="0">
              <a:lnSpc>
                <a:spcPct val="100000"/>
              </a:lnSpc>
              <a:buNone/>
            </a:pPr>
            <a:r>
              <a:rPr lang="en-US" sz="12000" b="1" dirty="0">
                <a:solidFill>
                  <a:srgbClr val="8AAF8A"/>
                </a:solidFill>
                <a:latin typeface="Cormorant Garamond" pitchFamily="34" charset="0"/>
                <a:ea typeface="Cormorant Garamond" pitchFamily="34" charset="-122"/>
                <a:cs typeface="Cormorant Garamond" pitchFamily="34" charset="-120"/>
              </a:rPr>
              <a:t>“</a:t>
            </a:r>
            <a:endParaRPr lang="en-US" sz="12000" dirty="0"/>
          </a:p>
        </p:txBody>
      </p:sp>
      <p:sp>
        <p:nvSpPr>
          <p:cNvPr id="4" name="Text 2"/>
          <p:cNvSpPr txBox="1"/>
          <p:nvPr/>
        </p:nvSpPr>
        <p:spPr>
          <a:xfrm>
            <a:off x="1097280" y="2743200"/>
            <a:ext cx="9997135" cy="2560320"/>
          </a:xfrm>
          <a:prstGeom prst="rect">
            <a:avLst/>
          </a:prstGeom>
          <a:noFill/>
          <a:ln/>
        </p:spPr>
        <p:txBody>
          <a:bodyPr wrap="square" lIns="0" tIns="0" rIns="0" bIns="0" rtlCol="0" anchor="t">
            <a:normAutofit/>
          </a:bodyPr>
          <a:lstStyle/>
          <a:p>
            <a:pPr algn="ctr" indent="0" marL="0">
              <a:lnSpc>
                <a:spcPct val="100000"/>
              </a:lnSpc>
              <a:buNone/>
            </a:pPr>
            <a:r>
              <a:rPr lang="en-US" sz="4100" b="1" i="1" dirty="0">
                <a:solidFill>
                  <a:srgbClr val="1E4A4A"/>
                </a:solidFill>
                <a:latin typeface="Cormorant Garamond" pitchFamily="34" charset="0"/>
                <a:ea typeface="Cormorant Garamond" pitchFamily="34" charset="-122"/>
                <a:cs typeface="Cormorant Garamond" pitchFamily="34" charset="-120"/>
              </a:rPr>
              <a:t>I'll just keep working hard, and </a:t>
            </a:r>
            <a:pPr algn="ctr" indent="0" marL="0">
              <a:lnSpc>
                <a:spcPct val="100000"/>
              </a:lnSpc>
              <a:buNone/>
            </a:pPr>
            <a:r>
              <a:rPr lang="en-US" sz="4100" b="1" i="1" dirty="0">
                <a:solidFill>
                  <a:srgbClr val="1E4A4A"/>
                </a:solidFill>
                <a:highlight>
                  <a:srgbClr val="CFE3CF"/>
                </a:highlight>
                <a:latin typeface="Cormorant Garamond" pitchFamily="34" charset="0"/>
                <a:ea typeface="Cormorant Garamond" pitchFamily="34" charset="-122"/>
                <a:cs typeface="Cormorant Garamond" pitchFamily="34" charset="-120"/>
              </a:rPr>
              <a:t>my work will speak for itself.</a:t>
            </a:r>
            <a:endParaRPr lang="en-US" sz="4100" dirty="0"/>
          </a:p>
        </p:txBody>
      </p:sp>
      <p:sp>
        <p:nvSpPr>
          <p:cNvPr id="25" name="Slide Number Placeholder 0"/>
          <p:cNvSpPr>
            <a:spLocks noGrp="1"/>
          </p:cNvSpPr>
          <p:nvPr>
            <p:ph type="sldNum" sz="quarter" idx="4294967295"/>
          </p:nvPr>
        </p:nvSpPr>
        <p:spPr>
          <a:xfrm>
            <a:off x="11368735"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AA6A3"/>
                </a:solidFill>
                <a:latin typeface="DM Sans"/>
                <a:ea typeface="DM Sans"/>
                <a:cs typeface="DM San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E4A4A"/>
        </a:solidFill>
      </p:bgPr>
    </p:bg>
    <p:spTree>
      <p:nvGrpSpPr>
        <p:cNvPr id="1" name=""/>
        <p:cNvGrpSpPr/>
        <p:nvPr/>
      </p:nvGrpSpPr>
      <p:grpSpPr>
        <a:xfrm>
          <a:off x="0" y="0"/>
          <a:ext cx="0" cy="0"/>
          <a:chOff x="0" y="0"/>
          <a:chExt cx="0" cy="0"/>
        </a:xfrm>
      </p:grpSpPr>
      <p:sp>
        <p:nvSpPr>
          <p:cNvPr id="2" name="Text 0"/>
          <p:cNvSpPr txBox="1"/>
          <p:nvPr/>
        </p:nvSpPr>
        <p:spPr>
          <a:xfrm>
            <a:off x="914400" y="1188720"/>
            <a:ext cx="10362895" cy="411480"/>
          </a:xfrm>
          <a:prstGeom prst="rect">
            <a:avLst/>
          </a:prstGeom>
          <a:noFill/>
          <a:ln/>
        </p:spPr>
        <p:txBody>
          <a:bodyPr wrap="square" lIns="0" tIns="0" rIns="0" bIns="0" rtlCol="0" anchor="ctr">
            <a:normAutofit/>
          </a:bodyPr>
          <a:lstStyle/>
          <a:p>
            <a:pPr algn="ctr" indent="0" marL="0">
              <a:lnSpc>
                <a:spcPct val="100000"/>
              </a:lnSpc>
              <a:buNone/>
            </a:pPr>
            <a:r>
              <a:rPr lang="en-US" sz="1500" b="1" spc="500" kern="0" dirty="0">
                <a:solidFill>
                  <a:srgbClr val="8AAF8A"/>
                </a:solidFill>
                <a:latin typeface="DM Sans" pitchFamily="34" charset="0"/>
                <a:ea typeface="DM Sans" pitchFamily="34" charset="-122"/>
                <a:cs typeface="DM Sans" pitchFamily="34" charset="-120"/>
              </a:rPr>
              <a:t>SOUND FAMILIAR?</a:t>
            </a:r>
            <a:endParaRPr lang="en-US" sz="1500" dirty="0"/>
          </a:p>
        </p:txBody>
      </p:sp>
      <p:sp>
        <p:nvSpPr>
          <p:cNvPr id="3" name="Text 1"/>
          <p:cNvSpPr txBox="1"/>
          <p:nvPr/>
        </p:nvSpPr>
        <p:spPr>
          <a:xfrm>
            <a:off x="914400" y="1645920"/>
            <a:ext cx="10362895" cy="1097280"/>
          </a:xfrm>
          <a:prstGeom prst="rect">
            <a:avLst/>
          </a:prstGeom>
          <a:noFill/>
          <a:ln/>
        </p:spPr>
        <p:txBody>
          <a:bodyPr wrap="square" lIns="0" tIns="0" rIns="0" bIns="0" rtlCol="0" anchor="t">
            <a:normAutofit/>
          </a:bodyPr>
          <a:lstStyle/>
          <a:p>
            <a:pPr algn="ctr" indent="0" marL="0">
              <a:lnSpc>
                <a:spcPct val="100000"/>
              </a:lnSpc>
              <a:buNone/>
            </a:pPr>
            <a:r>
              <a:rPr lang="en-US" sz="12000" b="1" dirty="0">
                <a:solidFill>
                  <a:srgbClr val="8AAF8A"/>
                </a:solidFill>
                <a:latin typeface="Cormorant Garamond" pitchFamily="34" charset="0"/>
                <a:ea typeface="Cormorant Garamond" pitchFamily="34" charset="-122"/>
                <a:cs typeface="Cormorant Garamond" pitchFamily="34" charset="-120"/>
              </a:rPr>
              <a:t>“</a:t>
            </a:r>
            <a:endParaRPr lang="en-US" sz="12000" dirty="0"/>
          </a:p>
        </p:txBody>
      </p:sp>
      <p:sp>
        <p:nvSpPr>
          <p:cNvPr id="4" name="Text 2"/>
          <p:cNvSpPr txBox="1"/>
          <p:nvPr/>
        </p:nvSpPr>
        <p:spPr>
          <a:xfrm>
            <a:off x="1097280" y="2743200"/>
            <a:ext cx="9997135" cy="2560320"/>
          </a:xfrm>
          <a:prstGeom prst="rect">
            <a:avLst/>
          </a:prstGeom>
          <a:noFill/>
          <a:ln/>
        </p:spPr>
        <p:txBody>
          <a:bodyPr wrap="square" lIns="0" tIns="0" rIns="0" bIns="0" rtlCol="0" anchor="t">
            <a:normAutofit/>
          </a:bodyPr>
          <a:lstStyle/>
          <a:p>
            <a:pPr algn="ctr" indent="0" marL="0">
              <a:lnSpc>
                <a:spcPct val="100000"/>
              </a:lnSpc>
              <a:buNone/>
            </a:pPr>
            <a:r>
              <a:rPr lang="en-US" sz="4800" b="1" i="1" dirty="0">
                <a:solidFill>
                  <a:srgbClr val="FFFFFF"/>
                </a:solidFill>
                <a:latin typeface="Cormorant Garamond" pitchFamily="34" charset="0"/>
                <a:ea typeface="Cormorant Garamond" pitchFamily="34" charset="-122"/>
                <a:cs typeface="Cormorant Garamond" pitchFamily="34" charset="-120"/>
              </a:rPr>
              <a:t>I know I'm probably underpaid, but </a:t>
            </a:r>
            <a:pPr algn="ctr" indent="0" marL="0">
              <a:lnSpc>
                <a:spcPct val="100000"/>
              </a:lnSpc>
              <a:buNone/>
            </a:pPr>
            <a:r>
              <a:rPr lang="en-US" sz="4800" b="1" i="1" dirty="0">
                <a:solidFill>
                  <a:srgbClr val="B7D3B7"/>
                </a:solidFill>
                <a:latin typeface="Cormorant Garamond" pitchFamily="34" charset="0"/>
                <a:ea typeface="Cormorant Garamond" pitchFamily="34" charset="-122"/>
                <a:cs typeface="Cormorant Garamond" pitchFamily="34" charset="-120"/>
              </a:rPr>
              <a:t>I hate negotiating.</a:t>
            </a:r>
            <a:endParaRPr lang="en-US" sz="4800" dirty="0"/>
          </a:p>
        </p:txBody>
      </p:sp>
      <p:sp>
        <p:nvSpPr>
          <p:cNvPr id="25" name="Slide Number Placeholder 0"/>
          <p:cNvSpPr>
            <a:spLocks noGrp="1"/>
          </p:cNvSpPr>
          <p:nvPr>
            <p:ph type="sldNum" sz="quarter" idx="4294967295"/>
          </p:nvPr>
        </p:nvSpPr>
        <p:spPr>
          <a:xfrm>
            <a:off x="11368735"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AAF8A"/>
                </a:solidFill>
                <a:latin typeface="DM Sans"/>
                <a:ea typeface="DM Sans"/>
                <a:cs typeface="DM San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5EE"/>
        </a:solidFill>
      </p:bgPr>
    </p:bg>
    <p:spTree>
      <p:nvGrpSpPr>
        <p:cNvPr id="1" name=""/>
        <p:cNvGrpSpPr/>
        <p:nvPr/>
      </p:nvGrpSpPr>
      <p:grpSpPr>
        <a:xfrm>
          <a:off x="0" y="0"/>
          <a:ext cx="0" cy="0"/>
          <a:chOff x="0" y="0"/>
          <a:chExt cx="0" cy="0"/>
        </a:xfrm>
      </p:grpSpPr>
      <p:sp>
        <p:nvSpPr>
          <p:cNvPr id="2" name="Text 0"/>
          <p:cNvSpPr txBox="1"/>
          <p:nvPr/>
        </p:nvSpPr>
        <p:spPr>
          <a:xfrm>
            <a:off x="914400" y="1188720"/>
            <a:ext cx="10362895" cy="411480"/>
          </a:xfrm>
          <a:prstGeom prst="rect">
            <a:avLst/>
          </a:prstGeom>
          <a:noFill/>
          <a:ln/>
        </p:spPr>
        <p:txBody>
          <a:bodyPr wrap="square" lIns="0" tIns="0" rIns="0" bIns="0" rtlCol="0" anchor="ctr">
            <a:normAutofit/>
          </a:bodyPr>
          <a:lstStyle/>
          <a:p>
            <a:pPr algn="ctr" indent="0" marL="0">
              <a:lnSpc>
                <a:spcPct val="100000"/>
              </a:lnSpc>
              <a:buNone/>
            </a:pPr>
            <a:r>
              <a:rPr lang="en-US" sz="1500" b="1" spc="500" kern="0" dirty="0">
                <a:solidFill>
                  <a:srgbClr val="8AAF8A"/>
                </a:solidFill>
                <a:latin typeface="DM Sans" pitchFamily="34" charset="0"/>
                <a:ea typeface="DM Sans" pitchFamily="34" charset="-122"/>
                <a:cs typeface="DM Sans" pitchFamily="34" charset="-120"/>
              </a:rPr>
              <a:t>SOUND FAMILIAR?</a:t>
            </a:r>
            <a:endParaRPr lang="en-US" sz="1500" dirty="0"/>
          </a:p>
        </p:txBody>
      </p:sp>
      <p:sp>
        <p:nvSpPr>
          <p:cNvPr id="3" name="Text 1"/>
          <p:cNvSpPr txBox="1"/>
          <p:nvPr/>
        </p:nvSpPr>
        <p:spPr>
          <a:xfrm>
            <a:off x="914400" y="1645920"/>
            <a:ext cx="10362895" cy="1097280"/>
          </a:xfrm>
          <a:prstGeom prst="rect">
            <a:avLst/>
          </a:prstGeom>
          <a:noFill/>
          <a:ln/>
        </p:spPr>
        <p:txBody>
          <a:bodyPr wrap="square" lIns="0" tIns="0" rIns="0" bIns="0" rtlCol="0" anchor="t">
            <a:normAutofit/>
          </a:bodyPr>
          <a:lstStyle/>
          <a:p>
            <a:pPr algn="ctr" indent="0" marL="0">
              <a:lnSpc>
                <a:spcPct val="100000"/>
              </a:lnSpc>
              <a:buNone/>
            </a:pPr>
            <a:r>
              <a:rPr lang="en-US" sz="12000" b="1" dirty="0">
                <a:solidFill>
                  <a:srgbClr val="8AAF8A"/>
                </a:solidFill>
                <a:latin typeface="Cormorant Garamond" pitchFamily="34" charset="0"/>
                <a:ea typeface="Cormorant Garamond" pitchFamily="34" charset="-122"/>
                <a:cs typeface="Cormorant Garamond" pitchFamily="34" charset="-120"/>
              </a:rPr>
              <a:t>“</a:t>
            </a:r>
            <a:endParaRPr lang="en-US" sz="12000" dirty="0"/>
          </a:p>
        </p:txBody>
      </p:sp>
      <p:sp>
        <p:nvSpPr>
          <p:cNvPr id="4" name="Text 2"/>
          <p:cNvSpPr txBox="1"/>
          <p:nvPr/>
        </p:nvSpPr>
        <p:spPr>
          <a:xfrm>
            <a:off x="1097280" y="2743200"/>
            <a:ext cx="9997135" cy="2560320"/>
          </a:xfrm>
          <a:prstGeom prst="rect">
            <a:avLst/>
          </a:prstGeom>
          <a:noFill/>
          <a:ln/>
        </p:spPr>
        <p:txBody>
          <a:bodyPr wrap="square" lIns="0" tIns="0" rIns="0" bIns="0" rtlCol="0" anchor="t">
            <a:normAutofit/>
          </a:bodyPr>
          <a:lstStyle/>
          <a:p>
            <a:pPr algn="ctr" indent="0" marL="0">
              <a:lnSpc>
                <a:spcPct val="100000"/>
              </a:lnSpc>
              <a:buNone/>
            </a:pPr>
            <a:r>
              <a:rPr lang="en-US" sz="4800" b="1" i="1" dirty="0">
                <a:solidFill>
                  <a:srgbClr val="1E4A4A"/>
                </a:solidFill>
                <a:latin typeface="Cormorant Garamond" pitchFamily="34" charset="0"/>
                <a:ea typeface="Cormorant Garamond" pitchFamily="34" charset="-122"/>
                <a:cs typeface="Cormorant Garamond" pitchFamily="34" charset="-120"/>
              </a:rPr>
              <a:t>When is it going to be </a:t>
            </a:r>
            <a:pPr algn="ctr" indent="0" marL="0">
              <a:lnSpc>
                <a:spcPct val="100000"/>
              </a:lnSpc>
              <a:buNone/>
            </a:pPr>
            <a:r>
              <a:rPr lang="en-US" sz="4800" b="1" i="1" dirty="0">
                <a:solidFill>
                  <a:srgbClr val="1E4A4A"/>
                </a:solidFill>
                <a:highlight>
                  <a:srgbClr val="CFE3CF"/>
                </a:highlight>
                <a:latin typeface="Cormorant Garamond" pitchFamily="34" charset="0"/>
                <a:ea typeface="Cormorant Garamond" pitchFamily="34" charset="-122"/>
                <a:cs typeface="Cormorant Garamond" pitchFamily="34" charset="-120"/>
              </a:rPr>
              <a:t>my turn?</a:t>
            </a:r>
            <a:endParaRPr lang="en-US" sz="4800" dirty="0"/>
          </a:p>
        </p:txBody>
      </p:sp>
      <p:sp>
        <p:nvSpPr>
          <p:cNvPr id="25" name="Slide Number Placeholder 0"/>
          <p:cNvSpPr>
            <a:spLocks noGrp="1"/>
          </p:cNvSpPr>
          <p:nvPr>
            <p:ph type="sldNum" sz="quarter" idx="4294967295"/>
          </p:nvPr>
        </p:nvSpPr>
        <p:spPr>
          <a:xfrm>
            <a:off x="11368735"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AA6A3"/>
                </a:solidFill>
                <a:latin typeface="DM Sans"/>
                <a:ea typeface="DM Sans"/>
                <a:cs typeface="DM San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E4A4A"/>
        </a:solidFill>
      </p:bgPr>
    </p:bg>
    <p:spTree>
      <p:nvGrpSpPr>
        <p:cNvPr id="1" name=""/>
        <p:cNvGrpSpPr/>
        <p:nvPr/>
      </p:nvGrpSpPr>
      <p:grpSpPr>
        <a:xfrm>
          <a:off x="0" y="0"/>
          <a:ext cx="0" cy="0"/>
          <a:chOff x="0" y="0"/>
          <a:chExt cx="0" cy="0"/>
        </a:xfrm>
      </p:grpSpPr>
      <p:sp>
        <p:nvSpPr>
          <p:cNvPr id="2" name="Text 0"/>
          <p:cNvSpPr txBox="1"/>
          <p:nvPr/>
        </p:nvSpPr>
        <p:spPr>
          <a:xfrm>
            <a:off x="914400" y="1188720"/>
            <a:ext cx="10362895" cy="411480"/>
          </a:xfrm>
          <a:prstGeom prst="rect">
            <a:avLst/>
          </a:prstGeom>
          <a:noFill/>
          <a:ln/>
        </p:spPr>
        <p:txBody>
          <a:bodyPr wrap="square" lIns="0" tIns="0" rIns="0" bIns="0" rtlCol="0" anchor="ctr">
            <a:normAutofit/>
          </a:bodyPr>
          <a:lstStyle/>
          <a:p>
            <a:pPr algn="ctr" indent="0" marL="0">
              <a:lnSpc>
                <a:spcPct val="100000"/>
              </a:lnSpc>
              <a:buNone/>
            </a:pPr>
            <a:r>
              <a:rPr lang="en-US" sz="1500" b="1" spc="500" kern="0" dirty="0">
                <a:solidFill>
                  <a:srgbClr val="8AAF8A"/>
                </a:solidFill>
                <a:latin typeface="DM Sans" pitchFamily="34" charset="0"/>
                <a:ea typeface="DM Sans" pitchFamily="34" charset="-122"/>
                <a:cs typeface="DM Sans" pitchFamily="34" charset="-120"/>
              </a:rPr>
              <a:t>SOUND FAMILIAR?</a:t>
            </a:r>
            <a:endParaRPr lang="en-US" sz="1500" dirty="0"/>
          </a:p>
        </p:txBody>
      </p:sp>
      <p:sp>
        <p:nvSpPr>
          <p:cNvPr id="3" name="Text 1"/>
          <p:cNvSpPr txBox="1"/>
          <p:nvPr/>
        </p:nvSpPr>
        <p:spPr>
          <a:xfrm>
            <a:off x="914400" y="1645920"/>
            <a:ext cx="10362895" cy="1097280"/>
          </a:xfrm>
          <a:prstGeom prst="rect">
            <a:avLst/>
          </a:prstGeom>
          <a:noFill/>
          <a:ln/>
        </p:spPr>
        <p:txBody>
          <a:bodyPr wrap="square" lIns="0" tIns="0" rIns="0" bIns="0" rtlCol="0" anchor="t">
            <a:normAutofit/>
          </a:bodyPr>
          <a:lstStyle/>
          <a:p>
            <a:pPr algn="ctr" indent="0" marL="0">
              <a:lnSpc>
                <a:spcPct val="100000"/>
              </a:lnSpc>
              <a:buNone/>
            </a:pPr>
            <a:r>
              <a:rPr lang="en-US" sz="12000" b="1" dirty="0">
                <a:solidFill>
                  <a:srgbClr val="8AAF8A"/>
                </a:solidFill>
                <a:latin typeface="Cormorant Garamond" pitchFamily="34" charset="0"/>
                <a:ea typeface="Cormorant Garamond" pitchFamily="34" charset="-122"/>
                <a:cs typeface="Cormorant Garamond" pitchFamily="34" charset="-120"/>
              </a:rPr>
              <a:t>“</a:t>
            </a:r>
            <a:endParaRPr lang="en-US" sz="12000" dirty="0"/>
          </a:p>
        </p:txBody>
      </p:sp>
      <p:sp>
        <p:nvSpPr>
          <p:cNvPr id="4" name="Text 2"/>
          <p:cNvSpPr txBox="1"/>
          <p:nvPr/>
        </p:nvSpPr>
        <p:spPr>
          <a:xfrm>
            <a:off x="1097280" y="2743200"/>
            <a:ext cx="9997135" cy="2560320"/>
          </a:xfrm>
          <a:prstGeom prst="rect">
            <a:avLst/>
          </a:prstGeom>
          <a:noFill/>
          <a:ln/>
        </p:spPr>
        <p:txBody>
          <a:bodyPr wrap="square" lIns="0" tIns="0" rIns="0" bIns="0" rtlCol="0" anchor="t">
            <a:normAutofit/>
          </a:bodyPr>
          <a:lstStyle/>
          <a:p>
            <a:pPr algn="ctr" indent="0" marL="0">
              <a:lnSpc>
                <a:spcPct val="100000"/>
              </a:lnSpc>
              <a:buNone/>
            </a:pPr>
            <a:r>
              <a:rPr lang="en-US" sz="4800" b="1" i="1" dirty="0">
                <a:solidFill>
                  <a:srgbClr val="FFFFFF"/>
                </a:solidFill>
                <a:latin typeface="Cormorant Garamond" pitchFamily="34" charset="0"/>
                <a:ea typeface="Cormorant Garamond" pitchFamily="34" charset="-122"/>
                <a:cs typeface="Cormorant Garamond" pitchFamily="34" charset="-120"/>
              </a:rPr>
              <a:t>I want more. </a:t>
            </a:r>
            <a:pPr algn="ctr" indent="0" marL="0">
              <a:lnSpc>
                <a:spcPct val="100000"/>
              </a:lnSpc>
              <a:buNone/>
            </a:pPr>
            <a:r>
              <a:rPr lang="en-US" sz="4800" b="1" i="1" dirty="0">
                <a:solidFill>
                  <a:srgbClr val="B7D3B7"/>
                </a:solidFill>
                <a:latin typeface="Cormorant Garamond" pitchFamily="34" charset="0"/>
                <a:ea typeface="Cormorant Garamond" pitchFamily="34" charset="-122"/>
                <a:cs typeface="Cormorant Garamond" pitchFamily="34" charset="-120"/>
              </a:rPr>
              <a:t>This can't be all there is.</a:t>
            </a:r>
            <a:endParaRPr lang="en-US" sz="4800" dirty="0"/>
          </a:p>
        </p:txBody>
      </p:sp>
      <p:sp>
        <p:nvSpPr>
          <p:cNvPr id="25" name="Slide Number Placeholder 0"/>
          <p:cNvSpPr>
            <a:spLocks noGrp="1"/>
          </p:cNvSpPr>
          <p:nvPr>
            <p:ph type="sldNum" sz="quarter" idx="4294967295"/>
          </p:nvPr>
        </p:nvSpPr>
        <p:spPr>
          <a:xfrm>
            <a:off x="11368735"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AAF8A"/>
                </a:solidFill>
                <a:latin typeface="DM Sans"/>
                <a:ea typeface="DM Sans"/>
                <a:cs typeface="DM San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5EE"/>
        </a:solidFill>
      </p:bgPr>
    </p:bg>
    <p:spTree>
      <p:nvGrpSpPr>
        <p:cNvPr id="1" name=""/>
        <p:cNvGrpSpPr/>
        <p:nvPr/>
      </p:nvGrpSpPr>
      <p:grpSpPr>
        <a:xfrm>
          <a:off x="0" y="0"/>
          <a:ext cx="0" cy="0"/>
          <a:chOff x="0" y="0"/>
          <a:chExt cx="0" cy="0"/>
        </a:xfrm>
      </p:grpSpPr>
      <p:sp>
        <p:nvSpPr>
          <p:cNvPr id="2" name="Text 0"/>
          <p:cNvSpPr txBox="1"/>
          <p:nvPr/>
        </p:nvSpPr>
        <p:spPr>
          <a:xfrm>
            <a:off x="822960" y="1188720"/>
            <a:ext cx="10545775" cy="365760"/>
          </a:xfrm>
          <a:prstGeom prst="rect">
            <a:avLst/>
          </a:prstGeom>
          <a:noFill/>
          <a:ln/>
        </p:spPr>
        <p:txBody>
          <a:bodyPr wrap="square" lIns="0" tIns="0" rIns="0" bIns="0" rtlCol="0" anchor="ctr">
            <a:normAutofit/>
          </a:bodyPr>
          <a:lstStyle/>
          <a:p>
            <a:pPr algn="l" indent="0" marL="0">
              <a:lnSpc>
                <a:spcPct val="100000"/>
              </a:lnSpc>
              <a:buNone/>
            </a:pPr>
            <a:r>
              <a:rPr lang="en-US" sz="1400" b="1" spc="400" kern="0" dirty="0">
                <a:solidFill>
                  <a:srgbClr val="8AAF8A"/>
                </a:solidFill>
                <a:latin typeface="DM Sans" pitchFamily="34" charset="0"/>
                <a:ea typeface="DM Sans" pitchFamily="34" charset="-122"/>
                <a:cs typeface="DM Sans" pitchFamily="34" charset="-120"/>
              </a:rPr>
              <a:t>WHAT MOST EXPERTS WON'T TELL YOU</a:t>
            </a:r>
            <a:endParaRPr lang="en-US" sz="1400" dirty="0"/>
          </a:p>
        </p:txBody>
      </p:sp>
      <p:sp>
        <p:nvSpPr>
          <p:cNvPr id="3" name="Text 1"/>
          <p:cNvSpPr txBox="1"/>
          <p:nvPr/>
        </p:nvSpPr>
        <p:spPr>
          <a:xfrm>
            <a:off x="822960" y="1691640"/>
            <a:ext cx="10180015" cy="2651760"/>
          </a:xfrm>
          <a:prstGeom prst="rect">
            <a:avLst/>
          </a:prstGeom>
          <a:noFill/>
          <a:ln/>
        </p:spPr>
        <p:txBody>
          <a:bodyPr wrap="square" lIns="0" tIns="0" rIns="0" bIns="0" rtlCol="0" anchor="t">
            <a:normAutofit/>
          </a:bodyPr>
          <a:lstStyle/>
          <a:p>
            <a:pPr algn="l" indent="0" marL="0">
              <a:lnSpc>
                <a:spcPct val="95000"/>
              </a:lnSpc>
              <a:buNone/>
            </a:pPr>
            <a:r>
              <a:rPr lang="en-US" sz="3700" b="1" dirty="0">
                <a:solidFill>
                  <a:srgbClr val="1B2B2B"/>
                </a:solidFill>
                <a:latin typeface="Cormorant Garamond" pitchFamily="34" charset="0"/>
                <a:ea typeface="Cormorant Garamond" pitchFamily="34" charset="-122"/>
                <a:cs typeface="Cormorant Garamond" pitchFamily="34" charset="-120"/>
              </a:rPr>
              <a:t>Being underpaid isn't a money problem. </a:t>
            </a:r>
            <a:pPr algn="l" indent="0" marL="0">
              <a:lnSpc>
                <a:spcPct val="95000"/>
              </a:lnSpc>
              <a:buNone/>
            </a:pPr>
            <a:r>
              <a:rPr lang="en-US" sz="3700" b="1" dirty="0">
                <a:solidFill>
                  <a:srgbClr val="1B2B2B"/>
                </a:solidFill>
                <a:highlight>
                  <a:srgbClr val="CFE3CF"/>
                </a:highlight>
                <a:latin typeface="Cormorant Garamond" pitchFamily="34" charset="0"/>
                <a:ea typeface="Cormorant Garamond" pitchFamily="34" charset="-122"/>
                <a:cs typeface="Cormorant Garamond" pitchFamily="34" charset="-120"/>
              </a:rPr>
              <a:t>It's a playing-small problem.</a:t>
            </a:r>
            <a:endParaRPr lang="en-US" sz="3700" dirty="0"/>
          </a:p>
        </p:txBody>
      </p:sp>
      <p:sp>
        <p:nvSpPr>
          <p:cNvPr id="4" name="Text 2"/>
          <p:cNvSpPr txBox="1"/>
          <p:nvPr/>
        </p:nvSpPr>
        <p:spPr>
          <a:xfrm>
            <a:off x="822960" y="4572000"/>
            <a:ext cx="9265615" cy="1463040"/>
          </a:xfrm>
          <a:prstGeom prst="rect">
            <a:avLst/>
          </a:prstGeom>
          <a:noFill/>
          <a:ln/>
        </p:spPr>
        <p:txBody>
          <a:bodyPr wrap="square" lIns="0" tIns="0" rIns="0" bIns="0" rtlCol="0" anchor="t">
            <a:normAutofit/>
          </a:bodyPr>
          <a:lstStyle/>
          <a:p>
            <a:pPr algn="l" indent="0" marL="0">
              <a:lnSpc>
                <a:spcPct val="115000"/>
              </a:lnSpc>
              <a:buNone/>
            </a:pPr>
            <a:r>
              <a:rPr lang="en-US" sz="2200" dirty="0">
                <a:solidFill>
                  <a:srgbClr val="5E6B68"/>
                </a:solidFill>
                <a:latin typeface="DM Sans" pitchFamily="34" charset="0"/>
                <a:ea typeface="DM Sans" pitchFamily="34" charset="-122"/>
                <a:cs typeface="DM Sans" pitchFamily="34" charset="-120"/>
              </a:rPr>
              <a:t>And playing small is an identity problem.</a:t>
            </a:r>
            <a:endParaRPr lang="en-US" sz="2200" dirty="0"/>
          </a:p>
        </p:txBody>
      </p:sp>
      <p:sp>
        <p:nvSpPr>
          <p:cNvPr id="25" name="Slide Number Placeholder 0"/>
          <p:cNvSpPr>
            <a:spLocks noGrp="1"/>
          </p:cNvSpPr>
          <p:nvPr>
            <p:ph type="sldNum" sz="quarter" idx="4294967295"/>
          </p:nvPr>
        </p:nvSpPr>
        <p:spPr>
          <a:xfrm>
            <a:off x="11368735"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AA6A3"/>
                </a:solidFill>
                <a:latin typeface="DM Sans"/>
                <a:ea typeface="DM Sans"/>
                <a:cs typeface="DM San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E4A4A"/>
        </a:solidFill>
      </p:bgPr>
    </p:bg>
    <p:spTree>
      <p:nvGrpSpPr>
        <p:cNvPr id="1" name=""/>
        <p:cNvGrpSpPr/>
        <p:nvPr/>
      </p:nvGrpSpPr>
      <p:grpSpPr>
        <a:xfrm>
          <a:off x="0" y="0"/>
          <a:ext cx="0" cy="0"/>
          <a:chOff x="0" y="0"/>
          <a:chExt cx="0" cy="0"/>
        </a:xfrm>
      </p:grpSpPr>
      <p:sp>
        <p:nvSpPr>
          <p:cNvPr id="2" name="Text 0"/>
          <p:cNvSpPr txBox="1"/>
          <p:nvPr/>
        </p:nvSpPr>
        <p:spPr>
          <a:xfrm>
            <a:off x="1097280" y="1097280"/>
            <a:ext cx="9997135" cy="2926080"/>
          </a:xfrm>
          <a:prstGeom prst="rect">
            <a:avLst/>
          </a:prstGeom>
          <a:noFill/>
          <a:ln/>
        </p:spPr>
        <p:txBody>
          <a:bodyPr wrap="square" lIns="0" tIns="0" rIns="0" bIns="0" rtlCol="0" anchor="b">
            <a:normAutofit/>
          </a:bodyPr>
          <a:lstStyle/>
          <a:p>
            <a:pPr algn="ctr" indent="0" marL="0">
              <a:lnSpc>
                <a:spcPct val="95000"/>
              </a:lnSpc>
              <a:buNone/>
            </a:pPr>
            <a:r>
              <a:rPr lang="en-US" sz="3600" b="1" dirty="0">
                <a:solidFill>
                  <a:srgbClr val="FFFFFF"/>
                </a:solidFill>
                <a:latin typeface="Cormorant Garamond" pitchFamily="34" charset="0"/>
                <a:ea typeface="Cormorant Garamond" pitchFamily="34" charset="-122"/>
                <a:cs typeface="Cormorant Garamond" pitchFamily="34" charset="-120"/>
              </a:rPr>
              <a:t>You don't have a negotiation problem. You have </a:t>
            </a:r>
            <a:pPr algn="ctr" indent="0" marL="0">
              <a:lnSpc>
                <a:spcPct val="95000"/>
              </a:lnSpc>
              <a:buNone/>
            </a:pPr>
            <a:r>
              <a:rPr lang="en-US" sz="3600" b="1" dirty="0">
                <a:solidFill>
                  <a:srgbClr val="B7D3B7"/>
                </a:solidFill>
                <a:latin typeface="Cormorant Garamond" pitchFamily="34" charset="0"/>
                <a:ea typeface="Cormorant Garamond" pitchFamily="34" charset="-122"/>
                <a:cs typeface="Cormorant Garamond" pitchFamily="34" charset="-120"/>
              </a:rPr>
              <a:t>an identity problem.</a:t>
            </a:r>
            <a:endParaRPr lang="en-US" sz="3600" dirty="0"/>
          </a:p>
        </p:txBody>
      </p:sp>
      <p:sp>
        <p:nvSpPr>
          <p:cNvPr id="25" name="Slide Number Placeholder 0"/>
          <p:cNvSpPr>
            <a:spLocks noGrp="1"/>
          </p:cNvSpPr>
          <p:nvPr>
            <p:ph type="sldNum" sz="quarter" idx="4294967295"/>
          </p:nvPr>
        </p:nvSpPr>
        <p:spPr>
          <a:xfrm>
            <a:off x="11368735"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AAF8A"/>
                </a:solidFill>
                <a:latin typeface="DM Sans"/>
                <a:ea typeface="DM Sans"/>
                <a:cs typeface="DM San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5EE"/>
        </a:solidFill>
      </p:bgPr>
    </p:bg>
    <p:spTree>
      <p:nvGrpSpPr>
        <p:cNvPr id="1" name=""/>
        <p:cNvGrpSpPr/>
        <p:nvPr/>
      </p:nvGrpSpPr>
      <p:grpSpPr>
        <a:xfrm>
          <a:off x="0" y="0"/>
          <a:ext cx="0" cy="0"/>
          <a:chOff x="0" y="0"/>
          <a:chExt cx="0" cy="0"/>
        </a:xfrm>
      </p:grpSpPr>
      <p:sp>
        <p:nvSpPr>
          <p:cNvPr id="2" name="Shape 0"/>
          <p:cNvSpPr/>
          <p:nvPr/>
        </p:nvSpPr>
        <p:spPr>
          <a:xfrm>
            <a:off x="0" y="0"/>
            <a:ext cx="5120640" cy="6858000"/>
          </a:xfrm>
          <a:prstGeom prst="rect">
            <a:avLst/>
          </a:prstGeom>
          <a:solidFill>
            <a:srgbClr val="E1F5EE"/>
          </a:solidFill>
          <a:ln w="15875">
            <a:solidFill>
              <a:srgbClr val="8AAF8A"/>
            </a:solidFill>
            <a:prstDash val="dash"/>
          </a:ln>
        </p:spPr>
      </p:sp>
      <p:sp>
        <p:nvSpPr>
          <p:cNvPr id="3" name="Text 1"/>
          <p:cNvSpPr txBox="1"/>
          <p:nvPr/>
        </p:nvSpPr>
        <p:spPr>
          <a:xfrm>
            <a:off x="320040" y="320040"/>
            <a:ext cx="4480560" cy="320040"/>
          </a:xfrm>
          <a:prstGeom prst="rect">
            <a:avLst/>
          </a:prstGeom>
          <a:noFill/>
          <a:ln/>
        </p:spPr>
        <p:txBody>
          <a:bodyPr wrap="square" lIns="0" tIns="0" rIns="0" bIns="0" rtlCol="0" anchor="ctr">
            <a:normAutofit/>
          </a:bodyPr>
          <a:lstStyle/>
          <a:p>
            <a:pPr algn="l" indent="0" marL="0">
              <a:lnSpc>
                <a:spcPct val="100000"/>
              </a:lnSpc>
              <a:buNone/>
            </a:pPr>
            <a:r>
              <a:rPr lang="en-US" sz="1100" b="1" spc="300" kern="0" dirty="0">
                <a:solidFill>
                  <a:srgbClr val="1E4A4A"/>
                </a:solidFill>
                <a:latin typeface="DM Sans" pitchFamily="34" charset="0"/>
                <a:ea typeface="DM Sans" pitchFamily="34" charset="-122"/>
                <a:cs typeface="DM Sans" pitchFamily="34" charset="-120"/>
              </a:rPr>
              <a:t>PHOTO PLACEHOLDER</a:t>
            </a:r>
            <a:endParaRPr lang="en-US" sz="1100" dirty="0"/>
          </a:p>
        </p:txBody>
      </p:sp>
      <p:sp>
        <p:nvSpPr>
          <p:cNvPr id="4" name="Text 2"/>
          <p:cNvSpPr txBox="1"/>
          <p:nvPr/>
        </p:nvSpPr>
        <p:spPr>
          <a:xfrm>
            <a:off x="320040" y="731520"/>
            <a:ext cx="4480560" cy="2377440"/>
          </a:xfrm>
          <a:prstGeom prst="rect">
            <a:avLst/>
          </a:prstGeom>
          <a:noFill/>
          <a:ln/>
        </p:spPr>
        <p:txBody>
          <a:bodyPr wrap="square" lIns="0" tIns="0" rIns="0" bIns="0" rtlCol="0" anchor="t">
            <a:normAutofit/>
          </a:bodyPr>
          <a:lstStyle/>
          <a:p>
            <a:pPr algn="l" indent="0" marL="0">
              <a:lnSpc>
                <a:spcPct val="110000"/>
              </a:lnSpc>
              <a:buNone/>
            </a:pPr>
            <a:r>
              <a:rPr lang="en-US" sz="1200" i="1" dirty="0">
                <a:solidFill>
                  <a:srgbClr val="5E6B68"/>
                </a:solidFill>
                <a:latin typeface="DM Sans" pitchFamily="34" charset="0"/>
                <a:ea typeface="DM Sans" pitchFamily="34" charset="-122"/>
                <a:cs typeface="DM Sans" pitchFamily="34" charset="-120"/>
              </a:rPr>
              <a:t>Woman in her late 40s looking at her reflection in a floor-to-ceiling office window at dusk. Composed, thoughtful, city behind the glass.</a:t>
            </a:r>
            <a:endParaRPr lang="en-US" sz="1200" dirty="0"/>
          </a:p>
        </p:txBody>
      </p:sp>
      <p:sp>
        <p:nvSpPr>
          <p:cNvPr id="5" name="Text 3"/>
          <p:cNvSpPr txBox="1"/>
          <p:nvPr/>
        </p:nvSpPr>
        <p:spPr>
          <a:xfrm>
            <a:off x="5669280" y="731520"/>
            <a:ext cx="5852160" cy="2743200"/>
          </a:xfrm>
          <a:prstGeom prst="rect">
            <a:avLst/>
          </a:prstGeom>
          <a:noFill/>
          <a:ln/>
        </p:spPr>
        <p:txBody>
          <a:bodyPr wrap="square" lIns="0" tIns="0" rIns="0" bIns="0" rtlCol="0" anchor="b">
            <a:normAutofit/>
          </a:bodyPr>
          <a:lstStyle/>
          <a:p>
            <a:pPr algn="l" indent="0" marL="0">
              <a:lnSpc>
                <a:spcPct val="95000"/>
              </a:lnSpc>
              <a:buNone/>
            </a:pPr>
            <a:r>
              <a:rPr lang="en-US" sz="3400" b="1" dirty="0">
                <a:solidFill>
                  <a:srgbClr val="1B2B2B"/>
                </a:solidFill>
                <a:latin typeface="Cormorant Garamond" pitchFamily="34" charset="0"/>
                <a:ea typeface="Cormorant Garamond" pitchFamily="34" charset="-122"/>
                <a:cs typeface="Cormorant Garamond" pitchFamily="34" charset="-120"/>
              </a:rPr>
              <a:t>Your capability has outgrown the woman </a:t>
            </a:r>
            <a:pPr algn="l" indent="0" marL="0">
              <a:lnSpc>
                <a:spcPct val="95000"/>
              </a:lnSpc>
              <a:buNone/>
            </a:pPr>
            <a:r>
              <a:rPr lang="en-US" sz="3400" b="1" dirty="0">
                <a:solidFill>
                  <a:srgbClr val="1B2B2B"/>
                </a:solidFill>
                <a:highlight>
                  <a:srgbClr val="CFE3CF"/>
                </a:highlight>
                <a:latin typeface="Cormorant Garamond" pitchFamily="34" charset="0"/>
                <a:ea typeface="Cormorant Garamond" pitchFamily="34" charset="-122"/>
                <a:cs typeface="Cormorant Garamond" pitchFamily="34" charset="-120"/>
              </a:rPr>
              <a:t>you think you are.</a:t>
            </a:r>
            <a:endParaRPr lang="en-US" sz="3400" dirty="0"/>
          </a:p>
        </p:txBody>
      </p:sp>
      <p:sp>
        <p:nvSpPr>
          <p:cNvPr id="6" name="Text 4"/>
          <p:cNvSpPr txBox="1"/>
          <p:nvPr/>
        </p:nvSpPr>
        <p:spPr>
          <a:xfrm>
            <a:off x="5669280" y="3749040"/>
            <a:ext cx="5760720" cy="2377440"/>
          </a:xfrm>
          <a:prstGeom prst="rect">
            <a:avLst/>
          </a:prstGeom>
          <a:noFill/>
          <a:ln/>
        </p:spPr>
        <p:txBody>
          <a:bodyPr wrap="square" lIns="0" tIns="0" rIns="0" bIns="0" rtlCol="0" anchor="t">
            <a:normAutofit/>
          </a:bodyPr>
          <a:lstStyle/>
          <a:p>
            <a:pPr algn="l" indent="0" marL="0">
              <a:lnSpc>
                <a:spcPct val="115000"/>
              </a:lnSpc>
              <a:buNone/>
            </a:pPr>
            <a:r>
              <a:rPr lang="en-US" sz="1900" dirty="0">
                <a:solidFill>
                  <a:srgbClr val="1B2B2B"/>
                </a:solidFill>
                <a:latin typeface="DM Sans" pitchFamily="34" charset="0"/>
                <a:ea typeface="DM Sans" pitchFamily="34" charset="-122"/>
                <a:cs typeface="DM Sans" pitchFamily="34" charset="-120"/>
              </a:rPr>
              <a:t>Tonight is about closing that gap, so you become the woman who commands her worth and plays a bigger game.</a:t>
            </a:r>
            <a:endParaRPr lang="en-US" sz="1900" dirty="0"/>
          </a:p>
        </p:txBody>
      </p:sp>
      <p:sp>
        <p:nvSpPr>
          <p:cNvPr id="25" name="Slide Number Placeholder 0"/>
          <p:cNvSpPr>
            <a:spLocks noGrp="1"/>
          </p:cNvSpPr>
          <p:nvPr>
            <p:ph type="sldNum" sz="quarter" idx="4294967295"/>
          </p:nvPr>
        </p:nvSpPr>
        <p:spPr>
          <a:xfrm>
            <a:off x="11368735"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AA6A3"/>
                </a:solidFill>
                <a:latin typeface="DM Sans"/>
                <a:ea typeface="DM Sans"/>
                <a:cs typeface="DM San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5EE"/>
        </a:solidFill>
      </p:bgPr>
    </p:bg>
    <p:spTree>
      <p:nvGrpSpPr>
        <p:cNvPr id="1" name=""/>
        <p:cNvGrpSpPr/>
        <p:nvPr/>
      </p:nvGrpSpPr>
      <p:grpSpPr>
        <a:xfrm>
          <a:off x="0" y="0"/>
          <a:ext cx="0" cy="0"/>
          <a:chOff x="0" y="0"/>
          <a:chExt cx="0" cy="0"/>
        </a:xfrm>
      </p:grpSpPr>
      <p:sp>
        <p:nvSpPr>
          <p:cNvPr id="2" name="Text 0"/>
          <p:cNvSpPr txBox="1"/>
          <p:nvPr/>
        </p:nvSpPr>
        <p:spPr>
          <a:xfrm>
            <a:off x="640080" y="548640"/>
            <a:ext cx="6766560" cy="1005840"/>
          </a:xfrm>
          <a:prstGeom prst="rect">
            <a:avLst/>
          </a:prstGeom>
          <a:noFill/>
          <a:ln/>
        </p:spPr>
        <p:txBody>
          <a:bodyPr wrap="square" lIns="0" tIns="0" rIns="0" bIns="0" rtlCol="0" anchor="b">
            <a:normAutofit/>
          </a:bodyPr>
          <a:lstStyle/>
          <a:p>
            <a:pPr algn="l" indent="0" marL="0">
              <a:lnSpc>
                <a:spcPct val="95000"/>
              </a:lnSpc>
              <a:buNone/>
            </a:pPr>
            <a:r>
              <a:rPr lang="en-US" sz="3800" b="1" dirty="0">
                <a:solidFill>
                  <a:srgbClr val="1B2B2B"/>
                </a:solidFill>
                <a:latin typeface="Cormorant Garamond" pitchFamily="34" charset="0"/>
                <a:ea typeface="Cormorant Garamond" pitchFamily="34" charset="-122"/>
                <a:cs typeface="Cormorant Garamond" pitchFamily="34" charset="-120"/>
              </a:rPr>
              <a:t>What I'm </a:t>
            </a:r>
            <a:pPr algn="l" indent="0" marL="0">
              <a:lnSpc>
                <a:spcPct val="95000"/>
              </a:lnSpc>
              <a:buNone/>
            </a:pPr>
            <a:r>
              <a:rPr lang="en-US" sz="3800" b="1" dirty="0">
                <a:solidFill>
                  <a:srgbClr val="1B2B2B"/>
                </a:solidFill>
                <a:highlight>
                  <a:srgbClr val="CFE3CF"/>
                </a:highlight>
                <a:latin typeface="Cormorant Garamond" pitchFamily="34" charset="0"/>
                <a:ea typeface="Cormorant Garamond" pitchFamily="34" charset="-122"/>
                <a:cs typeface="Cormorant Garamond" pitchFamily="34" charset="-120"/>
              </a:rPr>
              <a:t>covering today</a:t>
            </a:r>
            <a:endParaRPr lang="en-US" sz="3800" dirty="0"/>
          </a:p>
        </p:txBody>
      </p:sp>
      <p:sp>
        <p:nvSpPr>
          <p:cNvPr id="3" name="Shape 1"/>
          <p:cNvSpPr/>
          <p:nvPr/>
        </p:nvSpPr>
        <p:spPr>
          <a:xfrm>
            <a:off x="640080" y="1874520"/>
            <a:ext cx="502920" cy="502920"/>
          </a:xfrm>
          <a:prstGeom prst="ellipse">
            <a:avLst/>
          </a:prstGeom>
          <a:solidFill>
            <a:srgbClr val="1E4A4A"/>
          </a:solidFill>
          <a:ln w="12700">
            <a:solidFill>
              <a:srgbClr val="1E4A4A"/>
            </a:solidFill>
            <a:prstDash val="solid"/>
          </a:ln>
        </p:spPr>
      </p:sp>
      <p:sp>
        <p:nvSpPr>
          <p:cNvPr id="4" name="Text 2"/>
          <p:cNvSpPr txBox="1"/>
          <p:nvPr/>
        </p:nvSpPr>
        <p:spPr>
          <a:xfrm>
            <a:off x="640080" y="1874520"/>
            <a:ext cx="502920" cy="502920"/>
          </a:xfrm>
          <a:prstGeom prst="rect">
            <a:avLst/>
          </a:prstGeom>
          <a:noFill/>
          <a:ln/>
        </p:spPr>
        <p:txBody>
          <a:bodyPr wrap="square" lIns="0" tIns="0" rIns="0" bIns="0" rtlCol="0" anchor="ctr">
            <a:normAutofit/>
          </a:bodyPr>
          <a:lstStyle/>
          <a:p>
            <a:pPr algn="ctr" indent="0" marL="0">
              <a:lnSpc>
                <a:spcPct val="100000"/>
              </a:lnSpc>
              <a:buNone/>
            </a:pPr>
            <a:r>
              <a:rPr lang="en-US" sz="1800" b="1" dirty="0">
                <a:solidFill>
                  <a:srgbClr val="FFFFFF"/>
                </a:solidFill>
                <a:latin typeface="Cormorant Garamond" pitchFamily="34" charset="0"/>
                <a:ea typeface="Cormorant Garamond" pitchFamily="34" charset="-122"/>
                <a:cs typeface="Cormorant Garamond" pitchFamily="34" charset="-120"/>
              </a:rPr>
              <a:t>1</a:t>
            </a:r>
            <a:endParaRPr lang="en-US" sz="1800" dirty="0"/>
          </a:p>
        </p:txBody>
      </p:sp>
      <p:sp>
        <p:nvSpPr>
          <p:cNvPr id="5" name="Text 3"/>
          <p:cNvSpPr txBox="1"/>
          <p:nvPr/>
        </p:nvSpPr>
        <p:spPr>
          <a:xfrm>
            <a:off x="1371600" y="1828800"/>
            <a:ext cx="5943600" cy="640080"/>
          </a:xfrm>
          <a:prstGeom prst="rect">
            <a:avLst/>
          </a:prstGeom>
          <a:noFill/>
          <a:ln/>
        </p:spPr>
        <p:txBody>
          <a:bodyPr wrap="square" lIns="0" tIns="0" rIns="0" bIns="0" rtlCol="0" anchor="ctr">
            <a:normAutofit/>
          </a:bodyPr>
          <a:lstStyle/>
          <a:p>
            <a:pPr algn="l" indent="0" marL="0">
              <a:lnSpc>
                <a:spcPct val="100000"/>
              </a:lnSpc>
              <a:buNone/>
            </a:pPr>
            <a:r>
              <a:rPr lang="en-US" sz="1800" dirty="0">
                <a:solidFill>
                  <a:srgbClr val="1B2B2B"/>
                </a:solidFill>
                <a:latin typeface="DM Sans" pitchFamily="34" charset="0"/>
                <a:ea typeface="DM Sans" pitchFamily="34" charset="-122"/>
                <a:cs typeface="DM Sans" pitchFamily="34" charset="-120"/>
              </a:rPr>
              <a:t>Why working harder stopped working for you</a:t>
            </a:r>
            <a:endParaRPr lang="en-US" sz="1800" dirty="0"/>
          </a:p>
        </p:txBody>
      </p:sp>
      <p:sp>
        <p:nvSpPr>
          <p:cNvPr id="6" name="Shape 4"/>
          <p:cNvSpPr/>
          <p:nvPr/>
        </p:nvSpPr>
        <p:spPr>
          <a:xfrm>
            <a:off x="640080" y="2743200"/>
            <a:ext cx="502920" cy="502920"/>
          </a:xfrm>
          <a:prstGeom prst="ellipse">
            <a:avLst/>
          </a:prstGeom>
          <a:solidFill>
            <a:srgbClr val="1E4A4A"/>
          </a:solidFill>
          <a:ln w="12700">
            <a:solidFill>
              <a:srgbClr val="1E4A4A"/>
            </a:solidFill>
            <a:prstDash val="solid"/>
          </a:ln>
        </p:spPr>
      </p:sp>
      <p:sp>
        <p:nvSpPr>
          <p:cNvPr id="7" name="Text 5"/>
          <p:cNvSpPr txBox="1"/>
          <p:nvPr/>
        </p:nvSpPr>
        <p:spPr>
          <a:xfrm>
            <a:off x="640080" y="2743200"/>
            <a:ext cx="502920" cy="502920"/>
          </a:xfrm>
          <a:prstGeom prst="rect">
            <a:avLst/>
          </a:prstGeom>
          <a:noFill/>
          <a:ln/>
        </p:spPr>
        <p:txBody>
          <a:bodyPr wrap="square" lIns="0" tIns="0" rIns="0" bIns="0" rtlCol="0" anchor="ctr">
            <a:normAutofit/>
          </a:bodyPr>
          <a:lstStyle/>
          <a:p>
            <a:pPr algn="ctr" indent="0" marL="0">
              <a:lnSpc>
                <a:spcPct val="100000"/>
              </a:lnSpc>
              <a:buNone/>
            </a:pPr>
            <a:r>
              <a:rPr lang="en-US" sz="1800" b="1" dirty="0">
                <a:solidFill>
                  <a:srgbClr val="FFFFFF"/>
                </a:solidFill>
                <a:latin typeface="Cormorant Garamond" pitchFamily="34" charset="0"/>
                <a:ea typeface="Cormorant Garamond" pitchFamily="34" charset="-122"/>
                <a:cs typeface="Cormorant Garamond" pitchFamily="34" charset="-120"/>
              </a:rPr>
              <a:t>2</a:t>
            </a:r>
            <a:endParaRPr lang="en-US" sz="1800" dirty="0"/>
          </a:p>
        </p:txBody>
      </p:sp>
      <p:sp>
        <p:nvSpPr>
          <p:cNvPr id="8" name="Text 6"/>
          <p:cNvSpPr txBox="1"/>
          <p:nvPr/>
        </p:nvSpPr>
        <p:spPr>
          <a:xfrm>
            <a:off x="1371600" y="2697480"/>
            <a:ext cx="5943600" cy="640080"/>
          </a:xfrm>
          <a:prstGeom prst="rect">
            <a:avLst/>
          </a:prstGeom>
          <a:noFill/>
          <a:ln/>
        </p:spPr>
        <p:txBody>
          <a:bodyPr wrap="square" lIns="0" tIns="0" rIns="0" bIns="0" rtlCol="0" anchor="ctr">
            <a:normAutofit/>
          </a:bodyPr>
          <a:lstStyle/>
          <a:p>
            <a:pPr algn="l" indent="0" marL="0">
              <a:lnSpc>
                <a:spcPct val="100000"/>
              </a:lnSpc>
              <a:buNone/>
            </a:pPr>
            <a:r>
              <a:rPr lang="en-US" sz="1800" dirty="0">
                <a:solidFill>
                  <a:srgbClr val="1B2B2B"/>
                </a:solidFill>
                <a:latin typeface="DM Sans" pitchFamily="34" charset="0"/>
                <a:ea typeface="DM Sans" pitchFamily="34" charset="-122"/>
                <a:cs typeface="DM Sans" pitchFamily="34" charset="-120"/>
              </a:rPr>
              <a:t>What waiting is really costing you (hint: more than money)</a:t>
            </a:r>
            <a:endParaRPr lang="en-US" sz="1800" dirty="0"/>
          </a:p>
        </p:txBody>
      </p:sp>
      <p:sp>
        <p:nvSpPr>
          <p:cNvPr id="9" name="Shape 7"/>
          <p:cNvSpPr/>
          <p:nvPr/>
        </p:nvSpPr>
        <p:spPr>
          <a:xfrm>
            <a:off x="640080" y="3611880"/>
            <a:ext cx="502920" cy="502920"/>
          </a:xfrm>
          <a:prstGeom prst="ellipse">
            <a:avLst/>
          </a:prstGeom>
          <a:solidFill>
            <a:srgbClr val="1E4A4A"/>
          </a:solidFill>
          <a:ln w="12700">
            <a:solidFill>
              <a:srgbClr val="1E4A4A"/>
            </a:solidFill>
            <a:prstDash val="solid"/>
          </a:ln>
        </p:spPr>
      </p:sp>
      <p:sp>
        <p:nvSpPr>
          <p:cNvPr id="10" name="Text 8"/>
          <p:cNvSpPr txBox="1"/>
          <p:nvPr/>
        </p:nvSpPr>
        <p:spPr>
          <a:xfrm>
            <a:off x="640080" y="3611880"/>
            <a:ext cx="502920" cy="502920"/>
          </a:xfrm>
          <a:prstGeom prst="rect">
            <a:avLst/>
          </a:prstGeom>
          <a:noFill/>
          <a:ln/>
        </p:spPr>
        <p:txBody>
          <a:bodyPr wrap="square" lIns="0" tIns="0" rIns="0" bIns="0" rtlCol="0" anchor="ctr">
            <a:normAutofit/>
          </a:bodyPr>
          <a:lstStyle/>
          <a:p>
            <a:pPr algn="ctr" indent="0" marL="0">
              <a:lnSpc>
                <a:spcPct val="100000"/>
              </a:lnSpc>
              <a:buNone/>
            </a:pPr>
            <a:r>
              <a:rPr lang="en-US" sz="1800" b="1" dirty="0">
                <a:solidFill>
                  <a:srgbClr val="FFFFFF"/>
                </a:solidFill>
                <a:latin typeface="Cormorant Garamond" pitchFamily="34" charset="0"/>
                <a:ea typeface="Cormorant Garamond" pitchFamily="34" charset="-122"/>
                <a:cs typeface="Cormorant Garamond" pitchFamily="34" charset="-120"/>
              </a:rPr>
              <a:t>3</a:t>
            </a:r>
            <a:endParaRPr lang="en-US" sz="1800" dirty="0"/>
          </a:p>
        </p:txBody>
      </p:sp>
      <p:sp>
        <p:nvSpPr>
          <p:cNvPr id="11" name="Text 9"/>
          <p:cNvSpPr txBox="1"/>
          <p:nvPr/>
        </p:nvSpPr>
        <p:spPr>
          <a:xfrm>
            <a:off x="1371600" y="3566160"/>
            <a:ext cx="5943600" cy="640080"/>
          </a:xfrm>
          <a:prstGeom prst="rect">
            <a:avLst/>
          </a:prstGeom>
          <a:noFill/>
          <a:ln/>
        </p:spPr>
        <p:txBody>
          <a:bodyPr wrap="square" lIns="0" tIns="0" rIns="0" bIns="0" rtlCol="0" anchor="ctr">
            <a:normAutofit/>
          </a:bodyPr>
          <a:lstStyle/>
          <a:p>
            <a:pPr algn="l" indent="0" marL="0">
              <a:lnSpc>
                <a:spcPct val="100000"/>
              </a:lnSpc>
              <a:buNone/>
            </a:pPr>
            <a:r>
              <a:rPr lang="en-US" sz="1800" dirty="0">
                <a:solidFill>
                  <a:srgbClr val="1B2B2B"/>
                </a:solidFill>
                <a:latin typeface="DM Sans" pitchFamily="34" charset="0"/>
                <a:ea typeface="DM Sans" pitchFamily="34" charset="-122"/>
                <a:cs typeface="DM Sans" pitchFamily="34" charset="-120"/>
              </a:rPr>
              <a:t>The V.O.I.C.E. Framework, and why it starts with identity</a:t>
            </a:r>
            <a:endParaRPr lang="en-US" sz="1800" dirty="0"/>
          </a:p>
        </p:txBody>
      </p:sp>
      <p:sp>
        <p:nvSpPr>
          <p:cNvPr id="12" name="Shape 10"/>
          <p:cNvSpPr/>
          <p:nvPr/>
        </p:nvSpPr>
        <p:spPr>
          <a:xfrm>
            <a:off x="640080" y="4480560"/>
            <a:ext cx="502920" cy="502920"/>
          </a:xfrm>
          <a:prstGeom prst="ellipse">
            <a:avLst/>
          </a:prstGeom>
          <a:solidFill>
            <a:srgbClr val="1E4A4A"/>
          </a:solidFill>
          <a:ln w="12700">
            <a:solidFill>
              <a:srgbClr val="1E4A4A"/>
            </a:solidFill>
            <a:prstDash val="solid"/>
          </a:ln>
        </p:spPr>
      </p:sp>
      <p:sp>
        <p:nvSpPr>
          <p:cNvPr id="13" name="Text 11"/>
          <p:cNvSpPr txBox="1"/>
          <p:nvPr/>
        </p:nvSpPr>
        <p:spPr>
          <a:xfrm>
            <a:off x="640080" y="4480560"/>
            <a:ext cx="502920" cy="502920"/>
          </a:xfrm>
          <a:prstGeom prst="rect">
            <a:avLst/>
          </a:prstGeom>
          <a:noFill/>
          <a:ln/>
        </p:spPr>
        <p:txBody>
          <a:bodyPr wrap="square" lIns="0" tIns="0" rIns="0" bIns="0" rtlCol="0" anchor="ctr">
            <a:normAutofit/>
          </a:bodyPr>
          <a:lstStyle/>
          <a:p>
            <a:pPr algn="ctr" indent="0" marL="0">
              <a:lnSpc>
                <a:spcPct val="100000"/>
              </a:lnSpc>
              <a:buNone/>
            </a:pPr>
            <a:r>
              <a:rPr lang="en-US" sz="1800" b="1" dirty="0">
                <a:solidFill>
                  <a:srgbClr val="FFFFFF"/>
                </a:solidFill>
                <a:latin typeface="Cormorant Garamond" pitchFamily="34" charset="0"/>
                <a:ea typeface="Cormorant Garamond" pitchFamily="34" charset="-122"/>
                <a:cs typeface="Cormorant Garamond" pitchFamily="34" charset="-120"/>
              </a:rPr>
              <a:t>4</a:t>
            </a:r>
            <a:endParaRPr lang="en-US" sz="1800" dirty="0"/>
          </a:p>
        </p:txBody>
      </p:sp>
      <p:sp>
        <p:nvSpPr>
          <p:cNvPr id="14" name="Text 12"/>
          <p:cNvSpPr txBox="1"/>
          <p:nvPr/>
        </p:nvSpPr>
        <p:spPr>
          <a:xfrm>
            <a:off x="1371600" y="4434840"/>
            <a:ext cx="5943600" cy="640080"/>
          </a:xfrm>
          <a:prstGeom prst="rect">
            <a:avLst/>
          </a:prstGeom>
          <a:noFill/>
          <a:ln/>
        </p:spPr>
        <p:txBody>
          <a:bodyPr wrap="square" lIns="0" tIns="0" rIns="0" bIns="0" rtlCol="0" anchor="ctr">
            <a:normAutofit/>
          </a:bodyPr>
          <a:lstStyle/>
          <a:p>
            <a:pPr algn="l" indent="0" marL="0">
              <a:lnSpc>
                <a:spcPct val="100000"/>
              </a:lnSpc>
              <a:buNone/>
            </a:pPr>
            <a:r>
              <a:rPr lang="en-US" sz="1800" dirty="0">
                <a:solidFill>
                  <a:srgbClr val="1B2B2B"/>
                </a:solidFill>
                <a:latin typeface="DM Sans" pitchFamily="34" charset="0"/>
                <a:ea typeface="DM Sans" pitchFamily="34" charset="-122"/>
                <a:cs typeface="DM Sans" pitchFamily="34" charset="-120"/>
              </a:rPr>
              <a:t>What changed for Shelly, Nina and Erica</a:t>
            </a:r>
            <a:endParaRPr lang="en-US" sz="1800" dirty="0"/>
          </a:p>
        </p:txBody>
      </p:sp>
      <p:sp>
        <p:nvSpPr>
          <p:cNvPr id="15" name="Shape 13"/>
          <p:cNvSpPr/>
          <p:nvPr/>
        </p:nvSpPr>
        <p:spPr>
          <a:xfrm>
            <a:off x="640080" y="5349240"/>
            <a:ext cx="502920" cy="502920"/>
          </a:xfrm>
          <a:prstGeom prst="ellipse">
            <a:avLst/>
          </a:prstGeom>
          <a:solidFill>
            <a:srgbClr val="1E4A4A"/>
          </a:solidFill>
          <a:ln w="12700">
            <a:solidFill>
              <a:srgbClr val="1E4A4A"/>
            </a:solidFill>
            <a:prstDash val="solid"/>
          </a:ln>
        </p:spPr>
      </p:sp>
      <p:sp>
        <p:nvSpPr>
          <p:cNvPr id="16" name="Text 14"/>
          <p:cNvSpPr txBox="1"/>
          <p:nvPr/>
        </p:nvSpPr>
        <p:spPr>
          <a:xfrm>
            <a:off x="640080" y="5349240"/>
            <a:ext cx="502920" cy="502920"/>
          </a:xfrm>
          <a:prstGeom prst="rect">
            <a:avLst/>
          </a:prstGeom>
          <a:noFill/>
          <a:ln/>
        </p:spPr>
        <p:txBody>
          <a:bodyPr wrap="square" lIns="0" tIns="0" rIns="0" bIns="0" rtlCol="0" anchor="ctr">
            <a:normAutofit/>
          </a:bodyPr>
          <a:lstStyle/>
          <a:p>
            <a:pPr algn="ctr" indent="0" marL="0">
              <a:lnSpc>
                <a:spcPct val="100000"/>
              </a:lnSpc>
              <a:buNone/>
            </a:pPr>
            <a:r>
              <a:rPr lang="en-US" sz="1800" b="1" dirty="0">
                <a:solidFill>
                  <a:srgbClr val="FFFFFF"/>
                </a:solidFill>
                <a:latin typeface="Cormorant Garamond" pitchFamily="34" charset="0"/>
                <a:ea typeface="Cormorant Garamond" pitchFamily="34" charset="-122"/>
                <a:cs typeface="Cormorant Garamond" pitchFamily="34" charset="-120"/>
              </a:rPr>
              <a:t>5</a:t>
            </a:r>
            <a:endParaRPr lang="en-US" sz="1800" dirty="0"/>
          </a:p>
        </p:txBody>
      </p:sp>
      <p:sp>
        <p:nvSpPr>
          <p:cNvPr id="17" name="Text 15"/>
          <p:cNvSpPr txBox="1"/>
          <p:nvPr/>
        </p:nvSpPr>
        <p:spPr>
          <a:xfrm>
            <a:off x="1371600" y="5303520"/>
            <a:ext cx="5943600" cy="640080"/>
          </a:xfrm>
          <a:prstGeom prst="rect">
            <a:avLst/>
          </a:prstGeom>
          <a:noFill/>
          <a:ln/>
        </p:spPr>
        <p:txBody>
          <a:bodyPr wrap="square" lIns="0" tIns="0" rIns="0" bIns="0" rtlCol="0" anchor="ctr">
            <a:normAutofit/>
          </a:bodyPr>
          <a:lstStyle/>
          <a:p>
            <a:pPr algn="l" indent="0" marL="0">
              <a:lnSpc>
                <a:spcPct val="100000"/>
              </a:lnSpc>
              <a:buNone/>
            </a:pPr>
            <a:r>
              <a:rPr lang="en-US" sz="1800" dirty="0">
                <a:solidFill>
                  <a:srgbClr val="1B2B2B"/>
                </a:solidFill>
                <a:latin typeface="DM Sans" pitchFamily="34" charset="0"/>
                <a:ea typeface="DM Sans" pitchFamily="34" charset="-122"/>
                <a:cs typeface="DM Sans" pitchFamily="34" charset="-120"/>
              </a:rPr>
              <a:t>How you can work with me if you want to go further</a:t>
            </a:r>
            <a:endParaRPr lang="en-US" sz="1800" dirty="0"/>
          </a:p>
        </p:txBody>
      </p:sp>
      <p:sp>
        <p:nvSpPr>
          <p:cNvPr id="18" name="Shape 16"/>
          <p:cNvSpPr/>
          <p:nvPr/>
        </p:nvSpPr>
        <p:spPr>
          <a:xfrm>
            <a:off x="7863840" y="548640"/>
            <a:ext cx="3703320" cy="5760720"/>
          </a:xfrm>
          <a:prstGeom prst="roundRect">
            <a:avLst>
              <a:gd name="adj" fmla="val 2963"/>
            </a:avLst>
          </a:prstGeom>
          <a:solidFill>
            <a:srgbClr val="E1F5EE"/>
          </a:solidFill>
          <a:ln w="15875">
            <a:solidFill>
              <a:srgbClr val="8AAF8A"/>
            </a:solidFill>
            <a:prstDash val="dash"/>
          </a:ln>
        </p:spPr>
      </p:sp>
      <p:sp>
        <p:nvSpPr>
          <p:cNvPr id="19" name="Text 17"/>
          <p:cNvSpPr txBox="1"/>
          <p:nvPr/>
        </p:nvSpPr>
        <p:spPr>
          <a:xfrm>
            <a:off x="8160106" y="844906"/>
            <a:ext cx="3110789" cy="320040"/>
          </a:xfrm>
          <a:prstGeom prst="rect">
            <a:avLst/>
          </a:prstGeom>
          <a:noFill/>
          <a:ln/>
        </p:spPr>
        <p:txBody>
          <a:bodyPr wrap="square" lIns="0" tIns="0" rIns="0" bIns="0" rtlCol="0" anchor="ctr">
            <a:normAutofit/>
          </a:bodyPr>
          <a:lstStyle/>
          <a:p>
            <a:pPr algn="l" indent="0" marL="0">
              <a:lnSpc>
                <a:spcPct val="100000"/>
              </a:lnSpc>
              <a:buNone/>
            </a:pPr>
            <a:r>
              <a:rPr lang="en-US" sz="1100" b="1" spc="300" kern="0" dirty="0">
                <a:solidFill>
                  <a:srgbClr val="1E4A4A"/>
                </a:solidFill>
                <a:latin typeface="DM Sans" pitchFamily="34" charset="0"/>
                <a:ea typeface="DM Sans" pitchFamily="34" charset="-122"/>
                <a:cs typeface="DM Sans" pitchFamily="34" charset="-120"/>
              </a:rPr>
              <a:t>PHOTO PLACEHOLDER</a:t>
            </a:r>
            <a:endParaRPr lang="en-US" sz="1100" dirty="0"/>
          </a:p>
        </p:txBody>
      </p:sp>
      <p:sp>
        <p:nvSpPr>
          <p:cNvPr id="20" name="Text 18"/>
          <p:cNvSpPr txBox="1"/>
          <p:nvPr/>
        </p:nvSpPr>
        <p:spPr>
          <a:xfrm>
            <a:off x="8160106" y="1256386"/>
            <a:ext cx="3110789" cy="2377440"/>
          </a:xfrm>
          <a:prstGeom prst="rect">
            <a:avLst/>
          </a:prstGeom>
          <a:noFill/>
          <a:ln/>
        </p:spPr>
        <p:txBody>
          <a:bodyPr wrap="square" lIns="0" tIns="0" rIns="0" bIns="0" rtlCol="0" anchor="t">
            <a:normAutofit/>
          </a:bodyPr>
          <a:lstStyle/>
          <a:p>
            <a:pPr algn="l" indent="0" marL="0">
              <a:lnSpc>
                <a:spcPct val="110000"/>
              </a:lnSpc>
              <a:buNone/>
            </a:pPr>
            <a:r>
              <a:rPr lang="en-US" sz="1200" i="1" dirty="0">
                <a:solidFill>
                  <a:srgbClr val="5E6B68"/>
                </a:solidFill>
                <a:latin typeface="DM Sans" pitchFamily="34" charset="0"/>
                <a:ea typeface="DM Sans" pitchFamily="34" charset="-122"/>
                <a:cs typeface="DM Sans" pitchFamily="34" charset="-120"/>
              </a:rPr>
              <a:t>Tamara at a desk with an open notebook and a pen, mid-laugh, looking just off camera. Natural light.</a:t>
            </a:r>
            <a:endParaRPr lang="en-US" sz="1200" dirty="0"/>
          </a:p>
        </p:txBody>
      </p:sp>
      <p:sp>
        <p:nvSpPr>
          <p:cNvPr id="25" name="Slide Number Placeholder 0"/>
          <p:cNvSpPr>
            <a:spLocks noGrp="1"/>
          </p:cNvSpPr>
          <p:nvPr>
            <p:ph type="sldNum" sz="quarter" idx="4294967295"/>
          </p:nvPr>
        </p:nvSpPr>
        <p:spPr>
          <a:xfrm>
            <a:off x="11368735"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AA6A3"/>
                </a:solidFill>
                <a:latin typeface="DM Sans"/>
                <a:ea typeface="DM Sans"/>
                <a:cs typeface="DM Sans"/>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1F5EE"/>
        </a:solidFill>
      </p:bgPr>
    </p:bg>
    <p:spTree>
      <p:nvGrpSpPr>
        <p:cNvPr id="1" name=""/>
        <p:cNvGrpSpPr/>
        <p:nvPr/>
      </p:nvGrpSpPr>
      <p:grpSpPr>
        <a:xfrm>
          <a:off x="0" y="0"/>
          <a:ext cx="0" cy="0"/>
          <a:chOff x="0" y="0"/>
          <a:chExt cx="0" cy="0"/>
        </a:xfrm>
      </p:grpSpPr>
      <p:sp>
        <p:nvSpPr>
          <p:cNvPr id="2" name="Text 0"/>
          <p:cNvSpPr txBox="1"/>
          <p:nvPr/>
        </p:nvSpPr>
        <p:spPr>
          <a:xfrm>
            <a:off x="822960" y="731520"/>
            <a:ext cx="10545775" cy="365760"/>
          </a:xfrm>
          <a:prstGeom prst="rect">
            <a:avLst/>
          </a:prstGeom>
          <a:noFill/>
          <a:ln/>
        </p:spPr>
        <p:txBody>
          <a:bodyPr wrap="square" lIns="0" tIns="0" rIns="0" bIns="0" rtlCol="0" anchor="ctr">
            <a:normAutofit/>
          </a:bodyPr>
          <a:lstStyle/>
          <a:p>
            <a:pPr algn="l" indent="0" marL="0">
              <a:lnSpc>
                <a:spcPct val="100000"/>
              </a:lnSpc>
              <a:buNone/>
            </a:pPr>
            <a:r>
              <a:rPr lang="en-US" sz="1400" b="1" spc="400" kern="0" dirty="0">
                <a:solidFill>
                  <a:srgbClr val="8AAF8A"/>
                </a:solidFill>
                <a:latin typeface="DM Sans" pitchFamily="34" charset="0"/>
                <a:ea typeface="DM Sans" pitchFamily="34" charset="-122"/>
                <a:cs typeface="DM Sans" pitchFamily="34" charset="-120"/>
              </a:rPr>
              <a:t>QUICK POLL</a:t>
            </a:r>
            <a:endParaRPr lang="en-US" sz="1400" dirty="0"/>
          </a:p>
        </p:txBody>
      </p:sp>
      <p:sp>
        <p:nvSpPr>
          <p:cNvPr id="3" name="Text 1"/>
          <p:cNvSpPr txBox="1"/>
          <p:nvPr/>
        </p:nvSpPr>
        <p:spPr>
          <a:xfrm>
            <a:off x="822960" y="1143000"/>
            <a:ext cx="10545775" cy="1097280"/>
          </a:xfrm>
          <a:prstGeom prst="rect">
            <a:avLst/>
          </a:prstGeom>
          <a:noFill/>
          <a:ln/>
        </p:spPr>
        <p:txBody>
          <a:bodyPr wrap="square" lIns="0" tIns="0" rIns="0" bIns="0" rtlCol="0" anchor="t">
            <a:normAutofit/>
          </a:bodyPr>
          <a:lstStyle/>
          <a:p>
            <a:pPr algn="l" indent="0" marL="0">
              <a:lnSpc>
                <a:spcPct val="95000"/>
              </a:lnSpc>
              <a:buNone/>
            </a:pPr>
            <a:r>
              <a:rPr lang="en-US" sz="4800" b="1" dirty="0">
                <a:solidFill>
                  <a:srgbClr val="1E4A4A"/>
                </a:solidFill>
                <a:latin typeface="Cormorant Garamond" pitchFamily="34" charset="0"/>
                <a:ea typeface="Cormorant Garamond" pitchFamily="34" charset="-122"/>
                <a:cs typeface="Cormorant Garamond" pitchFamily="34" charset="-120"/>
              </a:rPr>
              <a:t>Where are you </a:t>
            </a:r>
            <a:pPr algn="l" indent="0" marL="0">
              <a:lnSpc>
                <a:spcPct val="95000"/>
              </a:lnSpc>
              <a:buNone/>
            </a:pPr>
            <a:r>
              <a:rPr lang="en-US" sz="4800" b="1" dirty="0">
                <a:solidFill>
                  <a:srgbClr val="1E4A4A"/>
                </a:solidFill>
                <a:highlight>
                  <a:srgbClr val="CFE3CF"/>
                </a:highlight>
                <a:latin typeface="Cormorant Garamond" pitchFamily="34" charset="0"/>
                <a:ea typeface="Cormorant Garamond" pitchFamily="34" charset="-122"/>
                <a:cs typeface="Cormorant Garamond" pitchFamily="34" charset="-120"/>
              </a:rPr>
              <a:t>right now?</a:t>
            </a:r>
            <a:endParaRPr lang="en-US" sz="4800" dirty="0"/>
          </a:p>
        </p:txBody>
      </p:sp>
      <p:sp>
        <p:nvSpPr>
          <p:cNvPr id="4" name="Shape 2"/>
          <p:cNvSpPr/>
          <p:nvPr/>
        </p:nvSpPr>
        <p:spPr>
          <a:xfrm>
            <a:off x="822960" y="2514600"/>
            <a:ext cx="10545775" cy="777240"/>
          </a:xfrm>
          <a:prstGeom prst="roundRect">
            <a:avLst>
              <a:gd name="adj" fmla="val 14118"/>
            </a:avLst>
          </a:prstGeom>
          <a:solidFill>
            <a:srgbClr val="FFFFFF"/>
          </a:solidFill>
          <a:ln w="12700">
            <a:solidFill>
              <a:srgbClr val="FFFFFF"/>
            </a:solidFill>
            <a:prstDash val="solid"/>
          </a:ln>
        </p:spPr>
      </p:sp>
      <p:sp>
        <p:nvSpPr>
          <p:cNvPr id="5" name="Shape 3"/>
          <p:cNvSpPr/>
          <p:nvPr/>
        </p:nvSpPr>
        <p:spPr>
          <a:xfrm>
            <a:off x="1005840" y="2651760"/>
            <a:ext cx="502920" cy="502920"/>
          </a:xfrm>
          <a:prstGeom prst="ellipse">
            <a:avLst/>
          </a:prstGeom>
          <a:solidFill>
            <a:srgbClr val="1E4A4A"/>
          </a:solidFill>
          <a:ln w="12700">
            <a:solidFill>
              <a:srgbClr val="1E4A4A"/>
            </a:solidFill>
            <a:prstDash val="solid"/>
          </a:ln>
        </p:spPr>
      </p:sp>
      <p:sp>
        <p:nvSpPr>
          <p:cNvPr id="6" name="Text 4"/>
          <p:cNvSpPr txBox="1"/>
          <p:nvPr/>
        </p:nvSpPr>
        <p:spPr>
          <a:xfrm>
            <a:off x="1005840" y="2651760"/>
            <a:ext cx="502920" cy="502920"/>
          </a:xfrm>
          <a:prstGeom prst="rect">
            <a:avLst/>
          </a:prstGeom>
          <a:noFill/>
          <a:ln/>
        </p:spPr>
        <p:txBody>
          <a:bodyPr wrap="square" lIns="0" tIns="0" rIns="0" bIns="0" rtlCol="0" anchor="ctr">
            <a:normAutofit/>
          </a:bodyPr>
          <a:lstStyle/>
          <a:p>
            <a:pPr algn="ctr" indent="0" marL="0">
              <a:lnSpc>
                <a:spcPct val="100000"/>
              </a:lnSpc>
              <a:buNone/>
            </a:pPr>
            <a:r>
              <a:rPr lang="en-US" sz="2000" b="1" dirty="0">
                <a:solidFill>
                  <a:srgbClr val="FFFFFF"/>
                </a:solidFill>
                <a:latin typeface="Cormorant Garamond" pitchFamily="34" charset="0"/>
                <a:ea typeface="Cormorant Garamond" pitchFamily="34" charset="-122"/>
                <a:cs typeface="Cormorant Garamond" pitchFamily="34" charset="-120"/>
              </a:rPr>
              <a:t>1</a:t>
            </a:r>
            <a:endParaRPr lang="en-US" sz="2000" dirty="0"/>
          </a:p>
        </p:txBody>
      </p:sp>
      <p:sp>
        <p:nvSpPr>
          <p:cNvPr id="7" name="Text 5"/>
          <p:cNvSpPr txBox="1"/>
          <p:nvPr/>
        </p:nvSpPr>
        <p:spPr>
          <a:xfrm>
            <a:off x="1783080" y="2514600"/>
            <a:ext cx="9265615" cy="777240"/>
          </a:xfrm>
          <a:prstGeom prst="rect">
            <a:avLst/>
          </a:prstGeom>
          <a:noFill/>
          <a:ln/>
        </p:spPr>
        <p:txBody>
          <a:bodyPr wrap="square" lIns="0" tIns="0" rIns="0" bIns="0" rtlCol="0" anchor="ctr">
            <a:normAutofit/>
          </a:bodyPr>
          <a:lstStyle/>
          <a:p>
            <a:pPr algn="l" indent="0" marL="0">
              <a:lnSpc>
                <a:spcPct val="100000"/>
              </a:lnSpc>
              <a:buNone/>
            </a:pPr>
            <a:r>
              <a:rPr lang="en-US" sz="2600" b="1" dirty="0">
                <a:solidFill>
                  <a:srgbClr val="1B2B2B"/>
                </a:solidFill>
                <a:latin typeface="Cormorant Garamond" pitchFamily="34" charset="0"/>
                <a:ea typeface="Cormorant Garamond" pitchFamily="34" charset="-122"/>
                <a:cs typeface="Cormorant Garamond" pitchFamily="34" charset="-120"/>
              </a:rPr>
              <a:t>I've never negotiated, and I know I'm underpaid</a:t>
            </a:r>
            <a:endParaRPr lang="en-US" sz="2600" dirty="0"/>
          </a:p>
        </p:txBody>
      </p:sp>
      <p:sp>
        <p:nvSpPr>
          <p:cNvPr id="8" name="Shape 6"/>
          <p:cNvSpPr/>
          <p:nvPr/>
        </p:nvSpPr>
        <p:spPr>
          <a:xfrm>
            <a:off x="822960" y="3474720"/>
            <a:ext cx="10545775" cy="777240"/>
          </a:xfrm>
          <a:prstGeom prst="roundRect">
            <a:avLst>
              <a:gd name="adj" fmla="val 14118"/>
            </a:avLst>
          </a:prstGeom>
          <a:solidFill>
            <a:srgbClr val="FFFFFF"/>
          </a:solidFill>
          <a:ln w="12700">
            <a:solidFill>
              <a:srgbClr val="FFFFFF"/>
            </a:solidFill>
            <a:prstDash val="solid"/>
          </a:ln>
        </p:spPr>
      </p:sp>
      <p:sp>
        <p:nvSpPr>
          <p:cNvPr id="9" name="Shape 7"/>
          <p:cNvSpPr/>
          <p:nvPr/>
        </p:nvSpPr>
        <p:spPr>
          <a:xfrm>
            <a:off x="1005840" y="3611880"/>
            <a:ext cx="502920" cy="502920"/>
          </a:xfrm>
          <a:prstGeom prst="ellipse">
            <a:avLst/>
          </a:prstGeom>
          <a:solidFill>
            <a:srgbClr val="1E4A4A"/>
          </a:solidFill>
          <a:ln w="12700">
            <a:solidFill>
              <a:srgbClr val="1E4A4A"/>
            </a:solidFill>
            <a:prstDash val="solid"/>
          </a:ln>
        </p:spPr>
      </p:sp>
      <p:sp>
        <p:nvSpPr>
          <p:cNvPr id="10" name="Text 8"/>
          <p:cNvSpPr txBox="1"/>
          <p:nvPr/>
        </p:nvSpPr>
        <p:spPr>
          <a:xfrm>
            <a:off x="1005840" y="3611880"/>
            <a:ext cx="502920" cy="502920"/>
          </a:xfrm>
          <a:prstGeom prst="rect">
            <a:avLst/>
          </a:prstGeom>
          <a:noFill/>
          <a:ln/>
        </p:spPr>
        <p:txBody>
          <a:bodyPr wrap="square" lIns="0" tIns="0" rIns="0" bIns="0" rtlCol="0" anchor="ctr">
            <a:normAutofit/>
          </a:bodyPr>
          <a:lstStyle/>
          <a:p>
            <a:pPr algn="ctr" indent="0" marL="0">
              <a:lnSpc>
                <a:spcPct val="100000"/>
              </a:lnSpc>
              <a:buNone/>
            </a:pPr>
            <a:r>
              <a:rPr lang="en-US" sz="2000" b="1" dirty="0">
                <a:solidFill>
                  <a:srgbClr val="FFFFFF"/>
                </a:solidFill>
                <a:latin typeface="Cormorant Garamond" pitchFamily="34" charset="0"/>
                <a:ea typeface="Cormorant Garamond" pitchFamily="34" charset="-122"/>
                <a:cs typeface="Cormorant Garamond" pitchFamily="34" charset="-120"/>
              </a:rPr>
              <a:t>2</a:t>
            </a:r>
            <a:endParaRPr lang="en-US" sz="2000" dirty="0"/>
          </a:p>
        </p:txBody>
      </p:sp>
      <p:sp>
        <p:nvSpPr>
          <p:cNvPr id="11" name="Text 9"/>
          <p:cNvSpPr txBox="1"/>
          <p:nvPr/>
        </p:nvSpPr>
        <p:spPr>
          <a:xfrm>
            <a:off x="1783080" y="3474720"/>
            <a:ext cx="9265615" cy="777240"/>
          </a:xfrm>
          <a:prstGeom prst="rect">
            <a:avLst/>
          </a:prstGeom>
          <a:noFill/>
          <a:ln/>
        </p:spPr>
        <p:txBody>
          <a:bodyPr wrap="square" lIns="0" tIns="0" rIns="0" bIns="0" rtlCol="0" anchor="ctr">
            <a:normAutofit/>
          </a:bodyPr>
          <a:lstStyle/>
          <a:p>
            <a:pPr algn="l" indent="0" marL="0">
              <a:lnSpc>
                <a:spcPct val="100000"/>
              </a:lnSpc>
              <a:buNone/>
            </a:pPr>
            <a:r>
              <a:rPr lang="en-US" sz="2600" b="1" dirty="0">
                <a:solidFill>
                  <a:srgbClr val="1B2B2B"/>
                </a:solidFill>
                <a:latin typeface="Cormorant Garamond" pitchFamily="34" charset="0"/>
                <a:ea typeface="Cormorant Garamond" pitchFamily="34" charset="-122"/>
                <a:cs typeface="Cormorant Garamond" pitchFamily="34" charset="-120"/>
              </a:rPr>
              <a:t>I've negotiated, but I'm still underpaid and I want more</a:t>
            </a:r>
            <a:endParaRPr lang="en-US" sz="2600" dirty="0"/>
          </a:p>
        </p:txBody>
      </p:sp>
      <p:sp>
        <p:nvSpPr>
          <p:cNvPr id="12" name="Shape 10"/>
          <p:cNvSpPr/>
          <p:nvPr/>
        </p:nvSpPr>
        <p:spPr>
          <a:xfrm>
            <a:off x="822960" y="4434840"/>
            <a:ext cx="10545775" cy="777240"/>
          </a:xfrm>
          <a:prstGeom prst="roundRect">
            <a:avLst>
              <a:gd name="adj" fmla="val 14118"/>
            </a:avLst>
          </a:prstGeom>
          <a:solidFill>
            <a:srgbClr val="FFFFFF"/>
          </a:solidFill>
          <a:ln w="12700">
            <a:solidFill>
              <a:srgbClr val="FFFFFF"/>
            </a:solidFill>
            <a:prstDash val="solid"/>
          </a:ln>
        </p:spPr>
      </p:sp>
      <p:sp>
        <p:nvSpPr>
          <p:cNvPr id="13" name="Shape 11"/>
          <p:cNvSpPr/>
          <p:nvPr/>
        </p:nvSpPr>
        <p:spPr>
          <a:xfrm>
            <a:off x="1005840" y="4572000"/>
            <a:ext cx="502920" cy="502920"/>
          </a:xfrm>
          <a:prstGeom prst="ellipse">
            <a:avLst/>
          </a:prstGeom>
          <a:solidFill>
            <a:srgbClr val="1E4A4A"/>
          </a:solidFill>
          <a:ln w="12700">
            <a:solidFill>
              <a:srgbClr val="1E4A4A"/>
            </a:solidFill>
            <a:prstDash val="solid"/>
          </a:ln>
        </p:spPr>
      </p:sp>
      <p:sp>
        <p:nvSpPr>
          <p:cNvPr id="14" name="Text 12"/>
          <p:cNvSpPr txBox="1"/>
          <p:nvPr/>
        </p:nvSpPr>
        <p:spPr>
          <a:xfrm>
            <a:off x="1005840" y="4572000"/>
            <a:ext cx="502920" cy="502920"/>
          </a:xfrm>
          <a:prstGeom prst="rect">
            <a:avLst/>
          </a:prstGeom>
          <a:noFill/>
          <a:ln/>
        </p:spPr>
        <p:txBody>
          <a:bodyPr wrap="square" lIns="0" tIns="0" rIns="0" bIns="0" rtlCol="0" anchor="ctr">
            <a:normAutofit/>
          </a:bodyPr>
          <a:lstStyle/>
          <a:p>
            <a:pPr algn="ctr" indent="0" marL="0">
              <a:lnSpc>
                <a:spcPct val="100000"/>
              </a:lnSpc>
              <a:buNone/>
            </a:pPr>
            <a:r>
              <a:rPr lang="en-US" sz="2000" b="1" dirty="0">
                <a:solidFill>
                  <a:srgbClr val="FFFFFF"/>
                </a:solidFill>
                <a:latin typeface="Cormorant Garamond" pitchFamily="34" charset="0"/>
                <a:ea typeface="Cormorant Garamond" pitchFamily="34" charset="-122"/>
                <a:cs typeface="Cormorant Garamond" pitchFamily="34" charset="-120"/>
              </a:rPr>
              <a:t>3</a:t>
            </a:r>
            <a:endParaRPr lang="en-US" sz="2000" dirty="0"/>
          </a:p>
        </p:txBody>
      </p:sp>
      <p:sp>
        <p:nvSpPr>
          <p:cNvPr id="15" name="Text 13"/>
          <p:cNvSpPr txBox="1"/>
          <p:nvPr/>
        </p:nvSpPr>
        <p:spPr>
          <a:xfrm>
            <a:off x="1783080" y="4434840"/>
            <a:ext cx="9265615" cy="777240"/>
          </a:xfrm>
          <a:prstGeom prst="rect">
            <a:avLst/>
          </a:prstGeom>
          <a:noFill/>
          <a:ln/>
        </p:spPr>
        <p:txBody>
          <a:bodyPr wrap="square" lIns="0" tIns="0" rIns="0" bIns="0" rtlCol="0" anchor="ctr">
            <a:normAutofit/>
          </a:bodyPr>
          <a:lstStyle/>
          <a:p>
            <a:pPr algn="l" indent="0" marL="0">
              <a:lnSpc>
                <a:spcPct val="100000"/>
              </a:lnSpc>
              <a:buNone/>
            </a:pPr>
            <a:r>
              <a:rPr lang="en-US" sz="2600" b="1" dirty="0">
                <a:solidFill>
                  <a:srgbClr val="1B2B2B"/>
                </a:solidFill>
                <a:latin typeface="Cormorant Garamond" pitchFamily="34" charset="0"/>
                <a:ea typeface="Cormorant Garamond" pitchFamily="34" charset="-122"/>
                <a:cs typeface="Cormorant Garamond" pitchFamily="34" charset="-120"/>
              </a:rPr>
              <a:t>I'm winning, but my pay doesn't reflect it</a:t>
            </a:r>
            <a:endParaRPr lang="en-US" sz="2600" dirty="0"/>
          </a:p>
        </p:txBody>
      </p:sp>
      <p:sp>
        <p:nvSpPr>
          <p:cNvPr id="16" name="Text 14"/>
          <p:cNvSpPr txBox="1"/>
          <p:nvPr/>
        </p:nvSpPr>
        <p:spPr>
          <a:xfrm>
            <a:off x="822960" y="5577840"/>
            <a:ext cx="10545775" cy="457200"/>
          </a:xfrm>
          <a:prstGeom prst="rect">
            <a:avLst/>
          </a:prstGeom>
          <a:noFill/>
          <a:ln/>
        </p:spPr>
        <p:txBody>
          <a:bodyPr wrap="square" lIns="0" tIns="0" rIns="0" bIns="0" rtlCol="0" anchor="ctr">
            <a:normAutofit/>
          </a:bodyPr>
          <a:lstStyle/>
          <a:p>
            <a:pPr algn="l" indent="0" marL="0">
              <a:lnSpc>
                <a:spcPct val="100000"/>
              </a:lnSpc>
              <a:buNone/>
            </a:pPr>
            <a:r>
              <a:rPr lang="en-US" sz="1800" b="1" dirty="0">
                <a:solidFill>
                  <a:srgbClr val="1E4A4A"/>
                </a:solidFill>
                <a:latin typeface="DM Sans" pitchFamily="34" charset="0"/>
                <a:ea typeface="DM Sans" pitchFamily="34" charset="-122"/>
                <a:cs typeface="DM Sans" pitchFamily="34" charset="-120"/>
              </a:rPr>
              <a:t>Type 1, 2 or 3 in the chat</a:t>
            </a:r>
            <a:endParaRPr lang="en-US" sz="1800" dirty="0"/>
          </a:p>
        </p:txBody>
      </p:sp>
      <p:sp>
        <p:nvSpPr>
          <p:cNvPr id="25" name="Slide Number Placeholder 0"/>
          <p:cNvSpPr>
            <a:spLocks noGrp="1"/>
          </p:cNvSpPr>
          <p:nvPr>
            <p:ph type="sldNum" sz="quarter" idx="4294967295"/>
          </p:nvPr>
        </p:nvSpPr>
        <p:spPr>
          <a:xfrm>
            <a:off x="11368735"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AA6A3"/>
                </a:solidFill>
                <a:latin typeface="DM Sans"/>
                <a:ea typeface="DM Sans"/>
                <a:cs typeface="DM Sans"/>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5EE"/>
        </a:solidFill>
      </p:bgPr>
    </p:bg>
    <p:spTree>
      <p:nvGrpSpPr>
        <p:cNvPr id="1" name=""/>
        <p:cNvGrpSpPr/>
        <p:nvPr/>
      </p:nvGrpSpPr>
      <p:grpSpPr>
        <a:xfrm>
          <a:off x="0" y="0"/>
          <a:ext cx="0" cy="0"/>
          <a:chOff x="0" y="0"/>
          <a:chExt cx="0" cy="0"/>
        </a:xfrm>
      </p:grpSpPr>
      <p:sp>
        <p:nvSpPr>
          <p:cNvPr id="2" name="Shape 0"/>
          <p:cNvSpPr/>
          <p:nvPr/>
        </p:nvSpPr>
        <p:spPr>
          <a:xfrm>
            <a:off x="7071055" y="0"/>
            <a:ext cx="5120640" cy="6858000"/>
          </a:xfrm>
          <a:prstGeom prst="rect">
            <a:avLst/>
          </a:prstGeom>
          <a:solidFill>
            <a:srgbClr val="E1F5EE"/>
          </a:solidFill>
          <a:ln w="15875">
            <a:solidFill>
              <a:srgbClr val="8AAF8A"/>
            </a:solidFill>
            <a:prstDash val="dash"/>
          </a:ln>
        </p:spPr>
      </p:sp>
      <p:sp>
        <p:nvSpPr>
          <p:cNvPr id="3" name="Text 1"/>
          <p:cNvSpPr txBox="1"/>
          <p:nvPr/>
        </p:nvSpPr>
        <p:spPr>
          <a:xfrm>
            <a:off x="7391095" y="320040"/>
            <a:ext cx="4480560" cy="320040"/>
          </a:xfrm>
          <a:prstGeom prst="rect">
            <a:avLst/>
          </a:prstGeom>
          <a:noFill/>
          <a:ln/>
        </p:spPr>
        <p:txBody>
          <a:bodyPr wrap="square" lIns="0" tIns="0" rIns="0" bIns="0" rtlCol="0" anchor="ctr">
            <a:normAutofit/>
          </a:bodyPr>
          <a:lstStyle/>
          <a:p>
            <a:pPr algn="l" indent="0" marL="0">
              <a:lnSpc>
                <a:spcPct val="100000"/>
              </a:lnSpc>
              <a:buNone/>
            </a:pPr>
            <a:r>
              <a:rPr lang="en-US" sz="1100" b="1" spc="300" kern="0" dirty="0">
                <a:solidFill>
                  <a:srgbClr val="1E4A4A"/>
                </a:solidFill>
                <a:latin typeface="DM Sans" pitchFamily="34" charset="0"/>
                <a:ea typeface="DM Sans" pitchFamily="34" charset="-122"/>
                <a:cs typeface="DM Sans" pitchFamily="34" charset="-120"/>
              </a:rPr>
              <a:t>PHOTO PLACEHOLDER</a:t>
            </a:r>
            <a:endParaRPr lang="en-US" sz="1100" dirty="0"/>
          </a:p>
        </p:txBody>
      </p:sp>
      <p:sp>
        <p:nvSpPr>
          <p:cNvPr id="4" name="Text 2"/>
          <p:cNvSpPr txBox="1"/>
          <p:nvPr/>
        </p:nvSpPr>
        <p:spPr>
          <a:xfrm>
            <a:off x="7391095" y="731520"/>
            <a:ext cx="4480560" cy="2377440"/>
          </a:xfrm>
          <a:prstGeom prst="rect">
            <a:avLst/>
          </a:prstGeom>
          <a:noFill/>
          <a:ln/>
        </p:spPr>
        <p:txBody>
          <a:bodyPr wrap="square" lIns="0" tIns="0" rIns="0" bIns="0" rtlCol="0" anchor="t">
            <a:normAutofit/>
          </a:bodyPr>
          <a:lstStyle/>
          <a:p>
            <a:pPr algn="l" indent="0" marL="0">
              <a:lnSpc>
                <a:spcPct val="110000"/>
              </a:lnSpc>
              <a:buNone/>
            </a:pPr>
            <a:r>
              <a:rPr lang="en-US" sz="1200" i="1" dirty="0">
                <a:solidFill>
                  <a:srgbClr val="5E6B68"/>
                </a:solidFill>
                <a:latin typeface="DM Sans" pitchFamily="34" charset="0"/>
                <a:ea typeface="DM Sans" pitchFamily="34" charset="-122"/>
                <a:cs typeface="DM Sans" pitchFamily="34" charset="-120"/>
              </a:rPr>
              <a:t>Close-up: a woman's hands wrapped around a coffee mug on a desk, notebook open next to her. Soft morning light.</a:t>
            </a:r>
            <a:endParaRPr lang="en-US" sz="1200" dirty="0"/>
          </a:p>
        </p:txBody>
      </p:sp>
      <p:sp>
        <p:nvSpPr>
          <p:cNvPr id="5" name="Text 3"/>
          <p:cNvSpPr txBox="1"/>
          <p:nvPr/>
        </p:nvSpPr>
        <p:spPr>
          <a:xfrm>
            <a:off x="640080" y="731520"/>
            <a:ext cx="5852160" cy="2743200"/>
          </a:xfrm>
          <a:prstGeom prst="rect">
            <a:avLst/>
          </a:prstGeom>
          <a:noFill/>
          <a:ln/>
        </p:spPr>
        <p:txBody>
          <a:bodyPr wrap="square" lIns="0" tIns="0" rIns="0" bIns="0" rtlCol="0" anchor="b">
            <a:normAutofit/>
          </a:bodyPr>
          <a:lstStyle/>
          <a:p>
            <a:pPr algn="l" indent="0" marL="0">
              <a:lnSpc>
                <a:spcPct val="95000"/>
              </a:lnSpc>
              <a:buNone/>
            </a:pPr>
            <a:r>
              <a:rPr lang="en-US" sz="4000" b="1" dirty="0">
                <a:solidFill>
                  <a:srgbClr val="1B2B2B"/>
                </a:solidFill>
                <a:latin typeface="Cormorant Garamond" pitchFamily="34" charset="0"/>
                <a:ea typeface="Cormorant Garamond" pitchFamily="34" charset="-122"/>
                <a:cs typeface="Cormorant Garamond" pitchFamily="34" charset="-120"/>
              </a:rPr>
              <a:t>One ask </a:t>
            </a:r>
            <a:pPr algn="l" indent="0" marL="0">
              <a:lnSpc>
                <a:spcPct val="95000"/>
              </a:lnSpc>
              <a:buNone/>
            </a:pPr>
            <a:r>
              <a:rPr lang="en-US" sz="4000" b="1" dirty="0">
                <a:solidFill>
                  <a:srgbClr val="1B2B2B"/>
                </a:solidFill>
                <a:highlight>
                  <a:srgbClr val="CFE3CF"/>
                </a:highlight>
                <a:latin typeface="Cormorant Garamond" pitchFamily="34" charset="0"/>
                <a:ea typeface="Cormorant Garamond" pitchFamily="34" charset="-122"/>
                <a:cs typeface="Cormorant Garamond" pitchFamily="34" charset="-120"/>
              </a:rPr>
              <a:t>before we start</a:t>
            </a:r>
            <a:endParaRPr lang="en-US" sz="4000" dirty="0"/>
          </a:p>
        </p:txBody>
      </p:sp>
      <p:sp>
        <p:nvSpPr>
          <p:cNvPr id="6" name="Text 4"/>
          <p:cNvSpPr txBox="1"/>
          <p:nvPr/>
        </p:nvSpPr>
        <p:spPr>
          <a:xfrm>
            <a:off x="640080" y="3749040"/>
            <a:ext cx="5760720" cy="2377440"/>
          </a:xfrm>
          <a:prstGeom prst="rect">
            <a:avLst/>
          </a:prstGeom>
          <a:noFill/>
          <a:ln/>
        </p:spPr>
        <p:txBody>
          <a:bodyPr wrap="square" lIns="0" tIns="0" rIns="0" bIns="0" rtlCol="0" anchor="t">
            <a:normAutofit/>
          </a:bodyPr>
          <a:lstStyle/>
          <a:p>
            <a:pPr algn="l" indent="0" marL="0">
              <a:lnSpc>
                <a:spcPct val="115000"/>
              </a:lnSpc>
              <a:buNone/>
            </a:pPr>
            <a:r>
              <a:rPr lang="en-US" sz="1900" dirty="0">
                <a:solidFill>
                  <a:srgbClr val="1B2B2B"/>
                </a:solidFill>
                <a:latin typeface="DM Sans" pitchFamily="34" charset="0"/>
                <a:ea typeface="DM Sans" pitchFamily="34" charset="-122"/>
                <a:cs typeface="DM Sans" pitchFamily="34" charset="-120"/>
              </a:rPr>
              <a:t>Some of this is going to feel foreign. You've spent decades being rewarded for being tough, rational and in control. Give me the next hour with an open mind and an open heart.</a:t>
            </a:r>
            <a:endParaRPr lang="en-US" sz="1900" dirty="0"/>
          </a:p>
        </p:txBody>
      </p:sp>
      <p:sp>
        <p:nvSpPr>
          <p:cNvPr id="25" name="Slide Number Placeholder 0"/>
          <p:cNvSpPr>
            <a:spLocks noGrp="1"/>
          </p:cNvSpPr>
          <p:nvPr>
            <p:ph type="sldNum" sz="quarter" idx="4294967295"/>
          </p:nvPr>
        </p:nvSpPr>
        <p:spPr>
          <a:xfrm>
            <a:off x="11368735"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AA6A3"/>
                </a:solidFill>
                <a:latin typeface="DM Sans"/>
                <a:ea typeface="DM Sans"/>
                <a:cs typeface="DM Sans"/>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1280160"/>
            <a:ext cx="10911535" cy="731520"/>
          </a:xfrm>
          <a:prstGeom prst="rect">
            <a:avLst/>
          </a:prstGeom>
          <a:noFill/>
          <a:ln/>
        </p:spPr>
        <p:txBody>
          <a:bodyPr wrap="square" lIns="0" tIns="0" rIns="0" bIns="0" rtlCol="0" anchor="b">
            <a:normAutofit/>
          </a:bodyPr>
          <a:lstStyle/>
          <a:p>
            <a:pPr algn="l" indent="0" marL="0">
              <a:lnSpc>
                <a:spcPct val="95000"/>
              </a:lnSpc>
              <a:buNone/>
            </a:pPr>
            <a:r>
              <a:rPr lang="en-US" sz="3000" b="1" dirty="0">
                <a:solidFill>
                  <a:srgbClr val="1B2B2B"/>
                </a:solidFill>
                <a:latin typeface="Cormorant Garamond" pitchFamily="34" charset="0"/>
                <a:ea typeface="Cormorant Garamond" pitchFamily="34" charset="-122"/>
                <a:cs typeface="Cormorant Garamond" pitchFamily="34" charset="-120"/>
              </a:rPr>
              <a:t>A quick note on results</a:t>
            </a:r>
            <a:endParaRPr lang="en-US" sz="3000" dirty="0"/>
          </a:p>
        </p:txBody>
      </p:sp>
      <p:sp>
        <p:nvSpPr>
          <p:cNvPr id="3" name="Text 1"/>
          <p:cNvSpPr txBox="1"/>
          <p:nvPr/>
        </p:nvSpPr>
        <p:spPr>
          <a:xfrm>
            <a:off x="640080" y="2377440"/>
            <a:ext cx="8686800" cy="3200400"/>
          </a:xfrm>
          <a:prstGeom prst="rect">
            <a:avLst/>
          </a:prstGeom>
          <a:noFill/>
          <a:ln/>
        </p:spPr>
        <p:txBody>
          <a:bodyPr wrap="square" lIns="0" tIns="0" rIns="0" bIns="0" rtlCol="0" anchor="t">
            <a:normAutofit/>
          </a:bodyPr>
          <a:lstStyle/>
          <a:p>
            <a:pPr algn="l" indent="0" marL="0">
              <a:lnSpc>
                <a:spcPct val="115000"/>
              </a:lnSpc>
              <a:buNone/>
            </a:pPr>
            <a:r>
              <a:rPr lang="en-US" sz="1500" dirty="0">
                <a:solidFill>
                  <a:srgbClr val="1B2B2B"/>
                </a:solidFill>
                <a:latin typeface="DM Sans" pitchFamily="34" charset="0"/>
                <a:ea typeface="DM Sans" pitchFamily="34" charset="-122"/>
                <a:cs typeface="DM Sans" pitchFamily="34" charset="-120"/>
              </a:rPr>
              <a:t>The client results shared in this presentation are real, but they are not typical and they are not a promise. Outcomes depend on your effort, your situation, your employer and your market, and no one can guarantee how another person or organization will respond. Nothing here is financial, legal or employment advice. </a:t>
            </a:r>
            <a:pPr algn="l" indent="0" marL="0">
              <a:lnSpc>
                <a:spcPct val="115000"/>
              </a:lnSpc>
              <a:buNone/>
            </a:pPr>
            <a:r>
              <a:rPr lang="en-US" sz="1500" b="1" dirty="0">
                <a:solidFill>
                  <a:srgbClr val="B85042"/>
                </a:solidFill>
                <a:latin typeface="DM Sans" pitchFamily="34" charset="0"/>
                <a:ea typeface="DM Sans" pitchFamily="34" charset="-122"/>
                <a:cs typeface="DM Sans" pitchFamily="34" charset="-120"/>
              </a:rPr>
              <a:t>[PLACEHOLDER: have compliance/legal review final disclaimer wording]</a:t>
            </a:r>
            <a:endParaRPr lang="en-US" sz="1500" dirty="0"/>
          </a:p>
        </p:txBody>
      </p:sp>
      <p:sp>
        <p:nvSpPr>
          <p:cNvPr id="25" name="Slide Number Placeholder 0"/>
          <p:cNvSpPr>
            <a:spLocks noGrp="1"/>
          </p:cNvSpPr>
          <p:nvPr>
            <p:ph type="sldNum" sz="quarter" idx="4294967295"/>
          </p:nvPr>
        </p:nvSpPr>
        <p:spPr>
          <a:xfrm>
            <a:off x="11368735"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AA6A3"/>
                </a:solidFill>
                <a:latin typeface="DM Sans"/>
                <a:ea typeface="DM Sans"/>
                <a:cs typeface="DM Sans"/>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5EE"/>
        </a:solidFill>
      </p:bgPr>
    </p:bg>
    <p:spTree>
      <p:nvGrpSpPr>
        <p:cNvPr id="1" name=""/>
        <p:cNvGrpSpPr/>
        <p:nvPr/>
      </p:nvGrpSpPr>
      <p:grpSpPr>
        <a:xfrm>
          <a:off x="0" y="0"/>
          <a:ext cx="0" cy="0"/>
          <a:chOff x="0" y="0"/>
          <a:chExt cx="0" cy="0"/>
        </a:xfrm>
      </p:grpSpPr>
      <p:sp>
        <p:nvSpPr>
          <p:cNvPr id="2" name="Text 0"/>
          <p:cNvSpPr txBox="1"/>
          <p:nvPr/>
        </p:nvSpPr>
        <p:spPr>
          <a:xfrm>
            <a:off x="640080" y="822960"/>
            <a:ext cx="6492240" cy="914400"/>
          </a:xfrm>
          <a:prstGeom prst="rect">
            <a:avLst/>
          </a:prstGeom>
          <a:noFill/>
          <a:ln/>
        </p:spPr>
        <p:txBody>
          <a:bodyPr wrap="square" lIns="0" tIns="0" rIns="0" bIns="0" rtlCol="0" anchor="b">
            <a:normAutofit/>
          </a:bodyPr>
          <a:lstStyle/>
          <a:p>
            <a:pPr algn="l" indent="0" marL="0">
              <a:lnSpc>
                <a:spcPct val="95000"/>
              </a:lnSpc>
              <a:buNone/>
            </a:pPr>
            <a:r>
              <a:rPr lang="en-US" sz="3000" b="1" dirty="0">
                <a:solidFill>
                  <a:srgbClr val="1B2B2B"/>
                </a:solidFill>
                <a:latin typeface="Cormorant Garamond" pitchFamily="34" charset="0"/>
                <a:ea typeface="Cormorant Garamond" pitchFamily="34" charset="-122"/>
                <a:cs typeface="Cormorant Garamond" pitchFamily="34" charset="-120"/>
              </a:rPr>
              <a:t>So who am I to talk about this?</a:t>
            </a:r>
            <a:endParaRPr lang="en-US" sz="3000" dirty="0"/>
          </a:p>
        </p:txBody>
      </p:sp>
      <p:sp>
        <p:nvSpPr>
          <p:cNvPr id="3" name="Text 1"/>
          <p:cNvSpPr txBox="1"/>
          <p:nvPr/>
        </p:nvSpPr>
        <p:spPr>
          <a:xfrm>
            <a:off x="640080" y="1920240"/>
            <a:ext cx="6492240" cy="1828800"/>
          </a:xfrm>
          <a:prstGeom prst="rect">
            <a:avLst/>
          </a:prstGeom>
          <a:noFill/>
          <a:ln/>
        </p:spPr>
        <p:txBody>
          <a:bodyPr wrap="square" lIns="0" tIns="0" rIns="0" bIns="0" rtlCol="0" anchor="ctr">
            <a:normAutofit/>
          </a:bodyPr>
          <a:lstStyle/>
          <a:p>
            <a:pPr algn="l" indent="0" marL="0">
              <a:lnSpc>
                <a:spcPct val="100000"/>
              </a:lnSpc>
              <a:buNone/>
            </a:pPr>
            <a:r>
              <a:rPr lang="en-US" sz="8800" b="1" dirty="0">
                <a:solidFill>
                  <a:srgbClr val="1E4A4A"/>
                </a:solidFill>
                <a:latin typeface="Cormorant Garamond" pitchFamily="34" charset="0"/>
                <a:ea typeface="Cormorant Garamond" pitchFamily="34" charset="-122"/>
                <a:cs typeface="Cormorant Garamond" pitchFamily="34" charset="-120"/>
              </a:rPr>
              <a:t>26 years</a:t>
            </a:r>
            <a:endParaRPr lang="en-US" sz="8800" dirty="0"/>
          </a:p>
        </p:txBody>
      </p:sp>
      <p:sp>
        <p:nvSpPr>
          <p:cNvPr id="4" name="Text 2"/>
          <p:cNvSpPr txBox="1"/>
          <p:nvPr/>
        </p:nvSpPr>
        <p:spPr>
          <a:xfrm>
            <a:off x="640080" y="4023360"/>
            <a:ext cx="6217920" cy="2103120"/>
          </a:xfrm>
          <a:prstGeom prst="rect">
            <a:avLst/>
          </a:prstGeom>
          <a:noFill/>
          <a:ln/>
        </p:spPr>
        <p:txBody>
          <a:bodyPr wrap="square" lIns="0" tIns="0" rIns="0" bIns="0" rtlCol="0" anchor="t">
            <a:normAutofit/>
          </a:bodyPr>
          <a:lstStyle/>
          <a:p>
            <a:pPr algn="l" indent="0" marL="0">
              <a:lnSpc>
                <a:spcPct val="115000"/>
              </a:lnSpc>
              <a:buNone/>
            </a:pPr>
            <a:r>
              <a:rPr lang="en-US" sz="1900" dirty="0">
                <a:solidFill>
                  <a:srgbClr val="1B2B2B"/>
                </a:solidFill>
                <a:latin typeface="DM Sans" pitchFamily="34" charset="0"/>
                <a:ea typeface="DM Sans" pitchFamily="34" charset="-122"/>
                <a:cs typeface="DM Sans" pitchFamily="34" charset="-120"/>
              </a:rPr>
              <a:t>negotiating high-stakes deals on Wall Street</a:t>
            </a:r>
            <a:endParaRPr lang="en-US" sz="1900" dirty="0"/>
          </a:p>
        </p:txBody>
      </p:sp>
      <p:sp>
        <p:nvSpPr>
          <p:cNvPr id="5" name="Shape 3"/>
          <p:cNvSpPr/>
          <p:nvPr/>
        </p:nvSpPr>
        <p:spPr>
          <a:xfrm>
            <a:off x="7589520" y="548640"/>
            <a:ext cx="3977640" cy="5760720"/>
          </a:xfrm>
          <a:prstGeom prst="roundRect">
            <a:avLst>
              <a:gd name="adj" fmla="val 2759"/>
            </a:avLst>
          </a:prstGeom>
          <a:solidFill>
            <a:srgbClr val="E1F5EE"/>
          </a:solidFill>
          <a:ln w="15875">
            <a:solidFill>
              <a:srgbClr val="8AAF8A"/>
            </a:solidFill>
            <a:prstDash val="dash"/>
          </a:ln>
        </p:spPr>
      </p:sp>
      <p:sp>
        <p:nvSpPr>
          <p:cNvPr id="6" name="Text 4"/>
          <p:cNvSpPr txBox="1"/>
          <p:nvPr/>
        </p:nvSpPr>
        <p:spPr>
          <a:xfrm>
            <a:off x="7907731" y="866851"/>
            <a:ext cx="3341218" cy="320040"/>
          </a:xfrm>
          <a:prstGeom prst="rect">
            <a:avLst/>
          </a:prstGeom>
          <a:noFill/>
          <a:ln/>
        </p:spPr>
        <p:txBody>
          <a:bodyPr wrap="square" lIns="0" tIns="0" rIns="0" bIns="0" rtlCol="0" anchor="ctr">
            <a:normAutofit/>
          </a:bodyPr>
          <a:lstStyle/>
          <a:p>
            <a:pPr algn="l" indent="0" marL="0">
              <a:lnSpc>
                <a:spcPct val="100000"/>
              </a:lnSpc>
              <a:buNone/>
            </a:pPr>
            <a:r>
              <a:rPr lang="en-US" sz="1100" b="1" spc="300" kern="0" dirty="0">
                <a:solidFill>
                  <a:srgbClr val="1E4A4A"/>
                </a:solidFill>
                <a:latin typeface="DM Sans" pitchFamily="34" charset="0"/>
                <a:ea typeface="DM Sans" pitchFamily="34" charset="-122"/>
                <a:cs typeface="DM Sans" pitchFamily="34" charset="-120"/>
              </a:rPr>
              <a:t>PHOTO PLACEHOLDER</a:t>
            </a:r>
            <a:endParaRPr lang="en-US" sz="1100" dirty="0"/>
          </a:p>
        </p:txBody>
      </p:sp>
      <p:sp>
        <p:nvSpPr>
          <p:cNvPr id="7" name="Text 5"/>
          <p:cNvSpPr txBox="1"/>
          <p:nvPr/>
        </p:nvSpPr>
        <p:spPr>
          <a:xfrm>
            <a:off x="7907731" y="1278331"/>
            <a:ext cx="3341218" cy="2377440"/>
          </a:xfrm>
          <a:prstGeom prst="rect">
            <a:avLst/>
          </a:prstGeom>
          <a:noFill/>
          <a:ln/>
        </p:spPr>
        <p:txBody>
          <a:bodyPr wrap="square" lIns="0" tIns="0" rIns="0" bIns="0" rtlCol="0" anchor="t">
            <a:normAutofit/>
          </a:bodyPr>
          <a:lstStyle/>
          <a:p>
            <a:pPr algn="l" indent="0" marL="0">
              <a:lnSpc>
                <a:spcPct val="110000"/>
              </a:lnSpc>
              <a:buNone/>
            </a:pPr>
            <a:r>
              <a:rPr lang="en-US" sz="1200" i="1" dirty="0">
                <a:solidFill>
                  <a:srgbClr val="5E6B68"/>
                </a:solidFill>
                <a:latin typeface="DM Sans" pitchFamily="34" charset="0"/>
                <a:ea typeface="DM Sans" pitchFamily="34" charset="-122"/>
                <a:cs typeface="DM Sans" pitchFamily="34" charset="-120"/>
              </a:rPr>
              <a:t>Tamara early in her Wall Street career. An archival photo from her personal collection: trading floor, big hair era, suit and badge.</a:t>
            </a:r>
            <a:endParaRPr lang="en-US" sz="1200" dirty="0"/>
          </a:p>
        </p:txBody>
      </p:sp>
      <p:sp>
        <p:nvSpPr>
          <p:cNvPr id="25" name="Slide Number Placeholder 0"/>
          <p:cNvSpPr>
            <a:spLocks noGrp="1"/>
          </p:cNvSpPr>
          <p:nvPr>
            <p:ph type="sldNum" sz="quarter" idx="4294967295"/>
          </p:nvPr>
        </p:nvSpPr>
        <p:spPr>
          <a:xfrm>
            <a:off x="11368735"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AA6A3"/>
                </a:solidFill>
                <a:latin typeface="DM Sans"/>
                <a:ea typeface="DM Sans"/>
                <a:cs typeface="DM Sans"/>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5EE"/>
        </a:solidFill>
      </p:bgPr>
    </p:bg>
    <p:spTree>
      <p:nvGrpSpPr>
        <p:cNvPr id="1" name=""/>
        <p:cNvGrpSpPr/>
        <p:nvPr/>
      </p:nvGrpSpPr>
      <p:grpSpPr>
        <a:xfrm>
          <a:off x="0" y="0"/>
          <a:ext cx="0" cy="0"/>
          <a:chOff x="0" y="0"/>
          <a:chExt cx="0" cy="0"/>
        </a:xfrm>
      </p:grpSpPr>
      <p:sp>
        <p:nvSpPr>
          <p:cNvPr id="2" name="Text 0"/>
          <p:cNvSpPr txBox="1"/>
          <p:nvPr/>
        </p:nvSpPr>
        <p:spPr>
          <a:xfrm>
            <a:off x="640080" y="822960"/>
            <a:ext cx="6492240" cy="914400"/>
          </a:xfrm>
          <a:prstGeom prst="rect">
            <a:avLst/>
          </a:prstGeom>
          <a:noFill/>
          <a:ln/>
        </p:spPr>
        <p:txBody>
          <a:bodyPr wrap="square" lIns="0" tIns="0" rIns="0" bIns="0" rtlCol="0" anchor="b">
            <a:normAutofit/>
          </a:bodyPr>
          <a:lstStyle/>
          <a:p>
            <a:pPr algn="l" indent="0" marL="0">
              <a:lnSpc>
                <a:spcPct val="95000"/>
              </a:lnSpc>
              <a:buNone/>
            </a:pPr>
            <a:r>
              <a:rPr lang="en-US" sz="2600" b="1" dirty="0">
                <a:solidFill>
                  <a:srgbClr val="1B2B2B"/>
                </a:solidFill>
                <a:latin typeface="Cormorant Garamond" pitchFamily="34" charset="0"/>
                <a:ea typeface="Cormorant Garamond" pitchFamily="34" charset="-122"/>
                <a:cs typeface="Cormorant Garamond" pitchFamily="34" charset="-120"/>
              </a:rPr>
              <a:t>Some of the world's leading investment banks</a:t>
            </a:r>
            <a:endParaRPr lang="en-US" sz="2600" dirty="0"/>
          </a:p>
        </p:txBody>
      </p:sp>
      <p:sp>
        <p:nvSpPr>
          <p:cNvPr id="3" name="Text 1"/>
          <p:cNvSpPr txBox="1"/>
          <p:nvPr/>
        </p:nvSpPr>
        <p:spPr>
          <a:xfrm>
            <a:off x="640080" y="1920240"/>
            <a:ext cx="6492240" cy="1828800"/>
          </a:xfrm>
          <a:prstGeom prst="rect">
            <a:avLst/>
          </a:prstGeom>
          <a:noFill/>
          <a:ln/>
        </p:spPr>
        <p:txBody>
          <a:bodyPr wrap="square" lIns="0" tIns="0" rIns="0" bIns="0" rtlCol="0" anchor="ctr">
            <a:normAutofit/>
          </a:bodyPr>
          <a:lstStyle/>
          <a:p>
            <a:pPr algn="l" indent="0" marL="0">
              <a:lnSpc>
                <a:spcPct val="100000"/>
              </a:lnSpc>
              <a:buNone/>
            </a:pPr>
            <a:r>
              <a:rPr lang="en-US" sz="3300" b="1" dirty="0">
                <a:solidFill>
                  <a:srgbClr val="1E4A4A"/>
                </a:solidFill>
                <a:latin typeface="Cormorant Garamond" pitchFamily="34" charset="0"/>
                <a:ea typeface="Cormorant Garamond" pitchFamily="34" charset="-122"/>
                <a:cs typeface="Cormorant Garamond" pitchFamily="34" charset="-120"/>
              </a:rPr>
              <a:t>J.P. Morgan · Merrill Lynch / Bank of America · Deutsche Bank</a:t>
            </a:r>
            <a:endParaRPr lang="en-US" sz="3300" dirty="0"/>
          </a:p>
        </p:txBody>
      </p:sp>
      <p:sp>
        <p:nvSpPr>
          <p:cNvPr id="4" name="Text 2"/>
          <p:cNvSpPr txBox="1"/>
          <p:nvPr/>
        </p:nvSpPr>
        <p:spPr>
          <a:xfrm>
            <a:off x="640080" y="4023360"/>
            <a:ext cx="6217920" cy="2103120"/>
          </a:xfrm>
          <a:prstGeom prst="rect">
            <a:avLst/>
          </a:prstGeom>
          <a:noFill/>
          <a:ln/>
        </p:spPr>
        <p:txBody>
          <a:bodyPr wrap="square" lIns="0" tIns="0" rIns="0" bIns="0" rtlCol="0" anchor="t">
            <a:normAutofit/>
          </a:bodyPr>
          <a:lstStyle/>
          <a:p>
            <a:pPr algn="l" indent="0" marL="0">
              <a:lnSpc>
                <a:spcPct val="115000"/>
              </a:lnSpc>
              <a:buNone/>
            </a:pPr>
            <a:r>
              <a:rPr lang="en-US" sz="1900" dirty="0">
                <a:solidFill>
                  <a:srgbClr val="1B2B2B"/>
                </a:solidFill>
                <a:latin typeface="DM Sans" pitchFamily="34" charset="0"/>
                <a:ea typeface="DM Sans" pitchFamily="34" charset="-122"/>
                <a:cs typeface="DM Sans" pitchFamily="34" charset="-120"/>
              </a:rPr>
              <a:t>Negotiating deals, leading global talent initiatives, advising senior executives</a:t>
            </a:r>
            <a:endParaRPr lang="en-US" sz="1900" dirty="0"/>
          </a:p>
        </p:txBody>
      </p:sp>
      <p:sp>
        <p:nvSpPr>
          <p:cNvPr id="5" name="Shape 3"/>
          <p:cNvSpPr/>
          <p:nvPr/>
        </p:nvSpPr>
        <p:spPr>
          <a:xfrm>
            <a:off x="7589520" y="548640"/>
            <a:ext cx="3977640" cy="5760720"/>
          </a:xfrm>
          <a:prstGeom prst="roundRect">
            <a:avLst>
              <a:gd name="adj" fmla="val 2759"/>
            </a:avLst>
          </a:prstGeom>
          <a:solidFill>
            <a:srgbClr val="E1F5EE"/>
          </a:solidFill>
          <a:ln w="15875">
            <a:solidFill>
              <a:srgbClr val="8AAF8A"/>
            </a:solidFill>
            <a:prstDash val="dash"/>
          </a:ln>
        </p:spPr>
      </p:sp>
      <p:sp>
        <p:nvSpPr>
          <p:cNvPr id="6" name="Text 4"/>
          <p:cNvSpPr txBox="1"/>
          <p:nvPr/>
        </p:nvSpPr>
        <p:spPr>
          <a:xfrm>
            <a:off x="7907731" y="866851"/>
            <a:ext cx="3341218" cy="320040"/>
          </a:xfrm>
          <a:prstGeom prst="rect">
            <a:avLst/>
          </a:prstGeom>
          <a:noFill/>
          <a:ln/>
        </p:spPr>
        <p:txBody>
          <a:bodyPr wrap="square" lIns="0" tIns="0" rIns="0" bIns="0" rtlCol="0" anchor="ctr">
            <a:normAutofit/>
          </a:bodyPr>
          <a:lstStyle/>
          <a:p>
            <a:pPr algn="l" indent="0" marL="0">
              <a:lnSpc>
                <a:spcPct val="100000"/>
              </a:lnSpc>
              <a:buNone/>
            </a:pPr>
            <a:r>
              <a:rPr lang="en-US" sz="1100" b="1" spc="300" kern="0" dirty="0">
                <a:solidFill>
                  <a:srgbClr val="1E4A4A"/>
                </a:solidFill>
                <a:latin typeface="DM Sans" pitchFamily="34" charset="0"/>
                <a:ea typeface="DM Sans" pitchFamily="34" charset="-122"/>
                <a:cs typeface="DM Sans" pitchFamily="34" charset="-120"/>
              </a:rPr>
              <a:t>PHOTO PLACEHOLDER</a:t>
            </a:r>
            <a:endParaRPr lang="en-US" sz="1100" dirty="0"/>
          </a:p>
        </p:txBody>
      </p:sp>
      <p:sp>
        <p:nvSpPr>
          <p:cNvPr id="7" name="Text 5"/>
          <p:cNvSpPr txBox="1"/>
          <p:nvPr/>
        </p:nvSpPr>
        <p:spPr>
          <a:xfrm>
            <a:off x="7907731" y="1278331"/>
            <a:ext cx="3341218" cy="2377440"/>
          </a:xfrm>
          <a:prstGeom prst="rect">
            <a:avLst/>
          </a:prstGeom>
          <a:noFill/>
          <a:ln/>
        </p:spPr>
        <p:txBody>
          <a:bodyPr wrap="square" lIns="0" tIns="0" rIns="0" bIns="0" rtlCol="0" anchor="t">
            <a:normAutofit/>
          </a:bodyPr>
          <a:lstStyle/>
          <a:p>
            <a:pPr algn="l" indent="0" marL="0">
              <a:lnSpc>
                <a:spcPct val="110000"/>
              </a:lnSpc>
              <a:buNone/>
            </a:pPr>
            <a:r>
              <a:rPr lang="en-US" sz="1200" i="1" dirty="0">
                <a:solidFill>
                  <a:srgbClr val="5E6B68"/>
                </a:solidFill>
                <a:latin typeface="DM Sans" pitchFamily="34" charset="0"/>
                <a:ea typeface="DM Sans" pitchFamily="34" charset="-122"/>
                <a:cs typeface="DM Sans" pitchFamily="34" charset="-120"/>
              </a:rPr>
              <a:t>Row of firm logos (J.P. Morgan, Merrill Lynch / Bank of America, Deutsche Bank). Confirm logo usage rights. Alternate: Tamara in front of a bank's HQ.</a:t>
            </a:r>
            <a:endParaRPr lang="en-US" sz="1200" dirty="0"/>
          </a:p>
        </p:txBody>
      </p:sp>
      <p:sp>
        <p:nvSpPr>
          <p:cNvPr id="25" name="Slide Number Placeholder 0"/>
          <p:cNvSpPr>
            <a:spLocks noGrp="1"/>
          </p:cNvSpPr>
          <p:nvPr>
            <p:ph type="sldNum" sz="quarter" idx="4294967295"/>
          </p:nvPr>
        </p:nvSpPr>
        <p:spPr>
          <a:xfrm>
            <a:off x="11368735"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AA6A3"/>
                </a:solidFill>
                <a:latin typeface="DM Sans"/>
                <a:ea typeface="DM Sans"/>
                <a:cs typeface="DM Sans"/>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5EE"/>
        </a:solidFill>
      </p:bgPr>
    </p:bg>
    <p:spTree>
      <p:nvGrpSpPr>
        <p:cNvPr id="1" name=""/>
        <p:cNvGrpSpPr/>
        <p:nvPr/>
      </p:nvGrpSpPr>
      <p:grpSpPr>
        <a:xfrm>
          <a:off x="0" y="0"/>
          <a:ext cx="0" cy="0"/>
          <a:chOff x="0" y="0"/>
          <a:chExt cx="0" cy="0"/>
        </a:xfrm>
      </p:grpSpPr>
      <p:sp>
        <p:nvSpPr>
          <p:cNvPr id="2" name="Text 0"/>
          <p:cNvSpPr txBox="1"/>
          <p:nvPr/>
        </p:nvSpPr>
        <p:spPr>
          <a:xfrm>
            <a:off x="640080" y="822960"/>
            <a:ext cx="6492240" cy="914400"/>
          </a:xfrm>
          <a:prstGeom prst="rect">
            <a:avLst/>
          </a:prstGeom>
          <a:noFill/>
          <a:ln/>
        </p:spPr>
        <p:txBody>
          <a:bodyPr wrap="square" lIns="0" tIns="0" rIns="0" bIns="0" rtlCol="0" anchor="b">
            <a:normAutofit/>
          </a:bodyPr>
          <a:lstStyle/>
          <a:p>
            <a:pPr algn="l" indent="0" marL="0">
              <a:lnSpc>
                <a:spcPct val="95000"/>
              </a:lnSpc>
              <a:buNone/>
            </a:pPr>
            <a:r>
              <a:rPr lang="en-US" sz="2600" b="1" dirty="0">
                <a:solidFill>
                  <a:srgbClr val="1B2B2B"/>
                </a:solidFill>
                <a:latin typeface="Cormorant Garamond" pitchFamily="34" charset="0"/>
                <a:ea typeface="Cormorant Garamond" pitchFamily="34" charset="-122"/>
                <a:cs typeface="Cormorant Garamond" pitchFamily="34" charset="-120"/>
              </a:rPr>
              <a:t>By the end of my Wall Street career</a:t>
            </a:r>
            <a:endParaRPr lang="en-US" sz="2600" dirty="0"/>
          </a:p>
        </p:txBody>
      </p:sp>
      <p:sp>
        <p:nvSpPr>
          <p:cNvPr id="3" name="Text 1"/>
          <p:cNvSpPr txBox="1"/>
          <p:nvPr/>
        </p:nvSpPr>
        <p:spPr>
          <a:xfrm>
            <a:off x="640080" y="1920240"/>
            <a:ext cx="6492240" cy="1828800"/>
          </a:xfrm>
          <a:prstGeom prst="rect">
            <a:avLst/>
          </a:prstGeom>
          <a:noFill/>
          <a:ln/>
        </p:spPr>
        <p:txBody>
          <a:bodyPr wrap="square" lIns="0" tIns="0" rIns="0" bIns="0" rtlCol="0" anchor="ctr">
            <a:normAutofit/>
          </a:bodyPr>
          <a:lstStyle/>
          <a:p>
            <a:pPr algn="l" indent="0" marL="0">
              <a:lnSpc>
                <a:spcPct val="100000"/>
              </a:lnSpc>
              <a:buNone/>
            </a:pPr>
            <a:r>
              <a:rPr lang="en-US" sz="8800" b="1" dirty="0">
                <a:solidFill>
                  <a:srgbClr val="1E4A4A"/>
                </a:solidFill>
                <a:latin typeface="Cormorant Garamond" pitchFamily="34" charset="0"/>
                <a:ea typeface="Cormorant Garamond" pitchFamily="34" charset="-122"/>
                <a:cs typeface="Cormorant Garamond" pitchFamily="34" charset="-120"/>
              </a:rPr>
              <a:t>#1</a:t>
            </a:r>
            <a:endParaRPr lang="en-US" sz="8800" dirty="0"/>
          </a:p>
        </p:txBody>
      </p:sp>
      <p:sp>
        <p:nvSpPr>
          <p:cNvPr id="4" name="Text 2"/>
          <p:cNvSpPr txBox="1"/>
          <p:nvPr/>
        </p:nvSpPr>
        <p:spPr>
          <a:xfrm>
            <a:off x="640080" y="4023360"/>
            <a:ext cx="6217920" cy="2103120"/>
          </a:xfrm>
          <a:prstGeom prst="rect">
            <a:avLst/>
          </a:prstGeom>
          <a:noFill/>
          <a:ln/>
        </p:spPr>
        <p:txBody>
          <a:bodyPr wrap="square" lIns="0" tIns="0" rIns="0" bIns="0" rtlCol="0" anchor="t">
            <a:normAutofit/>
          </a:bodyPr>
          <a:lstStyle/>
          <a:p>
            <a:pPr algn="l" indent="0" marL="0">
              <a:lnSpc>
                <a:spcPct val="115000"/>
              </a:lnSpc>
              <a:buNone/>
            </a:pPr>
            <a:r>
              <a:rPr lang="en-US" sz="1900" dirty="0">
                <a:solidFill>
                  <a:srgbClr val="1B2B2B"/>
                </a:solidFill>
                <a:latin typeface="DM Sans" pitchFamily="34" charset="0"/>
                <a:ea typeface="DM Sans" pitchFamily="34" charset="-122"/>
                <a:cs typeface="DM Sans" pitchFamily="34" charset="-120"/>
              </a:rPr>
              <a:t>The highest-paid person in my U.S. division. </a:t>
            </a:r>
            <a:pPr algn="l" indent="0" marL="0">
              <a:lnSpc>
                <a:spcPct val="115000"/>
              </a:lnSpc>
              <a:buNone/>
            </a:pPr>
            <a:r>
              <a:rPr lang="en-US" sz="1900" dirty="0">
                <a:solidFill>
                  <a:srgbClr val="1B2B2B"/>
                </a:solidFill>
                <a:highlight>
                  <a:srgbClr val="CFE3CF"/>
                </a:highlight>
                <a:latin typeface="DM Sans" pitchFamily="34" charset="0"/>
                <a:ea typeface="DM Sans" pitchFamily="34" charset="-122"/>
                <a:cs typeface="DM Sans" pitchFamily="34" charset="-120"/>
              </a:rPr>
              <a:t>Man or woman.</a:t>
            </a:r>
            <a:endParaRPr lang="en-US" sz="1900" dirty="0"/>
          </a:p>
        </p:txBody>
      </p:sp>
      <p:sp>
        <p:nvSpPr>
          <p:cNvPr id="5" name="Shape 3"/>
          <p:cNvSpPr/>
          <p:nvPr/>
        </p:nvSpPr>
        <p:spPr>
          <a:xfrm>
            <a:off x="7589520" y="548640"/>
            <a:ext cx="3977640" cy="5760720"/>
          </a:xfrm>
          <a:prstGeom prst="roundRect">
            <a:avLst>
              <a:gd name="adj" fmla="val 2759"/>
            </a:avLst>
          </a:prstGeom>
          <a:solidFill>
            <a:srgbClr val="E1F5EE"/>
          </a:solidFill>
          <a:ln w="15875">
            <a:solidFill>
              <a:srgbClr val="8AAF8A"/>
            </a:solidFill>
            <a:prstDash val="dash"/>
          </a:ln>
        </p:spPr>
      </p:sp>
      <p:sp>
        <p:nvSpPr>
          <p:cNvPr id="6" name="Text 4"/>
          <p:cNvSpPr txBox="1"/>
          <p:nvPr/>
        </p:nvSpPr>
        <p:spPr>
          <a:xfrm>
            <a:off x="7907731" y="866851"/>
            <a:ext cx="3341218" cy="320040"/>
          </a:xfrm>
          <a:prstGeom prst="rect">
            <a:avLst/>
          </a:prstGeom>
          <a:noFill/>
          <a:ln/>
        </p:spPr>
        <p:txBody>
          <a:bodyPr wrap="square" lIns="0" tIns="0" rIns="0" bIns="0" rtlCol="0" anchor="ctr">
            <a:normAutofit/>
          </a:bodyPr>
          <a:lstStyle/>
          <a:p>
            <a:pPr algn="l" indent="0" marL="0">
              <a:lnSpc>
                <a:spcPct val="100000"/>
              </a:lnSpc>
              <a:buNone/>
            </a:pPr>
            <a:r>
              <a:rPr lang="en-US" sz="1100" b="1" spc="300" kern="0" dirty="0">
                <a:solidFill>
                  <a:srgbClr val="1E4A4A"/>
                </a:solidFill>
                <a:latin typeface="DM Sans" pitchFamily="34" charset="0"/>
                <a:ea typeface="DM Sans" pitchFamily="34" charset="-122"/>
                <a:cs typeface="DM Sans" pitchFamily="34" charset="-120"/>
              </a:rPr>
              <a:t>PHOTO PLACEHOLDER</a:t>
            </a:r>
            <a:endParaRPr lang="en-US" sz="1100" dirty="0"/>
          </a:p>
        </p:txBody>
      </p:sp>
      <p:sp>
        <p:nvSpPr>
          <p:cNvPr id="7" name="Text 5"/>
          <p:cNvSpPr txBox="1"/>
          <p:nvPr/>
        </p:nvSpPr>
        <p:spPr>
          <a:xfrm>
            <a:off x="7907731" y="1278331"/>
            <a:ext cx="3341218" cy="2377440"/>
          </a:xfrm>
          <a:prstGeom prst="rect">
            <a:avLst/>
          </a:prstGeom>
          <a:noFill/>
          <a:ln/>
        </p:spPr>
        <p:txBody>
          <a:bodyPr wrap="square" lIns="0" tIns="0" rIns="0" bIns="0" rtlCol="0" anchor="t">
            <a:normAutofit/>
          </a:bodyPr>
          <a:lstStyle/>
          <a:p>
            <a:pPr algn="l" indent="0" marL="0">
              <a:lnSpc>
                <a:spcPct val="110000"/>
              </a:lnSpc>
              <a:buNone/>
            </a:pPr>
            <a:r>
              <a:rPr lang="en-US" sz="1200" i="1" dirty="0">
                <a:solidFill>
                  <a:srgbClr val="5E6B68"/>
                </a:solidFill>
                <a:latin typeface="DM Sans" pitchFamily="34" charset="0"/>
                <a:ea typeface="DM Sans" pitchFamily="34" charset="-122"/>
                <a:cs typeface="DM Sans" pitchFamily="34" charset="-120"/>
              </a:rPr>
              <a:t>Tamara in a corner office or at a leadership offsite, mid-conversation, confident posture.</a:t>
            </a:r>
            <a:endParaRPr lang="en-US" sz="1200" dirty="0"/>
          </a:p>
        </p:txBody>
      </p:sp>
      <p:sp>
        <p:nvSpPr>
          <p:cNvPr id="25" name="Slide Number Placeholder 0"/>
          <p:cNvSpPr>
            <a:spLocks noGrp="1"/>
          </p:cNvSpPr>
          <p:nvPr>
            <p:ph type="sldNum" sz="quarter" idx="4294967295"/>
          </p:nvPr>
        </p:nvSpPr>
        <p:spPr>
          <a:xfrm>
            <a:off x="11368735"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AA6A3"/>
                </a:solidFill>
                <a:latin typeface="DM Sans"/>
                <a:ea typeface="DM Sans"/>
                <a:cs typeface="DM Sans"/>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5EE"/>
        </a:solidFill>
      </p:bgPr>
    </p:bg>
    <p:spTree>
      <p:nvGrpSpPr>
        <p:cNvPr id="1" name=""/>
        <p:cNvGrpSpPr/>
        <p:nvPr/>
      </p:nvGrpSpPr>
      <p:grpSpPr>
        <a:xfrm>
          <a:off x="0" y="0"/>
          <a:ext cx="0" cy="0"/>
          <a:chOff x="0" y="0"/>
          <a:chExt cx="0" cy="0"/>
        </a:xfrm>
      </p:grpSpPr>
      <p:sp>
        <p:nvSpPr>
          <p:cNvPr id="2" name="Text 0"/>
          <p:cNvSpPr txBox="1"/>
          <p:nvPr/>
        </p:nvSpPr>
        <p:spPr>
          <a:xfrm>
            <a:off x="640080" y="822960"/>
            <a:ext cx="6492240" cy="914400"/>
          </a:xfrm>
          <a:prstGeom prst="rect">
            <a:avLst/>
          </a:prstGeom>
          <a:noFill/>
          <a:ln/>
        </p:spPr>
        <p:txBody>
          <a:bodyPr wrap="square" lIns="0" tIns="0" rIns="0" bIns="0" rtlCol="0" anchor="b">
            <a:normAutofit/>
          </a:bodyPr>
          <a:lstStyle/>
          <a:p>
            <a:pPr algn="l" indent="0" marL="0">
              <a:lnSpc>
                <a:spcPct val="95000"/>
              </a:lnSpc>
              <a:buNone/>
            </a:pPr>
            <a:r>
              <a:rPr lang="en-US" sz="2600" b="1" dirty="0">
                <a:solidFill>
                  <a:srgbClr val="1B2B2B"/>
                </a:solidFill>
                <a:latin typeface="Cormorant Garamond" pitchFamily="34" charset="0"/>
                <a:ea typeface="Cormorant Garamond" pitchFamily="34" charset="-122"/>
                <a:cs typeface="Cormorant Garamond" pitchFamily="34" charset="-120"/>
              </a:rPr>
              <a:t>I wrote the book on it. Literally.</a:t>
            </a:r>
            <a:endParaRPr lang="en-US" sz="2600" dirty="0"/>
          </a:p>
        </p:txBody>
      </p:sp>
      <p:sp>
        <p:nvSpPr>
          <p:cNvPr id="3" name="Text 1"/>
          <p:cNvSpPr txBox="1"/>
          <p:nvPr/>
        </p:nvSpPr>
        <p:spPr>
          <a:xfrm>
            <a:off x="640080" y="1920240"/>
            <a:ext cx="6492240" cy="1828800"/>
          </a:xfrm>
          <a:prstGeom prst="rect">
            <a:avLst/>
          </a:prstGeom>
          <a:noFill/>
          <a:ln/>
        </p:spPr>
        <p:txBody>
          <a:bodyPr wrap="square" lIns="0" tIns="0" rIns="0" bIns="0" rtlCol="0" anchor="ctr">
            <a:normAutofit/>
          </a:bodyPr>
          <a:lstStyle/>
          <a:p>
            <a:pPr algn="l" indent="0" marL="0">
              <a:lnSpc>
                <a:spcPct val="100000"/>
              </a:lnSpc>
              <a:buNone/>
            </a:pPr>
            <a:r>
              <a:rPr lang="en-US" sz="4400" b="1" dirty="0">
                <a:solidFill>
                  <a:srgbClr val="1E4A4A"/>
                </a:solidFill>
                <a:latin typeface="Cormorant Garamond" pitchFamily="34" charset="0"/>
                <a:ea typeface="Cormorant Garamond" pitchFamily="34" charset="-122"/>
                <a:cs typeface="Cormorant Garamond" pitchFamily="34" charset="-120"/>
              </a:rPr>
              <a:t>Lose the Gum</a:t>
            </a:r>
            <a:endParaRPr lang="en-US" sz="4400" dirty="0"/>
          </a:p>
        </p:txBody>
      </p:sp>
      <p:sp>
        <p:nvSpPr>
          <p:cNvPr id="4" name="Text 2"/>
          <p:cNvSpPr txBox="1"/>
          <p:nvPr/>
        </p:nvSpPr>
        <p:spPr>
          <a:xfrm>
            <a:off x="640080" y="4023360"/>
            <a:ext cx="6217920" cy="2103120"/>
          </a:xfrm>
          <a:prstGeom prst="rect">
            <a:avLst/>
          </a:prstGeom>
          <a:noFill/>
          <a:ln/>
        </p:spPr>
        <p:txBody>
          <a:bodyPr wrap="square" lIns="0" tIns="0" rIns="0" bIns="0" rtlCol="0" anchor="t">
            <a:normAutofit/>
          </a:bodyPr>
          <a:lstStyle/>
          <a:p>
            <a:pPr algn="l" indent="0" marL="0">
              <a:lnSpc>
                <a:spcPct val="115000"/>
              </a:lnSpc>
              <a:buNone/>
            </a:pPr>
            <a:r>
              <a:rPr lang="en-US" sz="1900" dirty="0">
                <a:solidFill>
                  <a:srgbClr val="1B2B2B"/>
                </a:solidFill>
                <a:latin typeface="DM Sans" pitchFamily="34" charset="0"/>
                <a:ea typeface="DM Sans" pitchFamily="34" charset="-122"/>
                <a:cs typeface="DM Sans" pitchFamily="34" charset="-120"/>
              </a:rPr>
              <a:t>A Survival Guide for Women on Wall Street, Main Street and Every Street in Between</a:t>
            </a:r>
            <a:endParaRPr lang="en-US" sz="1900" dirty="0"/>
          </a:p>
        </p:txBody>
      </p:sp>
      <p:sp>
        <p:nvSpPr>
          <p:cNvPr id="5" name="Shape 3"/>
          <p:cNvSpPr/>
          <p:nvPr/>
        </p:nvSpPr>
        <p:spPr>
          <a:xfrm>
            <a:off x="7589520" y="548640"/>
            <a:ext cx="3977640" cy="5760720"/>
          </a:xfrm>
          <a:prstGeom prst="roundRect">
            <a:avLst>
              <a:gd name="adj" fmla="val 2759"/>
            </a:avLst>
          </a:prstGeom>
          <a:solidFill>
            <a:srgbClr val="E1F5EE"/>
          </a:solidFill>
          <a:ln w="15875">
            <a:solidFill>
              <a:srgbClr val="8AAF8A"/>
            </a:solidFill>
            <a:prstDash val="dash"/>
          </a:ln>
        </p:spPr>
      </p:sp>
      <p:sp>
        <p:nvSpPr>
          <p:cNvPr id="6" name="Text 4"/>
          <p:cNvSpPr txBox="1"/>
          <p:nvPr/>
        </p:nvSpPr>
        <p:spPr>
          <a:xfrm>
            <a:off x="7907731" y="866851"/>
            <a:ext cx="3341218" cy="320040"/>
          </a:xfrm>
          <a:prstGeom prst="rect">
            <a:avLst/>
          </a:prstGeom>
          <a:noFill/>
          <a:ln/>
        </p:spPr>
        <p:txBody>
          <a:bodyPr wrap="square" lIns="0" tIns="0" rIns="0" bIns="0" rtlCol="0" anchor="ctr">
            <a:normAutofit/>
          </a:bodyPr>
          <a:lstStyle/>
          <a:p>
            <a:pPr algn="l" indent="0" marL="0">
              <a:lnSpc>
                <a:spcPct val="100000"/>
              </a:lnSpc>
              <a:buNone/>
            </a:pPr>
            <a:r>
              <a:rPr lang="en-US" sz="1100" b="1" spc="300" kern="0" dirty="0">
                <a:solidFill>
                  <a:srgbClr val="1E4A4A"/>
                </a:solidFill>
                <a:latin typeface="DM Sans" pitchFamily="34" charset="0"/>
                <a:ea typeface="DM Sans" pitchFamily="34" charset="-122"/>
                <a:cs typeface="DM Sans" pitchFamily="34" charset="-120"/>
              </a:rPr>
              <a:t>PHOTO PLACEHOLDER</a:t>
            </a:r>
            <a:endParaRPr lang="en-US" sz="1100" dirty="0"/>
          </a:p>
        </p:txBody>
      </p:sp>
      <p:sp>
        <p:nvSpPr>
          <p:cNvPr id="7" name="Text 5"/>
          <p:cNvSpPr txBox="1"/>
          <p:nvPr/>
        </p:nvSpPr>
        <p:spPr>
          <a:xfrm>
            <a:off x="7907731" y="1278331"/>
            <a:ext cx="3341218" cy="2377440"/>
          </a:xfrm>
          <a:prstGeom prst="rect">
            <a:avLst/>
          </a:prstGeom>
          <a:noFill/>
          <a:ln/>
        </p:spPr>
        <p:txBody>
          <a:bodyPr wrap="square" lIns="0" tIns="0" rIns="0" bIns="0" rtlCol="0" anchor="t">
            <a:normAutofit/>
          </a:bodyPr>
          <a:lstStyle/>
          <a:p>
            <a:pPr algn="l" indent="0" marL="0">
              <a:lnSpc>
                <a:spcPct val="110000"/>
              </a:lnSpc>
              <a:buNone/>
            </a:pPr>
            <a:r>
              <a:rPr lang="en-US" sz="1200" i="1" dirty="0">
                <a:solidFill>
                  <a:srgbClr val="5E6B68"/>
                </a:solidFill>
                <a:latin typeface="DM Sans" pitchFamily="34" charset="0"/>
                <a:ea typeface="DM Sans" pitchFamily="34" charset="-122"/>
                <a:cs typeface="DM Sans" pitchFamily="34" charset="-120"/>
              </a:rPr>
              <a:t>Book cover of Lose the Gum, shot on a desk or held by Tamara.</a:t>
            </a:r>
            <a:endParaRPr lang="en-US" sz="1200" dirty="0"/>
          </a:p>
        </p:txBody>
      </p:sp>
      <p:sp>
        <p:nvSpPr>
          <p:cNvPr id="25" name="Slide Number Placeholder 0"/>
          <p:cNvSpPr>
            <a:spLocks noGrp="1"/>
          </p:cNvSpPr>
          <p:nvPr>
            <p:ph type="sldNum" sz="quarter" idx="4294967295"/>
          </p:nvPr>
        </p:nvSpPr>
        <p:spPr>
          <a:xfrm>
            <a:off x="11368735"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AA6A3"/>
                </a:solidFill>
                <a:latin typeface="DM Sans"/>
                <a:ea typeface="DM Sans"/>
                <a:cs typeface="DM Sans"/>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5EE"/>
        </a:solidFill>
      </p:bgPr>
    </p:bg>
    <p:spTree>
      <p:nvGrpSpPr>
        <p:cNvPr id="1" name=""/>
        <p:cNvGrpSpPr/>
        <p:nvPr/>
      </p:nvGrpSpPr>
      <p:grpSpPr>
        <a:xfrm>
          <a:off x="0" y="0"/>
          <a:ext cx="0" cy="0"/>
          <a:chOff x="0" y="0"/>
          <a:chExt cx="0" cy="0"/>
        </a:xfrm>
      </p:grpSpPr>
      <p:sp>
        <p:nvSpPr>
          <p:cNvPr id="2" name="Text 0"/>
          <p:cNvSpPr txBox="1"/>
          <p:nvPr/>
        </p:nvSpPr>
        <p:spPr>
          <a:xfrm>
            <a:off x="640080" y="822960"/>
            <a:ext cx="6492240" cy="914400"/>
          </a:xfrm>
          <a:prstGeom prst="rect">
            <a:avLst/>
          </a:prstGeom>
          <a:noFill/>
          <a:ln/>
        </p:spPr>
        <p:txBody>
          <a:bodyPr wrap="square" lIns="0" tIns="0" rIns="0" bIns="0" rtlCol="0" anchor="b">
            <a:normAutofit/>
          </a:bodyPr>
          <a:lstStyle/>
          <a:p>
            <a:pPr algn="l" indent="0" marL="0">
              <a:lnSpc>
                <a:spcPct val="95000"/>
              </a:lnSpc>
              <a:buNone/>
            </a:pPr>
            <a:r>
              <a:rPr lang="en-US" sz="2600" b="1" dirty="0">
                <a:solidFill>
                  <a:srgbClr val="1B2B2B"/>
                </a:solidFill>
                <a:latin typeface="Cormorant Garamond" pitchFamily="34" charset="0"/>
                <a:ea typeface="Cormorant Garamond" pitchFamily="34" charset="-122"/>
                <a:cs typeface="Cormorant Garamond" pitchFamily="34" charset="-120"/>
              </a:rPr>
              <a:t>Recognized for advancing women in finance</a:t>
            </a:r>
            <a:endParaRPr lang="en-US" sz="2600" dirty="0"/>
          </a:p>
        </p:txBody>
      </p:sp>
      <p:sp>
        <p:nvSpPr>
          <p:cNvPr id="3" name="Text 1"/>
          <p:cNvSpPr txBox="1"/>
          <p:nvPr/>
        </p:nvSpPr>
        <p:spPr>
          <a:xfrm>
            <a:off x="640080" y="1920240"/>
            <a:ext cx="6492240" cy="1828800"/>
          </a:xfrm>
          <a:prstGeom prst="rect">
            <a:avLst/>
          </a:prstGeom>
          <a:noFill/>
          <a:ln/>
        </p:spPr>
        <p:txBody>
          <a:bodyPr wrap="square" lIns="0" tIns="0" rIns="0" bIns="0" rtlCol="0" anchor="ctr">
            <a:normAutofit/>
          </a:bodyPr>
          <a:lstStyle/>
          <a:p>
            <a:pPr algn="l" indent="0" marL="0">
              <a:lnSpc>
                <a:spcPct val="100000"/>
              </a:lnSpc>
              <a:buNone/>
            </a:pPr>
            <a:r>
              <a:rPr lang="en-US" sz="4400" b="1" dirty="0">
                <a:solidFill>
                  <a:srgbClr val="1E4A4A"/>
                </a:solidFill>
                <a:latin typeface="Cormorant Garamond" pitchFamily="34" charset="0"/>
                <a:ea typeface="Cormorant Garamond" pitchFamily="34" charset="-122"/>
                <a:cs typeface="Cormorant Garamond" pitchFamily="34" charset="-120"/>
              </a:rPr>
              <a:t>Women of Wall Street Award</a:t>
            </a:r>
            <a:endParaRPr lang="en-US" sz="4400" dirty="0"/>
          </a:p>
        </p:txBody>
      </p:sp>
      <p:sp>
        <p:nvSpPr>
          <p:cNvPr id="4" name="Text 2"/>
          <p:cNvSpPr txBox="1"/>
          <p:nvPr/>
        </p:nvSpPr>
        <p:spPr>
          <a:xfrm>
            <a:off x="640080" y="4023360"/>
            <a:ext cx="6217920" cy="2103120"/>
          </a:xfrm>
          <a:prstGeom prst="rect">
            <a:avLst/>
          </a:prstGeom>
          <a:noFill/>
          <a:ln/>
        </p:spPr>
        <p:txBody>
          <a:bodyPr wrap="square" lIns="0" tIns="0" rIns="0" bIns="0" rtlCol="0" anchor="t">
            <a:normAutofit/>
          </a:bodyPr>
          <a:lstStyle/>
          <a:p>
            <a:pPr algn="l" indent="0" marL="0">
              <a:lnSpc>
                <a:spcPct val="115000"/>
              </a:lnSpc>
              <a:buNone/>
            </a:pPr>
            <a:r>
              <a:rPr lang="en-US" sz="1900" dirty="0">
                <a:solidFill>
                  <a:srgbClr val="1B2B2B"/>
                </a:solidFill>
                <a:latin typeface="DM Sans" pitchFamily="34" charset="0"/>
                <a:ea typeface="DM Sans" pitchFamily="34" charset="-122"/>
                <a:cs typeface="DM Sans" pitchFamily="34" charset="-120"/>
              </a:rPr>
              <a:t>Plus a Special Congressional Recognition for contributions to the banking, finance and investment communities</a:t>
            </a:r>
            <a:endParaRPr lang="en-US" sz="1900" dirty="0"/>
          </a:p>
        </p:txBody>
      </p:sp>
      <p:sp>
        <p:nvSpPr>
          <p:cNvPr id="5" name="Shape 3"/>
          <p:cNvSpPr/>
          <p:nvPr/>
        </p:nvSpPr>
        <p:spPr>
          <a:xfrm>
            <a:off x="7589520" y="548640"/>
            <a:ext cx="3977640" cy="5760720"/>
          </a:xfrm>
          <a:prstGeom prst="roundRect">
            <a:avLst>
              <a:gd name="adj" fmla="val 2759"/>
            </a:avLst>
          </a:prstGeom>
          <a:solidFill>
            <a:srgbClr val="E1F5EE"/>
          </a:solidFill>
          <a:ln w="15875">
            <a:solidFill>
              <a:srgbClr val="8AAF8A"/>
            </a:solidFill>
            <a:prstDash val="dash"/>
          </a:ln>
        </p:spPr>
      </p:sp>
      <p:sp>
        <p:nvSpPr>
          <p:cNvPr id="6" name="Text 4"/>
          <p:cNvSpPr txBox="1"/>
          <p:nvPr/>
        </p:nvSpPr>
        <p:spPr>
          <a:xfrm>
            <a:off x="7907731" y="866851"/>
            <a:ext cx="3341218" cy="320040"/>
          </a:xfrm>
          <a:prstGeom prst="rect">
            <a:avLst/>
          </a:prstGeom>
          <a:noFill/>
          <a:ln/>
        </p:spPr>
        <p:txBody>
          <a:bodyPr wrap="square" lIns="0" tIns="0" rIns="0" bIns="0" rtlCol="0" anchor="ctr">
            <a:normAutofit/>
          </a:bodyPr>
          <a:lstStyle/>
          <a:p>
            <a:pPr algn="l" indent="0" marL="0">
              <a:lnSpc>
                <a:spcPct val="100000"/>
              </a:lnSpc>
              <a:buNone/>
            </a:pPr>
            <a:r>
              <a:rPr lang="en-US" sz="1100" b="1" spc="300" kern="0" dirty="0">
                <a:solidFill>
                  <a:srgbClr val="1E4A4A"/>
                </a:solidFill>
                <a:latin typeface="DM Sans" pitchFamily="34" charset="0"/>
                <a:ea typeface="DM Sans" pitchFamily="34" charset="-122"/>
                <a:cs typeface="DM Sans" pitchFamily="34" charset="-120"/>
              </a:rPr>
              <a:t>PHOTO PLACEHOLDER</a:t>
            </a:r>
            <a:endParaRPr lang="en-US" sz="1100" dirty="0"/>
          </a:p>
        </p:txBody>
      </p:sp>
      <p:sp>
        <p:nvSpPr>
          <p:cNvPr id="7" name="Text 5"/>
          <p:cNvSpPr txBox="1"/>
          <p:nvPr/>
        </p:nvSpPr>
        <p:spPr>
          <a:xfrm>
            <a:off x="7907731" y="1278331"/>
            <a:ext cx="3341218" cy="2377440"/>
          </a:xfrm>
          <a:prstGeom prst="rect">
            <a:avLst/>
          </a:prstGeom>
          <a:noFill/>
          <a:ln/>
        </p:spPr>
        <p:txBody>
          <a:bodyPr wrap="square" lIns="0" tIns="0" rIns="0" bIns="0" rtlCol="0" anchor="t">
            <a:normAutofit/>
          </a:bodyPr>
          <a:lstStyle/>
          <a:p>
            <a:pPr algn="l" indent="0" marL="0">
              <a:lnSpc>
                <a:spcPct val="110000"/>
              </a:lnSpc>
              <a:buNone/>
            </a:pPr>
            <a:r>
              <a:rPr lang="en-US" sz="1200" i="1" dirty="0">
                <a:solidFill>
                  <a:srgbClr val="5E6B68"/>
                </a:solidFill>
                <a:latin typeface="DM Sans" pitchFamily="34" charset="0"/>
                <a:ea typeface="DM Sans" pitchFamily="34" charset="-122"/>
                <a:cs typeface="DM Sans" pitchFamily="34" charset="-120"/>
              </a:rPr>
              <a:t>Tamara receiving the Women of Wall Street Award, or the award and the congressional recognition framed on a wall.</a:t>
            </a:r>
            <a:endParaRPr lang="en-US" sz="1200" dirty="0"/>
          </a:p>
        </p:txBody>
      </p:sp>
      <p:sp>
        <p:nvSpPr>
          <p:cNvPr id="25" name="Slide Number Placeholder 0"/>
          <p:cNvSpPr>
            <a:spLocks noGrp="1"/>
          </p:cNvSpPr>
          <p:nvPr>
            <p:ph type="sldNum" sz="quarter" idx="4294967295"/>
          </p:nvPr>
        </p:nvSpPr>
        <p:spPr>
          <a:xfrm>
            <a:off x="11368735"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AA6A3"/>
                </a:solidFill>
                <a:latin typeface="DM Sans"/>
                <a:ea typeface="DM Sans"/>
                <a:cs typeface="DM Sans"/>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AF5EE"/>
        </a:solidFill>
      </p:bgPr>
    </p:bg>
    <p:spTree>
      <p:nvGrpSpPr>
        <p:cNvPr id="1" name=""/>
        <p:cNvGrpSpPr/>
        <p:nvPr/>
      </p:nvGrpSpPr>
      <p:grpSpPr>
        <a:xfrm>
          <a:off x="0" y="0"/>
          <a:ext cx="0" cy="0"/>
          <a:chOff x="0" y="0"/>
          <a:chExt cx="0" cy="0"/>
        </a:xfrm>
      </p:grpSpPr>
      <p:sp>
        <p:nvSpPr>
          <p:cNvPr id="2" name="Shape 0"/>
          <p:cNvSpPr/>
          <p:nvPr/>
        </p:nvSpPr>
        <p:spPr>
          <a:xfrm>
            <a:off x="7071055" y="0"/>
            <a:ext cx="5120640" cy="6858000"/>
          </a:xfrm>
          <a:prstGeom prst="rect">
            <a:avLst/>
          </a:prstGeom>
          <a:solidFill>
            <a:srgbClr val="E1F5EE"/>
          </a:solidFill>
          <a:ln w="15875">
            <a:solidFill>
              <a:srgbClr val="8AAF8A"/>
            </a:solidFill>
            <a:prstDash val="dash"/>
          </a:ln>
        </p:spPr>
      </p:sp>
      <p:sp>
        <p:nvSpPr>
          <p:cNvPr id="3" name="Text 1"/>
          <p:cNvSpPr txBox="1"/>
          <p:nvPr/>
        </p:nvSpPr>
        <p:spPr>
          <a:xfrm>
            <a:off x="7391095" y="320040"/>
            <a:ext cx="4480560" cy="320040"/>
          </a:xfrm>
          <a:prstGeom prst="rect">
            <a:avLst/>
          </a:prstGeom>
          <a:noFill/>
          <a:ln/>
        </p:spPr>
        <p:txBody>
          <a:bodyPr wrap="square" lIns="0" tIns="0" rIns="0" bIns="0" rtlCol="0" anchor="ctr">
            <a:normAutofit/>
          </a:bodyPr>
          <a:lstStyle/>
          <a:p>
            <a:pPr algn="l" indent="0" marL="0">
              <a:lnSpc>
                <a:spcPct val="100000"/>
              </a:lnSpc>
              <a:buNone/>
            </a:pPr>
            <a:r>
              <a:rPr lang="en-US" sz="1100" b="1" spc="300" kern="0" dirty="0">
                <a:solidFill>
                  <a:srgbClr val="1E4A4A"/>
                </a:solidFill>
                <a:latin typeface="DM Sans" pitchFamily="34" charset="0"/>
                <a:ea typeface="DM Sans" pitchFamily="34" charset="-122"/>
                <a:cs typeface="DM Sans" pitchFamily="34" charset="-120"/>
              </a:rPr>
              <a:t>PHOTO PLACEHOLDER</a:t>
            </a:r>
            <a:endParaRPr lang="en-US" sz="1100" dirty="0"/>
          </a:p>
        </p:txBody>
      </p:sp>
      <p:sp>
        <p:nvSpPr>
          <p:cNvPr id="4" name="Text 2"/>
          <p:cNvSpPr txBox="1"/>
          <p:nvPr/>
        </p:nvSpPr>
        <p:spPr>
          <a:xfrm>
            <a:off x="7391095" y="731520"/>
            <a:ext cx="4480560" cy="2377440"/>
          </a:xfrm>
          <a:prstGeom prst="rect">
            <a:avLst/>
          </a:prstGeom>
          <a:noFill/>
          <a:ln/>
        </p:spPr>
        <p:txBody>
          <a:bodyPr wrap="square" lIns="0" tIns="0" rIns="0" bIns="0" rtlCol="0" anchor="t">
            <a:normAutofit/>
          </a:bodyPr>
          <a:lstStyle/>
          <a:p>
            <a:pPr algn="l" indent="0" marL="0">
              <a:lnSpc>
                <a:spcPct val="110000"/>
              </a:lnSpc>
              <a:buNone/>
            </a:pPr>
            <a:r>
              <a:rPr lang="en-US" sz="1200" i="1" dirty="0">
                <a:solidFill>
                  <a:srgbClr val="5E6B68"/>
                </a:solidFill>
                <a:latin typeface="DM Sans" pitchFamily="34" charset="0"/>
                <a:ea typeface="DM Sans" pitchFamily="34" charset="-122"/>
                <a:cs typeface="DM Sans" pitchFamily="34" charset="-120"/>
              </a:rPr>
              <a:t>Split image: left half Tamara in a suit on Wall Street, right half Tamara barefoot on a beach in Costa Rica. Two chapters, one woman.</a:t>
            </a:r>
            <a:endParaRPr lang="en-US" sz="1200" dirty="0"/>
          </a:p>
        </p:txBody>
      </p:sp>
      <p:sp>
        <p:nvSpPr>
          <p:cNvPr id="5" name="Text 3"/>
          <p:cNvSpPr txBox="1"/>
          <p:nvPr/>
        </p:nvSpPr>
        <p:spPr>
          <a:xfrm>
            <a:off x="640080" y="731520"/>
            <a:ext cx="5852160" cy="2743200"/>
          </a:xfrm>
          <a:prstGeom prst="rect">
            <a:avLst/>
          </a:prstGeom>
          <a:noFill/>
          <a:ln/>
        </p:spPr>
        <p:txBody>
          <a:bodyPr wrap="square" lIns="0" tIns="0" rIns="0" bIns="0" rtlCol="0" anchor="b">
            <a:normAutofit/>
          </a:bodyPr>
          <a:lstStyle/>
          <a:p>
            <a:pPr algn="l" indent="0" marL="0">
              <a:lnSpc>
                <a:spcPct val="95000"/>
              </a:lnSpc>
              <a:buNone/>
            </a:pPr>
            <a:r>
              <a:rPr lang="en-US" sz="3000" b="1" dirty="0">
                <a:solidFill>
                  <a:srgbClr val="1B2B2B"/>
                </a:solidFill>
                <a:latin typeface="Cormorant Garamond" pitchFamily="34" charset="0"/>
                <a:ea typeface="Cormorant Garamond" pitchFamily="34" charset="-122"/>
                <a:cs typeface="Cormorant Garamond" pitchFamily="34" charset="-120"/>
              </a:rPr>
              <a:t>I learned negotiation across a real desk, with </a:t>
            </a:r>
            <a:pPr algn="l" indent="0" marL="0">
              <a:lnSpc>
                <a:spcPct val="95000"/>
              </a:lnSpc>
              <a:buNone/>
            </a:pPr>
            <a:r>
              <a:rPr lang="en-US" sz="3000" b="1" dirty="0">
                <a:solidFill>
                  <a:srgbClr val="1B2B2B"/>
                </a:solidFill>
                <a:highlight>
                  <a:srgbClr val="CFE3CF"/>
                </a:highlight>
                <a:latin typeface="Cormorant Garamond" pitchFamily="34" charset="0"/>
                <a:ea typeface="Cormorant Garamond" pitchFamily="34" charset="-122"/>
                <a:cs typeface="Cormorant Garamond" pitchFamily="34" charset="-120"/>
              </a:rPr>
              <a:t>real money on the line.</a:t>
            </a:r>
            <a:endParaRPr lang="en-US" sz="3000" dirty="0"/>
          </a:p>
        </p:txBody>
      </p:sp>
      <p:sp>
        <p:nvSpPr>
          <p:cNvPr id="6" name="Text 4"/>
          <p:cNvSpPr txBox="1"/>
          <p:nvPr/>
        </p:nvSpPr>
        <p:spPr>
          <a:xfrm>
            <a:off x="640080" y="3749040"/>
            <a:ext cx="5760720" cy="2377440"/>
          </a:xfrm>
          <a:prstGeom prst="rect">
            <a:avLst/>
          </a:prstGeom>
          <a:noFill/>
          <a:ln/>
        </p:spPr>
        <p:txBody>
          <a:bodyPr wrap="square" lIns="0" tIns="0" rIns="0" bIns="0" rtlCol="0" anchor="t">
            <a:normAutofit/>
          </a:bodyPr>
          <a:lstStyle/>
          <a:p>
            <a:pPr algn="l" indent="0" marL="0">
              <a:lnSpc>
                <a:spcPct val="115000"/>
              </a:lnSpc>
              <a:buNone/>
            </a:pPr>
            <a:r>
              <a:rPr lang="en-US" sz="1900" dirty="0">
                <a:solidFill>
                  <a:srgbClr val="1B2B2B"/>
                </a:solidFill>
                <a:latin typeface="DM Sans" pitchFamily="34" charset="0"/>
                <a:ea typeface="DM Sans" pitchFamily="34" charset="-122"/>
                <a:cs typeface="DM Sans" pitchFamily="34" charset="-120"/>
              </a:rPr>
              <a:t>Then I spent five years learning the part nobody on Wall Street teaches.</a:t>
            </a:r>
            <a:endParaRPr lang="en-US" sz="1900" dirty="0"/>
          </a:p>
        </p:txBody>
      </p:sp>
      <p:sp>
        <p:nvSpPr>
          <p:cNvPr id="25" name="Slide Number Placeholder 0"/>
          <p:cNvSpPr>
            <a:spLocks noGrp="1"/>
          </p:cNvSpPr>
          <p:nvPr>
            <p:ph type="sldNum" sz="quarter" idx="4294967295"/>
          </p:nvPr>
        </p:nvSpPr>
        <p:spPr>
          <a:xfrm>
            <a:off x="11368735"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AA6A3"/>
                </a:solidFill>
                <a:latin typeface="DM Sans"/>
                <a:ea typeface="DM Sans"/>
                <a:cs typeface="DM Sans"/>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AF5EE"/>
        </a:solidFill>
      </p:bgPr>
    </p:bg>
    <p:spTree>
      <p:nvGrpSpPr>
        <p:cNvPr id="1" name=""/>
        <p:cNvGrpSpPr/>
        <p:nvPr/>
      </p:nvGrpSpPr>
      <p:grpSpPr>
        <a:xfrm>
          <a:off x="0" y="0"/>
          <a:ext cx="0" cy="0"/>
          <a:chOff x="0" y="0"/>
          <a:chExt cx="0" cy="0"/>
        </a:xfrm>
      </p:grpSpPr>
      <p:sp>
        <p:nvSpPr>
          <p:cNvPr id="2" name="Shape 0"/>
          <p:cNvSpPr/>
          <p:nvPr/>
        </p:nvSpPr>
        <p:spPr>
          <a:xfrm>
            <a:off x="0" y="0"/>
            <a:ext cx="5120640" cy="6858000"/>
          </a:xfrm>
          <a:prstGeom prst="rect">
            <a:avLst/>
          </a:prstGeom>
          <a:solidFill>
            <a:srgbClr val="E1F5EE"/>
          </a:solidFill>
          <a:ln w="15875">
            <a:solidFill>
              <a:srgbClr val="8AAF8A"/>
            </a:solidFill>
            <a:prstDash val="dash"/>
          </a:ln>
        </p:spPr>
      </p:sp>
      <p:sp>
        <p:nvSpPr>
          <p:cNvPr id="3" name="Text 1"/>
          <p:cNvSpPr txBox="1"/>
          <p:nvPr/>
        </p:nvSpPr>
        <p:spPr>
          <a:xfrm>
            <a:off x="320040" y="320040"/>
            <a:ext cx="4480560" cy="320040"/>
          </a:xfrm>
          <a:prstGeom prst="rect">
            <a:avLst/>
          </a:prstGeom>
          <a:noFill/>
          <a:ln/>
        </p:spPr>
        <p:txBody>
          <a:bodyPr wrap="square" lIns="0" tIns="0" rIns="0" bIns="0" rtlCol="0" anchor="ctr">
            <a:normAutofit/>
          </a:bodyPr>
          <a:lstStyle/>
          <a:p>
            <a:pPr algn="l" indent="0" marL="0">
              <a:lnSpc>
                <a:spcPct val="100000"/>
              </a:lnSpc>
              <a:buNone/>
            </a:pPr>
            <a:r>
              <a:rPr lang="en-US" sz="1100" b="1" spc="300" kern="0" dirty="0">
                <a:solidFill>
                  <a:srgbClr val="1E4A4A"/>
                </a:solidFill>
                <a:latin typeface="DM Sans" pitchFamily="34" charset="0"/>
                <a:ea typeface="DM Sans" pitchFamily="34" charset="-122"/>
                <a:cs typeface="DM Sans" pitchFamily="34" charset="-120"/>
              </a:rPr>
              <a:t>PHOTO PLACEHOLDER</a:t>
            </a:r>
            <a:endParaRPr lang="en-US" sz="1100" dirty="0"/>
          </a:p>
        </p:txBody>
      </p:sp>
      <p:sp>
        <p:nvSpPr>
          <p:cNvPr id="4" name="Text 2"/>
          <p:cNvSpPr txBox="1"/>
          <p:nvPr/>
        </p:nvSpPr>
        <p:spPr>
          <a:xfrm>
            <a:off x="320040" y="731520"/>
            <a:ext cx="4480560" cy="2377440"/>
          </a:xfrm>
          <a:prstGeom prst="rect">
            <a:avLst/>
          </a:prstGeom>
          <a:noFill/>
          <a:ln/>
        </p:spPr>
        <p:txBody>
          <a:bodyPr wrap="square" lIns="0" tIns="0" rIns="0" bIns="0" rtlCol="0" anchor="t">
            <a:normAutofit/>
          </a:bodyPr>
          <a:lstStyle/>
          <a:p>
            <a:pPr algn="l" indent="0" marL="0">
              <a:lnSpc>
                <a:spcPct val="110000"/>
              </a:lnSpc>
              <a:buNone/>
            </a:pPr>
            <a:r>
              <a:rPr lang="en-US" sz="1200" i="1" dirty="0">
                <a:solidFill>
                  <a:srgbClr val="5E6B68"/>
                </a:solidFill>
                <a:latin typeface="DM Sans" pitchFamily="34" charset="0"/>
                <a:ea typeface="DM Sans" pitchFamily="34" charset="-122"/>
                <a:cs typeface="DM Sans" pitchFamily="34" charset="-120"/>
              </a:rPr>
              <a:t>Childhood photo of Tamara from her family album. Ordinary suburban house, 1970s/80s snapshot feel.</a:t>
            </a:r>
            <a:endParaRPr lang="en-US" sz="1200" dirty="0"/>
          </a:p>
        </p:txBody>
      </p:sp>
      <p:sp>
        <p:nvSpPr>
          <p:cNvPr id="5" name="Text 3"/>
          <p:cNvSpPr txBox="1"/>
          <p:nvPr/>
        </p:nvSpPr>
        <p:spPr>
          <a:xfrm>
            <a:off x="5669280" y="731520"/>
            <a:ext cx="5852160" cy="2743200"/>
          </a:xfrm>
          <a:prstGeom prst="rect">
            <a:avLst/>
          </a:prstGeom>
          <a:noFill/>
          <a:ln/>
        </p:spPr>
        <p:txBody>
          <a:bodyPr wrap="square" lIns="0" tIns="0" rIns="0" bIns="0" rtlCol="0" anchor="b">
            <a:normAutofit/>
          </a:bodyPr>
          <a:lstStyle/>
          <a:p>
            <a:pPr algn="l" indent="0" marL="0">
              <a:lnSpc>
                <a:spcPct val="95000"/>
              </a:lnSpc>
              <a:buNone/>
            </a:pPr>
            <a:r>
              <a:rPr lang="en-US" sz="3400" b="1" dirty="0">
                <a:solidFill>
                  <a:srgbClr val="1B2B2B"/>
                </a:solidFill>
                <a:latin typeface="Cormorant Garamond" pitchFamily="34" charset="0"/>
                <a:ea typeface="Cormorant Garamond" pitchFamily="34" charset="-122"/>
                <a:cs typeface="Cormorant Garamond" pitchFamily="34" charset="-120"/>
              </a:rPr>
              <a:t>I grew up in a house </a:t>
            </a:r>
            <a:pPr algn="l" indent="0" marL="0">
              <a:lnSpc>
                <a:spcPct val="95000"/>
              </a:lnSpc>
              <a:buNone/>
            </a:pPr>
            <a:r>
              <a:rPr lang="en-US" sz="3400" b="1" dirty="0">
                <a:solidFill>
                  <a:srgbClr val="1B2B2B"/>
                </a:solidFill>
                <a:highlight>
                  <a:srgbClr val="CFE3CF"/>
                </a:highlight>
                <a:latin typeface="Cormorant Garamond" pitchFamily="34" charset="0"/>
                <a:ea typeface="Cormorant Garamond" pitchFamily="34" charset="-122"/>
                <a:cs typeface="Cormorant Garamond" pitchFamily="34" charset="-120"/>
              </a:rPr>
              <a:t>with no savings.</a:t>
            </a:r>
            <a:endParaRPr lang="en-US" sz="3400" dirty="0"/>
          </a:p>
        </p:txBody>
      </p:sp>
      <p:sp>
        <p:nvSpPr>
          <p:cNvPr id="6" name="Text 4"/>
          <p:cNvSpPr txBox="1"/>
          <p:nvPr/>
        </p:nvSpPr>
        <p:spPr>
          <a:xfrm>
            <a:off x="5669280" y="3749040"/>
            <a:ext cx="5760720" cy="2377440"/>
          </a:xfrm>
          <a:prstGeom prst="rect">
            <a:avLst/>
          </a:prstGeom>
          <a:noFill/>
          <a:ln/>
        </p:spPr>
        <p:txBody>
          <a:bodyPr wrap="square" lIns="0" tIns="0" rIns="0" bIns="0" rtlCol="0" anchor="t">
            <a:normAutofit/>
          </a:bodyPr>
          <a:lstStyle/>
          <a:p>
            <a:pPr algn="l" indent="0" marL="0">
              <a:lnSpc>
                <a:spcPct val="115000"/>
              </a:lnSpc>
              <a:buNone/>
            </a:pPr>
            <a:r>
              <a:rPr lang="en-US" sz="1900" dirty="0">
                <a:solidFill>
                  <a:srgbClr val="1B2B2B"/>
                </a:solidFill>
                <a:latin typeface="DM Sans" pitchFamily="34" charset="0"/>
                <a:ea typeface="DM Sans" pitchFamily="34" charset="-122"/>
                <a:cs typeface="DM Sans" pitchFamily="34" charset="-120"/>
              </a:rPr>
              <a:t>We weren't poor, but there was no money in the bank. My parents carried heaps of credit card debt, and some months the electricity got turned off.</a:t>
            </a:r>
            <a:endParaRPr lang="en-US" sz="1900" dirty="0"/>
          </a:p>
        </p:txBody>
      </p:sp>
      <p:sp>
        <p:nvSpPr>
          <p:cNvPr id="25" name="Slide Number Placeholder 0"/>
          <p:cNvSpPr>
            <a:spLocks noGrp="1"/>
          </p:cNvSpPr>
          <p:nvPr>
            <p:ph type="sldNum" sz="quarter" idx="4294967295"/>
          </p:nvPr>
        </p:nvSpPr>
        <p:spPr>
          <a:xfrm>
            <a:off x="11368735"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AA6A3"/>
                </a:solidFill>
                <a:latin typeface="DM Sans"/>
                <a:ea typeface="DM Sans"/>
                <a:cs typeface="DM Sans"/>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AF5EE"/>
        </a:solidFill>
      </p:bgPr>
    </p:bg>
    <p:spTree>
      <p:nvGrpSpPr>
        <p:cNvPr id="1" name=""/>
        <p:cNvGrpSpPr/>
        <p:nvPr/>
      </p:nvGrpSpPr>
      <p:grpSpPr>
        <a:xfrm>
          <a:off x="0" y="0"/>
          <a:ext cx="0" cy="0"/>
          <a:chOff x="0" y="0"/>
          <a:chExt cx="0" cy="0"/>
        </a:xfrm>
      </p:grpSpPr>
      <p:sp>
        <p:nvSpPr>
          <p:cNvPr id="2" name="Shape 0"/>
          <p:cNvSpPr/>
          <p:nvPr/>
        </p:nvSpPr>
        <p:spPr>
          <a:xfrm>
            <a:off x="7071055" y="0"/>
            <a:ext cx="5120640" cy="6858000"/>
          </a:xfrm>
          <a:prstGeom prst="rect">
            <a:avLst/>
          </a:prstGeom>
          <a:solidFill>
            <a:srgbClr val="E1F5EE"/>
          </a:solidFill>
          <a:ln w="15875">
            <a:solidFill>
              <a:srgbClr val="8AAF8A"/>
            </a:solidFill>
            <a:prstDash val="dash"/>
          </a:ln>
        </p:spPr>
      </p:sp>
      <p:sp>
        <p:nvSpPr>
          <p:cNvPr id="3" name="Text 1"/>
          <p:cNvSpPr txBox="1"/>
          <p:nvPr/>
        </p:nvSpPr>
        <p:spPr>
          <a:xfrm>
            <a:off x="7391095" y="320040"/>
            <a:ext cx="4480560" cy="320040"/>
          </a:xfrm>
          <a:prstGeom prst="rect">
            <a:avLst/>
          </a:prstGeom>
          <a:noFill/>
          <a:ln/>
        </p:spPr>
        <p:txBody>
          <a:bodyPr wrap="square" lIns="0" tIns="0" rIns="0" bIns="0" rtlCol="0" anchor="ctr">
            <a:normAutofit/>
          </a:bodyPr>
          <a:lstStyle/>
          <a:p>
            <a:pPr algn="l" indent="0" marL="0">
              <a:lnSpc>
                <a:spcPct val="100000"/>
              </a:lnSpc>
              <a:buNone/>
            </a:pPr>
            <a:r>
              <a:rPr lang="en-US" sz="1100" b="1" spc="300" kern="0" dirty="0">
                <a:solidFill>
                  <a:srgbClr val="1E4A4A"/>
                </a:solidFill>
                <a:latin typeface="DM Sans" pitchFamily="34" charset="0"/>
                <a:ea typeface="DM Sans" pitchFamily="34" charset="-122"/>
                <a:cs typeface="DM Sans" pitchFamily="34" charset="-120"/>
              </a:rPr>
              <a:t>PHOTO PLACEHOLDER</a:t>
            </a:r>
            <a:endParaRPr lang="en-US" sz="1100" dirty="0"/>
          </a:p>
        </p:txBody>
      </p:sp>
      <p:sp>
        <p:nvSpPr>
          <p:cNvPr id="4" name="Text 2"/>
          <p:cNvSpPr txBox="1"/>
          <p:nvPr/>
        </p:nvSpPr>
        <p:spPr>
          <a:xfrm>
            <a:off x="7391095" y="731520"/>
            <a:ext cx="4480560" cy="2377440"/>
          </a:xfrm>
          <a:prstGeom prst="rect">
            <a:avLst/>
          </a:prstGeom>
          <a:noFill/>
          <a:ln/>
        </p:spPr>
        <p:txBody>
          <a:bodyPr wrap="square" lIns="0" tIns="0" rIns="0" bIns="0" rtlCol="0" anchor="t">
            <a:normAutofit/>
          </a:bodyPr>
          <a:lstStyle/>
          <a:p>
            <a:pPr algn="l" indent="0" marL="0">
              <a:lnSpc>
                <a:spcPct val="110000"/>
              </a:lnSpc>
              <a:buNone/>
            </a:pPr>
            <a:r>
              <a:rPr lang="en-US" sz="1200" i="1" dirty="0">
                <a:solidFill>
                  <a:srgbClr val="5E6B68"/>
                </a:solidFill>
                <a:latin typeface="DM Sans" pitchFamily="34" charset="0"/>
                <a:ea typeface="DM Sans" pitchFamily="34" charset="-122"/>
                <a:cs typeface="DM Sans" pitchFamily="34" charset="-120"/>
              </a:rPr>
              <a:t>Tamara's college graduation photo, cap and gown. Or a photo of Tamara with her mother, if she's comfortable sharing it.</a:t>
            </a:r>
            <a:endParaRPr lang="en-US" sz="1200" dirty="0"/>
          </a:p>
        </p:txBody>
      </p:sp>
      <p:sp>
        <p:nvSpPr>
          <p:cNvPr id="5" name="Text 3"/>
          <p:cNvSpPr txBox="1"/>
          <p:nvPr/>
        </p:nvSpPr>
        <p:spPr>
          <a:xfrm>
            <a:off x="640080" y="731520"/>
            <a:ext cx="5852160" cy="2743200"/>
          </a:xfrm>
          <a:prstGeom prst="rect">
            <a:avLst/>
          </a:prstGeom>
          <a:noFill/>
          <a:ln/>
        </p:spPr>
        <p:txBody>
          <a:bodyPr wrap="square" lIns="0" tIns="0" rIns="0" bIns="0" rtlCol="0" anchor="b">
            <a:normAutofit/>
          </a:bodyPr>
          <a:lstStyle/>
          <a:p>
            <a:pPr algn="l" indent="0" marL="0">
              <a:lnSpc>
                <a:spcPct val="95000"/>
              </a:lnSpc>
              <a:buNone/>
            </a:pPr>
            <a:r>
              <a:rPr lang="en-US" sz="3400" b="1" dirty="0">
                <a:solidFill>
                  <a:srgbClr val="1B2B2B"/>
                </a:solidFill>
                <a:latin typeface="Cormorant Garamond" pitchFamily="34" charset="0"/>
                <a:ea typeface="Cormorant Garamond" pitchFamily="34" charset="-122"/>
                <a:cs typeface="Cormorant Garamond" pitchFamily="34" charset="-120"/>
              </a:rPr>
              <a:t>At 18, I lost my mother. </a:t>
            </a:r>
            <a:pPr algn="l" indent="0" marL="0">
              <a:lnSpc>
                <a:spcPct val="95000"/>
              </a:lnSpc>
              <a:buNone/>
            </a:pPr>
            <a:r>
              <a:rPr lang="en-US" sz="3400" b="1" dirty="0">
                <a:solidFill>
                  <a:srgbClr val="1B2B2B"/>
                </a:solidFill>
                <a:highlight>
                  <a:srgbClr val="CFE3CF"/>
                </a:highlight>
                <a:latin typeface="Cormorant Garamond" pitchFamily="34" charset="0"/>
                <a:ea typeface="Cormorant Garamond" pitchFamily="34" charset="-122"/>
                <a:cs typeface="Cormorant Garamond" pitchFamily="34" charset="-120"/>
              </a:rPr>
              <a:t>Then my father declared bankruptcy.</a:t>
            </a:r>
            <a:endParaRPr lang="en-US" sz="3400" dirty="0"/>
          </a:p>
        </p:txBody>
      </p:sp>
      <p:sp>
        <p:nvSpPr>
          <p:cNvPr id="6" name="Text 4"/>
          <p:cNvSpPr txBox="1"/>
          <p:nvPr/>
        </p:nvSpPr>
        <p:spPr>
          <a:xfrm>
            <a:off x="640080" y="3749040"/>
            <a:ext cx="5760720" cy="2377440"/>
          </a:xfrm>
          <a:prstGeom prst="rect">
            <a:avLst/>
          </a:prstGeom>
          <a:noFill/>
          <a:ln/>
        </p:spPr>
        <p:txBody>
          <a:bodyPr wrap="square" lIns="0" tIns="0" rIns="0" bIns="0" rtlCol="0" anchor="t">
            <a:normAutofit/>
          </a:bodyPr>
          <a:lstStyle/>
          <a:p>
            <a:pPr algn="l" indent="0" marL="0">
              <a:lnSpc>
                <a:spcPct val="115000"/>
              </a:lnSpc>
              <a:buNone/>
            </a:pPr>
            <a:r>
              <a:rPr lang="en-US" sz="1900" dirty="0">
                <a:solidFill>
                  <a:srgbClr val="1B2B2B"/>
                </a:solidFill>
                <a:latin typeface="DM Sans" pitchFamily="34" charset="0"/>
                <a:ea typeface="DM Sans" pitchFamily="34" charset="-122"/>
                <a:cs typeface="DM Sans" pitchFamily="34" charset="-120"/>
              </a:rPr>
              <a:t>I paid for college on my own and graduated with more than $50,000 in student loans, well over $100,000 in today's dollars.</a:t>
            </a:r>
            <a:endParaRPr lang="en-US" sz="1900" dirty="0"/>
          </a:p>
        </p:txBody>
      </p:sp>
      <p:sp>
        <p:nvSpPr>
          <p:cNvPr id="25" name="Slide Number Placeholder 0"/>
          <p:cNvSpPr>
            <a:spLocks noGrp="1"/>
          </p:cNvSpPr>
          <p:nvPr>
            <p:ph type="sldNum" sz="quarter" idx="4294967295"/>
          </p:nvPr>
        </p:nvSpPr>
        <p:spPr>
          <a:xfrm>
            <a:off x="11368735"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AA6A3"/>
                </a:solidFill>
                <a:latin typeface="DM Sans"/>
                <a:ea typeface="DM Sans"/>
                <a:cs typeface="DM Sans"/>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AF5EE"/>
        </a:solidFill>
      </p:bgPr>
    </p:bg>
    <p:spTree>
      <p:nvGrpSpPr>
        <p:cNvPr id="1" name=""/>
        <p:cNvGrpSpPr/>
        <p:nvPr/>
      </p:nvGrpSpPr>
      <p:grpSpPr>
        <a:xfrm>
          <a:off x="0" y="0"/>
          <a:ext cx="0" cy="0"/>
          <a:chOff x="0" y="0"/>
          <a:chExt cx="0" cy="0"/>
        </a:xfrm>
      </p:grpSpPr>
      <p:sp>
        <p:nvSpPr>
          <p:cNvPr id="2" name="Shape 0"/>
          <p:cNvSpPr/>
          <p:nvPr/>
        </p:nvSpPr>
        <p:spPr>
          <a:xfrm>
            <a:off x="0" y="0"/>
            <a:ext cx="5120640" cy="6858000"/>
          </a:xfrm>
          <a:prstGeom prst="rect">
            <a:avLst/>
          </a:prstGeom>
          <a:solidFill>
            <a:srgbClr val="E1F5EE"/>
          </a:solidFill>
          <a:ln w="15875">
            <a:solidFill>
              <a:srgbClr val="8AAF8A"/>
            </a:solidFill>
            <a:prstDash val="dash"/>
          </a:ln>
        </p:spPr>
      </p:sp>
      <p:sp>
        <p:nvSpPr>
          <p:cNvPr id="3" name="Text 1"/>
          <p:cNvSpPr txBox="1"/>
          <p:nvPr/>
        </p:nvSpPr>
        <p:spPr>
          <a:xfrm>
            <a:off x="320040" y="320040"/>
            <a:ext cx="4480560" cy="320040"/>
          </a:xfrm>
          <a:prstGeom prst="rect">
            <a:avLst/>
          </a:prstGeom>
          <a:noFill/>
          <a:ln/>
        </p:spPr>
        <p:txBody>
          <a:bodyPr wrap="square" lIns="0" tIns="0" rIns="0" bIns="0" rtlCol="0" anchor="ctr">
            <a:normAutofit/>
          </a:bodyPr>
          <a:lstStyle/>
          <a:p>
            <a:pPr algn="l" indent="0" marL="0">
              <a:lnSpc>
                <a:spcPct val="100000"/>
              </a:lnSpc>
              <a:buNone/>
            </a:pPr>
            <a:r>
              <a:rPr lang="en-US" sz="1100" b="1" spc="300" kern="0" dirty="0">
                <a:solidFill>
                  <a:srgbClr val="1E4A4A"/>
                </a:solidFill>
                <a:latin typeface="DM Sans" pitchFamily="34" charset="0"/>
                <a:ea typeface="DM Sans" pitchFamily="34" charset="-122"/>
                <a:cs typeface="DM Sans" pitchFamily="34" charset="-120"/>
              </a:rPr>
              <a:t>PHOTO PLACEHOLDER</a:t>
            </a:r>
            <a:endParaRPr lang="en-US" sz="1100" dirty="0"/>
          </a:p>
        </p:txBody>
      </p:sp>
      <p:sp>
        <p:nvSpPr>
          <p:cNvPr id="4" name="Text 2"/>
          <p:cNvSpPr txBox="1"/>
          <p:nvPr/>
        </p:nvSpPr>
        <p:spPr>
          <a:xfrm>
            <a:off x="320040" y="731520"/>
            <a:ext cx="4480560" cy="2377440"/>
          </a:xfrm>
          <a:prstGeom prst="rect">
            <a:avLst/>
          </a:prstGeom>
          <a:noFill/>
          <a:ln/>
        </p:spPr>
        <p:txBody>
          <a:bodyPr wrap="square" lIns="0" tIns="0" rIns="0" bIns="0" rtlCol="0" anchor="t">
            <a:normAutofit/>
          </a:bodyPr>
          <a:lstStyle/>
          <a:p>
            <a:pPr algn="l" indent="0" marL="0">
              <a:lnSpc>
                <a:spcPct val="110000"/>
              </a:lnSpc>
              <a:buNone/>
            </a:pPr>
            <a:r>
              <a:rPr lang="en-US" sz="1200" i="1" dirty="0">
                <a:solidFill>
                  <a:srgbClr val="5E6B68"/>
                </a:solidFill>
                <a:latin typeface="DM Sans" pitchFamily="34" charset="0"/>
                <a:ea typeface="DM Sans" pitchFamily="34" charset="-122"/>
                <a:cs typeface="DM Sans" pitchFamily="34" charset="-120"/>
              </a:rPr>
              <a:t>Grocery store checkout lane, paper bags, 1990s feel. Could be a stylized stock shot or a recreation.</a:t>
            </a:r>
            <a:endParaRPr lang="en-US" sz="1200" dirty="0"/>
          </a:p>
        </p:txBody>
      </p:sp>
      <p:sp>
        <p:nvSpPr>
          <p:cNvPr id="5" name="Text 3"/>
          <p:cNvSpPr txBox="1"/>
          <p:nvPr/>
        </p:nvSpPr>
        <p:spPr>
          <a:xfrm>
            <a:off x="5669280" y="731520"/>
            <a:ext cx="5852160" cy="2743200"/>
          </a:xfrm>
          <a:prstGeom prst="rect">
            <a:avLst/>
          </a:prstGeom>
          <a:noFill/>
          <a:ln/>
        </p:spPr>
        <p:txBody>
          <a:bodyPr wrap="square" lIns="0" tIns="0" rIns="0" bIns="0" rtlCol="0" anchor="b">
            <a:normAutofit/>
          </a:bodyPr>
          <a:lstStyle/>
          <a:p>
            <a:pPr algn="l" indent="0" marL="0">
              <a:lnSpc>
                <a:spcPct val="95000"/>
              </a:lnSpc>
              <a:buNone/>
            </a:pPr>
            <a:r>
              <a:rPr lang="en-US" sz="3000" b="1" dirty="0">
                <a:solidFill>
                  <a:srgbClr val="1B2B2B"/>
                </a:solidFill>
                <a:latin typeface="Cormorant Garamond" pitchFamily="34" charset="0"/>
                <a:ea typeface="Cormorant Garamond" pitchFamily="34" charset="-122"/>
                <a:cs typeface="Cormorant Garamond" pitchFamily="34" charset="-120"/>
              </a:rPr>
              <a:t>Two Wall Street internships, then a recession. </a:t>
            </a:r>
            <a:pPr algn="l" indent="0" marL="0">
              <a:lnSpc>
                <a:spcPct val="95000"/>
              </a:lnSpc>
              <a:buNone/>
            </a:pPr>
            <a:r>
              <a:rPr lang="en-US" sz="3000" b="1" dirty="0">
                <a:solidFill>
                  <a:srgbClr val="1B2B2B"/>
                </a:solidFill>
                <a:highlight>
                  <a:srgbClr val="CFE3CF"/>
                </a:highlight>
                <a:latin typeface="Cormorant Garamond" pitchFamily="34" charset="0"/>
                <a:ea typeface="Cormorant Garamond" pitchFamily="34" charset="-122"/>
                <a:cs typeface="Cormorant Garamond" pitchFamily="34" charset="-120"/>
              </a:rPr>
              <a:t>So I bagged groceries.</a:t>
            </a:r>
            <a:endParaRPr lang="en-US" sz="3000" dirty="0"/>
          </a:p>
        </p:txBody>
      </p:sp>
      <p:sp>
        <p:nvSpPr>
          <p:cNvPr id="6" name="Text 4"/>
          <p:cNvSpPr txBox="1"/>
          <p:nvPr/>
        </p:nvSpPr>
        <p:spPr>
          <a:xfrm>
            <a:off x="5669280" y="3749040"/>
            <a:ext cx="5760720" cy="2377440"/>
          </a:xfrm>
          <a:prstGeom prst="rect">
            <a:avLst/>
          </a:prstGeom>
          <a:noFill/>
          <a:ln/>
        </p:spPr>
        <p:txBody>
          <a:bodyPr wrap="square" lIns="0" tIns="0" rIns="0" bIns="0" rtlCol="0" anchor="t">
            <a:normAutofit/>
          </a:bodyPr>
          <a:lstStyle/>
          <a:p>
            <a:pPr algn="l" indent="0" marL="0">
              <a:lnSpc>
                <a:spcPct val="115000"/>
              </a:lnSpc>
              <a:buNone/>
            </a:pPr>
            <a:r>
              <a:rPr lang="en-US" sz="1900" dirty="0">
                <a:solidFill>
                  <a:srgbClr val="1B2B2B"/>
                </a:solidFill>
                <a:latin typeface="DM Sans" pitchFamily="34" charset="0"/>
                <a:ea typeface="DM Sans" pitchFamily="34" charset="-122"/>
                <a:cs typeface="DM Sans" pitchFamily="34" charset="-120"/>
              </a:rPr>
              <a:t>I paid my bills at my local Acme and learned humility, along with a lot of other lessons. Then I sent hundreds of résumés to the one firm I wanted: J.P. Morgan.</a:t>
            </a:r>
            <a:endParaRPr lang="en-US" sz="1900" dirty="0"/>
          </a:p>
        </p:txBody>
      </p:sp>
      <p:sp>
        <p:nvSpPr>
          <p:cNvPr id="25" name="Slide Number Placeholder 0"/>
          <p:cNvSpPr>
            <a:spLocks noGrp="1"/>
          </p:cNvSpPr>
          <p:nvPr>
            <p:ph type="sldNum" sz="quarter" idx="4294967295"/>
          </p:nvPr>
        </p:nvSpPr>
        <p:spPr>
          <a:xfrm>
            <a:off x="11368735"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AA6A3"/>
                </a:solidFill>
                <a:latin typeface="DM Sans"/>
                <a:ea typeface="DM Sans"/>
                <a:cs typeface="DM Sans"/>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AF5EE"/>
        </a:solidFill>
      </p:bgPr>
    </p:bg>
    <p:spTree>
      <p:nvGrpSpPr>
        <p:cNvPr id="1" name=""/>
        <p:cNvGrpSpPr/>
        <p:nvPr/>
      </p:nvGrpSpPr>
      <p:grpSpPr>
        <a:xfrm>
          <a:off x="0" y="0"/>
          <a:ext cx="0" cy="0"/>
          <a:chOff x="0" y="0"/>
          <a:chExt cx="0" cy="0"/>
        </a:xfrm>
      </p:grpSpPr>
      <p:sp>
        <p:nvSpPr>
          <p:cNvPr id="2" name="Shape 0"/>
          <p:cNvSpPr/>
          <p:nvPr/>
        </p:nvSpPr>
        <p:spPr>
          <a:xfrm>
            <a:off x="7071055" y="0"/>
            <a:ext cx="5120640" cy="6858000"/>
          </a:xfrm>
          <a:prstGeom prst="rect">
            <a:avLst/>
          </a:prstGeom>
          <a:solidFill>
            <a:srgbClr val="E1F5EE"/>
          </a:solidFill>
          <a:ln w="15875">
            <a:solidFill>
              <a:srgbClr val="8AAF8A"/>
            </a:solidFill>
            <a:prstDash val="dash"/>
          </a:ln>
        </p:spPr>
      </p:sp>
      <p:sp>
        <p:nvSpPr>
          <p:cNvPr id="3" name="Text 1"/>
          <p:cNvSpPr txBox="1"/>
          <p:nvPr/>
        </p:nvSpPr>
        <p:spPr>
          <a:xfrm>
            <a:off x="7391095" y="320040"/>
            <a:ext cx="4480560" cy="320040"/>
          </a:xfrm>
          <a:prstGeom prst="rect">
            <a:avLst/>
          </a:prstGeom>
          <a:noFill/>
          <a:ln/>
        </p:spPr>
        <p:txBody>
          <a:bodyPr wrap="square" lIns="0" tIns="0" rIns="0" bIns="0" rtlCol="0" anchor="ctr">
            <a:normAutofit/>
          </a:bodyPr>
          <a:lstStyle/>
          <a:p>
            <a:pPr algn="l" indent="0" marL="0">
              <a:lnSpc>
                <a:spcPct val="100000"/>
              </a:lnSpc>
              <a:buNone/>
            </a:pPr>
            <a:r>
              <a:rPr lang="en-US" sz="1100" b="1" spc="300" kern="0" dirty="0">
                <a:solidFill>
                  <a:srgbClr val="1E4A4A"/>
                </a:solidFill>
                <a:latin typeface="DM Sans" pitchFamily="34" charset="0"/>
                <a:ea typeface="DM Sans" pitchFamily="34" charset="-122"/>
                <a:cs typeface="DM Sans" pitchFamily="34" charset="-120"/>
              </a:rPr>
              <a:t>PHOTO PLACEHOLDER</a:t>
            </a:r>
            <a:endParaRPr lang="en-US" sz="1100" dirty="0"/>
          </a:p>
        </p:txBody>
      </p:sp>
      <p:sp>
        <p:nvSpPr>
          <p:cNvPr id="4" name="Text 2"/>
          <p:cNvSpPr txBox="1"/>
          <p:nvPr/>
        </p:nvSpPr>
        <p:spPr>
          <a:xfrm>
            <a:off x="7391095" y="731520"/>
            <a:ext cx="4480560" cy="2377440"/>
          </a:xfrm>
          <a:prstGeom prst="rect">
            <a:avLst/>
          </a:prstGeom>
          <a:noFill/>
          <a:ln/>
        </p:spPr>
        <p:txBody>
          <a:bodyPr wrap="square" lIns="0" tIns="0" rIns="0" bIns="0" rtlCol="0" anchor="t">
            <a:normAutofit/>
          </a:bodyPr>
          <a:lstStyle/>
          <a:p>
            <a:pPr algn="l" indent="0" marL="0">
              <a:lnSpc>
                <a:spcPct val="110000"/>
              </a:lnSpc>
              <a:buNone/>
            </a:pPr>
            <a:r>
              <a:rPr lang="en-US" sz="1200" i="1" dirty="0">
                <a:solidFill>
                  <a:srgbClr val="5E6B68"/>
                </a:solidFill>
                <a:latin typeface="DM Sans" pitchFamily="34" charset="0"/>
                <a:ea typeface="DM Sans" pitchFamily="34" charset="-122"/>
                <a:cs typeface="DM Sans" pitchFamily="34" charset="-120"/>
              </a:rPr>
              <a:t>Moody, quiet shot: a woman sitting on the edge of a bed in work clothes, heels kicked off, head in her hands. Soft window light.</a:t>
            </a:r>
            <a:endParaRPr lang="en-US" sz="1200" dirty="0"/>
          </a:p>
        </p:txBody>
      </p:sp>
      <p:sp>
        <p:nvSpPr>
          <p:cNvPr id="5" name="Text 3"/>
          <p:cNvSpPr txBox="1"/>
          <p:nvPr/>
        </p:nvSpPr>
        <p:spPr>
          <a:xfrm>
            <a:off x="640080" y="731520"/>
            <a:ext cx="5852160" cy="2743200"/>
          </a:xfrm>
          <a:prstGeom prst="rect">
            <a:avLst/>
          </a:prstGeom>
          <a:noFill/>
          <a:ln/>
        </p:spPr>
        <p:txBody>
          <a:bodyPr wrap="square" lIns="0" tIns="0" rIns="0" bIns="0" rtlCol="0" anchor="b">
            <a:normAutofit/>
          </a:bodyPr>
          <a:lstStyle/>
          <a:p>
            <a:pPr algn="l" indent="0" marL="0">
              <a:lnSpc>
                <a:spcPct val="95000"/>
              </a:lnSpc>
              <a:buNone/>
            </a:pPr>
            <a:r>
              <a:rPr lang="en-US" sz="3400" b="1" dirty="0">
                <a:solidFill>
                  <a:srgbClr val="1B2B2B"/>
                </a:solidFill>
                <a:latin typeface="Cormorant Garamond" pitchFamily="34" charset="0"/>
                <a:ea typeface="Cormorant Garamond" pitchFamily="34" charset="-122"/>
                <a:cs typeface="Cormorant Garamond" pitchFamily="34" charset="-120"/>
              </a:rPr>
              <a:t>I made my mark. </a:t>
            </a:r>
            <a:pPr algn="l" indent="0" marL="0">
              <a:lnSpc>
                <a:spcPct val="95000"/>
              </a:lnSpc>
              <a:buNone/>
            </a:pPr>
            <a:r>
              <a:rPr lang="en-US" sz="3400" b="1" dirty="0">
                <a:solidFill>
                  <a:srgbClr val="1B2B2B"/>
                </a:solidFill>
                <a:highlight>
                  <a:srgbClr val="CFE3CF"/>
                </a:highlight>
                <a:latin typeface="Cormorant Garamond" pitchFamily="34" charset="0"/>
                <a:ea typeface="Cormorant Garamond" pitchFamily="34" charset="-122"/>
                <a:cs typeface="Cormorant Garamond" pitchFamily="34" charset="-120"/>
              </a:rPr>
              <a:t>And I was underpaid.</a:t>
            </a:r>
            <a:endParaRPr lang="en-US" sz="3400" dirty="0"/>
          </a:p>
        </p:txBody>
      </p:sp>
      <p:sp>
        <p:nvSpPr>
          <p:cNvPr id="6" name="Text 4"/>
          <p:cNvSpPr txBox="1"/>
          <p:nvPr/>
        </p:nvSpPr>
        <p:spPr>
          <a:xfrm>
            <a:off x="640080" y="3749040"/>
            <a:ext cx="5760720" cy="2377440"/>
          </a:xfrm>
          <a:prstGeom prst="rect">
            <a:avLst/>
          </a:prstGeom>
          <a:noFill/>
          <a:ln/>
        </p:spPr>
        <p:txBody>
          <a:bodyPr wrap="square" lIns="0" tIns="0" rIns="0" bIns="0" rtlCol="0" anchor="t">
            <a:normAutofit/>
          </a:bodyPr>
          <a:lstStyle/>
          <a:p>
            <a:pPr algn="l" indent="0" marL="0">
              <a:lnSpc>
                <a:spcPct val="115000"/>
              </a:lnSpc>
              <a:buNone/>
            </a:pPr>
            <a:r>
              <a:rPr lang="en-US" sz="1900" dirty="0">
                <a:solidFill>
                  <a:srgbClr val="1B2B2B"/>
                </a:solidFill>
                <a:latin typeface="DM Sans" pitchFamily="34" charset="0"/>
                <a:ea typeface="DM Sans" pitchFamily="34" charset="-122"/>
                <a:cs typeface="DM Sans" pitchFamily="34" charset="-120"/>
              </a:rPr>
              <a:t>I came home exhausted after weeks of long hours and broke down in tears in my aunt's bedroom.</a:t>
            </a:r>
            <a:endParaRPr lang="en-US" sz="1900" dirty="0"/>
          </a:p>
        </p:txBody>
      </p:sp>
      <p:sp>
        <p:nvSpPr>
          <p:cNvPr id="25" name="Slide Number Placeholder 0"/>
          <p:cNvSpPr>
            <a:spLocks noGrp="1"/>
          </p:cNvSpPr>
          <p:nvPr>
            <p:ph type="sldNum" sz="quarter" idx="4294967295"/>
          </p:nvPr>
        </p:nvSpPr>
        <p:spPr>
          <a:xfrm>
            <a:off x="11368735"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AA6A3"/>
                </a:solidFill>
                <a:latin typeface="DM Sans"/>
                <a:ea typeface="DM Sans"/>
                <a:cs typeface="DM Sans"/>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AF5EE"/>
        </a:solidFill>
      </p:bgPr>
    </p:bg>
    <p:spTree>
      <p:nvGrpSpPr>
        <p:cNvPr id="1" name=""/>
        <p:cNvGrpSpPr/>
        <p:nvPr/>
      </p:nvGrpSpPr>
      <p:grpSpPr>
        <a:xfrm>
          <a:off x="0" y="0"/>
          <a:ext cx="0" cy="0"/>
          <a:chOff x="0" y="0"/>
          <a:chExt cx="0" cy="0"/>
        </a:xfrm>
      </p:grpSpPr>
      <p:sp>
        <p:nvSpPr>
          <p:cNvPr id="2" name="Shape 0"/>
          <p:cNvSpPr/>
          <p:nvPr/>
        </p:nvSpPr>
        <p:spPr>
          <a:xfrm>
            <a:off x="731520" y="1097280"/>
            <a:ext cx="3474720" cy="4663440"/>
          </a:xfrm>
          <a:prstGeom prst="roundRect">
            <a:avLst>
              <a:gd name="adj" fmla="val 3158"/>
            </a:avLst>
          </a:prstGeom>
          <a:solidFill>
            <a:srgbClr val="E1F5EE"/>
          </a:solidFill>
          <a:ln w="15875">
            <a:solidFill>
              <a:srgbClr val="8AAF8A"/>
            </a:solidFill>
            <a:prstDash val="dash"/>
          </a:ln>
        </p:spPr>
      </p:sp>
      <p:sp>
        <p:nvSpPr>
          <p:cNvPr id="3" name="Text 1"/>
          <p:cNvSpPr txBox="1"/>
          <p:nvPr/>
        </p:nvSpPr>
        <p:spPr>
          <a:xfrm>
            <a:off x="1009498" y="1375258"/>
            <a:ext cx="2918765" cy="320040"/>
          </a:xfrm>
          <a:prstGeom prst="rect">
            <a:avLst/>
          </a:prstGeom>
          <a:noFill/>
          <a:ln/>
        </p:spPr>
        <p:txBody>
          <a:bodyPr wrap="square" lIns="0" tIns="0" rIns="0" bIns="0" rtlCol="0" anchor="ctr">
            <a:normAutofit/>
          </a:bodyPr>
          <a:lstStyle/>
          <a:p>
            <a:pPr algn="l" indent="0" marL="0">
              <a:lnSpc>
                <a:spcPct val="100000"/>
              </a:lnSpc>
              <a:buNone/>
            </a:pPr>
            <a:r>
              <a:rPr lang="en-US" sz="1100" b="1" spc="300" kern="0" dirty="0">
                <a:solidFill>
                  <a:srgbClr val="1E4A4A"/>
                </a:solidFill>
                <a:latin typeface="DM Sans" pitchFamily="34" charset="0"/>
                <a:ea typeface="DM Sans" pitchFamily="34" charset="-122"/>
                <a:cs typeface="DM Sans" pitchFamily="34" charset="-120"/>
              </a:rPr>
              <a:t>PHOTO PLACEHOLDER</a:t>
            </a:r>
            <a:endParaRPr lang="en-US" sz="1100" dirty="0"/>
          </a:p>
        </p:txBody>
      </p:sp>
      <p:sp>
        <p:nvSpPr>
          <p:cNvPr id="4" name="Text 2"/>
          <p:cNvSpPr txBox="1"/>
          <p:nvPr/>
        </p:nvSpPr>
        <p:spPr>
          <a:xfrm>
            <a:off x="1009498" y="1786738"/>
            <a:ext cx="2918765" cy="2377440"/>
          </a:xfrm>
          <a:prstGeom prst="rect">
            <a:avLst/>
          </a:prstGeom>
          <a:noFill/>
          <a:ln/>
        </p:spPr>
        <p:txBody>
          <a:bodyPr wrap="square" lIns="0" tIns="0" rIns="0" bIns="0" rtlCol="0" anchor="t">
            <a:normAutofit/>
          </a:bodyPr>
          <a:lstStyle/>
          <a:p>
            <a:pPr algn="l" indent="0" marL="0">
              <a:lnSpc>
                <a:spcPct val="110000"/>
              </a:lnSpc>
              <a:buNone/>
            </a:pPr>
            <a:r>
              <a:rPr lang="en-US" sz="1100" i="1" dirty="0">
                <a:solidFill>
                  <a:srgbClr val="5E6B68"/>
                </a:solidFill>
                <a:latin typeface="DM Sans" pitchFamily="34" charset="0"/>
                <a:ea typeface="DM Sans" pitchFamily="34" charset="-122"/>
                <a:cs typeface="DM Sans" pitchFamily="34" charset="-120"/>
              </a:rPr>
              <a:t>Photo of Tamara's aunt, or Tamara and her aunt together.</a:t>
            </a:r>
            <a:endParaRPr lang="en-US" sz="1100" dirty="0"/>
          </a:p>
        </p:txBody>
      </p:sp>
      <p:sp>
        <p:nvSpPr>
          <p:cNvPr id="5" name="Text 3"/>
          <p:cNvSpPr txBox="1"/>
          <p:nvPr/>
        </p:nvSpPr>
        <p:spPr>
          <a:xfrm>
            <a:off x="4663440" y="548640"/>
            <a:ext cx="1097280" cy="1097280"/>
          </a:xfrm>
          <a:prstGeom prst="rect">
            <a:avLst/>
          </a:prstGeom>
          <a:noFill/>
          <a:ln/>
        </p:spPr>
        <p:txBody>
          <a:bodyPr wrap="square" lIns="0" tIns="0" rIns="0" bIns="0" rtlCol="0" anchor="t">
            <a:normAutofit/>
          </a:bodyPr>
          <a:lstStyle/>
          <a:p>
            <a:pPr algn="l" indent="0" marL="0">
              <a:lnSpc>
                <a:spcPct val="100000"/>
              </a:lnSpc>
              <a:buNone/>
            </a:pPr>
            <a:r>
              <a:rPr lang="en-US" sz="11000" b="1" dirty="0">
                <a:solidFill>
                  <a:srgbClr val="8AAF8A"/>
                </a:solidFill>
                <a:latin typeface="Cormorant Garamond" pitchFamily="34" charset="0"/>
                <a:ea typeface="Cormorant Garamond" pitchFamily="34" charset="-122"/>
                <a:cs typeface="Cormorant Garamond" pitchFamily="34" charset="-120"/>
              </a:rPr>
              <a:t>“</a:t>
            </a:r>
            <a:endParaRPr lang="en-US" sz="11000" dirty="0"/>
          </a:p>
        </p:txBody>
      </p:sp>
      <p:sp>
        <p:nvSpPr>
          <p:cNvPr id="6" name="Text 4"/>
          <p:cNvSpPr txBox="1"/>
          <p:nvPr/>
        </p:nvSpPr>
        <p:spPr>
          <a:xfrm>
            <a:off x="4754880" y="1554480"/>
            <a:ext cx="6766560" cy="3017520"/>
          </a:xfrm>
          <a:prstGeom prst="rect">
            <a:avLst/>
          </a:prstGeom>
          <a:noFill/>
          <a:ln/>
        </p:spPr>
        <p:txBody>
          <a:bodyPr wrap="square" lIns="0" tIns="0" rIns="0" bIns="0" rtlCol="0" anchor="ctr">
            <a:normAutofit/>
          </a:bodyPr>
          <a:lstStyle/>
          <a:p>
            <a:pPr algn="l" indent="0" marL="0">
              <a:lnSpc>
                <a:spcPct val="105000"/>
              </a:lnSpc>
              <a:buNone/>
            </a:pPr>
            <a:r>
              <a:rPr lang="en-US" sz="2300" b="1" i="1" dirty="0">
                <a:solidFill>
                  <a:srgbClr val="1E4A4A"/>
                </a:solidFill>
                <a:latin typeface="Cormorant Garamond" pitchFamily="34" charset="0"/>
                <a:ea typeface="Cormorant Garamond" pitchFamily="34" charset="-122"/>
                <a:cs typeface="Cormorant Garamond" pitchFamily="34" charset="-120"/>
              </a:rPr>
              <a:t>Men do it all the time, and they do it behind closed doors. If you want to play with the big boys, you'd better learn to </a:t>
            </a:r>
            <a:pPr algn="l" indent="0" marL="0">
              <a:lnSpc>
                <a:spcPct val="105000"/>
              </a:lnSpc>
              <a:buNone/>
            </a:pPr>
            <a:r>
              <a:rPr lang="en-US" sz="2300" b="1" i="1" dirty="0">
                <a:solidFill>
                  <a:srgbClr val="1E4A4A"/>
                </a:solidFill>
                <a:highlight>
                  <a:srgbClr val="CFE3CF"/>
                </a:highlight>
                <a:latin typeface="Cormorant Garamond" pitchFamily="34" charset="0"/>
                <a:ea typeface="Cormorant Garamond" pitchFamily="34" charset="-122"/>
                <a:cs typeface="Cormorant Garamond" pitchFamily="34" charset="-120"/>
              </a:rPr>
              <a:t>ask for what you want.</a:t>
            </a:r>
            <a:endParaRPr lang="en-US" sz="2300" dirty="0"/>
          </a:p>
        </p:txBody>
      </p:sp>
      <p:sp>
        <p:nvSpPr>
          <p:cNvPr id="7" name="Text 5"/>
          <p:cNvSpPr txBox="1"/>
          <p:nvPr/>
        </p:nvSpPr>
        <p:spPr>
          <a:xfrm>
            <a:off x="4754880" y="4754880"/>
            <a:ext cx="6583680" cy="1188720"/>
          </a:xfrm>
          <a:prstGeom prst="rect">
            <a:avLst/>
          </a:prstGeom>
          <a:noFill/>
          <a:ln/>
        </p:spPr>
        <p:txBody>
          <a:bodyPr wrap="square" lIns="0" tIns="0" rIns="0" bIns="0" rtlCol="0" anchor="t">
            <a:normAutofit/>
          </a:bodyPr>
          <a:lstStyle/>
          <a:p>
            <a:pPr algn="l" indent="0" marL="0">
              <a:lnSpc>
                <a:spcPct val="110000"/>
              </a:lnSpc>
              <a:buNone/>
            </a:pPr>
            <a:r>
              <a:rPr lang="en-US" sz="1500" dirty="0">
                <a:solidFill>
                  <a:srgbClr val="5E6B68"/>
                </a:solidFill>
                <a:latin typeface="DM Sans" pitchFamily="34" charset="0"/>
                <a:ea typeface="DM Sans" pitchFamily="34" charset="-122"/>
                <a:cs typeface="DM Sans" pitchFamily="34" charset="-120"/>
              </a:rPr>
              <a:t>My aunt, after I told her "we don't do that"</a:t>
            </a:r>
            <a:endParaRPr lang="en-US" sz="1500" dirty="0"/>
          </a:p>
        </p:txBody>
      </p:sp>
      <p:sp>
        <p:nvSpPr>
          <p:cNvPr id="25" name="Slide Number Placeholder 0"/>
          <p:cNvSpPr>
            <a:spLocks noGrp="1"/>
          </p:cNvSpPr>
          <p:nvPr>
            <p:ph type="sldNum" sz="quarter" idx="4294967295"/>
          </p:nvPr>
        </p:nvSpPr>
        <p:spPr>
          <a:xfrm>
            <a:off x="11368735"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AA6A3"/>
                </a:solidFill>
                <a:latin typeface="DM Sans"/>
                <a:ea typeface="DM Sans"/>
                <a:cs typeface="DM Sans"/>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AF5EE"/>
        </a:solidFill>
      </p:bgPr>
    </p:bg>
    <p:spTree>
      <p:nvGrpSpPr>
        <p:cNvPr id="1" name=""/>
        <p:cNvGrpSpPr/>
        <p:nvPr/>
      </p:nvGrpSpPr>
      <p:grpSpPr>
        <a:xfrm>
          <a:off x="0" y="0"/>
          <a:ext cx="0" cy="0"/>
          <a:chOff x="0" y="0"/>
          <a:chExt cx="0" cy="0"/>
        </a:xfrm>
      </p:grpSpPr>
      <p:sp>
        <p:nvSpPr>
          <p:cNvPr id="2" name="Shape 0"/>
          <p:cNvSpPr/>
          <p:nvPr/>
        </p:nvSpPr>
        <p:spPr>
          <a:xfrm>
            <a:off x="0" y="0"/>
            <a:ext cx="5120640" cy="6858000"/>
          </a:xfrm>
          <a:prstGeom prst="rect">
            <a:avLst/>
          </a:prstGeom>
          <a:solidFill>
            <a:srgbClr val="E1F5EE"/>
          </a:solidFill>
          <a:ln w="15875">
            <a:solidFill>
              <a:srgbClr val="8AAF8A"/>
            </a:solidFill>
            <a:prstDash val="dash"/>
          </a:ln>
        </p:spPr>
      </p:sp>
      <p:sp>
        <p:nvSpPr>
          <p:cNvPr id="3" name="Text 1"/>
          <p:cNvSpPr txBox="1"/>
          <p:nvPr/>
        </p:nvSpPr>
        <p:spPr>
          <a:xfrm>
            <a:off x="320040" y="320040"/>
            <a:ext cx="4480560" cy="320040"/>
          </a:xfrm>
          <a:prstGeom prst="rect">
            <a:avLst/>
          </a:prstGeom>
          <a:noFill/>
          <a:ln/>
        </p:spPr>
        <p:txBody>
          <a:bodyPr wrap="square" lIns="0" tIns="0" rIns="0" bIns="0" rtlCol="0" anchor="ctr">
            <a:normAutofit/>
          </a:bodyPr>
          <a:lstStyle/>
          <a:p>
            <a:pPr algn="l" indent="0" marL="0">
              <a:lnSpc>
                <a:spcPct val="100000"/>
              </a:lnSpc>
              <a:buNone/>
            </a:pPr>
            <a:r>
              <a:rPr lang="en-US" sz="1100" b="1" spc="300" kern="0" dirty="0">
                <a:solidFill>
                  <a:srgbClr val="1E4A4A"/>
                </a:solidFill>
                <a:latin typeface="DM Sans" pitchFamily="34" charset="0"/>
                <a:ea typeface="DM Sans" pitchFamily="34" charset="-122"/>
                <a:cs typeface="DM Sans" pitchFamily="34" charset="-120"/>
              </a:rPr>
              <a:t>PHOTO PLACEHOLDER</a:t>
            </a:r>
            <a:endParaRPr lang="en-US" sz="1100" dirty="0"/>
          </a:p>
        </p:txBody>
      </p:sp>
      <p:sp>
        <p:nvSpPr>
          <p:cNvPr id="4" name="Text 2"/>
          <p:cNvSpPr txBox="1"/>
          <p:nvPr/>
        </p:nvSpPr>
        <p:spPr>
          <a:xfrm>
            <a:off x="320040" y="731520"/>
            <a:ext cx="4480560" cy="2377440"/>
          </a:xfrm>
          <a:prstGeom prst="rect">
            <a:avLst/>
          </a:prstGeom>
          <a:noFill/>
          <a:ln/>
        </p:spPr>
        <p:txBody>
          <a:bodyPr wrap="square" lIns="0" tIns="0" rIns="0" bIns="0" rtlCol="0" anchor="t">
            <a:normAutofit/>
          </a:bodyPr>
          <a:lstStyle/>
          <a:p>
            <a:pPr algn="l" indent="0" marL="0">
              <a:lnSpc>
                <a:spcPct val="110000"/>
              </a:lnSpc>
              <a:buNone/>
            </a:pPr>
            <a:r>
              <a:rPr lang="en-US" sz="1200" i="1" dirty="0">
                <a:solidFill>
                  <a:srgbClr val="5E6B68"/>
                </a:solidFill>
                <a:latin typeface="DM Sans" pitchFamily="34" charset="0"/>
                <a:ea typeface="DM Sans" pitchFamily="34" charset="-122"/>
                <a:cs typeface="DM Sans" pitchFamily="34" charset="-120"/>
              </a:rPr>
              <a:t>A woman across a desk from her male boss, shoulders slightly hunched, papers clutched in her lap. 1990s office.</a:t>
            </a:r>
            <a:endParaRPr lang="en-US" sz="1200" dirty="0"/>
          </a:p>
        </p:txBody>
      </p:sp>
      <p:sp>
        <p:nvSpPr>
          <p:cNvPr id="5" name="Text 3"/>
          <p:cNvSpPr txBox="1"/>
          <p:nvPr/>
        </p:nvSpPr>
        <p:spPr>
          <a:xfrm>
            <a:off x="5669280" y="731520"/>
            <a:ext cx="5852160" cy="2743200"/>
          </a:xfrm>
          <a:prstGeom prst="rect">
            <a:avLst/>
          </a:prstGeom>
          <a:noFill/>
          <a:ln/>
        </p:spPr>
        <p:txBody>
          <a:bodyPr wrap="square" lIns="0" tIns="0" rIns="0" bIns="0" rtlCol="0" anchor="b">
            <a:normAutofit/>
          </a:bodyPr>
          <a:lstStyle/>
          <a:p>
            <a:pPr algn="l" indent="0" marL="0">
              <a:lnSpc>
                <a:spcPct val="95000"/>
              </a:lnSpc>
              <a:buNone/>
            </a:pPr>
            <a:r>
              <a:rPr lang="en-US" sz="3400" b="1" dirty="0">
                <a:solidFill>
                  <a:srgbClr val="1B2B2B"/>
                </a:solidFill>
                <a:latin typeface="Cormorant Garamond" pitchFamily="34" charset="0"/>
                <a:ea typeface="Cormorant Garamond" pitchFamily="34" charset="-122"/>
                <a:cs typeface="Cormorant Garamond" pitchFamily="34" charset="-120"/>
              </a:rPr>
              <a:t>My first negotiation was </a:t>
            </a:r>
            <a:pPr algn="l" indent="0" marL="0">
              <a:lnSpc>
                <a:spcPct val="95000"/>
              </a:lnSpc>
              <a:buNone/>
            </a:pPr>
            <a:r>
              <a:rPr lang="en-US" sz="3400" b="1" dirty="0">
                <a:solidFill>
                  <a:srgbClr val="1B2B2B"/>
                </a:solidFill>
                <a:highlight>
                  <a:srgbClr val="CFE3CF"/>
                </a:highlight>
                <a:latin typeface="Cormorant Garamond" pitchFamily="34" charset="0"/>
                <a:ea typeface="Cormorant Garamond" pitchFamily="34" charset="-122"/>
                <a:cs typeface="Cormorant Garamond" pitchFamily="34" charset="-120"/>
              </a:rPr>
              <a:t>a disaster.</a:t>
            </a:r>
            <a:endParaRPr lang="en-US" sz="3400" dirty="0"/>
          </a:p>
        </p:txBody>
      </p:sp>
      <p:sp>
        <p:nvSpPr>
          <p:cNvPr id="6" name="Text 4"/>
          <p:cNvSpPr txBox="1"/>
          <p:nvPr/>
        </p:nvSpPr>
        <p:spPr>
          <a:xfrm>
            <a:off x="5669280" y="3749040"/>
            <a:ext cx="5760720" cy="2377440"/>
          </a:xfrm>
          <a:prstGeom prst="rect">
            <a:avLst/>
          </a:prstGeom>
          <a:noFill/>
          <a:ln/>
        </p:spPr>
        <p:txBody>
          <a:bodyPr wrap="square" lIns="0" tIns="0" rIns="0" bIns="0" rtlCol="0" anchor="t">
            <a:normAutofit/>
          </a:bodyPr>
          <a:lstStyle/>
          <a:p>
            <a:pPr algn="l" indent="0" marL="0">
              <a:lnSpc>
                <a:spcPct val="115000"/>
              </a:lnSpc>
              <a:buNone/>
            </a:pPr>
            <a:r>
              <a:rPr lang="en-US" sz="1900" dirty="0">
                <a:solidFill>
                  <a:srgbClr val="1B2B2B"/>
                </a:solidFill>
                <a:latin typeface="DM Sans" pitchFamily="34" charset="0"/>
                <a:ea typeface="DM Sans" pitchFamily="34" charset="-122"/>
                <a:cs typeface="DM Sans" pitchFamily="34" charset="-120"/>
              </a:rPr>
              <a:t>I was nervous, unprepared, and asked for too little. I got the raise and damaged my credibility in the same meeting. I showed up like a rookie.</a:t>
            </a:r>
            <a:endParaRPr lang="en-US" sz="1900" dirty="0"/>
          </a:p>
        </p:txBody>
      </p:sp>
      <p:sp>
        <p:nvSpPr>
          <p:cNvPr id="25" name="Slide Number Placeholder 0"/>
          <p:cNvSpPr>
            <a:spLocks noGrp="1"/>
          </p:cNvSpPr>
          <p:nvPr>
            <p:ph type="sldNum" sz="quarter" idx="4294967295"/>
          </p:nvPr>
        </p:nvSpPr>
        <p:spPr>
          <a:xfrm>
            <a:off x="11368735"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AA6A3"/>
                </a:solidFill>
                <a:latin typeface="DM Sans"/>
                <a:ea typeface="DM Sans"/>
                <a:cs typeface="DM Sans"/>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AF5EE"/>
        </a:solidFill>
      </p:bgPr>
    </p:bg>
    <p:spTree>
      <p:nvGrpSpPr>
        <p:cNvPr id="1" name=""/>
        <p:cNvGrpSpPr/>
        <p:nvPr/>
      </p:nvGrpSpPr>
      <p:grpSpPr>
        <a:xfrm>
          <a:off x="0" y="0"/>
          <a:ext cx="0" cy="0"/>
          <a:chOff x="0" y="0"/>
          <a:chExt cx="0" cy="0"/>
        </a:xfrm>
      </p:grpSpPr>
      <p:sp>
        <p:nvSpPr>
          <p:cNvPr id="2" name="Shape 0"/>
          <p:cNvSpPr/>
          <p:nvPr/>
        </p:nvSpPr>
        <p:spPr>
          <a:xfrm>
            <a:off x="7071055" y="0"/>
            <a:ext cx="5120640" cy="6858000"/>
          </a:xfrm>
          <a:prstGeom prst="rect">
            <a:avLst/>
          </a:prstGeom>
          <a:solidFill>
            <a:srgbClr val="E1F5EE"/>
          </a:solidFill>
          <a:ln w="15875">
            <a:solidFill>
              <a:srgbClr val="8AAF8A"/>
            </a:solidFill>
            <a:prstDash val="dash"/>
          </a:ln>
        </p:spPr>
      </p:sp>
      <p:sp>
        <p:nvSpPr>
          <p:cNvPr id="3" name="Text 1"/>
          <p:cNvSpPr txBox="1"/>
          <p:nvPr/>
        </p:nvSpPr>
        <p:spPr>
          <a:xfrm>
            <a:off x="7391095" y="320040"/>
            <a:ext cx="4480560" cy="320040"/>
          </a:xfrm>
          <a:prstGeom prst="rect">
            <a:avLst/>
          </a:prstGeom>
          <a:noFill/>
          <a:ln/>
        </p:spPr>
        <p:txBody>
          <a:bodyPr wrap="square" lIns="0" tIns="0" rIns="0" bIns="0" rtlCol="0" anchor="ctr">
            <a:normAutofit/>
          </a:bodyPr>
          <a:lstStyle/>
          <a:p>
            <a:pPr algn="l" indent="0" marL="0">
              <a:lnSpc>
                <a:spcPct val="100000"/>
              </a:lnSpc>
              <a:buNone/>
            </a:pPr>
            <a:r>
              <a:rPr lang="en-US" sz="1100" b="1" spc="300" kern="0" dirty="0">
                <a:solidFill>
                  <a:srgbClr val="1E4A4A"/>
                </a:solidFill>
                <a:latin typeface="DM Sans" pitchFamily="34" charset="0"/>
                <a:ea typeface="DM Sans" pitchFamily="34" charset="-122"/>
                <a:cs typeface="DM Sans" pitchFamily="34" charset="-120"/>
              </a:rPr>
              <a:t>PHOTO PLACEHOLDER</a:t>
            </a:r>
            <a:endParaRPr lang="en-US" sz="1100" dirty="0"/>
          </a:p>
        </p:txBody>
      </p:sp>
      <p:sp>
        <p:nvSpPr>
          <p:cNvPr id="4" name="Text 2"/>
          <p:cNvSpPr txBox="1"/>
          <p:nvPr/>
        </p:nvSpPr>
        <p:spPr>
          <a:xfrm>
            <a:off x="7391095" y="731520"/>
            <a:ext cx="4480560" cy="2377440"/>
          </a:xfrm>
          <a:prstGeom prst="rect">
            <a:avLst/>
          </a:prstGeom>
          <a:noFill/>
          <a:ln/>
        </p:spPr>
        <p:txBody>
          <a:bodyPr wrap="square" lIns="0" tIns="0" rIns="0" bIns="0" rtlCol="0" anchor="t">
            <a:normAutofit/>
          </a:bodyPr>
          <a:lstStyle/>
          <a:p>
            <a:pPr algn="l" indent="0" marL="0">
              <a:lnSpc>
                <a:spcPct val="110000"/>
              </a:lnSpc>
              <a:buNone/>
            </a:pPr>
            <a:r>
              <a:rPr lang="en-US" sz="1200" i="1" dirty="0">
                <a:solidFill>
                  <a:srgbClr val="5E6B68"/>
                </a:solidFill>
                <a:latin typeface="DM Sans" pitchFamily="34" charset="0"/>
                <a:ea typeface="DM Sans" pitchFamily="34" charset="-122"/>
                <a:cs typeface="DM Sans" pitchFamily="34" charset="-120"/>
              </a:rPr>
              <a:t>Tamara carrying a box of desk belongings out of an office tower, sunglasses on, chin up. A little wry, a little defiant.</a:t>
            </a:r>
            <a:endParaRPr lang="en-US" sz="1200" dirty="0"/>
          </a:p>
        </p:txBody>
      </p:sp>
      <p:sp>
        <p:nvSpPr>
          <p:cNvPr id="5" name="Text 3"/>
          <p:cNvSpPr txBox="1"/>
          <p:nvPr/>
        </p:nvSpPr>
        <p:spPr>
          <a:xfrm>
            <a:off x="640080" y="731520"/>
            <a:ext cx="5852160" cy="2743200"/>
          </a:xfrm>
          <a:prstGeom prst="rect">
            <a:avLst/>
          </a:prstGeom>
          <a:noFill/>
          <a:ln/>
        </p:spPr>
        <p:txBody>
          <a:bodyPr wrap="square" lIns="0" tIns="0" rIns="0" bIns="0" rtlCol="0" anchor="b">
            <a:normAutofit/>
          </a:bodyPr>
          <a:lstStyle/>
          <a:p>
            <a:pPr algn="l" indent="0" marL="0">
              <a:lnSpc>
                <a:spcPct val="95000"/>
              </a:lnSpc>
              <a:buNone/>
            </a:pPr>
            <a:r>
              <a:rPr lang="en-US" sz="3400" b="1" dirty="0">
                <a:solidFill>
                  <a:srgbClr val="1B2B2B"/>
                </a:solidFill>
                <a:latin typeface="Cormorant Garamond" pitchFamily="34" charset="0"/>
                <a:ea typeface="Cormorant Garamond" pitchFamily="34" charset="-122"/>
                <a:cs typeface="Cormorant Garamond" pitchFamily="34" charset="-120"/>
              </a:rPr>
              <a:t>Twenty-six years later I was at the top. </a:t>
            </a:r>
            <a:pPr algn="l" indent="0" marL="0">
              <a:lnSpc>
                <a:spcPct val="95000"/>
              </a:lnSpc>
              <a:buNone/>
            </a:pPr>
            <a:r>
              <a:rPr lang="en-US" sz="3400" b="1" dirty="0">
                <a:solidFill>
                  <a:srgbClr val="1B2B2B"/>
                </a:solidFill>
                <a:highlight>
                  <a:srgbClr val="CFE3CF"/>
                </a:highlight>
                <a:latin typeface="Cormorant Garamond" pitchFamily="34" charset="0"/>
                <a:ea typeface="Cormorant Garamond" pitchFamily="34" charset="-122"/>
                <a:cs typeface="Cormorant Garamond" pitchFamily="34" charset="-120"/>
              </a:rPr>
              <a:t>Then I got fired.</a:t>
            </a:r>
            <a:endParaRPr lang="en-US" sz="3400" dirty="0"/>
          </a:p>
        </p:txBody>
      </p:sp>
      <p:sp>
        <p:nvSpPr>
          <p:cNvPr id="6" name="Text 4"/>
          <p:cNvSpPr txBox="1"/>
          <p:nvPr/>
        </p:nvSpPr>
        <p:spPr>
          <a:xfrm>
            <a:off x="640080" y="3749040"/>
            <a:ext cx="5760720" cy="2377440"/>
          </a:xfrm>
          <a:prstGeom prst="rect">
            <a:avLst/>
          </a:prstGeom>
          <a:noFill/>
          <a:ln/>
        </p:spPr>
        <p:txBody>
          <a:bodyPr wrap="square" lIns="0" tIns="0" rIns="0" bIns="0" rtlCol="0" anchor="t">
            <a:normAutofit/>
          </a:bodyPr>
          <a:lstStyle/>
          <a:p>
            <a:pPr algn="l" indent="0" marL="0">
              <a:lnSpc>
                <a:spcPct val="115000"/>
              </a:lnSpc>
              <a:buNone/>
            </a:pPr>
            <a:r>
              <a:rPr lang="en-US" sz="1900" dirty="0">
                <a:solidFill>
                  <a:srgbClr val="1B2B2B"/>
                </a:solidFill>
                <a:latin typeface="DM Sans" pitchFamily="34" charset="0"/>
                <a:ea typeface="DM Sans" pitchFamily="34" charset="-122"/>
                <a:cs typeface="DM Sans" pitchFamily="34" charset="-120"/>
              </a:rPr>
              <a:t>Two days before my boss retired. A typical Wall Street F.U.</a:t>
            </a:r>
            <a:endParaRPr lang="en-US" sz="1900" dirty="0"/>
          </a:p>
        </p:txBody>
      </p:sp>
      <p:sp>
        <p:nvSpPr>
          <p:cNvPr id="25" name="Slide Number Placeholder 0"/>
          <p:cNvSpPr>
            <a:spLocks noGrp="1"/>
          </p:cNvSpPr>
          <p:nvPr>
            <p:ph type="sldNum" sz="quarter" idx="4294967295"/>
          </p:nvPr>
        </p:nvSpPr>
        <p:spPr>
          <a:xfrm>
            <a:off x="11368735"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AA6A3"/>
                </a:solidFill>
                <a:latin typeface="DM Sans"/>
                <a:ea typeface="DM Sans"/>
                <a:cs typeface="DM Sans"/>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2B5C5C"/>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2B5C5C"/>
          </a:solidFill>
          <a:ln w="15875">
            <a:solidFill>
              <a:srgbClr val="8AAF8A"/>
            </a:solidFill>
            <a:prstDash val="dash"/>
          </a:ln>
        </p:spPr>
      </p:sp>
      <p:sp>
        <p:nvSpPr>
          <p:cNvPr id="3" name="Text 1"/>
          <p:cNvSpPr txBox="1"/>
          <p:nvPr/>
        </p:nvSpPr>
        <p:spPr>
          <a:xfrm>
            <a:off x="320040" y="320040"/>
            <a:ext cx="11551615" cy="320040"/>
          </a:xfrm>
          <a:prstGeom prst="rect">
            <a:avLst/>
          </a:prstGeom>
          <a:noFill/>
          <a:ln/>
        </p:spPr>
        <p:txBody>
          <a:bodyPr wrap="square" lIns="0" tIns="0" rIns="0" bIns="0" rtlCol="0" anchor="ctr">
            <a:normAutofit/>
          </a:bodyPr>
          <a:lstStyle/>
          <a:p>
            <a:pPr algn="l" indent="0" marL="0">
              <a:lnSpc>
                <a:spcPct val="100000"/>
              </a:lnSpc>
              <a:buNone/>
            </a:pPr>
            <a:r>
              <a:rPr lang="en-US" sz="1100" b="1" spc="300" kern="0" dirty="0">
                <a:solidFill>
                  <a:srgbClr val="B7D3B7"/>
                </a:solidFill>
                <a:latin typeface="DM Sans" pitchFamily="34" charset="0"/>
                <a:ea typeface="DM Sans" pitchFamily="34" charset="-122"/>
                <a:cs typeface="DM Sans" pitchFamily="34" charset="-120"/>
              </a:rPr>
              <a:t>PHOTO PLACEHOLDER</a:t>
            </a:r>
            <a:endParaRPr lang="en-US" sz="1100" dirty="0"/>
          </a:p>
        </p:txBody>
      </p:sp>
      <p:sp>
        <p:nvSpPr>
          <p:cNvPr id="4" name="Text 2"/>
          <p:cNvSpPr txBox="1"/>
          <p:nvPr/>
        </p:nvSpPr>
        <p:spPr>
          <a:xfrm>
            <a:off x="320040" y="731520"/>
            <a:ext cx="11551615" cy="2377440"/>
          </a:xfrm>
          <a:prstGeom prst="rect">
            <a:avLst/>
          </a:prstGeom>
          <a:noFill/>
          <a:ln/>
        </p:spPr>
        <p:txBody>
          <a:bodyPr wrap="square" lIns="0" tIns="0" rIns="0" bIns="0" rtlCol="0" anchor="t">
            <a:normAutofit/>
          </a:bodyPr>
          <a:lstStyle/>
          <a:p>
            <a:pPr algn="l" indent="0" marL="0">
              <a:lnSpc>
                <a:spcPct val="110000"/>
              </a:lnSpc>
              <a:buNone/>
            </a:pPr>
            <a:r>
              <a:rPr lang="en-US" sz="1200" i="1" dirty="0">
                <a:solidFill>
                  <a:srgbClr val="E1F5EE"/>
                </a:solidFill>
                <a:latin typeface="DM Sans" pitchFamily="34" charset="0"/>
                <a:ea typeface="DM Sans" pitchFamily="34" charset="-122"/>
                <a:cs typeface="DM Sans" pitchFamily="34" charset="-120"/>
              </a:rPr>
              <a:t>Tamara in Costa Rica or India. Jungle, ocean, or temple setting. Casual clothes, no makeup, genuinely at ease.</a:t>
            </a:r>
            <a:endParaRPr lang="en-US" sz="1200" dirty="0"/>
          </a:p>
        </p:txBody>
      </p:sp>
      <p:sp>
        <p:nvSpPr>
          <p:cNvPr id="5" name="Shape 3"/>
          <p:cNvSpPr/>
          <p:nvPr/>
        </p:nvSpPr>
        <p:spPr>
          <a:xfrm>
            <a:off x="548640" y="3566160"/>
            <a:ext cx="7132320" cy="2743200"/>
          </a:xfrm>
          <a:prstGeom prst="roundRect">
            <a:avLst>
              <a:gd name="adj" fmla="val 3333"/>
            </a:avLst>
          </a:prstGeom>
          <a:solidFill>
            <a:srgbClr val="1E4A4A">
              <a:alpha val="96000"/>
            </a:srgbClr>
          </a:solidFill>
          <a:ln w="12700">
            <a:solidFill>
              <a:srgbClr val="1E4A4A"/>
            </a:solidFill>
            <a:prstDash val="solid"/>
          </a:ln>
        </p:spPr>
      </p:sp>
      <p:sp>
        <p:nvSpPr>
          <p:cNvPr id="6" name="Text 4"/>
          <p:cNvSpPr txBox="1"/>
          <p:nvPr/>
        </p:nvSpPr>
        <p:spPr>
          <a:xfrm>
            <a:off x="868680" y="3749040"/>
            <a:ext cx="6492240" cy="1463040"/>
          </a:xfrm>
          <a:prstGeom prst="rect">
            <a:avLst/>
          </a:prstGeom>
          <a:noFill/>
          <a:ln/>
        </p:spPr>
        <p:txBody>
          <a:bodyPr wrap="square" lIns="0" tIns="0" rIns="0" bIns="0" rtlCol="0" anchor="b">
            <a:normAutofit/>
          </a:bodyPr>
          <a:lstStyle/>
          <a:p>
            <a:pPr algn="l" indent="0" marL="0">
              <a:lnSpc>
                <a:spcPct val="95000"/>
              </a:lnSpc>
              <a:buNone/>
            </a:pPr>
            <a:r>
              <a:rPr lang="en-US" sz="3100" b="1" dirty="0">
                <a:solidFill>
                  <a:srgbClr val="FFFFFF"/>
                </a:solidFill>
                <a:latin typeface="Cormorant Garamond" pitchFamily="34" charset="0"/>
                <a:ea typeface="Cormorant Garamond" pitchFamily="34" charset="-122"/>
                <a:cs typeface="Cormorant Garamond" pitchFamily="34" charset="-120"/>
              </a:rPr>
              <a:t>Five years in Costa Rica and India, </a:t>
            </a:r>
            <a:pPr algn="l" indent="0" marL="0">
              <a:lnSpc>
                <a:spcPct val="95000"/>
              </a:lnSpc>
              <a:buNone/>
            </a:pPr>
            <a:r>
              <a:rPr lang="en-US" sz="3100" b="1" dirty="0">
                <a:solidFill>
                  <a:srgbClr val="B7D3B7"/>
                </a:solidFill>
                <a:latin typeface="Cormorant Garamond" pitchFamily="34" charset="0"/>
                <a:ea typeface="Cormorant Garamond" pitchFamily="34" charset="-122"/>
                <a:cs typeface="Cormorant Garamond" pitchFamily="34" charset="-120"/>
              </a:rPr>
              <a:t>with no titles.</a:t>
            </a:r>
            <a:endParaRPr lang="en-US" sz="3100" dirty="0"/>
          </a:p>
        </p:txBody>
      </p:sp>
      <p:sp>
        <p:nvSpPr>
          <p:cNvPr id="7" name="Text 5"/>
          <p:cNvSpPr txBox="1"/>
          <p:nvPr/>
        </p:nvSpPr>
        <p:spPr>
          <a:xfrm>
            <a:off x="868680" y="5303520"/>
            <a:ext cx="6492240" cy="914400"/>
          </a:xfrm>
          <a:prstGeom prst="rect">
            <a:avLst/>
          </a:prstGeom>
          <a:noFill/>
          <a:ln/>
        </p:spPr>
        <p:txBody>
          <a:bodyPr wrap="square" lIns="0" tIns="0" rIns="0" bIns="0" rtlCol="0" anchor="t">
            <a:normAutofit/>
          </a:bodyPr>
          <a:lstStyle/>
          <a:p>
            <a:pPr algn="l" indent="0" marL="0">
              <a:lnSpc>
                <a:spcPct val="115000"/>
              </a:lnSpc>
              <a:buNone/>
            </a:pPr>
            <a:r>
              <a:rPr lang="en-US" sz="1600" dirty="0">
                <a:solidFill>
                  <a:srgbClr val="E1F5EE"/>
                </a:solidFill>
                <a:latin typeface="DM Sans" pitchFamily="34" charset="0"/>
                <a:ea typeface="DM Sans" pitchFamily="34" charset="-122"/>
                <a:cs typeface="DM Sans" pitchFamily="34" charset="-120"/>
              </a:rPr>
              <a:t>I had lost the identity I'd spent decades building. So I went looking for the woman underneath it.</a:t>
            </a:r>
            <a:endParaRPr lang="en-US" sz="1600" dirty="0"/>
          </a:p>
        </p:txBody>
      </p:sp>
      <p:sp>
        <p:nvSpPr>
          <p:cNvPr id="25" name="Slide Number Placeholder 0"/>
          <p:cNvSpPr>
            <a:spLocks noGrp="1"/>
          </p:cNvSpPr>
          <p:nvPr>
            <p:ph type="sldNum" sz="quarter" idx="4294967295"/>
          </p:nvPr>
        </p:nvSpPr>
        <p:spPr>
          <a:xfrm>
            <a:off x="11368735"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AAF8A"/>
                </a:solidFill>
                <a:latin typeface="DM Sans"/>
                <a:ea typeface="DM Sans"/>
                <a:cs typeface="DM Sans"/>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E4A4A"/>
        </a:solidFill>
      </p:bgPr>
    </p:bg>
    <p:spTree>
      <p:nvGrpSpPr>
        <p:cNvPr id="1" name=""/>
        <p:cNvGrpSpPr/>
        <p:nvPr/>
      </p:nvGrpSpPr>
      <p:grpSpPr>
        <a:xfrm>
          <a:off x="0" y="0"/>
          <a:ext cx="0" cy="0"/>
          <a:chOff x="0" y="0"/>
          <a:chExt cx="0" cy="0"/>
        </a:xfrm>
      </p:grpSpPr>
      <p:sp>
        <p:nvSpPr>
          <p:cNvPr id="2" name="Text 0"/>
          <p:cNvSpPr txBox="1"/>
          <p:nvPr/>
        </p:nvSpPr>
        <p:spPr>
          <a:xfrm>
            <a:off x="1097280" y="1097280"/>
            <a:ext cx="9997135" cy="2926080"/>
          </a:xfrm>
          <a:prstGeom prst="rect">
            <a:avLst/>
          </a:prstGeom>
          <a:noFill/>
          <a:ln/>
        </p:spPr>
        <p:txBody>
          <a:bodyPr wrap="square" lIns="0" tIns="0" rIns="0" bIns="0" rtlCol="0" anchor="b">
            <a:normAutofit/>
          </a:bodyPr>
          <a:lstStyle/>
          <a:p>
            <a:pPr algn="ctr" indent="0" marL="0">
              <a:lnSpc>
                <a:spcPct val="95000"/>
              </a:lnSpc>
              <a:buNone/>
            </a:pPr>
            <a:r>
              <a:rPr lang="en-US" sz="3600" b="1" dirty="0">
                <a:solidFill>
                  <a:srgbClr val="FFFFFF"/>
                </a:solidFill>
                <a:latin typeface="Cormorant Garamond" pitchFamily="34" charset="0"/>
                <a:ea typeface="Cormorant Garamond" pitchFamily="34" charset="-122"/>
                <a:cs typeface="Cormorant Garamond" pitchFamily="34" charset="-120"/>
              </a:rPr>
              <a:t>Your greatest asset isn't in your portfolio. </a:t>
            </a:r>
            <a:pPr algn="ctr" indent="0" marL="0">
              <a:lnSpc>
                <a:spcPct val="95000"/>
              </a:lnSpc>
              <a:buNone/>
            </a:pPr>
            <a:r>
              <a:rPr lang="en-US" sz="3600" b="1" dirty="0">
                <a:solidFill>
                  <a:srgbClr val="B7D3B7"/>
                </a:solidFill>
                <a:latin typeface="Cormorant Garamond" pitchFamily="34" charset="0"/>
                <a:ea typeface="Cormorant Garamond" pitchFamily="34" charset="-122"/>
                <a:cs typeface="Cormorant Garamond" pitchFamily="34" charset="-120"/>
              </a:rPr>
              <a:t>It's in the mirror.</a:t>
            </a:r>
            <a:endParaRPr lang="en-US" sz="3600" dirty="0"/>
          </a:p>
        </p:txBody>
      </p:sp>
      <p:sp>
        <p:nvSpPr>
          <p:cNvPr id="3" name="Text 1"/>
          <p:cNvSpPr txBox="1"/>
          <p:nvPr/>
        </p:nvSpPr>
        <p:spPr>
          <a:xfrm>
            <a:off x="1645920" y="4297680"/>
            <a:ext cx="8899855" cy="1463040"/>
          </a:xfrm>
          <a:prstGeom prst="rect">
            <a:avLst/>
          </a:prstGeom>
          <a:noFill/>
          <a:ln/>
        </p:spPr>
        <p:txBody>
          <a:bodyPr wrap="square" lIns="0" tIns="0" rIns="0" bIns="0" rtlCol="0" anchor="t">
            <a:normAutofit/>
          </a:bodyPr>
          <a:lstStyle/>
          <a:p>
            <a:pPr algn="ctr" indent="0" marL="0">
              <a:lnSpc>
                <a:spcPct val="115000"/>
              </a:lnSpc>
              <a:buNone/>
            </a:pPr>
            <a:r>
              <a:rPr lang="en-US" sz="2000" dirty="0">
                <a:solidFill>
                  <a:srgbClr val="E1F5EE"/>
                </a:solidFill>
                <a:latin typeface="DM Sans" pitchFamily="34" charset="0"/>
                <a:ea typeface="DM Sans" pitchFamily="34" charset="-122"/>
                <a:cs typeface="DM Sans" pitchFamily="34" charset="-120"/>
              </a:rPr>
              <a:t>Success without fulfillment is failure. And your life will rarely exceed the identity you've accepted for yourself.</a:t>
            </a:r>
            <a:endParaRPr lang="en-US" sz="2000" dirty="0"/>
          </a:p>
        </p:txBody>
      </p:sp>
      <p:sp>
        <p:nvSpPr>
          <p:cNvPr id="25" name="Slide Number Placeholder 0"/>
          <p:cNvSpPr>
            <a:spLocks noGrp="1"/>
          </p:cNvSpPr>
          <p:nvPr>
            <p:ph type="sldNum" sz="quarter" idx="4294967295"/>
          </p:nvPr>
        </p:nvSpPr>
        <p:spPr>
          <a:xfrm>
            <a:off x="11368735"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AAF8A"/>
                </a:solidFill>
                <a:latin typeface="DM Sans"/>
                <a:ea typeface="DM Sans"/>
                <a:cs typeface="DM Sans"/>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E4A4A"/>
        </a:solidFill>
      </p:bgPr>
    </p:bg>
    <p:spTree>
      <p:nvGrpSpPr>
        <p:cNvPr id="1" name=""/>
        <p:cNvGrpSpPr/>
        <p:nvPr/>
      </p:nvGrpSpPr>
      <p:grpSpPr>
        <a:xfrm>
          <a:off x="0" y="0"/>
          <a:ext cx="0" cy="0"/>
          <a:chOff x="0" y="0"/>
          <a:chExt cx="0" cy="0"/>
        </a:xfrm>
      </p:grpSpPr>
      <p:sp>
        <p:nvSpPr>
          <p:cNvPr id="2" name="Text 0"/>
          <p:cNvSpPr txBox="1"/>
          <p:nvPr/>
        </p:nvSpPr>
        <p:spPr>
          <a:xfrm>
            <a:off x="914400" y="2011680"/>
            <a:ext cx="10362895" cy="411480"/>
          </a:xfrm>
          <a:prstGeom prst="rect">
            <a:avLst/>
          </a:prstGeom>
          <a:noFill/>
          <a:ln/>
        </p:spPr>
        <p:txBody>
          <a:bodyPr wrap="square" lIns="0" tIns="0" rIns="0" bIns="0" rtlCol="0" anchor="ctr">
            <a:normAutofit/>
          </a:bodyPr>
          <a:lstStyle/>
          <a:p>
            <a:pPr algn="ctr" indent="0" marL="0">
              <a:lnSpc>
                <a:spcPct val="100000"/>
              </a:lnSpc>
              <a:buNone/>
            </a:pPr>
            <a:r>
              <a:rPr lang="en-US" sz="1600" b="1" spc="500" kern="0" dirty="0">
                <a:solidFill>
                  <a:srgbClr val="8AAF8A"/>
                </a:solidFill>
                <a:latin typeface="DM Sans" pitchFamily="34" charset="0"/>
                <a:ea typeface="DM Sans" pitchFamily="34" charset="-122"/>
                <a:cs typeface="DM Sans" pitchFamily="34" charset="-120"/>
              </a:rPr>
              <a:t>PART ONE</a:t>
            </a:r>
            <a:endParaRPr lang="en-US" sz="1600" dirty="0"/>
          </a:p>
        </p:txBody>
      </p:sp>
      <p:sp>
        <p:nvSpPr>
          <p:cNvPr id="3" name="Text 1"/>
          <p:cNvSpPr txBox="1"/>
          <p:nvPr/>
        </p:nvSpPr>
        <p:spPr>
          <a:xfrm>
            <a:off x="914400" y="2560320"/>
            <a:ext cx="10362895" cy="1554480"/>
          </a:xfrm>
          <a:prstGeom prst="rect">
            <a:avLst/>
          </a:prstGeom>
          <a:noFill/>
          <a:ln/>
        </p:spPr>
        <p:txBody>
          <a:bodyPr wrap="square" lIns="0" tIns="0" rIns="0" bIns="0" rtlCol="0" anchor="t">
            <a:normAutofit/>
          </a:bodyPr>
          <a:lstStyle/>
          <a:p>
            <a:pPr algn="ctr" indent="0" marL="0">
              <a:lnSpc>
                <a:spcPct val="95000"/>
              </a:lnSpc>
              <a:buNone/>
            </a:pPr>
            <a:r>
              <a:rPr lang="en-US" sz="4600" b="1" dirty="0">
                <a:solidFill>
                  <a:srgbClr val="FFFFFF"/>
                </a:solidFill>
                <a:latin typeface="Cormorant Garamond" pitchFamily="34" charset="0"/>
                <a:ea typeface="Cormorant Garamond" pitchFamily="34" charset="-122"/>
                <a:cs typeface="Cormorant Garamond" pitchFamily="34" charset="-120"/>
              </a:rPr>
              <a:t>Why Working Harder Stopped Working</a:t>
            </a:r>
            <a:endParaRPr lang="en-US" sz="4600" dirty="0"/>
          </a:p>
        </p:txBody>
      </p:sp>
      <p:sp>
        <p:nvSpPr>
          <p:cNvPr id="25" name="Slide Number Placeholder 0"/>
          <p:cNvSpPr>
            <a:spLocks noGrp="1"/>
          </p:cNvSpPr>
          <p:nvPr>
            <p:ph type="sldNum" sz="quarter" idx="4294967295"/>
          </p:nvPr>
        </p:nvSpPr>
        <p:spPr>
          <a:xfrm>
            <a:off x="11368735"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AAF8A"/>
                </a:solidFill>
                <a:latin typeface="DM Sans"/>
                <a:ea typeface="DM Sans"/>
                <a:cs typeface="DM Sans"/>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22960" y="731520"/>
            <a:ext cx="10545775" cy="365760"/>
          </a:xfrm>
          <a:prstGeom prst="rect">
            <a:avLst/>
          </a:prstGeom>
          <a:noFill/>
          <a:ln/>
        </p:spPr>
        <p:txBody>
          <a:bodyPr wrap="square" lIns="0" tIns="0" rIns="0" bIns="0" rtlCol="0" anchor="ctr">
            <a:normAutofit/>
          </a:bodyPr>
          <a:lstStyle/>
          <a:p>
            <a:pPr algn="l" indent="0" marL="0">
              <a:lnSpc>
                <a:spcPct val="100000"/>
              </a:lnSpc>
              <a:buNone/>
            </a:pPr>
            <a:r>
              <a:rPr lang="en-US" sz="1400" b="1" spc="400" kern="0" dirty="0">
                <a:solidFill>
                  <a:srgbClr val="8AAF8A"/>
                </a:solidFill>
                <a:latin typeface="DM Sans" pitchFamily="34" charset="0"/>
                <a:ea typeface="DM Sans" pitchFamily="34" charset="-122"/>
                <a:cs typeface="DM Sans" pitchFamily="34" charset="-120"/>
              </a:rPr>
              <a:t>THE OLD WAY</a:t>
            </a:r>
            <a:endParaRPr lang="en-US" sz="1400" dirty="0"/>
          </a:p>
        </p:txBody>
      </p:sp>
      <p:sp>
        <p:nvSpPr>
          <p:cNvPr id="3" name="Shape 1"/>
          <p:cNvSpPr/>
          <p:nvPr/>
        </p:nvSpPr>
        <p:spPr>
          <a:xfrm>
            <a:off x="822960" y="1417320"/>
            <a:ext cx="548640" cy="548640"/>
          </a:xfrm>
          <a:prstGeom prst="ellipse">
            <a:avLst/>
          </a:prstGeom>
          <a:solidFill>
            <a:srgbClr val="EFEAE2"/>
          </a:solidFill>
          <a:ln w="12700">
            <a:solidFill>
              <a:srgbClr val="EFEAE2"/>
            </a:solidFill>
            <a:prstDash val="solid"/>
          </a:ln>
        </p:spPr>
      </p:sp>
      <p:sp>
        <p:nvSpPr>
          <p:cNvPr id="4" name="Text 2"/>
          <p:cNvSpPr txBox="1"/>
          <p:nvPr/>
        </p:nvSpPr>
        <p:spPr>
          <a:xfrm>
            <a:off x="822960" y="1417320"/>
            <a:ext cx="548640" cy="548640"/>
          </a:xfrm>
          <a:prstGeom prst="rect">
            <a:avLst/>
          </a:prstGeom>
          <a:noFill/>
          <a:ln/>
        </p:spPr>
        <p:txBody>
          <a:bodyPr wrap="square" lIns="0" tIns="0" rIns="0" bIns="0" rtlCol="0" anchor="ctr">
            <a:normAutofit/>
          </a:bodyPr>
          <a:lstStyle/>
          <a:p>
            <a:pPr algn="ctr" indent="0" marL="0">
              <a:lnSpc>
                <a:spcPct val="100000"/>
              </a:lnSpc>
              <a:buNone/>
            </a:pPr>
            <a:r>
              <a:rPr lang="en-US" sz="1800" b="1" dirty="0">
                <a:solidFill>
                  <a:srgbClr val="8A8A85"/>
                </a:solidFill>
                <a:latin typeface="Cormorant Garamond" pitchFamily="34" charset="0"/>
                <a:ea typeface="Cormorant Garamond" pitchFamily="34" charset="-122"/>
                <a:cs typeface="Cormorant Garamond" pitchFamily="34" charset="-120"/>
              </a:rPr>
              <a:t>✕</a:t>
            </a:r>
            <a:endParaRPr lang="en-US" sz="1800" dirty="0"/>
          </a:p>
        </p:txBody>
      </p:sp>
      <p:sp>
        <p:nvSpPr>
          <p:cNvPr id="5" name="Text 3"/>
          <p:cNvSpPr txBox="1"/>
          <p:nvPr/>
        </p:nvSpPr>
        <p:spPr>
          <a:xfrm>
            <a:off x="1691640" y="1371600"/>
            <a:ext cx="9601200" cy="640080"/>
          </a:xfrm>
          <a:prstGeom prst="rect">
            <a:avLst/>
          </a:prstGeom>
          <a:noFill/>
          <a:ln/>
        </p:spPr>
        <p:txBody>
          <a:bodyPr wrap="square" lIns="0" tIns="0" rIns="0" bIns="0" rtlCol="0" anchor="ctr">
            <a:normAutofit/>
          </a:bodyPr>
          <a:lstStyle/>
          <a:p>
            <a:pPr algn="l" indent="0" marL="0">
              <a:lnSpc>
                <a:spcPct val="100000"/>
              </a:lnSpc>
              <a:buNone/>
            </a:pPr>
            <a:r>
              <a:rPr lang="en-US" sz="3000" b="1" dirty="0">
                <a:solidFill>
                  <a:srgbClr val="1B2B2B"/>
                </a:solidFill>
                <a:latin typeface="Cormorant Garamond" pitchFamily="34" charset="0"/>
                <a:ea typeface="Cormorant Garamond" pitchFamily="34" charset="-122"/>
                <a:cs typeface="Cormorant Garamond" pitchFamily="34" charset="-120"/>
              </a:rPr>
              <a:t>Working harder and waiting to be noticed</a:t>
            </a:r>
            <a:endParaRPr lang="en-US" sz="3000" dirty="0"/>
          </a:p>
        </p:txBody>
      </p:sp>
      <p:sp>
        <p:nvSpPr>
          <p:cNvPr id="6" name="Shape 4"/>
          <p:cNvSpPr/>
          <p:nvPr/>
        </p:nvSpPr>
        <p:spPr>
          <a:xfrm>
            <a:off x="822960" y="2331720"/>
            <a:ext cx="548640" cy="548640"/>
          </a:xfrm>
          <a:prstGeom prst="ellipse">
            <a:avLst/>
          </a:prstGeom>
          <a:solidFill>
            <a:srgbClr val="EFEAE2"/>
          </a:solidFill>
          <a:ln w="12700">
            <a:solidFill>
              <a:srgbClr val="EFEAE2"/>
            </a:solidFill>
            <a:prstDash val="solid"/>
          </a:ln>
        </p:spPr>
      </p:sp>
      <p:sp>
        <p:nvSpPr>
          <p:cNvPr id="7" name="Text 5"/>
          <p:cNvSpPr txBox="1"/>
          <p:nvPr/>
        </p:nvSpPr>
        <p:spPr>
          <a:xfrm>
            <a:off x="822960" y="2331720"/>
            <a:ext cx="548640" cy="548640"/>
          </a:xfrm>
          <a:prstGeom prst="rect">
            <a:avLst/>
          </a:prstGeom>
          <a:noFill/>
          <a:ln/>
        </p:spPr>
        <p:txBody>
          <a:bodyPr wrap="square" lIns="0" tIns="0" rIns="0" bIns="0" rtlCol="0" anchor="ctr">
            <a:normAutofit/>
          </a:bodyPr>
          <a:lstStyle/>
          <a:p>
            <a:pPr algn="ctr" indent="0" marL="0">
              <a:lnSpc>
                <a:spcPct val="100000"/>
              </a:lnSpc>
              <a:buNone/>
            </a:pPr>
            <a:r>
              <a:rPr lang="en-US" sz="1800" b="1" dirty="0">
                <a:solidFill>
                  <a:srgbClr val="8A8A85"/>
                </a:solidFill>
                <a:latin typeface="Cormorant Garamond" pitchFamily="34" charset="0"/>
                <a:ea typeface="Cormorant Garamond" pitchFamily="34" charset="-122"/>
                <a:cs typeface="Cormorant Garamond" pitchFamily="34" charset="-120"/>
              </a:rPr>
              <a:t>✕</a:t>
            </a:r>
            <a:endParaRPr lang="en-US" sz="1800" dirty="0"/>
          </a:p>
        </p:txBody>
      </p:sp>
      <p:sp>
        <p:nvSpPr>
          <p:cNvPr id="8" name="Text 6"/>
          <p:cNvSpPr txBox="1"/>
          <p:nvPr/>
        </p:nvSpPr>
        <p:spPr>
          <a:xfrm>
            <a:off x="1691640" y="2286000"/>
            <a:ext cx="9601200" cy="640080"/>
          </a:xfrm>
          <a:prstGeom prst="rect">
            <a:avLst/>
          </a:prstGeom>
          <a:noFill/>
          <a:ln/>
        </p:spPr>
        <p:txBody>
          <a:bodyPr wrap="square" lIns="0" tIns="0" rIns="0" bIns="0" rtlCol="0" anchor="ctr">
            <a:normAutofit/>
          </a:bodyPr>
          <a:lstStyle/>
          <a:p>
            <a:pPr algn="l" indent="0" marL="0">
              <a:lnSpc>
                <a:spcPct val="100000"/>
              </a:lnSpc>
              <a:buNone/>
            </a:pPr>
            <a:r>
              <a:rPr lang="en-US" sz="3000" b="1" dirty="0">
                <a:solidFill>
                  <a:srgbClr val="1B2B2B"/>
                </a:solidFill>
                <a:latin typeface="Cormorant Garamond" pitchFamily="34" charset="0"/>
                <a:ea typeface="Cormorant Garamond" pitchFamily="34" charset="-122"/>
                <a:cs typeface="Cormorant Garamond" pitchFamily="34" charset="-120"/>
              </a:rPr>
              <a:t>Waiting for the annual performance review</a:t>
            </a:r>
            <a:endParaRPr lang="en-US" sz="3000" dirty="0"/>
          </a:p>
        </p:txBody>
      </p:sp>
      <p:sp>
        <p:nvSpPr>
          <p:cNvPr id="9" name="Shape 7"/>
          <p:cNvSpPr/>
          <p:nvPr/>
        </p:nvSpPr>
        <p:spPr>
          <a:xfrm>
            <a:off x="822960" y="3246120"/>
            <a:ext cx="548640" cy="548640"/>
          </a:xfrm>
          <a:prstGeom prst="ellipse">
            <a:avLst/>
          </a:prstGeom>
          <a:solidFill>
            <a:srgbClr val="EFEAE2"/>
          </a:solidFill>
          <a:ln w="12700">
            <a:solidFill>
              <a:srgbClr val="EFEAE2"/>
            </a:solidFill>
            <a:prstDash val="solid"/>
          </a:ln>
        </p:spPr>
      </p:sp>
      <p:sp>
        <p:nvSpPr>
          <p:cNvPr id="10" name="Text 8"/>
          <p:cNvSpPr txBox="1"/>
          <p:nvPr/>
        </p:nvSpPr>
        <p:spPr>
          <a:xfrm>
            <a:off x="822960" y="3246120"/>
            <a:ext cx="548640" cy="548640"/>
          </a:xfrm>
          <a:prstGeom prst="rect">
            <a:avLst/>
          </a:prstGeom>
          <a:noFill/>
          <a:ln/>
        </p:spPr>
        <p:txBody>
          <a:bodyPr wrap="square" lIns="0" tIns="0" rIns="0" bIns="0" rtlCol="0" anchor="ctr">
            <a:normAutofit/>
          </a:bodyPr>
          <a:lstStyle/>
          <a:p>
            <a:pPr algn="ctr" indent="0" marL="0">
              <a:lnSpc>
                <a:spcPct val="100000"/>
              </a:lnSpc>
              <a:buNone/>
            </a:pPr>
            <a:r>
              <a:rPr lang="en-US" sz="1800" b="1" dirty="0">
                <a:solidFill>
                  <a:srgbClr val="8A8A85"/>
                </a:solidFill>
                <a:latin typeface="Cormorant Garamond" pitchFamily="34" charset="0"/>
                <a:ea typeface="Cormorant Garamond" pitchFamily="34" charset="-122"/>
                <a:cs typeface="Cormorant Garamond" pitchFamily="34" charset="-120"/>
              </a:rPr>
              <a:t>✕</a:t>
            </a:r>
            <a:endParaRPr lang="en-US" sz="1800" dirty="0"/>
          </a:p>
        </p:txBody>
      </p:sp>
      <p:sp>
        <p:nvSpPr>
          <p:cNvPr id="11" name="Text 9"/>
          <p:cNvSpPr txBox="1"/>
          <p:nvPr/>
        </p:nvSpPr>
        <p:spPr>
          <a:xfrm>
            <a:off x="1691640" y="3200400"/>
            <a:ext cx="9601200" cy="640080"/>
          </a:xfrm>
          <a:prstGeom prst="rect">
            <a:avLst/>
          </a:prstGeom>
          <a:noFill/>
          <a:ln/>
        </p:spPr>
        <p:txBody>
          <a:bodyPr wrap="square" lIns="0" tIns="0" rIns="0" bIns="0" rtlCol="0" anchor="ctr">
            <a:normAutofit/>
          </a:bodyPr>
          <a:lstStyle/>
          <a:p>
            <a:pPr algn="l" indent="0" marL="0">
              <a:lnSpc>
                <a:spcPct val="100000"/>
              </a:lnSpc>
              <a:buNone/>
            </a:pPr>
            <a:r>
              <a:rPr lang="en-US" sz="3000" b="1" dirty="0">
                <a:solidFill>
                  <a:srgbClr val="1B2B2B"/>
                </a:solidFill>
                <a:latin typeface="Cormorant Garamond" pitchFamily="34" charset="0"/>
                <a:ea typeface="Cormorant Garamond" pitchFamily="34" charset="-122"/>
                <a:cs typeface="Cormorant Garamond" pitchFamily="34" charset="-120"/>
              </a:rPr>
              <a:t>Hoping your boss recognizes what you did</a:t>
            </a:r>
            <a:endParaRPr lang="en-US" sz="3000" dirty="0"/>
          </a:p>
        </p:txBody>
      </p:sp>
      <p:sp>
        <p:nvSpPr>
          <p:cNvPr id="12" name="Shape 10"/>
          <p:cNvSpPr/>
          <p:nvPr/>
        </p:nvSpPr>
        <p:spPr>
          <a:xfrm>
            <a:off x="822960" y="4160520"/>
            <a:ext cx="548640" cy="548640"/>
          </a:xfrm>
          <a:prstGeom prst="ellipse">
            <a:avLst/>
          </a:prstGeom>
          <a:solidFill>
            <a:srgbClr val="EFEAE2"/>
          </a:solidFill>
          <a:ln w="12700">
            <a:solidFill>
              <a:srgbClr val="EFEAE2"/>
            </a:solidFill>
            <a:prstDash val="solid"/>
          </a:ln>
        </p:spPr>
      </p:sp>
      <p:sp>
        <p:nvSpPr>
          <p:cNvPr id="13" name="Text 11"/>
          <p:cNvSpPr txBox="1"/>
          <p:nvPr/>
        </p:nvSpPr>
        <p:spPr>
          <a:xfrm>
            <a:off x="822960" y="4160520"/>
            <a:ext cx="548640" cy="548640"/>
          </a:xfrm>
          <a:prstGeom prst="rect">
            <a:avLst/>
          </a:prstGeom>
          <a:noFill/>
          <a:ln/>
        </p:spPr>
        <p:txBody>
          <a:bodyPr wrap="square" lIns="0" tIns="0" rIns="0" bIns="0" rtlCol="0" anchor="ctr">
            <a:normAutofit/>
          </a:bodyPr>
          <a:lstStyle/>
          <a:p>
            <a:pPr algn="ctr" indent="0" marL="0">
              <a:lnSpc>
                <a:spcPct val="100000"/>
              </a:lnSpc>
              <a:buNone/>
            </a:pPr>
            <a:r>
              <a:rPr lang="en-US" sz="1800" b="1" dirty="0">
                <a:solidFill>
                  <a:srgbClr val="8A8A85"/>
                </a:solidFill>
                <a:latin typeface="Cormorant Garamond" pitchFamily="34" charset="0"/>
                <a:ea typeface="Cormorant Garamond" pitchFamily="34" charset="-122"/>
                <a:cs typeface="Cormorant Garamond" pitchFamily="34" charset="-120"/>
              </a:rPr>
              <a:t>✕</a:t>
            </a:r>
            <a:endParaRPr lang="en-US" sz="1800" dirty="0"/>
          </a:p>
        </p:txBody>
      </p:sp>
      <p:sp>
        <p:nvSpPr>
          <p:cNvPr id="14" name="Text 12"/>
          <p:cNvSpPr txBox="1"/>
          <p:nvPr/>
        </p:nvSpPr>
        <p:spPr>
          <a:xfrm>
            <a:off x="1691640" y="4114800"/>
            <a:ext cx="9601200" cy="640080"/>
          </a:xfrm>
          <a:prstGeom prst="rect">
            <a:avLst/>
          </a:prstGeom>
          <a:noFill/>
          <a:ln/>
        </p:spPr>
        <p:txBody>
          <a:bodyPr wrap="square" lIns="0" tIns="0" rIns="0" bIns="0" rtlCol="0" anchor="ctr">
            <a:normAutofit/>
          </a:bodyPr>
          <a:lstStyle/>
          <a:p>
            <a:pPr algn="l" indent="0" marL="0">
              <a:lnSpc>
                <a:spcPct val="100000"/>
              </a:lnSpc>
              <a:buNone/>
            </a:pPr>
            <a:r>
              <a:rPr lang="en-US" sz="3000" b="1" dirty="0">
                <a:solidFill>
                  <a:srgbClr val="1B2B2B"/>
                </a:solidFill>
                <a:latin typeface="Cormorant Garamond" pitchFamily="34" charset="0"/>
                <a:ea typeface="Cormorant Garamond" pitchFamily="34" charset="-122"/>
                <a:cs typeface="Cormorant Garamond" pitchFamily="34" charset="-120"/>
              </a:rPr>
              <a:t>Asking a mentor or a friend what they'd do</a:t>
            </a:r>
            <a:endParaRPr lang="en-US" sz="3000" dirty="0"/>
          </a:p>
        </p:txBody>
      </p:sp>
      <p:sp>
        <p:nvSpPr>
          <p:cNvPr id="15" name="Shape 13"/>
          <p:cNvSpPr/>
          <p:nvPr/>
        </p:nvSpPr>
        <p:spPr>
          <a:xfrm>
            <a:off x="822960" y="5074920"/>
            <a:ext cx="548640" cy="548640"/>
          </a:xfrm>
          <a:prstGeom prst="ellipse">
            <a:avLst/>
          </a:prstGeom>
          <a:solidFill>
            <a:srgbClr val="EFEAE2"/>
          </a:solidFill>
          <a:ln w="12700">
            <a:solidFill>
              <a:srgbClr val="EFEAE2"/>
            </a:solidFill>
            <a:prstDash val="solid"/>
          </a:ln>
        </p:spPr>
      </p:sp>
      <p:sp>
        <p:nvSpPr>
          <p:cNvPr id="16" name="Text 14"/>
          <p:cNvSpPr txBox="1"/>
          <p:nvPr/>
        </p:nvSpPr>
        <p:spPr>
          <a:xfrm>
            <a:off x="822960" y="5074920"/>
            <a:ext cx="548640" cy="548640"/>
          </a:xfrm>
          <a:prstGeom prst="rect">
            <a:avLst/>
          </a:prstGeom>
          <a:noFill/>
          <a:ln/>
        </p:spPr>
        <p:txBody>
          <a:bodyPr wrap="square" lIns="0" tIns="0" rIns="0" bIns="0" rtlCol="0" anchor="ctr">
            <a:normAutofit/>
          </a:bodyPr>
          <a:lstStyle/>
          <a:p>
            <a:pPr algn="ctr" indent="0" marL="0">
              <a:lnSpc>
                <a:spcPct val="100000"/>
              </a:lnSpc>
              <a:buNone/>
            </a:pPr>
            <a:r>
              <a:rPr lang="en-US" sz="1800" b="1" dirty="0">
                <a:solidFill>
                  <a:srgbClr val="8A8A85"/>
                </a:solidFill>
                <a:latin typeface="Cormorant Garamond" pitchFamily="34" charset="0"/>
                <a:ea typeface="Cormorant Garamond" pitchFamily="34" charset="-122"/>
                <a:cs typeface="Cormorant Garamond" pitchFamily="34" charset="-120"/>
              </a:rPr>
              <a:t>✕</a:t>
            </a:r>
            <a:endParaRPr lang="en-US" sz="1800" dirty="0"/>
          </a:p>
        </p:txBody>
      </p:sp>
      <p:sp>
        <p:nvSpPr>
          <p:cNvPr id="17" name="Text 15"/>
          <p:cNvSpPr txBox="1"/>
          <p:nvPr/>
        </p:nvSpPr>
        <p:spPr>
          <a:xfrm>
            <a:off x="1691640" y="5029200"/>
            <a:ext cx="9601200" cy="640080"/>
          </a:xfrm>
          <a:prstGeom prst="rect">
            <a:avLst/>
          </a:prstGeom>
          <a:noFill/>
          <a:ln/>
        </p:spPr>
        <p:txBody>
          <a:bodyPr wrap="square" lIns="0" tIns="0" rIns="0" bIns="0" rtlCol="0" anchor="ctr">
            <a:normAutofit/>
          </a:bodyPr>
          <a:lstStyle/>
          <a:p>
            <a:pPr algn="l" indent="0" marL="0">
              <a:lnSpc>
                <a:spcPct val="100000"/>
              </a:lnSpc>
              <a:buNone/>
            </a:pPr>
            <a:r>
              <a:rPr lang="en-US" sz="3000" b="1" dirty="0">
                <a:solidFill>
                  <a:srgbClr val="1B2B2B"/>
                </a:solidFill>
                <a:latin typeface="Cormorant Garamond" pitchFamily="34" charset="0"/>
                <a:ea typeface="Cormorant Garamond" pitchFamily="34" charset="-122"/>
                <a:cs typeface="Cormorant Garamond" pitchFamily="34" charset="-120"/>
              </a:rPr>
              <a:t>Memorizing a better script</a:t>
            </a:r>
            <a:endParaRPr lang="en-US" sz="3000" dirty="0"/>
          </a:p>
        </p:txBody>
      </p:sp>
      <p:sp>
        <p:nvSpPr>
          <p:cNvPr id="25" name="Slide Number Placeholder 0"/>
          <p:cNvSpPr>
            <a:spLocks noGrp="1"/>
          </p:cNvSpPr>
          <p:nvPr>
            <p:ph type="sldNum" sz="quarter" idx="4294967295"/>
          </p:nvPr>
        </p:nvSpPr>
        <p:spPr>
          <a:xfrm>
            <a:off x="11368735"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AA6A3"/>
                </a:solidFill>
                <a:latin typeface="DM Sans"/>
                <a:ea typeface="DM Sans"/>
                <a:cs typeface="DM Sans"/>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22960" y="640080"/>
            <a:ext cx="10545775" cy="365760"/>
          </a:xfrm>
          <a:prstGeom prst="rect">
            <a:avLst/>
          </a:prstGeom>
          <a:noFill/>
          <a:ln/>
        </p:spPr>
        <p:txBody>
          <a:bodyPr wrap="square" lIns="0" tIns="0" rIns="0" bIns="0" rtlCol="0" anchor="ctr">
            <a:normAutofit/>
          </a:bodyPr>
          <a:lstStyle/>
          <a:p>
            <a:pPr algn="l" indent="0" marL="0">
              <a:lnSpc>
                <a:spcPct val="100000"/>
              </a:lnSpc>
              <a:buNone/>
            </a:pPr>
            <a:r>
              <a:rPr lang="en-US" sz="1400" b="1" spc="400" kern="0" dirty="0">
                <a:solidFill>
                  <a:srgbClr val="8AAF8A"/>
                </a:solidFill>
                <a:latin typeface="DM Sans" pitchFamily="34" charset="0"/>
                <a:ea typeface="DM Sans" pitchFamily="34" charset="-122"/>
                <a:cs typeface="DM Sans" pitchFamily="34" charset="-120"/>
              </a:rPr>
              <a:t>MYTH 1</a:t>
            </a:r>
            <a:endParaRPr lang="en-US" sz="1400" dirty="0"/>
          </a:p>
        </p:txBody>
      </p:sp>
      <p:sp>
        <p:nvSpPr>
          <p:cNvPr id="3" name="Shape 1"/>
          <p:cNvSpPr/>
          <p:nvPr/>
        </p:nvSpPr>
        <p:spPr>
          <a:xfrm>
            <a:off x="822960" y="1325880"/>
            <a:ext cx="4815688" cy="4754880"/>
          </a:xfrm>
          <a:prstGeom prst="roundRect">
            <a:avLst>
              <a:gd name="adj" fmla="val 2308"/>
            </a:avLst>
          </a:prstGeom>
          <a:solidFill>
            <a:srgbClr val="EFEAE2"/>
          </a:solidFill>
          <a:ln w="12700">
            <a:solidFill>
              <a:srgbClr val="EFEAE2"/>
            </a:solidFill>
            <a:prstDash val="solid"/>
          </a:ln>
        </p:spPr>
      </p:sp>
      <p:sp>
        <p:nvSpPr>
          <p:cNvPr id="4" name="Text 2"/>
          <p:cNvSpPr txBox="1"/>
          <p:nvPr/>
        </p:nvSpPr>
        <p:spPr>
          <a:xfrm>
            <a:off x="1234440" y="1737360"/>
            <a:ext cx="3992728" cy="365760"/>
          </a:xfrm>
          <a:prstGeom prst="rect">
            <a:avLst/>
          </a:prstGeom>
          <a:noFill/>
          <a:ln/>
        </p:spPr>
        <p:txBody>
          <a:bodyPr wrap="square" lIns="0" tIns="0" rIns="0" bIns="0" rtlCol="0" anchor="t">
            <a:normAutofit/>
          </a:bodyPr>
          <a:lstStyle/>
          <a:p>
            <a:pPr algn="l" indent="0" marL="0">
              <a:lnSpc>
                <a:spcPct val="100000"/>
              </a:lnSpc>
              <a:buNone/>
            </a:pPr>
            <a:r>
              <a:rPr lang="en-US" sz="1300" b="1" spc="300" kern="0" dirty="0">
                <a:solidFill>
                  <a:srgbClr val="5E6B68"/>
                </a:solidFill>
                <a:latin typeface="DM Sans" pitchFamily="34" charset="0"/>
                <a:ea typeface="DM Sans" pitchFamily="34" charset="-122"/>
                <a:cs typeface="DM Sans" pitchFamily="34" charset="-120"/>
              </a:rPr>
              <a:t>WHAT MOST THINK</a:t>
            </a:r>
            <a:endParaRPr lang="en-US" sz="1300" dirty="0"/>
          </a:p>
        </p:txBody>
      </p:sp>
      <p:sp>
        <p:nvSpPr>
          <p:cNvPr id="5" name="Text 3"/>
          <p:cNvSpPr txBox="1"/>
          <p:nvPr/>
        </p:nvSpPr>
        <p:spPr>
          <a:xfrm>
            <a:off x="1234440" y="2331720"/>
            <a:ext cx="3992728" cy="3291840"/>
          </a:xfrm>
          <a:prstGeom prst="rect">
            <a:avLst/>
          </a:prstGeom>
          <a:noFill/>
          <a:ln/>
        </p:spPr>
        <p:txBody>
          <a:bodyPr wrap="square" lIns="0" tIns="0" rIns="0" bIns="0" rtlCol="0" anchor="ctr">
            <a:normAutofit/>
          </a:bodyPr>
          <a:lstStyle/>
          <a:p>
            <a:pPr algn="l" indent="0" marL="0">
              <a:lnSpc>
                <a:spcPct val="105000"/>
              </a:lnSpc>
              <a:buNone/>
            </a:pPr>
            <a:r>
              <a:rPr lang="en-US" sz="2500" b="1" dirty="0">
                <a:solidFill>
                  <a:srgbClr val="1B2B2B"/>
                </a:solidFill>
                <a:latin typeface="Cormorant Garamond" pitchFamily="34" charset="0"/>
                <a:ea typeface="Cormorant Garamond" pitchFamily="34" charset="-122"/>
                <a:cs typeface="Cormorant Garamond" pitchFamily="34" charset="-120"/>
              </a:rPr>
              <a:t>"I have a negotiation problem. I need better tactics and the right words."</a:t>
            </a:r>
            <a:endParaRPr lang="en-US" sz="2500" dirty="0"/>
          </a:p>
        </p:txBody>
      </p:sp>
      <p:sp>
        <p:nvSpPr>
          <p:cNvPr id="6" name="Shape 4"/>
          <p:cNvSpPr/>
          <p:nvPr/>
        </p:nvSpPr>
        <p:spPr>
          <a:xfrm>
            <a:off x="6553048" y="1325880"/>
            <a:ext cx="4815688" cy="4754880"/>
          </a:xfrm>
          <a:prstGeom prst="roundRect">
            <a:avLst>
              <a:gd name="adj" fmla="val 2308"/>
            </a:avLst>
          </a:prstGeom>
          <a:solidFill>
            <a:srgbClr val="1E4A4A"/>
          </a:solidFill>
          <a:ln w="12700">
            <a:solidFill>
              <a:srgbClr val="1E4A4A"/>
            </a:solidFill>
            <a:prstDash val="solid"/>
          </a:ln>
        </p:spPr>
      </p:sp>
      <p:sp>
        <p:nvSpPr>
          <p:cNvPr id="7" name="Text 5"/>
          <p:cNvSpPr txBox="1"/>
          <p:nvPr/>
        </p:nvSpPr>
        <p:spPr>
          <a:xfrm>
            <a:off x="6964528" y="1737360"/>
            <a:ext cx="3992728" cy="365760"/>
          </a:xfrm>
          <a:prstGeom prst="rect">
            <a:avLst/>
          </a:prstGeom>
          <a:noFill/>
          <a:ln/>
        </p:spPr>
        <p:txBody>
          <a:bodyPr wrap="square" lIns="0" tIns="0" rIns="0" bIns="0" rtlCol="0" anchor="t">
            <a:normAutofit/>
          </a:bodyPr>
          <a:lstStyle/>
          <a:p>
            <a:pPr algn="l" indent="0" marL="0">
              <a:lnSpc>
                <a:spcPct val="100000"/>
              </a:lnSpc>
              <a:buNone/>
            </a:pPr>
            <a:r>
              <a:rPr lang="en-US" sz="1300" b="1" spc="300" kern="0" dirty="0">
                <a:solidFill>
                  <a:srgbClr val="B7D3B7"/>
                </a:solidFill>
                <a:latin typeface="DM Sans" pitchFamily="34" charset="0"/>
                <a:ea typeface="DM Sans" pitchFamily="34" charset="-122"/>
                <a:cs typeface="DM Sans" pitchFamily="34" charset="-120"/>
              </a:rPr>
              <a:t>THE REALITY</a:t>
            </a:r>
            <a:endParaRPr lang="en-US" sz="1300" dirty="0"/>
          </a:p>
        </p:txBody>
      </p:sp>
      <p:sp>
        <p:nvSpPr>
          <p:cNvPr id="8" name="Text 6"/>
          <p:cNvSpPr txBox="1"/>
          <p:nvPr/>
        </p:nvSpPr>
        <p:spPr>
          <a:xfrm>
            <a:off x="6964528" y="2331720"/>
            <a:ext cx="3992728" cy="3291840"/>
          </a:xfrm>
          <a:prstGeom prst="rect">
            <a:avLst/>
          </a:prstGeom>
          <a:noFill/>
          <a:ln/>
        </p:spPr>
        <p:txBody>
          <a:bodyPr wrap="square" lIns="0" tIns="0" rIns="0" bIns="0" rtlCol="0" anchor="ctr">
            <a:normAutofit/>
          </a:bodyPr>
          <a:lstStyle/>
          <a:p>
            <a:pPr algn="l" indent="0" marL="0">
              <a:lnSpc>
                <a:spcPct val="105000"/>
              </a:lnSpc>
              <a:buNone/>
            </a:pPr>
            <a:r>
              <a:rPr lang="en-US" sz="2200" b="1" dirty="0">
                <a:solidFill>
                  <a:srgbClr val="FFFFFF"/>
                </a:solidFill>
                <a:latin typeface="Cormorant Garamond" pitchFamily="34" charset="0"/>
                <a:ea typeface="Cormorant Garamond" pitchFamily="34" charset="-122"/>
                <a:cs typeface="Cormorant Garamond" pitchFamily="34" charset="-120"/>
              </a:rPr>
              <a:t>Your capability has outgrown the identity you've accepted. A better script can't close that gap.</a:t>
            </a:r>
            <a:endParaRPr lang="en-US" sz="2200" dirty="0"/>
          </a:p>
        </p:txBody>
      </p:sp>
      <p:sp>
        <p:nvSpPr>
          <p:cNvPr id="9" name="Text 7"/>
          <p:cNvSpPr txBox="1"/>
          <p:nvPr/>
        </p:nvSpPr>
        <p:spPr>
          <a:xfrm>
            <a:off x="5638648" y="1325880"/>
            <a:ext cx="914400" cy="4754880"/>
          </a:xfrm>
          <a:prstGeom prst="rect">
            <a:avLst/>
          </a:prstGeom>
          <a:noFill/>
          <a:ln/>
        </p:spPr>
        <p:txBody>
          <a:bodyPr wrap="square" lIns="0" tIns="0" rIns="0" bIns="0" rtlCol="0" anchor="ctr">
            <a:normAutofit/>
          </a:bodyPr>
          <a:lstStyle/>
          <a:p>
            <a:pPr algn="ctr" indent="0" marL="0">
              <a:lnSpc>
                <a:spcPct val="100000"/>
              </a:lnSpc>
              <a:buNone/>
            </a:pPr>
            <a:r>
              <a:rPr lang="en-US" sz="4000" b="1" dirty="0">
                <a:solidFill>
                  <a:srgbClr val="8AAF8A"/>
                </a:solidFill>
                <a:latin typeface="DM Sans" pitchFamily="34" charset="0"/>
                <a:ea typeface="DM Sans" pitchFamily="34" charset="-122"/>
                <a:cs typeface="DM Sans" pitchFamily="34" charset="-120"/>
              </a:rPr>
              <a:t>→</a:t>
            </a:r>
            <a:endParaRPr lang="en-US" sz="4000" dirty="0"/>
          </a:p>
        </p:txBody>
      </p:sp>
      <p:sp>
        <p:nvSpPr>
          <p:cNvPr id="25" name="Slide Number Placeholder 0"/>
          <p:cNvSpPr>
            <a:spLocks noGrp="1"/>
          </p:cNvSpPr>
          <p:nvPr>
            <p:ph type="sldNum" sz="quarter" idx="4294967295"/>
          </p:nvPr>
        </p:nvSpPr>
        <p:spPr>
          <a:xfrm>
            <a:off x="11368735"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AA6A3"/>
                </a:solidFill>
                <a:latin typeface="DM Sans"/>
                <a:ea typeface="DM Sans"/>
                <a:cs typeface="DM Sans"/>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22960" y="640080"/>
            <a:ext cx="10545775" cy="365760"/>
          </a:xfrm>
          <a:prstGeom prst="rect">
            <a:avLst/>
          </a:prstGeom>
          <a:noFill/>
          <a:ln/>
        </p:spPr>
        <p:txBody>
          <a:bodyPr wrap="square" lIns="0" tIns="0" rIns="0" bIns="0" rtlCol="0" anchor="ctr">
            <a:normAutofit/>
          </a:bodyPr>
          <a:lstStyle/>
          <a:p>
            <a:pPr algn="l" indent="0" marL="0">
              <a:lnSpc>
                <a:spcPct val="100000"/>
              </a:lnSpc>
              <a:buNone/>
            </a:pPr>
            <a:r>
              <a:rPr lang="en-US" sz="1400" b="1" spc="400" kern="0" dirty="0">
                <a:solidFill>
                  <a:srgbClr val="8AAF8A"/>
                </a:solidFill>
                <a:latin typeface="DM Sans" pitchFamily="34" charset="0"/>
                <a:ea typeface="DM Sans" pitchFamily="34" charset="-122"/>
                <a:cs typeface="DM Sans" pitchFamily="34" charset="-120"/>
              </a:rPr>
              <a:t>MYTH 2</a:t>
            </a:r>
            <a:endParaRPr lang="en-US" sz="1400" dirty="0"/>
          </a:p>
        </p:txBody>
      </p:sp>
      <p:sp>
        <p:nvSpPr>
          <p:cNvPr id="3" name="Shape 1"/>
          <p:cNvSpPr/>
          <p:nvPr/>
        </p:nvSpPr>
        <p:spPr>
          <a:xfrm>
            <a:off x="822960" y="1325880"/>
            <a:ext cx="4815688" cy="4754880"/>
          </a:xfrm>
          <a:prstGeom prst="roundRect">
            <a:avLst>
              <a:gd name="adj" fmla="val 2308"/>
            </a:avLst>
          </a:prstGeom>
          <a:solidFill>
            <a:srgbClr val="EFEAE2"/>
          </a:solidFill>
          <a:ln w="12700">
            <a:solidFill>
              <a:srgbClr val="EFEAE2"/>
            </a:solidFill>
            <a:prstDash val="solid"/>
          </a:ln>
        </p:spPr>
      </p:sp>
      <p:sp>
        <p:nvSpPr>
          <p:cNvPr id="4" name="Text 2"/>
          <p:cNvSpPr txBox="1"/>
          <p:nvPr/>
        </p:nvSpPr>
        <p:spPr>
          <a:xfrm>
            <a:off x="1234440" y="1737360"/>
            <a:ext cx="3992728" cy="365760"/>
          </a:xfrm>
          <a:prstGeom prst="rect">
            <a:avLst/>
          </a:prstGeom>
          <a:noFill/>
          <a:ln/>
        </p:spPr>
        <p:txBody>
          <a:bodyPr wrap="square" lIns="0" tIns="0" rIns="0" bIns="0" rtlCol="0" anchor="t">
            <a:normAutofit/>
          </a:bodyPr>
          <a:lstStyle/>
          <a:p>
            <a:pPr algn="l" indent="0" marL="0">
              <a:lnSpc>
                <a:spcPct val="100000"/>
              </a:lnSpc>
              <a:buNone/>
            </a:pPr>
            <a:r>
              <a:rPr lang="en-US" sz="1300" b="1" spc="300" kern="0" dirty="0">
                <a:solidFill>
                  <a:srgbClr val="5E6B68"/>
                </a:solidFill>
                <a:latin typeface="DM Sans" pitchFamily="34" charset="0"/>
                <a:ea typeface="DM Sans" pitchFamily="34" charset="-122"/>
                <a:cs typeface="DM Sans" pitchFamily="34" charset="-120"/>
              </a:rPr>
              <a:t>WHAT MOST THINK</a:t>
            </a:r>
            <a:endParaRPr lang="en-US" sz="1300" dirty="0"/>
          </a:p>
        </p:txBody>
      </p:sp>
      <p:sp>
        <p:nvSpPr>
          <p:cNvPr id="5" name="Text 3"/>
          <p:cNvSpPr txBox="1"/>
          <p:nvPr/>
        </p:nvSpPr>
        <p:spPr>
          <a:xfrm>
            <a:off x="1234440" y="2331720"/>
            <a:ext cx="3992728" cy="3291840"/>
          </a:xfrm>
          <a:prstGeom prst="rect">
            <a:avLst/>
          </a:prstGeom>
          <a:noFill/>
          <a:ln/>
        </p:spPr>
        <p:txBody>
          <a:bodyPr wrap="square" lIns="0" tIns="0" rIns="0" bIns="0" rtlCol="0" anchor="ctr">
            <a:normAutofit/>
          </a:bodyPr>
          <a:lstStyle/>
          <a:p>
            <a:pPr algn="l" indent="0" marL="0">
              <a:lnSpc>
                <a:spcPct val="105000"/>
              </a:lnSpc>
              <a:buNone/>
            </a:pPr>
            <a:r>
              <a:rPr lang="en-US" sz="3400" b="1" dirty="0">
                <a:solidFill>
                  <a:srgbClr val="1B2B2B"/>
                </a:solidFill>
                <a:latin typeface="Cormorant Garamond" pitchFamily="34" charset="0"/>
                <a:ea typeface="Cormorant Garamond" pitchFamily="34" charset="-122"/>
                <a:cs typeface="Cormorant Garamond" pitchFamily="34" charset="-120"/>
              </a:rPr>
              <a:t>"My work will speak for itself."</a:t>
            </a:r>
            <a:endParaRPr lang="en-US" sz="3400" dirty="0"/>
          </a:p>
        </p:txBody>
      </p:sp>
      <p:sp>
        <p:nvSpPr>
          <p:cNvPr id="6" name="Shape 4"/>
          <p:cNvSpPr/>
          <p:nvPr/>
        </p:nvSpPr>
        <p:spPr>
          <a:xfrm>
            <a:off x="6553048" y="1325880"/>
            <a:ext cx="4815688" cy="4754880"/>
          </a:xfrm>
          <a:prstGeom prst="roundRect">
            <a:avLst>
              <a:gd name="adj" fmla="val 2308"/>
            </a:avLst>
          </a:prstGeom>
          <a:solidFill>
            <a:srgbClr val="1E4A4A"/>
          </a:solidFill>
          <a:ln w="12700">
            <a:solidFill>
              <a:srgbClr val="1E4A4A"/>
            </a:solidFill>
            <a:prstDash val="solid"/>
          </a:ln>
        </p:spPr>
      </p:sp>
      <p:sp>
        <p:nvSpPr>
          <p:cNvPr id="7" name="Text 5"/>
          <p:cNvSpPr txBox="1"/>
          <p:nvPr/>
        </p:nvSpPr>
        <p:spPr>
          <a:xfrm>
            <a:off x="6964528" y="1737360"/>
            <a:ext cx="3992728" cy="365760"/>
          </a:xfrm>
          <a:prstGeom prst="rect">
            <a:avLst/>
          </a:prstGeom>
          <a:noFill/>
          <a:ln/>
        </p:spPr>
        <p:txBody>
          <a:bodyPr wrap="square" lIns="0" tIns="0" rIns="0" bIns="0" rtlCol="0" anchor="t">
            <a:normAutofit/>
          </a:bodyPr>
          <a:lstStyle/>
          <a:p>
            <a:pPr algn="l" indent="0" marL="0">
              <a:lnSpc>
                <a:spcPct val="100000"/>
              </a:lnSpc>
              <a:buNone/>
            </a:pPr>
            <a:r>
              <a:rPr lang="en-US" sz="1300" b="1" spc="300" kern="0" dirty="0">
                <a:solidFill>
                  <a:srgbClr val="B7D3B7"/>
                </a:solidFill>
                <a:latin typeface="DM Sans" pitchFamily="34" charset="0"/>
                <a:ea typeface="DM Sans" pitchFamily="34" charset="-122"/>
                <a:cs typeface="DM Sans" pitchFamily="34" charset="-120"/>
              </a:rPr>
              <a:t>THE REALITY</a:t>
            </a:r>
            <a:endParaRPr lang="en-US" sz="1300" dirty="0"/>
          </a:p>
        </p:txBody>
      </p:sp>
      <p:sp>
        <p:nvSpPr>
          <p:cNvPr id="8" name="Text 6"/>
          <p:cNvSpPr txBox="1"/>
          <p:nvPr/>
        </p:nvSpPr>
        <p:spPr>
          <a:xfrm>
            <a:off x="6964528" y="2331720"/>
            <a:ext cx="3992728" cy="3291840"/>
          </a:xfrm>
          <a:prstGeom prst="rect">
            <a:avLst/>
          </a:prstGeom>
          <a:noFill/>
          <a:ln/>
        </p:spPr>
        <p:txBody>
          <a:bodyPr wrap="square" lIns="0" tIns="0" rIns="0" bIns="0" rtlCol="0" anchor="ctr">
            <a:normAutofit/>
          </a:bodyPr>
          <a:lstStyle/>
          <a:p>
            <a:pPr algn="l" indent="0" marL="0">
              <a:lnSpc>
                <a:spcPct val="105000"/>
              </a:lnSpc>
              <a:buNone/>
            </a:pPr>
            <a:r>
              <a:rPr lang="en-US" sz="2500" b="1" dirty="0">
                <a:solidFill>
                  <a:srgbClr val="FFFFFF"/>
                </a:solidFill>
                <a:latin typeface="Cormorant Garamond" pitchFamily="34" charset="0"/>
                <a:ea typeface="Cormorant Garamond" pitchFamily="34" charset="-122"/>
                <a:cs typeface="Cormorant Garamond" pitchFamily="34" charset="-120"/>
              </a:rPr>
              <a:t>Work is silent. Somebody decides what it's worth, and right now that somebody isn't you.</a:t>
            </a:r>
            <a:endParaRPr lang="en-US" sz="2500" dirty="0"/>
          </a:p>
        </p:txBody>
      </p:sp>
      <p:sp>
        <p:nvSpPr>
          <p:cNvPr id="9" name="Text 7"/>
          <p:cNvSpPr txBox="1"/>
          <p:nvPr/>
        </p:nvSpPr>
        <p:spPr>
          <a:xfrm>
            <a:off x="5638648" y="1325880"/>
            <a:ext cx="914400" cy="4754880"/>
          </a:xfrm>
          <a:prstGeom prst="rect">
            <a:avLst/>
          </a:prstGeom>
          <a:noFill/>
          <a:ln/>
        </p:spPr>
        <p:txBody>
          <a:bodyPr wrap="square" lIns="0" tIns="0" rIns="0" bIns="0" rtlCol="0" anchor="ctr">
            <a:normAutofit/>
          </a:bodyPr>
          <a:lstStyle/>
          <a:p>
            <a:pPr algn="ctr" indent="0" marL="0">
              <a:lnSpc>
                <a:spcPct val="100000"/>
              </a:lnSpc>
              <a:buNone/>
            </a:pPr>
            <a:r>
              <a:rPr lang="en-US" sz="4000" b="1" dirty="0">
                <a:solidFill>
                  <a:srgbClr val="8AAF8A"/>
                </a:solidFill>
                <a:latin typeface="DM Sans" pitchFamily="34" charset="0"/>
                <a:ea typeface="DM Sans" pitchFamily="34" charset="-122"/>
                <a:cs typeface="DM Sans" pitchFamily="34" charset="-120"/>
              </a:rPr>
              <a:t>→</a:t>
            </a:r>
            <a:endParaRPr lang="en-US" sz="4000" dirty="0"/>
          </a:p>
        </p:txBody>
      </p:sp>
      <p:sp>
        <p:nvSpPr>
          <p:cNvPr id="25" name="Slide Number Placeholder 0"/>
          <p:cNvSpPr>
            <a:spLocks noGrp="1"/>
          </p:cNvSpPr>
          <p:nvPr>
            <p:ph type="sldNum" sz="quarter" idx="4294967295"/>
          </p:nvPr>
        </p:nvSpPr>
        <p:spPr>
          <a:xfrm>
            <a:off x="11368735"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AA6A3"/>
                </a:solidFill>
                <a:latin typeface="DM Sans"/>
                <a:ea typeface="DM Sans"/>
                <a:cs typeface="DM Sans"/>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22960" y="640080"/>
            <a:ext cx="10545775" cy="365760"/>
          </a:xfrm>
          <a:prstGeom prst="rect">
            <a:avLst/>
          </a:prstGeom>
          <a:noFill/>
          <a:ln/>
        </p:spPr>
        <p:txBody>
          <a:bodyPr wrap="square" lIns="0" tIns="0" rIns="0" bIns="0" rtlCol="0" anchor="ctr">
            <a:normAutofit/>
          </a:bodyPr>
          <a:lstStyle/>
          <a:p>
            <a:pPr algn="l" indent="0" marL="0">
              <a:lnSpc>
                <a:spcPct val="100000"/>
              </a:lnSpc>
              <a:buNone/>
            </a:pPr>
            <a:r>
              <a:rPr lang="en-US" sz="1400" b="1" spc="400" kern="0" dirty="0">
                <a:solidFill>
                  <a:srgbClr val="8AAF8A"/>
                </a:solidFill>
                <a:latin typeface="DM Sans" pitchFamily="34" charset="0"/>
                <a:ea typeface="DM Sans" pitchFamily="34" charset="-122"/>
                <a:cs typeface="DM Sans" pitchFamily="34" charset="-120"/>
              </a:rPr>
              <a:t>MYTH 3</a:t>
            </a:r>
            <a:endParaRPr lang="en-US" sz="1400" dirty="0"/>
          </a:p>
        </p:txBody>
      </p:sp>
      <p:sp>
        <p:nvSpPr>
          <p:cNvPr id="3" name="Shape 1"/>
          <p:cNvSpPr/>
          <p:nvPr/>
        </p:nvSpPr>
        <p:spPr>
          <a:xfrm>
            <a:off x="822960" y="1325880"/>
            <a:ext cx="4815688" cy="4754880"/>
          </a:xfrm>
          <a:prstGeom prst="roundRect">
            <a:avLst>
              <a:gd name="adj" fmla="val 2308"/>
            </a:avLst>
          </a:prstGeom>
          <a:solidFill>
            <a:srgbClr val="EFEAE2"/>
          </a:solidFill>
          <a:ln w="12700">
            <a:solidFill>
              <a:srgbClr val="EFEAE2"/>
            </a:solidFill>
            <a:prstDash val="solid"/>
          </a:ln>
        </p:spPr>
      </p:sp>
      <p:sp>
        <p:nvSpPr>
          <p:cNvPr id="4" name="Text 2"/>
          <p:cNvSpPr txBox="1"/>
          <p:nvPr/>
        </p:nvSpPr>
        <p:spPr>
          <a:xfrm>
            <a:off x="1234440" y="1737360"/>
            <a:ext cx="3992728" cy="365760"/>
          </a:xfrm>
          <a:prstGeom prst="rect">
            <a:avLst/>
          </a:prstGeom>
          <a:noFill/>
          <a:ln/>
        </p:spPr>
        <p:txBody>
          <a:bodyPr wrap="square" lIns="0" tIns="0" rIns="0" bIns="0" rtlCol="0" anchor="t">
            <a:normAutofit/>
          </a:bodyPr>
          <a:lstStyle/>
          <a:p>
            <a:pPr algn="l" indent="0" marL="0">
              <a:lnSpc>
                <a:spcPct val="100000"/>
              </a:lnSpc>
              <a:buNone/>
            </a:pPr>
            <a:r>
              <a:rPr lang="en-US" sz="1300" b="1" spc="300" kern="0" dirty="0">
                <a:solidFill>
                  <a:srgbClr val="5E6B68"/>
                </a:solidFill>
                <a:latin typeface="DM Sans" pitchFamily="34" charset="0"/>
                <a:ea typeface="DM Sans" pitchFamily="34" charset="-122"/>
                <a:cs typeface="DM Sans" pitchFamily="34" charset="-120"/>
              </a:rPr>
              <a:t>WHAT MOST THINK</a:t>
            </a:r>
            <a:endParaRPr lang="en-US" sz="1300" dirty="0"/>
          </a:p>
        </p:txBody>
      </p:sp>
      <p:sp>
        <p:nvSpPr>
          <p:cNvPr id="5" name="Text 3"/>
          <p:cNvSpPr txBox="1"/>
          <p:nvPr/>
        </p:nvSpPr>
        <p:spPr>
          <a:xfrm>
            <a:off x="1234440" y="2331720"/>
            <a:ext cx="3992728" cy="3291840"/>
          </a:xfrm>
          <a:prstGeom prst="rect">
            <a:avLst/>
          </a:prstGeom>
          <a:noFill/>
          <a:ln/>
        </p:spPr>
        <p:txBody>
          <a:bodyPr wrap="square" lIns="0" tIns="0" rIns="0" bIns="0" rtlCol="0" anchor="ctr">
            <a:normAutofit/>
          </a:bodyPr>
          <a:lstStyle/>
          <a:p>
            <a:pPr algn="l" indent="0" marL="0">
              <a:lnSpc>
                <a:spcPct val="105000"/>
              </a:lnSpc>
              <a:buNone/>
            </a:pPr>
            <a:r>
              <a:rPr lang="en-US" sz="2900" b="1" dirty="0">
                <a:solidFill>
                  <a:srgbClr val="1B2B2B"/>
                </a:solidFill>
                <a:latin typeface="Cormorant Garamond" pitchFamily="34" charset="0"/>
                <a:ea typeface="Cormorant Garamond" pitchFamily="34" charset="-122"/>
                <a:cs typeface="Cormorant Garamond" pitchFamily="34" charset="-120"/>
              </a:rPr>
              <a:t>"I have to earn the right to ask for more."</a:t>
            </a:r>
            <a:endParaRPr lang="en-US" sz="2900" dirty="0"/>
          </a:p>
        </p:txBody>
      </p:sp>
      <p:sp>
        <p:nvSpPr>
          <p:cNvPr id="6" name="Shape 4"/>
          <p:cNvSpPr/>
          <p:nvPr/>
        </p:nvSpPr>
        <p:spPr>
          <a:xfrm>
            <a:off x="6553048" y="1325880"/>
            <a:ext cx="4815688" cy="4754880"/>
          </a:xfrm>
          <a:prstGeom prst="roundRect">
            <a:avLst>
              <a:gd name="adj" fmla="val 2308"/>
            </a:avLst>
          </a:prstGeom>
          <a:solidFill>
            <a:srgbClr val="1E4A4A"/>
          </a:solidFill>
          <a:ln w="12700">
            <a:solidFill>
              <a:srgbClr val="1E4A4A"/>
            </a:solidFill>
            <a:prstDash val="solid"/>
          </a:ln>
        </p:spPr>
      </p:sp>
      <p:sp>
        <p:nvSpPr>
          <p:cNvPr id="7" name="Text 5"/>
          <p:cNvSpPr txBox="1"/>
          <p:nvPr/>
        </p:nvSpPr>
        <p:spPr>
          <a:xfrm>
            <a:off x="6964528" y="1737360"/>
            <a:ext cx="3992728" cy="365760"/>
          </a:xfrm>
          <a:prstGeom prst="rect">
            <a:avLst/>
          </a:prstGeom>
          <a:noFill/>
          <a:ln/>
        </p:spPr>
        <p:txBody>
          <a:bodyPr wrap="square" lIns="0" tIns="0" rIns="0" bIns="0" rtlCol="0" anchor="t">
            <a:normAutofit/>
          </a:bodyPr>
          <a:lstStyle/>
          <a:p>
            <a:pPr algn="l" indent="0" marL="0">
              <a:lnSpc>
                <a:spcPct val="100000"/>
              </a:lnSpc>
              <a:buNone/>
            </a:pPr>
            <a:r>
              <a:rPr lang="en-US" sz="1300" b="1" spc="300" kern="0" dirty="0">
                <a:solidFill>
                  <a:srgbClr val="B7D3B7"/>
                </a:solidFill>
                <a:latin typeface="DM Sans" pitchFamily="34" charset="0"/>
                <a:ea typeface="DM Sans" pitchFamily="34" charset="-122"/>
                <a:cs typeface="DM Sans" pitchFamily="34" charset="-120"/>
              </a:rPr>
              <a:t>THE REALITY</a:t>
            </a:r>
            <a:endParaRPr lang="en-US" sz="1300" dirty="0"/>
          </a:p>
        </p:txBody>
      </p:sp>
      <p:sp>
        <p:nvSpPr>
          <p:cNvPr id="8" name="Text 6"/>
          <p:cNvSpPr txBox="1"/>
          <p:nvPr/>
        </p:nvSpPr>
        <p:spPr>
          <a:xfrm>
            <a:off x="6964528" y="2331720"/>
            <a:ext cx="3992728" cy="3291840"/>
          </a:xfrm>
          <a:prstGeom prst="rect">
            <a:avLst/>
          </a:prstGeom>
          <a:noFill/>
          <a:ln/>
        </p:spPr>
        <p:txBody>
          <a:bodyPr wrap="square" lIns="0" tIns="0" rIns="0" bIns="0" rtlCol="0" anchor="ctr">
            <a:normAutofit/>
          </a:bodyPr>
          <a:lstStyle/>
          <a:p>
            <a:pPr algn="l" indent="0" marL="0">
              <a:lnSpc>
                <a:spcPct val="105000"/>
              </a:lnSpc>
              <a:buNone/>
            </a:pPr>
            <a:r>
              <a:rPr lang="en-US" sz="2500" b="1" dirty="0">
                <a:solidFill>
                  <a:srgbClr val="FFFFFF"/>
                </a:solidFill>
                <a:latin typeface="Cormorant Garamond" pitchFamily="34" charset="0"/>
                <a:ea typeface="Cormorant Garamond" pitchFamily="34" charset="-122"/>
                <a:cs typeface="Cormorant Garamond" pitchFamily="34" charset="-120"/>
              </a:rPr>
              <a:t>You earned it years ago. You're waiting on a permission slip nobody is going to sign.</a:t>
            </a:r>
            <a:endParaRPr lang="en-US" sz="2500" dirty="0"/>
          </a:p>
        </p:txBody>
      </p:sp>
      <p:sp>
        <p:nvSpPr>
          <p:cNvPr id="9" name="Text 7"/>
          <p:cNvSpPr txBox="1"/>
          <p:nvPr/>
        </p:nvSpPr>
        <p:spPr>
          <a:xfrm>
            <a:off x="5638648" y="1325880"/>
            <a:ext cx="914400" cy="4754880"/>
          </a:xfrm>
          <a:prstGeom prst="rect">
            <a:avLst/>
          </a:prstGeom>
          <a:noFill/>
          <a:ln/>
        </p:spPr>
        <p:txBody>
          <a:bodyPr wrap="square" lIns="0" tIns="0" rIns="0" bIns="0" rtlCol="0" anchor="ctr">
            <a:normAutofit/>
          </a:bodyPr>
          <a:lstStyle/>
          <a:p>
            <a:pPr algn="ctr" indent="0" marL="0">
              <a:lnSpc>
                <a:spcPct val="100000"/>
              </a:lnSpc>
              <a:buNone/>
            </a:pPr>
            <a:r>
              <a:rPr lang="en-US" sz="4000" b="1" dirty="0">
                <a:solidFill>
                  <a:srgbClr val="8AAF8A"/>
                </a:solidFill>
                <a:latin typeface="DM Sans" pitchFamily="34" charset="0"/>
                <a:ea typeface="DM Sans" pitchFamily="34" charset="-122"/>
                <a:cs typeface="DM Sans" pitchFamily="34" charset="-120"/>
              </a:rPr>
              <a:t>→</a:t>
            </a:r>
            <a:endParaRPr lang="en-US" sz="4000" dirty="0"/>
          </a:p>
        </p:txBody>
      </p:sp>
      <p:sp>
        <p:nvSpPr>
          <p:cNvPr id="25" name="Slide Number Placeholder 0"/>
          <p:cNvSpPr>
            <a:spLocks noGrp="1"/>
          </p:cNvSpPr>
          <p:nvPr>
            <p:ph type="sldNum" sz="quarter" idx="4294967295"/>
          </p:nvPr>
        </p:nvSpPr>
        <p:spPr>
          <a:xfrm>
            <a:off x="11368735"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AA6A3"/>
                </a:solidFill>
                <a:latin typeface="DM Sans"/>
                <a:ea typeface="DM Sans"/>
                <a:cs typeface="DM Sans"/>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22960" y="640080"/>
            <a:ext cx="10545775" cy="365760"/>
          </a:xfrm>
          <a:prstGeom prst="rect">
            <a:avLst/>
          </a:prstGeom>
          <a:noFill/>
          <a:ln/>
        </p:spPr>
        <p:txBody>
          <a:bodyPr wrap="square" lIns="0" tIns="0" rIns="0" bIns="0" rtlCol="0" anchor="ctr">
            <a:normAutofit/>
          </a:bodyPr>
          <a:lstStyle/>
          <a:p>
            <a:pPr algn="l" indent="0" marL="0">
              <a:lnSpc>
                <a:spcPct val="100000"/>
              </a:lnSpc>
              <a:buNone/>
            </a:pPr>
            <a:r>
              <a:rPr lang="en-US" sz="1400" b="1" spc="400" kern="0" dirty="0">
                <a:solidFill>
                  <a:srgbClr val="8AAF8A"/>
                </a:solidFill>
                <a:latin typeface="DM Sans" pitchFamily="34" charset="0"/>
                <a:ea typeface="DM Sans" pitchFamily="34" charset="-122"/>
                <a:cs typeface="DM Sans" pitchFamily="34" charset="-120"/>
              </a:rPr>
              <a:t>MYTH 4</a:t>
            </a:r>
            <a:endParaRPr lang="en-US" sz="1400" dirty="0"/>
          </a:p>
        </p:txBody>
      </p:sp>
      <p:sp>
        <p:nvSpPr>
          <p:cNvPr id="3" name="Shape 1"/>
          <p:cNvSpPr/>
          <p:nvPr/>
        </p:nvSpPr>
        <p:spPr>
          <a:xfrm>
            <a:off x="822960" y="1325880"/>
            <a:ext cx="4815688" cy="4754880"/>
          </a:xfrm>
          <a:prstGeom prst="roundRect">
            <a:avLst>
              <a:gd name="adj" fmla="val 2308"/>
            </a:avLst>
          </a:prstGeom>
          <a:solidFill>
            <a:srgbClr val="EFEAE2"/>
          </a:solidFill>
          <a:ln w="12700">
            <a:solidFill>
              <a:srgbClr val="EFEAE2"/>
            </a:solidFill>
            <a:prstDash val="solid"/>
          </a:ln>
        </p:spPr>
      </p:sp>
      <p:sp>
        <p:nvSpPr>
          <p:cNvPr id="4" name="Text 2"/>
          <p:cNvSpPr txBox="1"/>
          <p:nvPr/>
        </p:nvSpPr>
        <p:spPr>
          <a:xfrm>
            <a:off x="1234440" y="1737360"/>
            <a:ext cx="3992728" cy="365760"/>
          </a:xfrm>
          <a:prstGeom prst="rect">
            <a:avLst/>
          </a:prstGeom>
          <a:noFill/>
          <a:ln/>
        </p:spPr>
        <p:txBody>
          <a:bodyPr wrap="square" lIns="0" tIns="0" rIns="0" bIns="0" rtlCol="0" anchor="t">
            <a:normAutofit/>
          </a:bodyPr>
          <a:lstStyle/>
          <a:p>
            <a:pPr algn="l" indent="0" marL="0">
              <a:lnSpc>
                <a:spcPct val="100000"/>
              </a:lnSpc>
              <a:buNone/>
            </a:pPr>
            <a:r>
              <a:rPr lang="en-US" sz="1300" b="1" spc="300" kern="0" dirty="0">
                <a:solidFill>
                  <a:srgbClr val="5E6B68"/>
                </a:solidFill>
                <a:latin typeface="DM Sans" pitchFamily="34" charset="0"/>
                <a:ea typeface="DM Sans" pitchFamily="34" charset="-122"/>
                <a:cs typeface="DM Sans" pitchFamily="34" charset="-120"/>
              </a:rPr>
              <a:t>WHAT MOST THINK</a:t>
            </a:r>
            <a:endParaRPr lang="en-US" sz="1300" dirty="0"/>
          </a:p>
        </p:txBody>
      </p:sp>
      <p:sp>
        <p:nvSpPr>
          <p:cNvPr id="5" name="Text 3"/>
          <p:cNvSpPr txBox="1"/>
          <p:nvPr/>
        </p:nvSpPr>
        <p:spPr>
          <a:xfrm>
            <a:off x="1234440" y="2331720"/>
            <a:ext cx="3992728" cy="3291840"/>
          </a:xfrm>
          <a:prstGeom prst="rect">
            <a:avLst/>
          </a:prstGeom>
          <a:noFill/>
          <a:ln/>
        </p:spPr>
        <p:txBody>
          <a:bodyPr wrap="square" lIns="0" tIns="0" rIns="0" bIns="0" rtlCol="0" anchor="ctr">
            <a:normAutofit/>
          </a:bodyPr>
          <a:lstStyle/>
          <a:p>
            <a:pPr algn="l" indent="0" marL="0">
              <a:lnSpc>
                <a:spcPct val="105000"/>
              </a:lnSpc>
              <a:buNone/>
            </a:pPr>
            <a:r>
              <a:rPr lang="en-US" sz="2900" b="1" dirty="0">
                <a:solidFill>
                  <a:srgbClr val="1B2B2B"/>
                </a:solidFill>
                <a:latin typeface="Cormorant Garamond" pitchFamily="34" charset="0"/>
                <a:ea typeface="Cormorant Garamond" pitchFamily="34" charset="-122"/>
                <a:cs typeface="Cormorant Garamond" pitchFamily="34" charset="-120"/>
              </a:rPr>
              <a:t>"Asking will make me look greedy, difficult or ungrateful."</a:t>
            </a:r>
            <a:endParaRPr lang="en-US" sz="2900" dirty="0"/>
          </a:p>
        </p:txBody>
      </p:sp>
      <p:sp>
        <p:nvSpPr>
          <p:cNvPr id="6" name="Shape 4"/>
          <p:cNvSpPr/>
          <p:nvPr/>
        </p:nvSpPr>
        <p:spPr>
          <a:xfrm>
            <a:off x="6553048" y="1325880"/>
            <a:ext cx="4815688" cy="4754880"/>
          </a:xfrm>
          <a:prstGeom prst="roundRect">
            <a:avLst>
              <a:gd name="adj" fmla="val 2308"/>
            </a:avLst>
          </a:prstGeom>
          <a:solidFill>
            <a:srgbClr val="1E4A4A"/>
          </a:solidFill>
          <a:ln w="12700">
            <a:solidFill>
              <a:srgbClr val="1E4A4A"/>
            </a:solidFill>
            <a:prstDash val="solid"/>
          </a:ln>
        </p:spPr>
      </p:sp>
      <p:sp>
        <p:nvSpPr>
          <p:cNvPr id="7" name="Text 5"/>
          <p:cNvSpPr txBox="1"/>
          <p:nvPr/>
        </p:nvSpPr>
        <p:spPr>
          <a:xfrm>
            <a:off x="6964528" y="1737360"/>
            <a:ext cx="3992728" cy="365760"/>
          </a:xfrm>
          <a:prstGeom prst="rect">
            <a:avLst/>
          </a:prstGeom>
          <a:noFill/>
          <a:ln/>
        </p:spPr>
        <p:txBody>
          <a:bodyPr wrap="square" lIns="0" tIns="0" rIns="0" bIns="0" rtlCol="0" anchor="t">
            <a:normAutofit/>
          </a:bodyPr>
          <a:lstStyle/>
          <a:p>
            <a:pPr algn="l" indent="0" marL="0">
              <a:lnSpc>
                <a:spcPct val="100000"/>
              </a:lnSpc>
              <a:buNone/>
            </a:pPr>
            <a:r>
              <a:rPr lang="en-US" sz="1300" b="1" spc="300" kern="0" dirty="0">
                <a:solidFill>
                  <a:srgbClr val="B7D3B7"/>
                </a:solidFill>
                <a:latin typeface="DM Sans" pitchFamily="34" charset="0"/>
                <a:ea typeface="DM Sans" pitchFamily="34" charset="-122"/>
                <a:cs typeface="DM Sans" pitchFamily="34" charset="-120"/>
              </a:rPr>
              <a:t>THE REALITY</a:t>
            </a:r>
            <a:endParaRPr lang="en-US" sz="1300" dirty="0"/>
          </a:p>
        </p:txBody>
      </p:sp>
      <p:sp>
        <p:nvSpPr>
          <p:cNvPr id="8" name="Text 6"/>
          <p:cNvSpPr txBox="1"/>
          <p:nvPr/>
        </p:nvSpPr>
        <p:spPr>
          <a:xfrm>
            <a:off x="6964528" y="2331720"/>
            <a:ext cx="3992728" cy="3291840"/>
          </a:xfrm>
          <a:prstGeom prst="rect">
            <a:avLst/>
          </a:prstGeom>
          <a:noFill/>
          <a:ln/>
        </p:spPr>
        <p:txBody>
          <a:bodyPr wrap="square" lIns="0" tIns="0" rIns="0" bIns="0" rtlCol="0" anchor="ctr">
            <a:normAutofit/>
          </a:bodyPr>
          <a:lstStyle/>
          <a:p>
            <a:pPr algn="l" indent="0" marL="0">
              <a:lnSpc>
                <a:spcPct val="105000"/>
              </a:lnSpc>
              <a:buNone/>
            </a:pPr>
            <a:r>
              <a:rPr lang="en-US" sz="2200" b="1" dirty="0">
                <a:solidFill>
                  <a:srgbClr val="FFFFFF"/>
                </a:solidFill>
                <a:latin typeface="Cormorant Garamond" pitchFamily="34" charset="0"/>
                <a:ea typeface="Cormorant Garamond" pitchFamily="34" charset="-122"/>
                <a:cs typeface="Cormorant Garamond" pitchFamily="34" charset="-120"/>
              </a:rPr>
              <a:t>Asking to be paid for the value you create is professional. The men down the hall do it behind closed doors.</a:t>
            </a:r>
            <a:endParaRPr lang="en-US" sz="2200" dirty="0"/>
          </a:p>
        </p:txBody>
      </p:sp>
      <p:sp>
        <p:nvSpPr>
          <p:cNvPr id="9" name="Text 7"/>
          <p:cNvSpPr txBox="1"/>
          <p:nvPr/>
        </p:nvSpPr>
        <p:spPr>
          <a:xfrm>
            <a:off x="5638648" y="1325880"/>
            <a:ext cx="914400" cy="4754880"/>
          </a:xfrm>
          <a:prstGeom prst="rect">
            <a:avLst/>
          </a:prstGeom>
          <a:noFill/>
          <a:ln/>
        </p:spPr>
        <p:txBody>
          <a:bodyPr wrap="square" lIns="0" tIns="0" rIns="0" bIns="0" rtlCol="0" anchor="ctr">
            <a:normAutofit/>
          </a:bodyPr>
          <a:lstStyle/>
          <a:p>
            <a:pPr algn="ctr" indent="0" marL="0">
              <a:lnSpc>
                <a:spcPct val="100000"/>
              </a:lnSpc>
              <a:buNone/>
            </a:pPr>
            <a:r>
              <a:rPr lang="en-US" sz="4000" b="1" dirty="0">
                <a:solidFill>
                  <a:srgbClr val="8AAF8A"/>
                </a:solidFill>
                <a:latin typeface="DM Sans" pitchFamily="34" charset="0"/>
                <a:ea typeface="DM Sans" pitchFamily="34" charset="-122"/>
                <a:cs typeface="DM Sans" pitchFamily="34" charset="-120"/>
              </a:rPr>
              <a:t>→</a:t>
            </a:r>
            <a:endParaRPr lang="en-US" sz="4000" dirty="0"/>
          </a:p>
        </p:txBody>
      </p:sp>
      <p:sp>
        <p:nvSpPr>
          <p:cNvPr id="25" name="Slide Number Placeholder 0"/>
          <p:cNvSpPr>
            <a:spLocks noGrp="1"/>
          </p:cNvSpPr>
          <p:nvPr>
            <p:ph type="sldNum" sz="quarter" idx="4294967295"/>
          </p:nvPr>
        </p:nvSpPr>
        <p:spPr>
          <a:xfrm>
            <a:off x="11368735"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AA6A3"/>
                </a:solidFill>
                <a:latin typeface="DM Sans"/>
                <a:ea typeface="DM Sans"/>
                <a:cs typeface="DM Sans"/>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22960" y="640080"/>
            <a:ext cx="10545775" cy="365760"/>
          </a:xfrm>
          <a:prstGeom prst="rect">
            <a:avLst/>
          </a:prstGeom>
          <a:noFill/>
          <a:ln/>
        </p:spPr>
        <p:txBody>
          <a:bodyPr wrap="square" lIns="0" tIns="0" rIns="0" bIns="0" rtlCol="0" anchor="ctr">
            <a:normAutofit/>
          </a:bodyPr>
          <a:lstStyle/>
          <a:p>
            <a:pPr algn="l" indent="0" marL="0">
              <a:lnSpc>
                <a:spcPct val="100000"/>
              </a:lnSpc>
              <a:buNone/>
            </a:pPr>
            <a:r>
              <a:rPr lang="en-US" sz="1400" b="1" spc="400" kern="0" dirty="0">
                <a:solidFill>
                  <a:srgbClr val="8AAF8A"/>
                </a:solidFill>
                <a:latin typeface="DM Sans" pitchFamily="34" charset="0"/>
                <a:ea typeface="DM Sans" pitchFamily="34" charset="-122"/>
                <a:cs typeface="DM Sans" pitchFamily="34" charset="-120"/>
              </a:rPr>
              <a:t>MYTH 5</a:t>
            </a:r>
            <a:endParaRPr lang="en-US" sz="1400" dirty="0"/>
          </a:p>
        </p:txBody>
      </p:sp>
      <p:sp>
        <p:nvSpPr>
          <p:cNvPr id="3" name="Shape 1"/>
          <p:cNvSpPr/>
          <p:nvPr/>
        </p:nvSpPr>
        <p:spPr>
          <a:xfrm>
            <a:off x="822960" y="1325880"/>
            <a:ext cx="4815688" cy="4754880"/>
          </a:xfrm>
          <a:prstGeom prst="roundRect">
            <a:avLst>
              <a:gd name="adj" fmla="val 2308"/>
            </a:avLst>
          </a:prstGeom>
          <a:solidFill>
            <a:srgbClr val="EFEAE2"/>
          </a:solidFill>
          <a:ln w="12700">
            <a:solidFill>
              <a:srgbClr val="EFEAE2"/>
            </a:solidFill>
            <a:prstDash val="solid"/>
          </a:ln>
        </p:spPr>
      </p:sp>
      <p:sp>
        <p:nvSpPr>
          <p:cNvPr id="4" name="Text 2"/>
          <p:cNvSpPr txBox="1"/>
          <p:nvPr/>
        </p:nvSpPr>
        <p:spPr>
          <a:xfrm>
            <a:off x="1234440" y="1737360"/>
            <a:ext cx="3992728" cy="365760"/>
          </a:xfrm>
          <a:prstGeom prst="rect">
            <a:avLst/>
          </a:prstGeom>
          <a:noFill/>
          <a:ln/>
        </p:spPr>
        <p:txBody>
          <a:bodyPr wrap="square" lIns="0" tIns="0" rIns="0" bIns="0" rtlCol="0" anchor="t">
            <a:normAutofit/>
          </a:bodyPr>
          <a:lstStyle/>
          <a:p>
            <a:pPr algn="l" indent="0" marL="0">
              <a:lnSpc>
                <a:spcPct val="100000"/>
              </a:lnSpc>
              <a:buNone/>
            </a:pPr>
            <a:r>
              <a:rPr lang="en-US" sz="1300" b="1" spc="300" kern="0" dirty="0">
                <a:solidFill>
                  <a:srgbClr val="5E6B68"/>
                </a:solidFill>
                <a:latin typeface="DM Sans" pitchFamily="34" charset="0"/>
                <a:ea typeface="DM Sans" pitchFamily="34" charset="-122"/>
                <a:cs typeface="DM Sans" pitchFamily="34" charset="-120"/>
              </a:rPr>
              <a:t>WHAT MOST THINK</a:t>
            </a:r>
            <a:endParaRPr lang="en-US" sz="1300" dirty="0"/>
          </a:p>
        </p:txBody>
      </p:sp>
      <p:sp>
        <p:nvSpPr>
          <p:cNvPr id="5" name="Text 3"/>
          <p:cNvSpPr txBox="1"/>
          <p:nvPr/>
        </p:nvSpPr>
        <p:spPr>
          <a:xfrm>
            <a:off x="1234440" y="2331720"/>
            <a:ext cx="3992728" cy="3291840"/>
          </a:xfrm>
          <a:prstGeom prst="rect">
            <a:avLst/>
          </a:prstGeom>
          <a:noFill/>
          <a:ln/>
        </p:spPr>
        <p:txBody>
          <a:bodyPr wrap="square" lIns="0" tIns="0" rIns="0" bIns="0" rtlCol="0" anchor="ctr">
            <a:normAutofit/>
          </a:bodyPr>
          <a:lstStyle/>
          <a:p>
            <a:pPr algn="l" indent="0" marL="0">
              <a:lnSpc>
                <a:spcPct val="105000"/>
              </a:lnSpc>
              <a:buNone/>
            </a:pPr>
            <a:r>
              <a:rPr lang="en-US" sz="2900" b="1" dirty="0">
                <a:solidFill>
                  <a:srgbClr val="1B2B2B"/>
                </a:solidFill>
                <a:latin typeface="Cormorant Garamond" pitchFamily="34" charset="0"/>
                <a:ea typeface="Cormorant Garamond" pitchFamily="34" charset="-122"/>
                <a:cs typeface="Cormorant Garamond" pitchFamily="34" charset="-120"/>
              </a:rPr>
              <a:t>"The right script will fix this."</a:t>
            </a:r>
            <a:endParaRPr lang="en-US" sz="2900" dirty="0"/>
          </a:p>
        </p:txBody>
      </p:sp>
      <p:sp>
        <p:nvSpPr>
          <p:cNvPr id="6" name="Shape 4"/>
          <p:cNvSpPr/>
          <p:nvPr/>
        </p:nvSpPr>
        <p:spPr>
          <a:xfrm>
            <a:off x="6553048" y="1325880"/>
            <a:ext cx="4815688" cy="4754880"/>
          </a:xfrm>
          <a:prstGeom prst="roundRect">
            <a:avLst>
              <a:gd name="adj" fmla="val 2308"/>
            </a:avLst>
          </a:prstGeom>
          <a:solidFill>
            <a:srgbClr val="1E4A4A"/>
          </a:solidFill>
          <a:ln w="12700">
            <a:solidFill>
              <a:srgbClr val="1E4A4A"/>
            </a:solidFill>
            <a:prstDash val="solid"/>
          </a:ln>
        </p:spPr>
      </p:sp>
      <p:sp>
        <p:nvSpPr>
          <p:cNvPr id="7" name="Text 5"/>
          <p:cNvSpPr txBox="1"/>
          <p:nvPr/>
        </p:nvSpPr>
        <p:spPr>
          <a:xfrm>
            <a:off x="6964528" y="1737360"/>
            <a:ext cx="3992728" cy="365760"/>
          </a:xfrm>
          <a:prstGeom prst="rect">
            <a:avLst/>
          </a:prstGeom>
          <a:noFill/>
          <a:ln/>
        </p:spPr>
        <p:txBody>
          <a:bodyPr wrap="square" lIns="0" tIns="0" rIns="0" bIns="0" rtlCol="0" anchor="t">
            <a:normAutofit/>
          </a:bodyPr>
          <a:lstStyle/>
          <a:p>
            <a:pPr algn="l" indent="0" marL="0">
              <a:lnSpc>
                <a:spcPct val="100000"/>
              </a:lnSpc>
              <a:buNone/>
            </a:pPr>
            <a:r>
              <a:rPr lang="en-US" sz="1300" b="1" spc="300" kern="0" dirty="0">
                <a:solidFill>
                  <a:srgbClr val="B7D3B7"/>
                </a:solidFill>
                <a:latin typeface="DM Sans" pitchFamily="34" charset="0"/>
                <a:ea typeface="DM Sans" pitchFamily="34" charset="-122"/>
                <a:cs typeface="DM Sans" pitchFamily="34" charset="-120"/>
              </a:rPr>
              <a:t>THE REALITY</a:t>
            </a:r>
            <a:endParaRPr lang="en-US" sz="1300" dirty="0"/>
          </a:p>
        </p:txBody>
      </p:sp>
      <p:sp>
        <p:nvSpPr>
          <p:cNvPr id="8" name="Text 6"/>
          <p:cNvSpPr txBox="1"/>
          <p:nvPr/>
        </p:nvSpPr>
        <p:spPr>
          <a:xfrm>
            <a:off x="6964528" y="2331720"/>
            <a:ext cx="3992728" cy="3291840"/>
          </a:xfrm>
          <a:prstGeom prst="rect">
            <a:avLst/>
          </a:prstGeom>
          <a:noFill/>
          <a:ln/>
        </p:spPr>
        <p:txBody>
          <a:bodyPr wrap="square" lIns="0" tIns="0" rIns="0" bIns="0" rtlCol="0" anchor="ctr">
            <a:normAutofit/>
          </a:bodyPr>
          <a:lstStyle/>
          <a:p>
            <a:pPr algn="l" indent="0" marL="0">
              <a:lnSpc>
                <a:spcPct val="105000"/>
              </a:lnSpc>
              <a:buNone/>
            </a:pPr>
            <a:r>
              <a:rPr lang="en-US" sz="2200" b="1" dirty="0">
                <a:solidFill>
                  <a:srgbClr val="FFFFFF"/>
                </a:solidFill>
                <a:latin typeface="Cormorant Garamond" pitchFamily="34" charset="0"/>
                <a:ea typeface="Cormorant Garamond" pitchFamily="34" charset="-122"/>
                <a:cs typeface="Cormorant Garamond" pitchFamily="34" charset="-120"/>
              </a:rPr>
              <a:t>People buy the woman before they buy the words. The room hears doubt before it hears the script.</a:t>
            </a:r>
            <a:endParaRPr lang="en-US" sz="2200" dirty="0"/>
          </a:p>
        </p:txBody>
      </p:sp>
      <p:sp>
        <p:nvSpPr>
          <p:cNvPr id="9" name="Text 7"/>
          <p:cNvSpPr txBox="1"/>
          <p:nvPr/>
        </p:nvSpPr>
        <p:spPr>
          <a:xfrm>
            <a:off x="5638648" y="1325880"/>
            <a:ext cx="914400" cy="4754880"/>
          </a:xfrm>
          <a:prstGeom prst="rect">
            <a:avLst/>
          </a:prstGeom>
          <a:noFill/>
          <a:ln/>
        </p:spPr>
        <p:txBody>
          <a:bodyPr wrap="square" lIns="0" tIns="0" rIns="0" bIns="0" rtlCol="0" anchor="ctr">
            <a:normAutofit/>
          </a:bodyPr>
          <a:lstStyle/>
          <a:p>
            <a:pPr algn="ctr" indent="0" marL="0">
              <a:lnSpc>
                <a:spcPct val="100000"/>
              </a:lnSpc>
              <a:buNone/>
            </a:pPr>
            <a:r>
              <a:rPr lang="en-US" sz="4000" b="1" dirty="0">
                <a:solidFill>
                  <a:srgbClr val="8AAF8A"/>
                </a:solidFill>
                <a:latin typeface="DM Sans" pitchFamily="34" charset="0"/>
                <a:ea typeface="DM Sans" pitchFamily="34" charset="-122"/>
                <a:cs typeface="DM Sans" pitchFamily="34" charset="-120"/>
              </a:rPr>
              <a:t>→</a:t>
            </a:r>
            <a:endParaRPr lang="en-US" sz="4000" dirty="0"/>
          </a:p>
        </p:txBody>
      </p:sp>
      <p:sp>
        <p:nvSpPr>
          <p:cNvPr id="25" name="Slide Number Placeholder 0"/>
          <p:cNvSpPr>
            <a:spLocks noGrp="1"/>
          </p:cNvSpPr>
          <p:nvPr>
            <p:ph type="sldNum" sz="quarter" idx="4294967295"/>
          </p:nvPr>
        </p:nvSpPr>
        <p:spPr>
          <a:xfrm>
            <a:off x="11368735"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AA6A3"/>
                </a:solidFill>
                <a:latin typeface="DM Sans"/>
                <a:ea typeface="DM Sans"/>
                <a:cs typeface="DM Sans"/>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AF5EE"/>
        </a:solidFill>
      </p:bgPr>
    </p:bg>
    <p:spTree>
      <p:nvGrpSpPr>
        <p:cNvPr id="1" name=""/>
        <p:cNvGrpSpPr/>
        <p:nvPr/>
      </p:nvGrpSpPr>
      <p:grpSpPr>
        <a:xfrm>
          <a:off x="0" y="0"/>
          <a:ext cx="0" cy="0"/>
          <a:chOff x="0" y="0"/>
          <a:chExt cx="0" cy="0"/>
        </a:xfrm>
      </p:grpSpPr>
      <p:sp>
        <p:nvSpPr>
          <p:cNvPr id="2" name="Text 0"/>
          <p:cNvSpPr txBox="1"/>
          <p:nvPr/>
        </p:nvSpPr>
        <p:spPr>
          <a:xfrm>
            <a:off x="822960" y="731520"/>
            <a:ext cx="10545775" cy="365760"/>
          </a:xfrm>
          <a:prstGeom prst="rect">
            <a:avLst/>
          </a:prstGeom>
          <a:noFill/>
          <a:ln/>
        </p:spPr>
        <p:txBody>
          <a:bodyPr wrap="square" lIns="0" tIns="0" rIns="0" bIns="0" rtlCol="0" anchor="ctr">
            <a:normAutofit/>
          </a:bodyPr>
          <a:lstStyle/>
          <a:p>
            <a:pPr algn="l" indent="0" marL="0">
              <a:lnSpc>
                <a:spcPct val="100000"/>
              </a:lnSpc>
              <a:buNone/>
            </a:pPr>
            <a:r>
              <a:rPr lang="en-US" sz="1400" b="1" spc="400" kern="0" dirty="0">
                <a:solidFill>
                  <a:srgbClr val="8AAF8A"/>
                </a:solidFill>
                <a:latin typeface="DM Sans" pitchFamily="34" charset="0"/>
                <a:ea typeface="DM Sans" pitchFamily="34" charset="-122"/>
                <a:cs typeface="DM Sans" pitchFamily="34" charset="-120"/>
              </a:rPr>
              <a:t>HOW THE GAP SHOWS UP</a:t>
            </a:r>
            <a:endParaRPr lang="en-US" sz="1400" dirty="0"/>
          </a:p>
        </p:txBody>
      </p:sp>
      <p:sp>
        <p:nvSpPr>
          <p:cNvPr id="3" name="Shape 1"/>
          <p:cNvSpPr/>
          <p:nvPr/>
        </p:nvSpPr>
        <p:spPr>
          <a:xfrm>
            <a:off x="868680" y="1755648"/>
            <a:ext cx="237744" cy="237744"/>
          </a:xfrm>
          <a:prstGeom prst="ellipse">
            <a:avLst/>
          </a:prstGeom>
          <a:solidFill>
            <a:srgbClr val="8AAF8A"/>
          </a:solidFill>
          <a:ln w="12700">
            <a:solidFill>
              <a:srgbClr val="8AAF8A"/>
            </a:solidFill>
            <a:prstDash val="solid"/>
          </a:ln>
        </p:spPr>
      </p:sp>
      <p:sp>
        <p:nvSpPr>
          <p:cNvPr id="4" name="Text 2"/>
          <p:cNvSpPr txBox="1"/>
          <p:nvPr/>
        </p:nvSpPr>
        <p:spPr>
          <a:xfrm>
            <a:off x="1463040" y="1508760"/>
            <a:ext cx="9875520" cy="731520"/>
          </a:xfrm>
          <a:prstGeom prst="rect">
            <a:avLst/>
          </a:prstGeom>
          <a:noFill/>
          <a:ln/>
        </p:spPr>
        <p:txBody>
          <a:bodyPr wrap="square" lIns="0" tIns="0" rIns="0" bIns="0" rtlCol="0" anchor="ctr">
            <a:normAutofit/>
          </a:bodyPr>
          <a:lstStyle/>
          <a:p>
            <a:pPr algn="l" indent="0" marL="0">
              <a:lnSpc>
                <a:spcPct val="100000"/>
              </a:lnSpc>
              <a:buNone/>
            </a:pPr>
            <a:r>
              <a:rPr lang="en-US" sz="3000" b="1" dirty="0">
                <a:solidFill>
                  <a:srgbClr val="1B2B2B"/>
                </a:solidFill>
                <a:latin typeface="Cormorant Garamond" pitchFamily="34" charset="0"/>
                <a:ea typeface="Cormorant Garamond" pitchFamily="34" charset="-122"/>
                <a:cs typeface="Cormorant Garamond" pitchFamily="34" charset="-120"/>
              </a:rPr>
              <a:t>You minimize what you've actually accomplished</a:t>
            </a:r>
            <a:endParaRPr lang="en-US" sz="3000" dirty="0"/>
          </a:p>
        </p:txBody>
      </p:sp>
      <p:sp>
        <p:nvSpPr>
          <p:cNvPr id="5" name="Shape 3"/>
          <p:cNvSpPr/>
          <p:nvPr/>
        </p:nvSpPr>
        <p:spPr>
          <a:xfrm>
            <a:off x="868680" y="2852928"/>
            <a:ext cx="237744" cy="237744"/>
          </a:xfrm>
          <a:prstGeom prst="ellipse">
            <a:avLst/>
          </a:prstGeom>
          <a:solidFill>
            <a:srgbClr val="8AAF8A"/>
          </a:solidFill>
          <a:ln w="12700">
            <a:solidFill>
              <a:srgbClr val="8AAF8A"/>
            </a:solidFill>
            <a:prstDash val="solid"/>
          </a:ln>
        </p:spPr>
      </p:sp>
      <p:sp>
        <p:nvSpPr>
          <p:cNvPr id="6" name="Text 4"/>
          <p:cNvSpPr txBox="1"/>
          <p:nvPr/>
        </p:nvSpPr>
        <p:spPr>
          <a:xfrm>
            <a:off x="1463040" y="2606040"/>
            <a:ext cx="9875520" cy="731520"/>
          </a:xfrm>
          <a:prstGeom prst="rect">
            <a:avLst/>
          </a:prstGeom>
          <a:noFill/>
          <a:ln/>
        </p:spPr>
        <p:txBody>
          <a:bodyPr wrap="square" lIns="0" tIns="0" rIns="0" bIns="0" rtlCol="0" anchor="ctr">
            <a:normAutofit/>
          </a:bodyPr>
          <a:lstStyle/>
          <a:p>
            <a:pPr algn="l" indent="0" marL="0">
              <a:lnSpc>
                <a:spcPct val="100000"/>
              </a:lnSpc>
              <a:buNone/>
            </a:pPr>
            <a:r>
              <a:rPr lang="en-US" sz="3000" b="1" dirty="0">
                <a:solidFill>
                  <a:srgbClr val="1B2B2B"/>
                </a:solidFill>
                <a:latin typeface="Cormorant Garamond" pitchFamily="34" charset="0"/>
                <a:ea typeface="Cormorant Garamond" pitchFamily="34" charset="-122"/>
                <a:cs typeface="Cormorant Garamond" pitchFamily="34" charset="-120"/>
              </a:rPr>
              <a:t>You hesitate to ask for more</a:t>
            </a:r>
            <a:endParaRPr lang="en-US" sz="3000" dirty="0"/>
          </a:p>
        </p:txBody>
      </p:sp>
      <p:sp>
        <p:nvSpPr>
          <p:cNvPr id="7" name="Shape 5"/>
          <p:cNvSpPr/>
          <p:nvPr/>
        </p:nvSpPr>
        <p:spPr>
          <a:xfrm>
            <a:off x="868680" y="3950208"/>
            <a:ext cx="237744" cy="237744"/>
          </a:xfrm>
          <a:prstGeom prst="ellipse">
            <a:avLst/>
          </a:prstGeom>
          <a:solidFill>
            <a:srgbClr val="8AAF8A"/>
          </a:solidFill>
          <a:ln w="12700">
            <a:solidFill>
              <a:srgbClr val="8AAF8A"/>
            </a:solidFill>
            <a:prstDash val="solid"/>
          </a:ln>
        </p:spPr>
      </p:sp>
      <p:sp>
        <p:nvSpPr>
          <p:cNvPr id="8" name="Text 6"/>
          <p:cNvSpPr txBox="1"/>
          <p:nvPr/>
        </p:nvSpPr>
        <p:spPr>
          <a:xfrm>
            <a:off x="1463040" y="3703320"/>
            <a:ext cx="9875520" cy="731520"/>
          </a:xfrm>
          <a:prstGeom prst="rect">
            <a:avLst/>
          </a:prstGeom>
          <a:noFill/>
          <a:ln/>
        </p:spPr>
        <p:txBody>
          <a:bodyPr wrap="square" lIns="0" tIns="0" rIns="0" bIns="0" rtlCol="0" anchor="ctr">
            <a:normAutofit/>
          </a:bodyPr>
          <a:lstStyle/>
          <a:p>
            <a:pPr algn="l" indent="0" marL="0">
              <a:lnSpc>
                <a:spcPct val="100000"/>
              </a:lnSpc>
              <a:buNone/>
            </a:pPr>
            <a:r>
              <a:rPr lang="en-US" sz="3000" b="1" dirty="0">
                <a:solidFill>
                  <a:srgbClr val="1B2B2B"/>
                </a:solidFill>
                <a:latin typeface="Cormorant Garamond" pitchFamily="34" charset="0"/>
                <a:ea typeface="Cormorant Garamond" pitchFamily="34" charset="-122"/>
                <a:cs typeface="Cormorant Garamond" pitchFamily="34" charset="-120"/>
              </a:rPr>
              <a:t>You over-explain yourself</a:t>
            </a:r>
            <a:endParaRPr lang="en-US" sz="3000" dirty="0"/>
          </a:p>
        </p:txBody>
      </p:sp>
      <p:sp>
        <p:nvSpPr>
          <p:cNvPr id="9" name="Shape 7"/>
          <p:cNvSpPr/>
          <p:nvPr/>
        </p:nvSpPr>
        <p:spPr>
          <a:xfrm>
            <a:off x="868680" y="5047488"/>
            <a:ext cx="237744" cy="237744"/>
          </a:xfrm>
          <a:prstGeom prst="ellipse">
            <a:avLst/>
          </a:prstGeom>
          <a:solidFill>
            <a:srgbClr val="8AAF8A"/>
          </a:solidFill>
          <a:ln w="12700">
            <a:solidFill>
              <a:srgbClr val="8AAF8A"/>
            </a:solidFill>
            <a:prstDash val="solid"/>
          </a:ln>
        </p:spPr>
      </p:sp>
      <p:sp>
        <p:nvSpPr>
          <p:cNvPr id="10" name="Text 8"/>
          <p:cNvSpPr txBox="1"/>
          <p:nvPr/>
        </p:nvSpPr>
        <p:spPr>
          <a:xfrm>
            <a:off x="1463040" y="4800600"/>
            <a:ext cx="9875520" cy="731520"/>
          </a:xfrm>
          <a:prstGeom prst="rect">
            <a:avLst/>
          </a:prstGeom>
          <a:noFill/>
          <a:ln/>
        </p:spPr>
        <p:txBody>
          <a:bodyPr wrap="square" lIns="0" tIns="0" rIns="0" bIns="0" rtlCol="0" anchor="ctr">
            <a:normAutofit/>
          </a:bodyPr>
          <a:lstStyle/>
          <a:p>
            <a:pPr algn="l" indent="0" marL="0">
              <a:lnSpc>
                <a:spcPct val="100000"/>
              </a:lnSpc>
              <a:buNone/>
            </a:pPr>
            <a:r>
              <a:rPr lang="en-US" sz="3000" b="1" dirty="0">
                <a:solidFill>
                  <a:srgbClr val="1B2B2B"/>
                </a:solidFill>
                <a:latin typeface="Cormorant Garamond" pitchFamily="34" charset="0"/>
                <a:ea typeface="Cormorant Garamond" pitchFamily="34" charset="-122"/>
                <a:cs typeface="Cormorant Garamond" pitchFamily="34" charset="-120"/>
              </a:rPr>
              <a:t>You avoid the conversations you know you need to have</a:t>
            </a:r>
            <a:endParaRPr lang="en-US" sz="3000" dirty="0"/>
          </a:p>
        </p:txBody>
      </p:sp>
      <p:sp>
        <p:nvSpPr>
          <p:cNvPr id="25" name="Slide Number Placeholder 0"/>
          <p:cNvSpPr>
            <a:spLocks noGrp="1"/>
          </p:cNvSpPr>
          <p:nvPr>
            <p:ph type="sldNum" sz="quarter" idx="4294967295"/>
          </p:nvPr>
        </p:nvSpPr>
        <p:spPr>
          <a:xfrm>
            <a:off x="11368735"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AA6A3"/>
                </a:solidFill>
                <a:latin typeface="DM Sans"/>
                <a:ea typeface="DM Sans"/>
                <a:cs typeface="DM Sans"/>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1E4A4A"/>
        </a:solidFill>
      </p:bgPr>
    </p:bg>
    <p:spTree>
      <p:nvGrpSpPr>
        <p:cNvPr id="1" name=""/>
        <p:cNvGrpSpPr/>
        <p:nvPr/>
      </p:nvGrpSpPr>
      <p:grpSpPr>
        <a:xfrm>
          <a:off x="0" y="0"/>
          <a:ext cx="0" cy="0"/>
          <a:chOff x="0" y="0"/>
          <a:chExt cx="0" cy="0"/>
        </a:xfrm>
      </p:grpSpPr>
      <p:sp>
        <p:nvSpPr>
          <p:cNvPr id="2" name="Text 0"/>
          <p:cNvSpPr txBox="1"/>
          <p:nvPr/>
        </p:nvSpPr>
        <p:spPr>
          <a:xfrm>
            <a:off x="822960" y="1188720"/>
            <a:ext cx="10545775" cy="365760"/>
          </a:xfrm>
          <a:prstGeom prst="rect">
            <a:avLst/>
          </a:prstGeom>
          <a:noFill/>
          <a:ln/>
        </p:spPr>
        <p:txBody>
          <a:bodyPr wrap="square" lIns="0" tIns="0" rIns="0" bIns="0" rtlCol="0" anchor="ctr">
            <a:normAutofit/>
          </a:bodyPr>
          <a:lstStyle/>
          <a:p>
            <a:pPr algn="l" indent="0" marL="0">
              <a:lnSpc>
                <a:spcPct val="100000"/>
              </a:lnSpc>
              <a:buNone/>
            </a:pPr>
            <a:r>
              <a:rPr lang="en-US" sz="1400" b="1" spc="400" kern="0" dirty="0">
                <a:solidFill>
                  <a:srgbClr val="8AAF8A"/>
                </a:solidFill>
                <a:latin typeface="DM Sans" pitchFamily="34" charset="0"/>
                <a:ea typeface="DM Sans" pitchFamily="34" charset="-122"/>
                <a:cs typeface="DM Sans" pitchFamily="34" charset="-120"/>
              </a:rPr>
              <a:t>AND IT FOLLOWS YOU HOME</a:t>
            </a:r>
            <a:endParaRPr lang="en-US" sz="1400" dirty="0"/>
          </a:p>
        </p:txBody>
      </p:sp>
      <p:sp>
        <p:nvSpPr>
          <p:cNvPr id="3" name="Text 1"/>
          <p:cNvSpPr txBox="1"/>
          <p:nvPr/>
        </p:nvSpPr>
        <p:spPr>
          <a:xfrm>
            <a:off x="822960" y="1691640"/>
            <a:ext cx="10180015" cy="2651760"/>
          </a:xfrm>
          <a:prstGeom prst="rect">
            <a:avLst/>
          </a:prstGeom>
          <a:noFill/>
          <a:ln/>
        </p:spPr>
        <p:txBody>
          <a:bodyPr wrap="square" lIns="0" tIns="0" rIns="0" bIns="0" rtlCol="0" anchor="t">
            <a:normAutofit/>
          </a:bodyPr>
          <a:lstStyle/>
          <a:p>
            <a:pPr algn="l" indent="0" marL="0">
              <a:lnSpc>
                <a:spcPct val="95000"/>
              </a:lnSpc>
              <a:buNone/>
            </a:pPr>
            <a:r>
              <a:rPr lang="en-US" sz="5000" b="1" dirty="0">
                <a:solidFill>
                  <a:srgbClr val="FFFFFF"/>
                </a:solidFill>
                <a:latin typeface="Cormorant Garamond" pitchFamily="34" charset="0"/>
                <a:ea typeface="Cormorant Garamond" pitchFamily="34" charset="-122"/>
                <a:cs typeface="Cormorant Garamond" pitchFamily="34" charset="-120"/>
              </a:rPr>
              <a:t>It doesn't </a:t>
            </a:r>
            <a:pPr algn="l" indent="0" marL="0">
              <a:lnSpc>
                <a:spcPct val="95000"/>
              </a:lnSpc>
              <a:buNone/>
            </a:pPr>
            <a:r>
              <a:rPr lang="en-US" sz="5000" b="1" dirty="0">
                <a:solidFill>
                  <a:srgbClr val="B7D3B7"/>
                </a:solidFill>
                <a:latin typeface="Cormorant Garamond" pitchFamily="34" charset="0"/>
                <a:ea typeface="Cormorant Garamond" pitchFamily="34" charset="-122"/>
                <a:cs typeface="Cormorant Garamond" pitchFamily="34" charset="-120"/>
              </a:rPr>
              <a:t>stay at the office.</a:t>
            </a:r>
            <a:endParaRPr lang="en-US" sz="5000" dirty="0"/>
          </a:p>
        </p:txBody>
      </p:sp>
      <p:sp>
        <p:nvSpPr>
          <p:cNvPr id="4" name="Text 2"/>
          <p:cNvSpPr txBox="1"/>
          <p:nvPr/>
        </p:nvSpPr>
        <p:spPr>
          <a:xfrm>
            <a:off x="822960" y="4572000"/>
            <a:ext cx="9265615" cy="1463040"/>
          </a:xfrm>
          <a:prstGeom prst="rect">
            <a:avLst/>
          </a:prstGeom>
          <a:noFill/>
          <a:ln/>
        </p:spPr>
        <p:txBody>
          <a:bodyPr wrap="square" lIns="0" tIns="0" rIns="0" bIns="0" rtlCol="0" anchor="t">
            <a:normAutofit/>
          </a:bodyPr>
          <a:lstStyle/>
          <a:p>
            <a:pPr algn="l" indent="0" marL="0">
              <a:lnSpc>
                <a:spcPct val="115000"/>
              </a:lnSpc>
              <a:buNone/>
            </a:pPr>
            <a:r>
              <a:rPr lang="en-US" sz="2200" dirty="0">
                <a:solidFill>
                  <a:srgbClr val="E1F5EE"/>
                </a:solidFill>
                <a:latin typeface="DM Sans" pitchFamily="34" charset="0"/>
                <a:ea typeface="DM Sans" pitchFamily="34" charset="-122"/>
                <a:cs typeface="DM Sans" pitchFamily="34" charset="-120"/>
              </a:rPr>
              <a:t>The mechanic, the landscaper, the housekeeper, sometimes your own husband and kids. The same weak boundary shows up everywhere.</a:t>
            </a:r>
            <a:endParaRPr lang="en-US" sz="2200" dirty="0"/>
          </a:p>
        </p:txBody>
      </p:sp>
      <p:sp>
        <p:nvSpPr>
          <p:cNvPr id="25" name="Slide Number Placeholder 0"/>
          <p:cNvSpPr>
            <a:spLocks noGrp="1"/>
          </p:cNvSpPr>
          <p:nvPr>
            <p:ph type="sldNum" sz="quarter" idx="4294967295"/>
          </p:nvPr>
        </p:nvSpPr>
        <p:spPr>
          <a:xfrm>
            <a:off x="11368735"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AAF8A"/>
                </a:solidFill>
                <a:latin typeface="DM Sans"/>
                <a:ea typeface="DM Sans"/>
                <a:cs typeface="DM Sans"/>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1E4A4A"/>
        </a:solidFill>
      </p:bgPr>
    </p:bg>
    <p:spTree>
      <p:nvGrpSpPr>
        <p:cNvPr id="1" name=""/>
        <p:cNvGrpSpPr/>
        <p:nvPr/>
      </p:nvGrpSpPr>
      <p:grpSpPr>
        <a:xfrm>
          <a:off x="0" y="0"/>
          <a:ext cx="0" cy="0"/>
          <a:chOff x="0" y="0"/>
          <a:chExt cx="0" cy="0"/>
        </a:xfrm>
      </p:grpSpPr>
      <p:sp>
        <p:nvSpPr>
          <p:cNvPr id="2" name="Text 0"/>
          <p:cNvSpPr txBox="1"/>
          <p:nvPr/>
        </p:nvSpPr>
        <p:spPr>
          <a:xfrm>
            <a:off x="914400" y="2011680"/>
            <a:ext cx="10362895" cy="411480"/>
          </a:xfrm>
          <a:prstGeom prst="rect">
            <a:avLst/>
          </a:prstGeom>
          <a:noFill/>
          <a:ln/>
        </p:spPr>
        <p:txBody>
          <a:bodyPr wrap="square" lIns="0" tIns="0" rIns="0" bIns="0" rtlCol="0" anchor="ctr">
            <a:normAutofit/>
          </a:bodyPr>
          <a:lstStyle/>
          <a:p>
            <a:pPr algn="ctr" indent="0" marL="0">
              <a:lnSpc>
                <a:spcPct val="100000"/>
              </a:lnSpc>
              <a:buNone/>
            </a:pPr>
            <a:r>
              <a:rPr lang="en-US" sz="1600" b="1" spc="500" kern="0" dirty="0">
                <a:solidFill>
                  <a:srgbClr val="8AAF8A"/>
                </a:solidFill>
                <a:latin typeface="DM Sans" pitchFamily="34" charset="0"/>
                <a:ea typeface="DM Sans" pitchFamily="34" charset="-122"/>
                <a:cs typeface="DM Sans" pitchFamily="34" charset="-120"/>
              </a:rPr>
              <a:t>PART TWO</a:t>
            </a:r>
            <a:endParaRPr lang="en-US" sz="1600" dirty="0"/>
          </a:p>
        </p:txBody>
      </p:sp>
      <p:sp>
        <p:nvSpPr>
          <p:cNvPr id="3" name="Text 1"/>
          <p:cNvSpPr txBox="1"/>
          <p:nvPr/>
        </p:nvSpPr>
        <p:spPr>
          <a:xfrm>
            <a:off x="914400" y="2560320"/>
            <a:ext cx="10362895" cy="1554480"/>
          </a:xfrm>
          <a:prstGeom prst="rect">
            <a:avLst/>
          </a:prstGeom>
          <a:noFill/>
          <a:ln/>
        </p:spPr>
        <p:txBody>
          <a:bodyPr wrap="square" lIns="0" tIns="0" rIns="0" bIns="0" rtlCol="0" anchor="t">
            <a:normAutofit/>
          </a:bodyPr>
          <a:lstStyle/>
          <a:p>
            <a:pPr algn="ctr" indent="0" marL="0">
              <a:lnSpc>
                <a:spcPct val="95000"/>
              </a:lnSpc>
              <a:buNone/>
            </a:pPr>
            <a:r>
              <a:rPr lang="en-US" sz="5400" b="1" dirty="0">
                <a:solidFill>
                  <a:srgbClr val="FFFFFF"/>
                </a:solidFill>
                <a:latin typeface="Cormorant Garamond" pitchFamily="34" charset="0"/>
                <a:ea typeface="Cormorant Garamond" pitchFamily="34" charset="-122"/>
                <a:cs typeface="Cormorant Garamond" pitchFamily="34" charset="-120"/>
              </a:rPr>
              <a:t>What Waiting Really Costs</a:t>
            </a:r>
            <a:endParaRPr lang="en-US" sz="5400" dirty="0"/>
          </a:p>
        </p:txBody>
      </p:sp>
      <p:sp>
        <p:nvSpPr>
          <p:cNvPr id="25" name="Slide Number Placeholder 0"/>
          <p:cNvSpPr>
            <a:spLocks noGrp="1"/>
          </p:cNvSpPr>
          <p:nvPr>
            <p:ph type="sldNum" sz="quarter" idx="4294967295"/>
          </p:nvPr>
        </p:nvSpPr>
        <p:spPr>
          <a:xfrm>
            <a:off x="11368735"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AAF8A"/>
                </a:solidFill>
                <a:latin typeface="DM Sans"/>
                <a:ea typeface="DM Sans"/>
                <a:cs typeface="DM Sans"/>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AF5EE"/>
        </a:solidFill>
      </p:bgPr>
    </p:bg>
    <p:spTree>
      <p:nvGrpSpPr>
        <p:cNvPr id="1" name=""/>
        <p:cNvGrpSpPr/>
        <p:nvPr/>
      </p:nvGrpSpPr>
      <p:grpSpPr>
        <a:xfrm>
          <a:off x="0" y="0"/>
          <a:ext cx="0" cy="0"/>
          <a:chOff x="0" y="0"/>
          <a:chExt cx="0" cy="0"/>
        </a:xfrm>
      </p:grpSpPr>
      <p:sp>
        <p:nvSpPr>
          <p:cNvPr id="2" name="Text 0"/>
          <p:cNvSpPr txBox="1"/>
          <p:nvPr/>
        </p:nvSpPr>
        <p:spPr>
          <a:xfrm>
            <a:off x="822960" y="1463040"/>
            <a:ext cx="10545775" cy="2286000"/>
          </a:xfrm>
          <a:prstGeom prst="rect">
            <a:avLst/>
          </a:prstGeom>
          <a:noFill/>
          <a:ln/>
        </p:spPr>
        <p:txBody>
          <a:bodyPr wrap="square" lIns="0" tIns="0" rIns="0" bIns="0" rtlCol="0" anchor="ctr">
            <a:normAutofit/>
          </a:bodyPr>
          <a:lstStyle/>
          <a:p>
            <a:pPr algn="l" indent="0" marL="0">
              <a:lnSpc>
                <a:spcPct val="100000"/>
              </a:lnSpc>
              <a:buNone/>
            </a:pPr>
            <a:r>
              <a:rPr lang="en-US" sz="13000" b="1" dirty="0">
                <a:solidFill>
                  <a:srgbClr val="1E4A4A"/>
                </a:solidFill>
                <a:latin typeface="Cormorant Garamond" pitchFamily="34" charset="0"/>
                <a:ea typeface="Cormorant Garamond" pitchFamily="34" charset="-122"/>
                <a:cs typeface="Cormorant Garamond" pitchFamily="34" charset="-120"/>
              </a:rPr>
              <a:t>64%</a:t>
            </a:r>
            <a:endParaRPr lang="en-US" sz="13000" dirty="0"/>
          </a:p>
        </p:txBody>
      </p:sp>
      <p:sp>
        <p:nvSpPr>
          <p:cNvPr id="3" name="Text 1"/>
          <p:cNvSpPr txBox="1"/>
          <p:nvPr/>
        </p:nvSpPr>
        <p:spPr>
          <a:xfrm>
            <a:off x="822960" y="3977640"/>
            <a:ext cx="9448495" cy="1280160"/>
          </a:xfrm>
          <a:prstGeom prst="rect">
            <a:avLst/>
          </a:prstGeom>
          <a:noFill/>
          <a:ln/>
        </p:spPr>
        <p:txBody>
          <a:bodyPr wrap="square" lIns="0" tIns="0" rIns="0" bIns="0" rtlCol="0" anchor="t">
            <a:normAutofit/>
          </a:bodyPr>
          <a:lstStyle/>
          <a:p>
            <a:pPr algn="l" indent="0" marL="0">
              <a:lnSpc>
                <a:spcPct val="115000"/>
              </a:lnSpc>
              <a:buNone/>
            </a:pPr>
            <a:r>
              <a:rPr lang="en-US" sz="2600" dirty="0">
                <a:solidFill>
                  <a:srgbClr val="1B2B2B"/>
                </a:solidFill>
                <a:latin typeface="DM Sans" pitchFamily="34" charset="0"/>
                <a:ea typeface="DM Sans" pitchFamily="34" charset="-122"/>
                <a:cs typeface="DM Sans" pitchFamily="34" charset="-120"/>
              </a:rPr>
              <a:t>of women never negotiate their salary. Not once.</a:t>
            </a:r>
            <a:endParaRPr lang="en-US" sz="2600" dirty="0"/>
          </a:p>
        </p:txBody>
      </p:sp>
      <p:sp>
        <p:nvSpPr>
          <p:cNvPr id="4" name="Text 2"/>
          <p:cNvSpPr txBox="1"/>
          <p:nvPr/>
        </p:nvSpPr>
        <p:spPr>
          <a:xfrm>
            <a:off x="822960" y="5760720"/>
            <a:ext cx="9448495" cy="365760"/>
          </a:xfrm>
          <a:prstGeom prst="rect">
            <a:avLst/>
          </a:prstGeom>
          <a:noFill/>
          <a:ln/>
        </p:spPr>
        <p:txBody>
          <a:bodyPr wrap="square" lIns="0" tIns="0" rIns="0" bIns="0" rtlCol="0" anchor="t">
            <a:normAutofit/>
          </a:bodyPr>
          <a:lstStyle/>
          <a:p>
            <a:pPr algn="l" indent="0" marL="0">
              <a:lnSpc>
                <a:spcPct val="100000"/>
              </a:lnSpc>
              <a:buNone/>
            </a:pPr>
            <a:r>
              <a:rPr lang="en-US" sz="1200" dirty="0">
                <a:solidFill>
                  <a:srgbClr val="5E6B68"/>
                </a:solidFill>
                <a:latin typeface="DM Sans" pitchFamily="34" charset="0"/>
                <a:ea typeface="DM Sans" pitchFamily="34" charset="-122"/>
                <a:cs typeface="DM Sans" pitchFamily="34" charset="-120"/>
              </a:rPr>
              <a:t>Source: </a:t>
            </a:r>
            <a:pPr algn="l" indent="0" marL="0">
              <a:lnSpc>
                <a:spcPct val="100000"/>
              </a:lnSpc>
              <a:buNone/>
            </a:pPr>
            <a:r>
              <a:rPr lang="en-US" sz="1200" b="1" dirty="0">
                <a:solidFill>
                  <a:srgbClr val="B85042"/>
                </a:solidFill>
                <a:latin typeface="DM Sans" pitchFamily="34" charset="0"/>
                <a:ea typeface="DM Sans" pitchFamily="34" charset="-122"/>
                <a:cs typeface="DM Sans" pitchFamily="34" charset="-120"/>
              </a:rPr>
              <a:t>[PLACEHOLDER: new source]</a:t>
            </a:r>
            <a:endParaRPr lang="en-US" sz="1200" dirty="0"/>
          </a:p>
        </p:txBody>
      </p:sp>
      <p:sp>
        <p:nvSpPr>
          <p:cNvPr id="25" name="Slide Number Placeholder 0"/>
          <p:cNvSpPr>
            <a:spLocks noGrp="1"/>
          </p:cNvSpPr>
          <p:nvPr>
            <p:ph type="sldNum" sz="quarter" idx="4294967295"/>
          </p:nvPr>
        </p:nvSpPr>
        <p:spPr>
          <a:xfrm>
            <a:off x="11368735"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AA6A3"/>
                </a:solidFill>
                <a:latin typeface="DM Sans"/>
                <a:ea typeface="DM Sans"/>
                <a:cs typeface="DM Sans"/>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AF5EE"/>
        </a:solidFill>
      </p:bgPr>
    </p:bg>
    <p:spTree>
      <p:nvGrpSpPr>
        <p:cNvPr id="1" name=""/>
        <p:cNvGrpSpPr/>
        <p:nvPr/>
      </p:nvGrpSpPr>
      <p:grpSpPr>
        <a:xfrm>
          <a:off x="0" y="0"/>
          <a:ext cx="0" cy="0"/>
          <a:chOff x="0" y="0"/>
          <a:chExt cx="0" cy="0"/>
        </a:xfrm>
      </p:grpSpPr>
      <p:sp>
        <p:nvSpPr>
          <p:cNvPr id="2" name="Text 0"/>
          <p:cNvSpPr txBox="1"/>
          <p:nvPr/>
        </p:nvSpPr>
        <p:spPr>
          <a:xfrm>
            <a:off x="822960" y="1005840"/>
            <a:ext cx="10545775" cy="365760"/>
          </a:xfrm>
          <a:prstGeom prst="rect">
            <a:avLst/>
          </a:prstGeom>
          <a:noFill/>
          <a:ln/>
        </p:spPr>
        <p:txBody>
          <a:bodyPr wrap="square" lIns="0" tIns="0" rIns="0" bIns="0" rtlCol="0" anchor="ctr">
            <a:normAutofit/>
          </a:bodyPr>
          <a:lstStyle/>
          <a:p>
            <a:pPr algn="l" indent="0" marL="0">
              <a:lnSpc>
                <a:spcPct val="100000"/>
              </a:lnSpc>
              <a:buNone/>
            </a:pPr>
            <a:r>
              <a:rPr lang="en-US" sz="1400" b="1" spc="400" kern="0" dirty="0">
                <a:solidFill>
                  <a:srgbClr val="8AAF8A"/>
                </a:solidFill>
                <a:latin typeface="DM Sans" pitchFamily="34" charset="0"/>
                <a:ea typeface="DM Sans" pitchFamily="34" charset="-122"/>
                <a:cs typeface="DM Sans" pitchFamily="34" charset="-120"/>
              </a:rPr>
              <a:t>THE MATH NOBODY SHOWS YOU</a:t>
            </a:r>
            <a:endParaRPr lang="en-US" sz="1400" dirty="0"/>
          </a:p>
        </p:txBody>
      </p:sp>
      <p:sp>
        <p:nvSpPr>
          <p:cNvPr id="3" name="Text 1"/>
          <p:cNvSpPr txBox="1"/>
          <p:nvPr/>
        </p:nvSpPr>
        <p:spPr>
          <a:xfrm>
            <a:off x="822960" y="1463040"/>
            <a:ext cx="10545775" cy="2286000"/>
          </a:xfrm>
          <a:prstGeom prst="rect">
            <a:avLst/>
          </a:prstGeom>
          <a:noFill/>
          <a:ln/>
        </p:spPr>
        <p:txBody>
          <a:bodyPr wrap="square" lIns="0" tIns="0" rIns="0" bIns="0" rtlCol="0" anchor="ctr">
            <a:normAutofit/>
          </a:bodyPr>
          <a:lstStyle/>
          <a:p>
            <a:pPr algn="l" indent="0" marL="0">
              <a:lnSpc>
                <a:spcPct val="100000"/>
              </a:lnSpc>
              <a:buNone/>
            </a:pPr>
            <a:r>
              <a:rPr lang="en-US" sz="13000" b="1" dirty="0">
                <a:solidFill>
                  <a:srgbClr val="1E4A4A"/>
                </a:solidFill>
                <a:latin typeface="Cormorant Garamond" pitchFamily="34" charset="0"/>
                <a:ea typeface="Cormorant Garamond" pitchFamily="34" charset="-122"/>
                <a:cs typeface="Cormorant Garamond" pitchFamily="34" charset="-120"/>
              </a:rPr>
              <a:t>$57,000</a:t>
            </a:r>
            <a:endParaRPr lang="en-US" sz="13000" dirty="0"/>
          </a:p>
        </p:txBody>
      </p:sp>
      <p:sp>
        <p:nvSpPr>
          <p:cNvPr id="4" name="Text 2"/>
          <p:cNvSpPr txBox="1"/>
          <p:nvPr/>
        </p:nvSpPr>
        <p:spPr>
          <a:xfrm>
            <a:off x="822960" y="3977640"/>
            <a:ext cx="9448495" cy="1280160"/>
          </a:xfrm>
          <a:prstGeom prst="rect">
            <a:avLst/>
          </a:prstGeom>
          <a:noFill/>
          <a:ln/>
        </p:spPr>
        <p:txBody>
          <a:bodyPr wrap="square" lIns="0" tIns="0" rIns="0" bIns="0" rtlCol="0" anchor="t">
            <a:normAutofit/>
          </a:bodyPr>
          <a:lstStyle/>
          <a:p>
            <a:pPr algn="l" indent="0" marL="0">
              <a:lnSpc>
                <a:spcPct val="115000"/>
              </a:lnSpc>
              <a:buNone/>
            </a:pPr>
            <a:r>
              <a:rPr lang="en-US" sz="2600" dirty="0">
                <a:solidFill>
                  <a:srgbClr val="1B2B2B"/>
                </a:solidFill>
                <a:latin typeface="DM Sans" pitchFamily="34" charset="0"/>
                <a:ea typeface="DM Sans" pitchFamily="34" charset="-122"/>
                <a:cs typeface="DM Sans" pitchFamily="34" charset="-120"/>
              </a:rPr>
              <a:t>What one missed $5,000 raise costs you over 10 years.</a:t>
            </a:r>
            <a:endParaRPr lang="en-US" sz="2600" dirty="0"/>
          </a:p>
        </p:txBody>
      </p:sp>
      <p:sp>
        <p:nvSpPr>
          <p:cNvPr id="5" name="Text 3"/>
          <p:cNvSpPr txBox="1"/>
          <p:nvPr/>
        </p:nvSpPr>
        <p:spPr>
          <a:xfrm>
            <a:off x="822960" y="5760720"/>
            <a:ext cx="9448495" cy="365760"/>
          </a:xfrm>
          <a:prstGeom prst="rect">
            <a:avLst/>
          </a:prstGeom>
          <a:noFill/>
          <a:ln/>
        </p:spPr>
        <p:txBody>
          <a:bodyPr wrap="square" lIns="0" tIns="0" rIns="0" bIns="0" rtlCol="0" anchor="t">
            <a:normAutofit/>
          </a:bodyPr>
          <a:lstStyle/>
          <a:p>
            <a:pPr algn="l" indent="0" marL="0">
              <a:lnSpc>
                <a:spcPct val="100000"/>
              </a:lnSpc>
              <a:buNone/>
            </a:pPr>
            <a:r>
              <a:rPr lang="en-US" sz="1200" dirty="0">
                <a:solidFill>
                  <a:srgbClr val="5E6B68"/>
                </a:solidFill>
                <a:latin typeface="DM Sans" pitchFamily="34" charset="0"/>
                <a:ea typeface="DM Sans" pitchFamily="34" charset="-122"/>
                <a:cs typeface="DM Sans" pitchFamily="34" charset="-120"/>
              </a:rPr>
              <a:t>Assumes the missing $5,000 grows with 3% annual raises.</a:t>
            </a:r>
            <a:endParaRPr lang="en-US" sz="1200" dirty="0"/>
          </a:p>
        </p:txBody>
      </p:sp>
      <p:sp>
        <p:nvSpPr>
          <p:cNvPr id="25" name="Slide Number Placeholder 0"/>
          <p:cNvSpPr>
            <a:spLocks noGrp="1"/>
          </p:cNvSpPr>
          <p:nvPr>
            <p:ph type="sldNum" sz="quarter" idx="4294967295"/>
          </p:nvPr>
        </p:nvSpPr>
        <p:spPr>
          <a:xfrm>
            <a:off x="11368735"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AA6A3"/>
                </a:solidFill>
                <a:latin typeface="DM Sans"/>
                <a:ea typeface="DM Sans"/>
                <a:cs typeface="DM Sans"/>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AF5EE"/>
        </a:solidFill>
      </p:bgPr>
    </p:bg>
    <p:spTree>
      <p:nvGrpSpPr>
        <p:cNvPr id="1" name=""/>
        <p:cNvGrpSpPr/>
        <p:nvPr/>
      </p:nvGrpSpPr>
      <p:grpSpPr>
        <a:xfrm>
          <a:off x="0" y="0"/>
          <a:ext cx="0" cy="0"/>
          <a:chOff x="0" y="0"/>
          <a:chExt cx="0" cy="0"/>
        </a:xfrm>
      </p:grpSpPr>
      <p:sp>
        <p:nvSpPr>
          <p:cNvPr id="2" name="Text 0"/>
          <p:cNvSpPr txBox="1"/>
          <p:nvPr/>
        </p:nvSpPr>
        <p:spPr>
          <a:xfrm>
            <a:off x="822960" y="1005840"/>
            <a:ext cx="10545775" cy="365760"/>
          </a:xfrm>
          <a:prstGeom prst="rect">
            <a:avLst/>
          </a:prstGeom>
          <a:noFill/>
          <a:ln/>
        </p:spPr>
        <p:txBody>
          <a:bodyPr wrap="square" lIns="0" tIns="0" rIns="0" bIns="0" rtlCol="0" anchor="ctr">
            <a:normAutofit/>
          </a:bodyPr>
          <a:lstStyle/>
          <a:p>
            <a:pPr algn="l" indent="0" marL="0">
              <a:lnSpc>
                <a:spcPct val="100000"/>
              </a:lnSpc>
              <a:buNone/>
            </a:pPr>
            <a:r>
              <a:rPr lang="en-US" sz="1400" b="1" spc="400" kern="0" dirty="0">
                <a:solidFill>
                  <a:srgbClr val="8AAF8A"/>
                </a:solidFill>
                <a:latin typeface="DM Sans" pitchFamily="34" charset="0"/>
                <a:ea typeface="DM Sans" pitchFamily="34" charset="-122"/>
                <a:cs typeface="DM Sans" pitchFamily="34" charset="-120"/>
              </a:rPr>
              <a:t>THE MATH NOBODY SHOWS YOU</a:t>
            </a:r>
            <a:endParaRPr lang="en-US" sz="1400" dirty="0"/>
          </a:p>
        </p:txBody>
      </p:sp>
      <p:sp>
        <p:nvSpPr>
          <p:cNvPr id="3" name="Text 1"/>
          <p:cNvSpPr txBox="1"/>
          <p:nvPr/>
        </p:nvSpPr>
        <p:spPr>
          <a:xfrm>
            <a:off x="822960" y="1463040"/>
            <a:ext cx="10545775" cy="2286000"/>
          </a:xfrm>
          <a:prstGeom prst="rect">
            <a:avLst/>
          </a:prstGeom>
          <a:noFill/>
          <a:ln/>
        </p:spPr>
        <p:txBody>
          <a:bodyPr wrap="square" lIns="0" tIns="0" rIns="0" bIns="0" rtlCol="0" anchor="ctr">
            <a:normAutofit/>
          </a:bodyPr>
          <a:lstStyle/>
          <a:p>
            <a:pPr algn="l" indent="0" marL="0">
              <a:lnSpc>
                <a:spcPct val="100000"/>
              </a:lnSpc>
              <a:buNone/>
            </a:pPr>
            <a:r>
              <a:rPr lang="en-US" sz="13000" b="1" dirty="0">
                <a:solidFill>
                  <a:srgbClr val="1E4A4A"/>
                </a:solidFill>
                <a:latin typeface="Cormorant Garamond" pitchFamily="34" charset="0"/>
                <a:ea typeface="Cormorant Garamond" pitchFamily="34" charset="-122"/>
                <a:cs typeface="Cormorant Garamond" pitchFamily="34" charset="-120"/>
              </a:rPr>
              <a:t>$134,000</a:t>
            </a:r>
            <a:endParaRPr lang="en-US" sz="13000" dirty="0"/>
          </a:p>
        </p:txBody>
      </p:sp>
      <p:sp>
        <p:nvSpPr>
          <p:cNvPr id="4" name="Text 2"/>
          <p:cNvSpPr txBox="1"/>
          <p:nvPr/>
        </p:nvSpPr>
        <p:spPr>
          <a:xfrm>
            <a:off x="822960" y="3977640"/>
            <a:ext cx="9448495" cy="1280160"/>
          </a:xfrm>
          <a:prstGeom prst="rect">
            <a:avLst/>
          </a:prstGeom>
          <a:noFill/>
          <a:ln/>
        </p:spPr>
        <p:txBody>
          <a:bodyPr wrap="square" lIns="0" tIns="0" rIns="0" bIns="0" rtlCol="0" anchor="t">
            <a:normAutofit/>
          </a:bodyPr>
          <a:lstStyle/>
          <a:p>
            <a:pPr algn="l" indent="0" marL="0">
              <a:lnSpc>
                <a:spcPct val="115000"/>
              </a:lnSpc>
              <a:buNone/>
            </a:pPr>
            <a:r>
              <a:rPr lang="en-US" sz="2600" dirty="0">
                <a:solidFill>
                  <a:srgbClr val="1B2B2B"/>
                </a:solidFill>
                <a:latin typeface="DM Sans" pitchFamily="34" charset="0"/>
                <a:ea typeface="DM Sans" pitchFamily="34" charset="-122"/>
                <a:cs typeface="DM Sans" pitchFamily="34" charset="-120"/>
              </a:rPr>
              <a:t>The same missed raise over 20 years.</a:t>
            </a:r>
            <a:endParaRPr lang="en-US" sz="2600" dirty="0"/>
          </a:p>
        </p:txBody>
      </p:sp>
      <p:sp>
        <p:nvSpPr>
          <p:cNvPr id="5" name="Text 3"/>
          <p:cNvSpPr txBox="1"/>
          <p:nvPr/>
        </p:nvSpPr>
        <p:spPr>
          <a:xfrm>
            <a:off x="822960" y="5760720"/>
            <a:ext cx="9448495" cy="365760"/>
          </a:xfrm>
          <a:prstGeom prst="rect">
            <a:avLst/>
          </a:prstGeom>
          <a:noFill/>
          <a:ln/>
        </p:spPr>
        <p:txBody>
          <a:bodyPr wrap="square" lIns="0" tIns="0" rIns="0" bIns="0" rtlCol="0" anchor="t">
            <a:normAutofit/>
          </a:bodyPr>
          <a:lstStyle/>
          <a:p>
            <a:pPr algn="l" indent="0" marL="0">
              <a:lnSpc>
                <a:spcPct val="100000"/>
              </a:lnSpc>
              <a:buNone/>
            </a:pPr>
            <a:r>
              <a:rPr lang="en-US" sz="1200" dirty="0">
                <a:solidFill>
                  <a:srgbClr val="5E6B68"/>
                </a:solidFill>
                <a:latin typeface="DM Sans" pitchFamily="34" charset="0"/>
                <a:ea typeface="DM Sans" pitchFamily="34" charset="-122"/>
                <a:cs typeface="DM Sans" pitchFamily="34" charset="-120"/>
              </a:rPr>
              <a:t>Assumes the missing $5,000 grows with 3% annual raises.</a:t>
            </a:r>
            <a:endParaRPr lang="en-US" sz="1200" dirty="0"/>
          </a:p>
        </p:txBody>
      </p:sp>
      <p:sp>
        <p:nvSpPr>
          <p:cNvPr id="25" name="Slide Number Placeholder 0"/>
          <p:cNvSpPr>
            <a:spLocks noGrp="1"/>
          </p:cNvSpPr>
          <p:nvPr>
            <p:ph type="sldNum" sz="quarter" idx="4294967295"/>
          </p:nvPr>
        </p:nvSpPr>
        <p:spPr>
          <a:xfrm>
            <a:off x="11368735"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AA6A3"/>
                </a:solidFill>
                <a:latin typeface="DM Sans"/>
                <a:ea typeface="DM Sans"/>
                <a:cs typeface="DM Sans"/>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AF5EE"/>
        </a:solidFill>
      </p:bgPr>
    </p:bg>
    <p:spTree>
      <p:nvGrpSpPr>
        <p:cNvPr id="1" name=""/>
        <p:cNvGrpSpPr/>
        <p:nvPr/>
      </p:nvGrpSpPr>
      <p:grpSpPr>
        <a:xfrm>
          <a:off x="0" y="0"/>
          <a:ext cx="0" cy="0"/>
          <a:chOff x="0" y="0"/>
          <a:chExt cx="0" cy="0"/>
        </a:xfrm>
      </p:grpSpPr>
      <p:sp>
        <p:nvSpPr>
          <p:cNvPr id="2" name="Text 0"/>
          <p:cNvSpPr txBox="1"/>
          <p:nvPr/>
        </p:nvSpPr>
        <p:spPr>
          <a:xfrm>
            <a:off x="822960" y="1005840"/>
            <a:ext cx="10545775" cy="365760"/>
          </a:xfrm>
          <a:prstGeom prst="rect">
            <a:avLst/>
          </a:prstGeom>
          <a:noFill/>
          <a:ln/>
        </p:spPr>
        <p:txBody>
          <a:bodyPr wrap="square" lIns="0" tIns="0" rIns="0" bIns="0" rtlCol="0" anchor="ctr">
            <a:normAutofit/>
          </a:bodyPr>
          <a:lstStyle/>
          <a:p>
            <a:pPr algn="l" indent="0" marL="0">
              <a:lnSpc>
                <a:spcPct val="100000"/>
              </a:lnSpc>
              <a:buNone/>
            </a:pPr>
            <a:r>
              <a:rPr lang="en-US" sz="1400" b="1" spc="400" kern="0" dirty="0">
                <a:solidFill>
                  <a:srgbClr val="8AAF8A"/>
                </a:solidFill>
                <a:latin typeface="DM Sans" pitchFamily="34" charset="0"/>
                <a:ea typeface="DM Sans" pitchFamily="34" charset="-122"/>
                <a:cs typeface="DM Sans" pitchFamily="34" charset="-120"/>
              </a:rPr>
              <a:t>THE MATH NOBODY SHOWS YOU</a:t>
            </a:r>
            <a:endParaRPr lang="en-US" sz="1400" dirty="0"/>
          </a:p>
        </p:txBody>
      </p:sp>
      <p:sp>
        <p:nvSpPr>
          <p:cNvPr id="3" name="Text 1"/>
          <p:cNvSpPr txBox="1"/>
          <p:nvPr/>
        </p:nvSpPr>
        <p:spPr>
          <a:xfrm>
            <a:off x="822960" y="1463040"/>
            <a:ext cx="10545775" cy="2286000"/>
          </a:xfrm>
          <a:prstGeom prst="rect">
            <a:avLst/>
          </a:prstGeom>
          <a:noFill/>
          <a:ln/>
        </p:spPr>
        <p:txBody>
          <a:bodyPr wrap="square" lIns="0" tIns="0" rIns="0" bIns="0" rtlCol="0" anchor="ctr">
            <a:normAutofit/>
          </a:bodyPr>
          <a:lstStyle/>
          <a:p>
            <a:pPr algn="l" indent="0" marL="0">
              <a:lnSpc>
                <a:spcPct val="100000"/>
              </a:lnSpc>
              <a:buNone/>
            </a:pPr>
            <a:r>
              <a:rPr lang="en-US" sz="13000" b="1" dirty="0">
                <a:solidFill>
                  <a:srgbClr val="1E4A4A"/>
                </a:solidFill>
                <a:latin typeface="Cormorant Garamond" pitchFamily="34" charset="0"/>
                <a:ea typeface="Cormorant Garamond" pitchFamily="34" charset="-122"/>
                <a:cs typeface="Cormorant Garamond" pitchFamily="34" charset="-120"/>
              </a:rPr>
              <a:t>$237,877</a:t>
            </a:r>
            <a:endParaRPr lang="en-US" sz="13000" dirty="0"/>
          </a:p>
        </p:txBody>
      </p:sp>
      <p:sp>
        <p:nvSpPr>
          <p:cNvPr id="4" name="Text 2"/>
          <p:cNvSpPr txBox="1"/>
          <p:nvPr/>
        </p:nvSpPr>
        <p:spPr>
          <a:xfrm>
            <a:off x="822960" y="3977640"/>
            <a:ext cx="9448495" cy="1280160"/>
          </a:xfrm>
          <a:prstGeom prst="rect">
            <a:avLst/>
          </a:prstGeom>
          <a:noFill/>
          <a:ln/>
        </p:spPr>
        <p:txBody>
          <a:bodyPr wrap="square" lIns="0" tIns="0" rIns="0" bIns="0" rtlCol="0" anchor="t">
            <a:normAutofit/>
          </a:bodyPr>
          <a:lstStyle/>
          <a:p>
            <a:pPr algn="l" indent="0" marL="0">
              <a:lnSpc>
                <a:spcPct val="115000"/>
              </a:lnSpc>
              <a:buNone/>
            </a:pPr>
            <a:r>
              <a:rPr lang="en-US" sz="2600" dirty="0">
                <a:solidFill>
                  <a:srgbClr val="1B2B2B"/>
                </a:solidFill>
                <a:latin typeface="DM Sans" pitchFamily="34" charset="0"/>
                <a:ea typeface="DM Sans" pitchFamily="34" charset="-122"/>
                <a:cs typeface="DM Sans" pitchFamily="34" charset="-120"/>
              </a:rPr>
              <a:t>Over a 30-year career. From </a:t>
            </a:r>
            <a:pPr algn="l" indent="0" marL="0">
              <a:lnSpc>
                <a:spcPct val="115000"/>
              </a:lnSpc>
              <a:buNone/>
            </a:pPr>
            <a:r>
              <a:rPr lang="en-US" sz="2600" dirty="0">
                <a:solidFill>
                  <a:srgbClr val="1B2B2B"/>
                </a:solidFill>
                <a:highlight>
                  <a:srgbClr val="CFE3CF"/>
                </a:highlight>
                <a:latin typeface="DM Sans" pitchFamily="34" charset="0"/>
                <a:ea typeface="DM Sans" pitchFamily="34" charset="-122"/>
                <a:cs typeface="DM Sans" pitchFamily="34" charset="-120"/>
              </a:rPr>
              <a:t>one missed conversation.</a:t>
            </a:r>
            <a:endParaRPr lang="en-US" sz="2600" dirty="0"/>
          </a:p>
        </p:txBody>
      </p:sp>
      <p:sp>
        <p:nvSpPr>
          <p:cNvPr id="5" name="Text 3"/>
          <p:cNvSpPr txBox="1"/>
          <p:nvPr/>
        </p:nvSpPr>
        <p:spPr>
          <a:xfrm>
            <a:off x="822960" y="5760720"/>
            <a:ext cx="9448495" cy="365760"/>
          </a:xfrm>
          <a:prstGeom prst="rect">
            <a:avLst/>
          </a:prstGeom>
          <a:noFill/>
          <a:ln/>
        </p:spPr>
        <p:txBody>
          <a:bodyPr wrap="square" lIns="0" tIns="0" rIns="0" bIns="0" rtlCol="0" anchor="t">
            <a:normAutofit/>
          </a:bodyPr>
          <a:lstStyle/>
          <a:p>
            <a:pPr algn="l" indent="0" marL="0">
              <a:lnSpc>
                <a:spcPct val="100000"/>
              </a:lnSpc>
              <a:buNone/>
            </a:pPr>
            <a:r>
              <a:rPr lang="en-US" sz="1200" dirty="0">
                <a:solidFill>
                  <a:srgbClr val="5E6B68"/>
                </a:solidFill>
                <a:latin typeface="DM Sans" pitchFamily="34" charset="0"/>
                <a:ea typeface="DM Sans" pitchFamily="34" charset="-122"/>
                <a:cs typeface="DM Sans" pitchFamily="34" charset="-120"/>
              </a:rPr>
              <a:t>Assumes the missing $5,000 grows with 3% annual raises.</a:t>
            </a:r>
            <a:endParaRPr lang="en-US" sz="1200" dirty="0"/>
          </a:p>
        </p:txBody>
      </p:sp>
      <p:sp>
        <p:nvSpPr>
          <p:cNvPr id="25" name="Slide Number Placeholder 0"/>
          <p:cNvSpPr>
            <a:spLocks noGrp="1"/>
          </p:cNvSpPr>
          <p:nvPr>
            <p:ph type="sldNum" sz="quarter" idx="4294967295"/>
          </p:nvPr>
        </p:nvSpPr>
        <p:spPr>
          <a:xfrm>
            <a:off x="11368735"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AA6A3"/>
                </a:solidFill>
                <a:latin typeface="DM Sans"/>
                <a:ea typeface="DM Sans"/>
                <a:cs typeface="DM Sans"/>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1E4A4A"/>
        </a:solidFill>
      </p:bgPr>
    </p:bg>
    <p:spTree>
      <p:nvGrpSpPr>
        <p:cNvPr id="1" name=""/>
        <p:cNvGrpSpPr/>
        <p:nvPr/>
      </p:nvGrpSpPr>
      <p:grpSpPr>
        <a:xfrm>
          <a:off x="0" y="0"/>
          <a:ext cx="0" cy="0"/>
          <a:chOff x="0" y="0"/>
          <a:chExt cx="0" cy="0"/>
        </a:xfrm>
      </p:grpSpPr>
      <p:sp>
        <p:nvSpPr>
          <p:cNvPr id="2" name="Text 0"/>
          <p:cNvSpPr txBox="1"/>
          <p:nvPr/>
        </p:nvSpPr>
        <p:spPr>
          <a:xfrm>
            <a:off x="822960" y="1188720"/>
            <a:ext cx="10545775" cy="365760"/>
          </a:xfrm>
          <a:prstGeom prst="rect">
            <a:avLst/>
          </a:prstGeom>
          <a:noFill/>
          <a:ln/>
        </p:spPr>
        <p:txBody>
          <a:bodyPr wrap="square" lIns="0" tIns="0" rIns="0" bIns="0" rtlCol="0" anchor="ctr">
            <a:normAutofit/>
          </a:bodyPr>
          <a:lstStyle/>
          <a:p>
            <a:pPr algn="l" indent="0" marL="0">
              <a:lnSpc>
                <a:spcPct val="100000"/>
              </a:lnSpc>
              <a:buNone/>
            </a:pPr>
            <a:r>
              <a:rPr lang="en-US" sz="1400" b="1" spc="400" kern="0" dirty="0">
                <a:solidFill>
                  <a:srgbClr val="8AAF8A"/>
                </a:solidFill>
                <a:latin typeface="DM Sans" pitchFamily="34" charset="0"/>
                <a:ea typeface="DM Sans" pitchFamily="34" charset="-122"/>
                <a:cs typeface="DM Sans" pitchFamily="34" charset="-120"/>
              </a:rPr>
              <a:t>THE COST NOBODY TALKS ABOUT</a:t>
            </a:r>
            <a:endParaRPr lang="en-US" sz="1400" dirty="0"/>
          </a:p>
        </p:txBody>
      </p:sp>
      <p:sp>
        <p:nvSpPr>
          <p:cNvPr id="3" name="Text 1"/>
          <p:cNvSpPr txBox="1"/>
          <p:nvPr/>
        </p:nvSpPr>
        <p:spPr>
          <a:xfrm>
            <a:off x="822960" y="1691640"/>
            <a:ext cx="10180015" cy="2651760"/>
          </a:xfrm>
          <a:prstGeom prst="rect">
            <a:avLst/>
          </a:prstGeom>
          <a:noFill/>
          <a:ln/>
        </p:spPr>
        <p:txBody>
          <a:bodyPr wrap="square" lIns="0" tIns="0" rIns="0" bIns="0" rtlCol="0" anchor="t">
            <a:normAutofit/>
          </a:bodyPr>
          <a:lstStyle/>
          <a:p>
            <a:pPr algn="l" indent="0" marL="0">
              <a:lnSpc>
                <a:spcPct val="95000"/>
              </a:lnSpc>
              <a:buNone/>
            </a:pPr>
            <a:r>
              <a:rPr lang="en-US" sz="4300" b="1" dirty="0">
                <a:solidFill>
                  <a:srgbClr val="FFFFFF"/>
                </a:solidFill>
                <a:latin typeface="Cormorant Garamond" pitchFamily="34" charset="0"/>
                <a:ea typeface="Cormorant Garamond" pitchFamily="34" charset="-122"/>
                <a:cs typeface="Cormorant Garamond" pitchFamily="34" charset="-120"/>
              </a:rPr>
              <a:t>The emotional cost </a:t>
            </a:r>
            <a:pPr algn="l" indent="0" marL="0">
              <a:lnSpc>
                <a:spcPct val="95000"/>
              </a:lnSpc>
              <a:buNone/>
            </a:pPr>
            <a:r>
              <a:rPr lang="en-US" sz="4300" b="1" dirty="0">
                <a:solidFill>
                  <a:srgbClr val="B7D3B7"/>
                </a:solidFill>
                <a:latin typeface="Cormorant Garamond" pitchFamily="34" charset="0"/>
                <a:ea typeface="Cormorant Garamond" pitchFamily="34" charset="-122"/>
                <a:cs typeface="Cormorant Garamond" pitchFamily="34" charset="-120"/>
              </a:rPr>
              <a:t>compounds faster.</a:t>
            </a:r>
            <a:endParaRPr lang="en-US" sz="4300" dirty="0"/>
          </a:p>
        </p:txBody>
      </p:sp>
      <p:sp>
        <p:nvSpPr>
          <p:cNvPr id="4" name="Text 2"/>
          <p:cNvSpPr txBox="1"/>
          <p:nvPr/>
        </p:nvSpPr>
        <p:spPr>
          <a:xfrm>
            <a:off x="822960" y="4572000"/>
            <a:ext cx="9265615" cy="1463040"/>
          </a:xfrm>
          <a:prstGeom prst="rect">
            <a:avLst/>
          </a:prstGeom>
          <a:noFill/>
          <a:ln/>
        </p:spPr>
        <p:txBody>
          <a:bodyPr wrap="square" lIns="0" tIns="0" rIns="0" bIns="0" rtlCol="0" anchor="t">
            <a:normAutofit/>
          </a:bodyPr>
          <a:lstStyle/>
          <a:p>
            <a:pPr algn="l" indent="0" marL="0">
              <a:lnSpc>
                <a:spcPct val="115000"/>
              </a:lnSpc>
              <a:buNone/>
            </a:pPr>
            <a:r>
              <a:rPr lang="en-US" sz="2200" dirty="0">
                <a:solidFill>
                  <a:srgbClr val="E1F5EE"/>
                </a:solidFill>
                <a:latin typeface="DM Sans" pitchFamily="34" charset="0"/>
                <a:ea typeface="DM Sans" pitchFamily="34" charset="-122"/>
                <a:cs typeface="DM Sans" pitchFamily="34" charset="-120"/>
              </a:rPr>
              <a:t>Every time you stay quiet, minimize what you did or wait to be noticed, you practice the exact pattern that's keeping you stuck.</a:t>
            </a:r>
            <a:endParaRPr lang="en-US" sz="2200" dirty="0"/>
          </a:p>
        </p:txBody>
      </p:sp>
      <p:sp>
        <p:nvSpPr>
          <p:cNvPr id="25" name="Slide Number Placeholder 0"/>
          <p:cNvSpPr>
            <a:spLocks noGrp="1"/>
          </p:cNvSpPr>
          <p:nvPr>
            <p:ph type="sldNum" sz="quarter" idx="4294967295"/>
          </p:nvPr>
        </p:nvSpPr>
        <p:spPr>
          <a:xfrm>
            <a:off x="11368735"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AAF8A"/>
                </a:solidFill>
                <a:latin typeface="DM Sans"/>
                <a:ea typeface="DM Sans"/>
                <a:cs typeface="DM Sans"/>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AF5EE"/>
        </a:solidFill>
      </p:bgPr>
    </p:bg>
    <p:spTree>
      <p:nvGrpSpPr>
        <p:cNvPr id="1" name=""/>
        <p:cNvGrpSpPr/>
        <p:nvPr/>
      </p:nvGrpSpPr>
      <p:grpSpPr>
        <a:xfrm>
          <a:off x="0" y="0"/>
          <a:ext cx="0" cy="0"/>
          <a:chOff x="0" y="0"/>
          <a:chExt cx="0" cy="0"/>
        </a:xfrm>
      </p:grpSpPr>
      <p:sp>
        <p:nvSpPr>
          <p:cNvPr id="2" name="Text 0"/>
          <p:cNvSpPr txBox="1"/>
          <p:nvPr/>
        </p:nvSpPr>
        <p:spPr>
          <a:xfrm>
            <a:off x="822960" y="1188720"/>
            <a:ext cx="10545775" cy="365760"/>
          </a:xfrm>
          <a:prstGeom prst="rect">
            <a:avLst/>
          </a:prstGeom>
          <a:noFill/>
          <a:ln/>
        </p:spPr>
        <p:txBody>
          <a:bodyPr wrap="square" lIns="0" tIns="0" rIns="0" bIns="0" rtlCol="0" anchor="ctr">
            <a:normAutofit/>
          </a:bodyPr>
          <a:lstStyle/>
          <a:p>
            <a:pPr algn="l" indent="0" marL="0">
              <a:lnSpc>
                <a:spcPct val="100000"/>
              </a:lnSpc>
              <a:buNone/>
            </a:pPr>
            <a:r>
              <a:rPr lang="en-US" sz="1400" b="1" spc="400" kern="0" dirty="0">
                <a:solidFill>
                  <a:srgbClr val="8AAF8A"/>
                </a:solidFill>
                <a:latin typeface="DM Sans" pitchFamily="34" charset="0"/>
                <a:ea typeface="DM Sans" pitchFamily="34" charset="-122"/>
                <a:cs typeface="DM Sans" pitchFamily="34" charset="-120"/>
              </a:rPr>
              <a:t>WHY NOW</a:t>
            </a:r>
            <a:endParaRPr lang="en-US" sz="1400" dirty="0"/>
          </a:p>
        </p:txBody>
      </p:sp>
      <p:sp>
        <p:nvSpPr>
          <p:cNvPr id="3" name="Text 1"/>
          <p:cNvSpPr txBox="1"/>
          <p:nvPr/>
        </p:nvSpPr>
        <p:spPr>
          <a:xfrm>
            <a:off x="822960" y="1691640"/>
            <a:ext cx="10180015" cy="2651760"/>
          </a:xfrm>
          <a:prstGeom prst="rect">
            <a:avLst/>
          </a:prstGeom>
          <a:noFill/>
          <a:ln/>
        </p:spPr>
        <p:txBody>
          <a:bodyPr wrap="square" lIns="0" tIns="0" rIns="0" bIns="0" rtlCol="0" anchor="t">
            <a:normAutofit/>
          </a:bodyPr>
          <a:lstStyle/>
          <a:p>
            <a:pPr algn="l" indent="0" marL="0">
              <a:lnSpc>
                <a:spcPct val="95000"/>
              </a:lnSpc>
              <a:buNone/>
            </a:pPr>
            <a:r>
              <a:rPr lang="en-US" sz="3700" b="1" dirty="0">
                <a:solidFill>
                  <a:srgbClr val="1B2B2B"/>
                </a:solidFill>
                <a:latin typeface="Cormorant Garamond" pitchFamily="34" charset="0"/>
                <a:ea typeface="Cormorant Garamond" pitchFamily="34" charset="-122"/>
                <a:cs typeface="Cormorant Garamond" pitchFamily="34" charset="-120"/>
              </a:rPr>
              <a:t>With AI, you no longer need to be </a:t>
            </a:r>
            <a:pPr algn="l" indent="0" marL="0">
              <a:lnSpc>
                <a:spcPct val="95000"/>
              </a:lnSpc>
              <a:buNone/>
            </a:pPr>
            <a:r>
              <a:rPr lang="en-US" sz="3700" b="1" dirty="0">
                <a:solidFill>
                  <a:srgbClr val="1B2B2B"/>
                </a:solidFill>
                <a:highlight>
                  <a:srgbClr val="CFE3CF"/>
                </a:highlight>
                <a:latin typeface="Cormorant Garamond" pitchFamily="34" charset="0"/>
                <a:ea typeface="Cormorant Garamond" pitchFamily="34" charset="-122"/>
                <a:cs typeface="Cormorant Garamond" pitchFamily="34" charset="-120"/>
              </a:rPr>
              <a:t>the smartest person in the room.</a:t>
            </a:r>
            <a:endParaRPr lang="en-US" sz="3700" dirty="0"/>
          </a:p>
        </p:txBody>
      </p:sp>
      <p:sp>
        <p:nvSpPr>
          <p:cNvPr id="4" name="Text 2"/>
          <p:cNvSpPr txBox="1"/>
          <p:nvPr/>
        </p:nvSpPr>
        <p:spPr>
          <a:xfrm>
            <a:off x="822960" y="4572000"/>
            <a:ext cx="9265615" cy="1463040"/>
          </a:xfrm>
          <a:prstGeom prst="rect">
            <a:avLst/>
          </a:prstGeom>
          <a:noFill/>
          <a:ln/>
        </p:spPr>
        <p:txBody>
          <a:bodyPr wrap="square" lIns="0" tIns="0" rIns="0" bIns="0" rtlCol="0" anchor="t">
            <a:normAutofit/>
          </a:bodyPr>
          <a:lstStyle/>
          <a:p>
            <a:pPr algn="l" indent="0" marL="0">
              <a:lnSpc>
                <a:spcPct val="115000"/>
              </a:lnSpc>
              <a:buNone/>
            </a:pPr>
            <a:r>
              <a:rPr lang="en-US" sz="2200" dirty="0">
                <a:solidFill>
                  <a:srgbClr val="5E6B68"/>
                </a:solidFill>
                <a:latin typeface="DM Sans" pitchFamily="34" charset="0"/>
                <a:ea typeface="DM Sans" pitchFamily="34" charset="-122"/>
                <a:cs typeface="DM Sans" pitchFamily="34" charset="-120"/>
              </a:rPr>
              <a:t>What matters now is what technology can't replicate.</a:t>
            </a:r>
            <a:endParaRPr lang="en-US" sz="2200" dirty="0"/>
          </a:p>
        </p:txBody>
      </p:sp>
      <p:sp>
        <p:nvSpPr>
          <p:cNvPr id="25" name="Slide Number Placeholder 0"/>
          <p:cNvSpPr>
            <a:spLocks noGrp="1"/>
          </p:cNvSpPr>
          <p:nvPr>
            <p:ph type="sldNum" sz="quarter" idx="4294967295"/>
          </p:nvPr>
        </p:nvSpPr>
        <p:spPr>
          <a:xfrm>
            <a:off x="11368735"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AA6A3"/>
                </a:solidFill>
                <a:latin typeface="DM Sans"/>
                <a:ea typeface="DM Sans"/>
                <a:cs typeface="DM Sans"/>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1E4A4A"/>
        </a:solidFill>
      </p:bgPr>
    </p:bg>
    <p:spTree>
      <p:nvGrpSpPr>
        <p:cNvPr id="1" name=""/>
        <p:cNvGrpSpPr/>
        <p:nvPr/>
      </p:nvGrpSpPr>
      <p:grpSpPr>
        <a:xfrm>
          <a:off x="0" y="0"/>
          <a:ext cx="0" cy="0"/>
          <a:chOff x="0" y="0"/>
          <a:chExt cx="0" cy="0"/>
        </a:xfrm>
      </p:grpSpPr>
      <p:sp>
        <p:nvSpPr>
          <p:cNvPr id="2" name="Text 0"/>
          <p:cNvSpPr txBox="1"/>
          <p:nvPr/>
        </p:nvSpPr>
        <p:spPr>
          <a:xfrm>
            <a:off x="1097280" y="1097280"/>
            <a:ext cx="9997135" cy="2926080"/>
          </a:xfrm>
          <a:prstGeom prst="rect">
            <a:avLst/>
          </a:prstGeom>
          <a:noFill/>
          <a:ln/>
        </p:spPr>
        <p:txBody>
          <a:bodyPr wrap="square" lIns="0" tIns="0" rIns="0" bIns="0" rtlCol="0" anchor="b">
            <a:normAutofit/>
          </a:bodyPr>
          <a:lstStyle/>
          <a:p>
            <a:pPr algn="ctr" indent="0" marL="0">
              <a:lnSpc>
                <a:spcPct val="95000"/>
              </a:lnSpc>
              <a:buNone/>
            </a:pPr>
            <a:r>
              <a:rPr lang="en-US" sz="4100" b="1" dirty="0">
                <a:solidFill>
                  <a:srgbClr val="FFFFFF"/>
                </a:solidFill>
                <a:latin typeface="Cormorant Garamond" pitchFamily="34" charset="0"/>
                <a:ea typeface="Cormorant Garamond" pitchFamily="34" charset="-122"/>
                <a:cs typeface="Cormorant Garamond" pitchFamily="34" charset="-120"/>
              </a:rPr>
              <a:t>Executive presence is becoming </a:t>
            </a:r>
            <a:pPr algn="ctr" indent="0" marL="0">
              <a:lnSpc>
                <a:spcPct val="95000"/>
              </a:lnSpc>
              <a:buNone/>
            </a:pPr>
            <a:r>
              <a:rPr lang="en-US" sz="4100" b="1" dirty="0">
                <a:solidFill>
                  <a:srgbClr val="B7D3B7"/>
                </a:solidFill>
                <a:latin typeface="Cormorant Garamond" pitchFamily="34" charset="0"/>
                <a:ea typeface="Cormorant Garamond" pitchFamily="34" charset="-122"/>
                <a:cs typeface="Cormorant Garamond" pitchFamily="34" charset="-120"/>
              </a:rPr>
              <a:t>the competitive advantage.</a:t>
            </a:r>
            <a:endParaRPr lang="en-US" sz="4100" dirty="0"/>
          </a:p>
        </p:txBody>
      </p:sp>
      <p:sp>
        <p:nvSpPr>
          <p:cNvPr id="3" name="Text 1"/>
          <p:cNvSpPr txBox="1"/>
          <p:nvPr/>
        </p:nvSpPr>
        <p:spPr>
          <a:xfrm>
            <a:off x="1645920" y="4297680"/>
            <a:ext cx="8899855" cy="1463040"/>
          </a:xfrm>
          <a:prstGeom prst="rect">
            <a:avLst/>
          </a:prstGeom>
          <a:noFill/>
          <a:ln/>
        </p:spPr>
        <p:txBody>
          <a:bodyPr wrap="square" lIns="0" tIns="0" rIns="0" bIns="0" rtlCol="0" anchor="t">
            <a:normAutofit/>
          </a:bodyPr>
          <a:lstStyle/>
          <a:p>
            <a:pPr algn="ctr" indent="0" marL="0">
              <a:lnSpc>
                <a:spcPct val="115000"/>
              </a:lnSpc>
              <a:buNone/>
            </a:pPr>
            <a:r>
              <a:rPr lang="en-US" sz="2000" dirty="0">
                <a:solidFill>
                  <a:srgbClr val="E1F5EE"/>
                </a:solidFill>
                <a:latin typeface="DM Sans" pitchFamily="34" charset="0"/>
                <a:ea typeface="DM Sans" pitchFamily="34" charset="-122"/>
                <a:cs typeface="DM Sans" pitchFamily="34" charset="-120"/>
              </a:rPr>
              <a:t>Knowing what makes you unique, and how to get paid for it, starts with knowing yourself.</a:t>
            </a:r>
            <a:endParaRPr lang="en-US" sz="2000" dirty="0"/>
          </a:p>
        </p:txBody>
      </p:sp>
      <p:sp>
        <p:nvSpPr>
          <p:cNvPr id="25" name="Slide Number Placeholder 0"/>
          <p:cNvSpPr>
            <a:spLocks noGrp="1"/>
          </p:cNvSpPr>
          <p:nvPr>
            <p:ph type="sldNum" sz="quarter" idx="4294967295"/>
          </p:nvPr>
        </p:nvSpPr>
        <p:spPr>
          <a:xfrm>
            <a:off x="11368735"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AAF8A"/>
                </a:solidFill>
                <a:latin typeface="DM Sans"/>
                <a:ea typeface="DM Sans"/>
                <a:cs typeface="DM Sans"/>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1E4A4A"/>
        </a:solidFill>
      </p:bgPr>
    </p:bg>
    <p:spTree>
      <p:nvGrpSpPr>
        <p:cNvPr id="1" name=""/>
        <p:cNvGrpSpPr/>
        <p:nvPr/>
      </p:nvGrpSpPr>
      <p:grpSpPr>
        <a:xfrm>
          <a:off x="0" y="0"/>
          <a:ext cx="0" cy="0"/>
          <a:chOff x="0" y="0"/>
          <a:chExt cx="0" cy="0"/>
        </a:xfrm>
      </p:grpSpPr>
      <p:sp>
        <p:nvSpPr>
          <p:cNvPr id="2" name="Text 0"/>
          <p:cNvSpPr txBox="1"/>
          <p:nvPr/>
        </p:nvSpPr>
        <p:spPr>
          <a:xfrm>
            <a:off x="914400" y="2011680"/>
            <a:ext cx="10362895" cy="411480"/>
          </a:xfrm>
          <a:prstGeom prst="rect">
            <a:avLst/>
          </a:prstGeom>
          <a:noFill/>
          <a:ln/>
        </p:spPr>
        <p:txBody>
          <a:bodyPr wrap="square" lIns="0" tIns="0" rIns="0" bIns="0" rtlCol="0" anchor="ctr">
            <a:normAutofit/>
          </a:bodyPr>
          <a:lstStyle/>
          <a:p>
            <a:pPr algn="ctr" indent="0" marL="0">
              <a:lnSpc>
                <a:spcPct val="100000"/>
              </a:lnSpc>
              <a:buNone/>
            </a:pPr>
            <a:r>
              <a:rPr lang="en-US" sz="1600" b="1" spc="500" kern="0" dirty="0">
                <a:solidFill>
                  <a:srgbClr val="8AAF8A"/>
                </a:solidFill>
                <a:latin typeface="DM Sans" pitchFamily="34" charset="0"/>
                <a:ea typeface="DM Sans" pitchFamily="34" charset="-122"/>
                <a:cs typeface="DM Sans" pitchFamily="34" charset="-120"/>
              </a:rPr>
              <a:t>PART THREE</a:t>
            </a:r>
            <a:endParaRPr lang="en-US" sz="1600" dirty="0"/>
          </a:p>
        </p:txBody>
      </p:sp>
      <p:sp>
        <p:nvSpPr>
          <p:cNvPr id="3" name="Text 1"/>
          <p:cNvSpPr txBox="1"/>
          <p:nvPr/>
        </p:nvSpPr>
        <p:spPr>
          <a:xfrm>
            <a:off x="914400" y="2560320"/>
            <a:ext cx="10362895" cy="1554480"/>
          </a:xfrm>
          <a:prstGeom prst="rect">
            <a:avLst/>
          </a:prstGeom>
          <a:noFill/>
          <a:ln/>
        </p:spPr>
        <p:txBody>
          <a:bodyPr wrap="square" lIns="0" tIns="0" rIns="0" bIns="0" rtlCol="0" anchor="t">
            <a:normAutofit/>
          </a:bodyPr>
          <a:lstStyle/>
          <a:p>
            <a:pPr algn="ctr" indent="0" marL="0">
              <a:lnSpc>
                <a:spcPct val="95000"/>
              </a:lnSpc>
              <a:buNone/>
            </a:pPr>
            <a:r>
              <a:rPr lang="en-US" sz="5400" b="1" dirty="0">
                <a:solidFill>
                  <a:srgbClr val="FFFFFF"/>
                </a:solidFill>
                <a:latin typeface="Cormorant Garamond" pitchFamily="34" charset="0"/>
                <a:ea typeface="Cormorant Garamond" pitchFamily="34" charset="-122"/>
                <a:cs typeface="Cormorant Garamond" pitchFamily="34" charset="-120"/>
              </a:rPr>
              <a:t>The V.O.I.C.E. Framework™</a:t>
            </a:r>
            <a:endParaRPr lang="en-US" sz="5400" dirty="0"/>
          </a:p>
        </p:txBody>
      </p:sp>
      <p:sp>
        <p:nvSpPr>
          <p:cNvPr id="4" name="Text 2"/>
          <p:cNvSpPr txBox="1"/>
          <p:nvPr/>
        </p:nvSpPr>
        <p:spPr>
          <a:xfrm>
            <a:off x="1645920" y="4297680"/>
            <a:ext cx="8899855" cy="1097280"/>
          </a:xfrm>
          <a:prstGeom prst="rect">
            <a:avLst/>
          </a:prstGeom>
          <a:noFill/>
          <a:ln/>
        </p:spPr>
        <p:txBody>
          <a:bodyPr wrap="square" lIns="0" tIns="0" rIns="0" bIns="0" rtlCol="0" anchor="t">
            <a:normAutofit/>
          </a:bodyPr>
          <a:lstStyle/>
          <a:p>
            <a:pPr algn="ctr" indent="0" marL="0">
              <a:lnSpc>
                <a:spcPct val="115000"/>
              </a:lnSpc>
              <a:buNone/>
            </a:pPr>
            <a:r>
              <a:rPr lang="en-US" sz="2000" dirty="0">
                <a:solidFill>
                  <a:srgbClr val="E1F5EE"/>
                </a:solidFill>
                <a:latin typeface="DM Sans" pitchFamily="34" charset="0"/>
                <a:ea typeface="DM Sans" pitchFamily="34" charset="-122"/>
                <a:cs typeface="DM Sans" pitchFamily="34" charset="-120"/>
              </a:rPr>
              <a:t>Twenty-six years of Wall Street negotiation plus five years of deep identity work</a:t>
            </a:r>
            <a:endParaRPr lang="en-US" sz="2000" dirty="0"/>
          </a:p>
        </p:txBody>
      </p:sp>
      <p:sp>
        <p:nvSpPr>
          <p:cNvPr id="25" name="Slide Number Placeholder 0"/>
          <p:cNvSpPr>
            <a:spLocks noGrp="1"/>
          </p:cNvSpPr>
          <p:nvPr>
            <p:ph type="sldNum" sz="quarter" idx="4294967295"/>
          </p:nvPr>
        </p:nvSpPr>
        <p:spPr>
          <a:xfrm>
            <a:off x="11368735"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AAF8A"/>
                </a:solidFill>
                <a:latin typeface="DM Sans"/>
                <a:ea typeface="DM Sans"/>
                <a:cs typeface="DM Sans"/>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AF5EE"/>
        </a:solidFill>
      </p:bgPr>
    </p:bg>
    <p:spTree>
      <p:nvGrpSpPr>
        <p:cNvPr id="1" name=""/>
        <p:cNvGrpSpPr/>
        <p:nvPr/>
      </p:nvGrpSpPr>
      <p:grpSpPr>
        <a:xfrm>
          <a:off x="0" y="0"/>
          <a:ext cx="0" cy="0"/>
          <a:chOff x="0" y="0"/>
          <a:chExt cx="0" cy="0"/>
        </a:xfrm>
      </p:grpSpPr>
      <p:sp>
        <p:nvSpPr>
          <p:cNvPr id="2" name="Text 0"/>
          <p:cNvSpPr txBox="1"/>
          <p:nvPr/>
        </p:nvSpPr>
        <p:spPr>
          <a:xfrm>
            <a:off x="640080" y="548640"/>
            <a:ext cx="10911535" cy="914400"/>
          </a:xfrm>
          <a:prstGeom prst="rect">
            <a:avLst/>
          </a:prstGeom>
          <a:noFill/>
          <a:ln/>
        </p:spPr>
        <p:txBody>
          <a:bodyPr wrap="square" lIns="0" tIns="0" rIns="0" bIns="0" rtlCol="0" anchor="b">
            <a:normAutofit/>
          </a:bodyPr>
          <a:lstStyle/>
          <a:p>
            <a:pPr algn="ctr" indent="0" marL="0">
              <a:lnSpc>
                <a:spcPct val="95000"/>
              </a:lnSpc>
              <a:buNone/>
            </a:pPr>
            <a:r>
              <a:rPr lang="en-US" sz="4000" b="1" dirty="0">
                <a:solidFill>
                  <a:srgbClr val="1B2B2B"/>
                </a:solidFill>
                <a:latin typeface="Cormorant Garamond" pitchFamily="34" charset="0"/>
                <a:ea typeface="Cormorant Garamond" pitchFamily="34" charset="-122"/>
                <a:cs typeface="Cormorant Garamond" pitchFamily="34" charset="-120"/>
              </a:rPr>
              <a:t>The V.O.I.C.E. Framework™</a:t>
            </a:r>
            <a:endParaRPr lang="en-US" sz="4000" dirty="0"/>
          </a:p>
        </p:txBody>
      </p:sp>
      <p:sp>
        <p:nvSpPr>
          <p:cNvPr id="3" name="Shape 1"/>
          <p:cNvSpPr/>
          <p:nvPr/>
        </p:nvSpPr>
        <p:spPr>
          <a:xfrm>
            <a:off x="953994" y="2011680"/>
            <a:ext cx="1554480" cy="1554480"/>
          </a:xfrm>
          <a:prstGeom prst="ellipse">
            <a:avLst/>
          </a:prstGeom>
          <a:solidFill>
            <a:srgbClr val="1E4A4A"/>
          </a:solidFill>
          <a:ln w="12700">
            <a:solidFill>
              <a:srgbClr val="1E4A4A"/>
            </a:solidFill>
            <a:prstDash val="solid"/>
          </a:ln>
        </p:spPr>
      </p:sp>
      <p:sp>
        <p:nvSpPr>
          <p:cNvPr id="4" name="Text 2"/>
          <p:cNvSpPr txBox="1"/>
          <p:nvPr/>
        </p:nvSpPr>
        <p:spPr>
          <a:xfrm>
            <a:off x="953994" y="2011680"/>
            <a:ext cx="1554480" cy="1554480"/>
          </a:xfrm>
          <a:prstGeom prst="rect">
            <a:avLst/>
          </a:prstGeom>
          <a:noFill/>
          <a:ln/>
        </p:spPr>
        <p:txBody>
          <a:bodyPr wrap="square" lIns="0" tIns="0" rIns="0" bIns="0" rtlCol="0" anchor="ctr">
            <a:normAutofit/>
          </a:bodyPr>
          <a:lstStyle/>
          <a:p>
            <a:pPr algn="ctr" indent="0" marL="0">
              <a:lnSpc>
                <a:spcPct val="100000"/>
              </a:lnSpc>
              <a:buNone/>
            </a:pPr>
            <a:r>
              <a:rPr lang="en-US" sz="6400" b="1" dirty="0">
                <a:solidFill>
                  <a:srgbClr val="FFFFFF"/>
                </a:solidFill>
                <a:latin typeface="Cormorant Garamond" pitchFamily="34" charset="0"/>
                <a:ea typeface="Cormorant Garamond" pitchFamily="34" charset="-122"/>
                <a:cs typeface="Cormorant Garamond" pitchFamily="34" charset="-120"/>
              </a:rPr>
              <a:t>V</a:t>
            </a:r>
            <a:endParaRPr lang="en-US" sz="6400" dirty="0"/>
          </a:p>
        </p:txBody>
      </p:sp>
      <p:sp>
        <p:nvSpPr>
          <p:cNvPr id="5" name="Text 3"/>
          <p:cNvSpPr txBox="1"/>
          <p:nvPr/>
        </p:nvSpPr>
        <p:spPr>
          <a:xfrm>
            <a:off x="502920" y="3840480"/>
            <a:ext cx="2456627" cy="1280160"/>
          </a:xfrm>
          <a:prstGeom prst="rect">
            <a:avLst/>
          </a:prstGeom>
          <a:noFill/>
          <a:ln/>
        </p:spPr>
        <p:txBody>
          <a:bodyPr wrap="square" lIns="0" tIns="0" rIns="0" bIns="0" rtlCol="0" anchor="t">
            <a:normAutofit/>
          </a:bodyPr>
          <a:lstStyle/>
          <a:p>
            <a:pPr algn="ctr" indent="0" marL="0">
              <a:lnSpc>
                <a:spcPct val="100000"/>
              </a:lnSpc>
              <a:buNone/>
            </a:pPr>
            <a:r>
              <a:rPr lang="en-US" sz="2600" b="1" dirty="0">
                <a:solidFill>
                  <a:srgbClr val="1E4A4A"/>
                </a:solidFill>
                <a:latin typeface="Cormorant Garamond" pitchFamily="34" charset="0"/>
                <a:ea typeface="Cormorant Garamond" pitchFamily="34" charset="-122"/>
                <a:cs typeface="Cormorant Garamond" pitchFamily="34" charset="-120"/>
              </a:rPr>
              <a:t>Value</a:t>
            </a:r>
            <a:endParaRPr lang="en-US" sz="2600" dirty="0"/>
          </a:p>
        </p:txBody>
      </p:sp>
      <p:sp>
        <p:nvSpPr>
          <p:cNvPr id="6" name="Shape 4"/>
          <p:cNvSpPr/>
          <p:nvPr/>
        </p:nvSpPr>
        <p:spPr>
          <a:xfrm>
            <a:off x="3136301" y="2011680"/>
            <a:ext cx="1554480" cy="1554480"/>
          </a:xfrm>
          <a:prstGeom prst="ellipse">
            <a:avLst/>
          </a:prstGeom>
          <a:solidFill>
            <a:srgbClr val="1E4A4A"/>
          </a:solidFill>
          <a:ln w="12700">
            <a:solidFill>
              <a:srgbClr val="1E4A4A"/>
            </a:solidFill>
            <a:prstDash val="solid"/>
          </a:ln>
        </p:spPr>
      </p:sp>
      <p:sp>
        <p:nvSpPr>
          <p:cNvPr id="7" name="Text 5"/>
          <p:cNvSpPr txBox="1"/>
          <p:nvPr/>
        </p:nvSpPr>
        <p:spPr>
          <a:xfrm>
            <a:off x="3136301" y="2011680"/>
            <a:ext cx="1554480" cy="1554480"/>
          </a:xfrm>
          <a:prstGeom prst="rect">
            <a:avLst/>
          </a:prstGeom>
          <a:noFill/>
          <a:ln/>
        </p:spPr>
        <p:txBody>
          <a:bodyPr wrap="square" lIns="0" tIns="0" rIns="0" bIns="0" rtlCol="0" anchor="ctr">
            <a:normAutofit/>
          </a:bodyPr>
          <a:lstStyle/>
          <a:p>
            <a:pPr algn="ctr" indent="0" marL="0">
              <a:lnSpc>
                <a:spcPct val="100000"/>
              </a:lnSpc>
              <a:buNone/>
            </a:pPr>
            <a:r>
              <a:rPr lang="en-US" sz="6400" b="1" dirty="0">
                <a:solidFill>
                  <a:srgbClr val="FFFFFF"/>
                </a:solidFill>
                <a:latin typeface="Cormorant Garamond" pitchFamily="34" charset="0"/>
                <a:ea typeface="Cormorant Garamond" pitchFamily="34" charset="-122"/>
                <a:cs typeface="Cormorant Garamond" pitchFamily="34" charset="-120"/>
              </a:rPr>
              <a:t>O</a:t>
            </a:r>
            <a:endParaRPr lang="en-US" sz="6400" dirty="0"/>
          </a:p>
        </p:txBody>
      </p:sp>
      <p:sp>
        <p:nvSpPr>
          <p:cNvPr id="8" name="Text 6"/>
          <p:cNvSpPr txBox="1"/>
          <p:nvPr/>
        </p:nvSpPr>
        <p:spPr>
          <a:xfrm>
            <a:off x="2685227" y="3840480"/>
            <a:ext cx="2456627" cy="1280160"/>
          </a:xfrm>
          <a:prstGeom prst="rect">
            <a:avLst/>
          </a:prstGeom>
          <a:noFill/>
          <a:ln/>
        </p:spPr>
        <p:txBody>
          <a:bodyPr wrap="square" lIns="0" tIns="0" rIns="0" bIns="0" rtlCol="0" anchor="t">
            <a:normAutofit/>
          </a:bodyPr>
          <a:lstStyle/>
          <a:p>
            <a:pPr algn="ctr" indent="0" marL="0">
              <a:lnSpc>
                <a:spcPct val="100000"/>
              </a:lnSpc>
              <a:buNone/>
            </a:pPr>
            <a:r>
              <a:rPr lang="en-US" sz="2600" b="1" dirty="0">
                <a:solidFill>
                  <a:srgbClr val="1E4A4A"/>
                </a:solidFill>
                <a:latin typeface="Cormorant Garamond" pitchFamily="34" charset="0"/>
                <a:ea typeface="Cormorant Garamond" pitchFamily="34" charset="-122"/>
                <a:cs typeface="Cormorant Garamond" pitchFamily="34" charset="-120"/>
              </a:rPr>
              <a:t>Ownership</a:t>
            </a:r>
            <a:endParaRPr lang="en-US" sz="2600" dirty="0"/>
          </a:p>
        </p:txBody>
      </p:sp>
      <p:sp>
        <p:nvSpPr>
          <p:cNvPr id="9" name="Shape 7"/>
          <p:cNvSpPr/>
          <p:nvPr/>
        </p:nvSpPr>
        <p:spPr>
          <a:xfrm>
            <a:off x="5318608" y="2011680"/>
            <a:ext cx="1554480" cy="1554480"/>
          </a:xfrm>
          <a:prstGeom prst="ellipse">
            <a:avLst/>
          </a:prstGeom>
          <a:solidFill>
            <a:srgbClr val="1E4A4A"/>
          </a:solidFill>
          <a:ln w="12700">
            <a:solidFill>
              <a:srgbClr val="1E4A4A"/>
            </a:solidFill>
            <a:prstDash val="solid"/>
          </a:ln>
        </p:spPr>
      </p:sp>
      <p:sp>
        <p:nvSpPr>
          <p:cNvPr id="10" name="Text 8"/>
          <p:cNvSpPr txBox="1"/>
          <p:nvPr/>
        </p:nvSpPr>
        <p:spPr>
          <a:xfrm>
            <a:off x="5318608" y="2011680"/>
            <a:ext cx="1554480" cy="1554480"/>
          </a:xfrm>
          <a:prstGeom prst="rect">
            <a:avLst/>
          </a:prstGeom>
          <a:noFill/>
          <a:ln/>
        </p:spPr>
        <p:txBody>
          <a:bodyPr wrap="square" lIns="0" tIns="0" rIns="0" bIns="0" rtlCol="0" anchor="ctr">
            <a:normAutofit/>
          </a:bodyPr>
          <a:lstStyle/>
          <a:p>
            <a:pPr algn="ctr" indent="0" marL="0">
              <a:lnSpc>
                <a:spcPct val="100000"/>
              </a:lnSpc>
              <a:buNone/>
            </a:pPr>
            <a:r>
              <a:rPr lang="en-US" sz="6400" b="1" dirty="0">
                <a:solidFill>
                  <a:srgbClr val="FFFFFF"/>
                </a:solidFill>
                <a:latin typeface="Cormorant Garamond" pitchFamily="34" charset="0"/>
                <a:ea typeface="Cormorant Garamond" pitchFamily="34" charset="-122"/>
                <a:cs typeface="Cormorant Garamond" pitchFamily="34" charset="-120"/>
              </a:rPr>
              <a:t>I</a:t>
            </a:r>
            <a:endParaRPr lang="en-US" sz="6400" dirty="0"/>
          </a:p>
        </p:txBody>
      </p:sp>
      <p:sp>
        <p:nvSpPr>
          <p:cNvPr id="11" name="Text 9"/>
          <p:cNvSpPr txBox="1"/>
          <p:nvPr/>
        </p:nvSpPr>
        <p:spPr>
          <a:xfrm>
            <a:off x="4867534" y="3840480"/>
            <a:ext cx="2456627" cy="1280160"/>
          </a:xfrm>
          <a:prstGeom prst="rect">
            <a:avLst/>
          </a:prstGeom>
          <a:noFill/>
          <a:ln/>
        </p:spPr>
        <p:txBody>
          <a:bodyPr wrap="square" lIns="0" tIns="0" rIns="0" bIns="0" rtlCol="0" anchor="t">
            <a:normAutofit/>
          </a:bodyPr>
          <a:lstStyle/>
          <a:p>
            <a:pPr algn="ctr" indent="0" marL="0">
              <a:lnSpc>
                <a:spcPct val="100000"/>
              </a:lnSpc>
              <a:buNone/>
            </a:pPr>
            <a:r>
              <a:rPr lang="en-US" sz="2600" b="1" dirty="0">
                <a:solidFill>
                  <a:srgbClr val="1E4A4A"/>
                </a:solidFill>
                <a:latin typeface="Cormorant Garamond" pitchFamily="34" charset="0"/>
                <a:ea typeface="Cormorant Garamond" pitchFamily="34" charset="-122"/>
                <a:cs typeface="Cormorant Garamond" pitchFamily="34" charset="-120"/>
              </a:rPr>
              <a:t>Identity</a:t>
            </a:r>
            <a:endParaRPr lang="en-US" sz="2600" dirty="0"/>
          </a:p>
        </p:txBody>
      </p:sp>
      <p:sp>
        <p:nvSpPr>
          <p:cNvPr id="12" name="Shape 10"/>
          <p:cNvSpPr/>
          <p:nvPr/>
        </p:nvSpPr>
        <p:spPr>
          <a:xfrm>
            <a:off x="7500915" y="2011680"/>
            <a:ext cx="1554480" cy="1554480"/>
          </a:xfrm>
          <a:prstGeom prst="ellipse">
            <a:avLst/>
          </a:prstGeom>
          <a:solidFill>
            <a:srgbClr val="1E4A4A"/>
          </a:solidFill>
          <a:ln w="12700">
            <a:solidFill>
              <a:srgbClr val="1E4A4A"/>
            </a:solidFill>
            <a:prstDash val="solid"/>
          </a:ln>
        </p:spPr>
      </p:sp>
      <p:sp>
        <p:nvSpPr>
          <p:cNvPr id="13" name="Text 11"/>
          <p:cNvSpPr txBox="1"/>
          <p:nvPr/>
        </p:nvSpPr>
        <p:spPr>
          <a:xfrm>
            <a:off x="7500915" y="2011680"/>
            <a:ext cx="1554480" cy="1554480"/>
          </a:xfrm>
          <a:prstGeom prst="rect">
            <a:avLst/>
          </a:prstGeom>
          <a:noFill/>
          <a:ln/>
        </p:spPr>
        <p:txBody>
          <a:bodyPr wrap="square" lIns="0" tIns="0" rIns="0" bIns="0" rtlCol="0" anchor="ctr">
            <a:normAutofit/>
          </a:bodyPr>
          <a:lstStyle/>
          <a:p>
            <a:pPr algn="ctr" indent="0" marL="0">
              <a:lnSpc>
                <a:spcPct val="100000"/>
              </a:lnSpc>
              <a:buNone/>
            </a:pPr>
            <a:r>
              <a:rPr lang="en-US" sz="6400" b="1" dirty="0">
                <a:solidFill>
                  <a:srgbClr val="FFFFFF"/>
                </a:solidFill>
                <a:latin typeface="Cormorant Garamond" pitchFamily="34" charset="0"/>
                <a:ea typeface="Cormorant Garamond" pitchFamily="34" charset="-122"/>
                <a:cs typeface="Cormorant Garamond" pitchFamily="34" charset="-120"/>
              </a:rPr>
              <a:t>C</a:t>
            </a:r>
            <a:endParaRPr lang="en-US" sz="6400" dirty="0"/>
          </a:p>
        </p:txBody>
      </p:sp>
      <p:sp>
        <p:nvSpPr>
          <p:cNvPr id="14" name="Text 12"/>
          <p:cNvSpPr txBox="1"/>
          <p:nvPr/>
        </p:nvSpPr>
        <p:spPr>
          <a:xfrm>
            <a:off x="7049841" y="3840480"/>
            <a:ext cx="2456627" cy="1280160"/>
          </a:xfrm>
          <a:prstGeom prst="rect">
            <a:avLst/>
          </a:prstGeom>
          <a:noFill/>
          <a:ln/>
        </p:spPr>
        <p:txBody>
          <a:bodyPr wrap="square" lIns="0" tIns="0" rIns="0" bIns="0" rtlCol="0" anchor="t">
            <a:normAutofit/>
          </a:bodyPr>
          <a:lstStyle/>
          <a:p>
            <a:pPr algn="ctr" indent="0" marL="0">
              <a:lnSpc>
                <a:spcPct val="100000"/>
              </a:lnSpc>
              <a:buNone/>
            </a:pPr>
            <a:r>
              <a:rPr lang="en-US" sz="2200" b="1" dirty="0">
                <a:solidFill>
                  <a:srgbClr val="1E4A4A"/>
                </a:solidFill>
                <a:latin typeface="Cormorant Garamond" pitchFamily="34" charset="0"/>
                <a:ea typeface="Cormorant Garamond" pitchFamily="34" charset="-122"/>
                <a:cs typeface="Cormorant Garamond" pitchFamily="34" charset="-120"/>
              </a:rPr>
              <a:t>Communication</a:t>
            </a:r>
            <a:endParaRPr lang="en-US" sz="2200" dirty="0"/>
          </a:p>
        </p:txBody>
      </p:sp>
      <p:sp>
        <p:nvSpPr>
          <p:cNvPr id="15" name="Shape 13"/>
          <p:cNvSpPr/>
          <p:nvPr/>
        </p:nvSpPr>
        <p:spPr>
          <a:xfrm>
            <a:off x="9683222" y="2011680"/>
            <a:ext cx="1554480" cy="1554480"/>
          </a:xfrm>
          <a:prstGeom prst="ellipse">
            <a:avLst/>
          </a:prstGeom>
          <a:solidFill>
            <a:srgbClr val="1E4A4A"/>
          </a:solidFill>
          <a:ln w="12700">
            <a:solidFill>
              <a:srgbClr val="1E4A4A"/>
            </a:solidFill>
            <a:prstDash val="solid"/>
          </a:ln>
        </p:spPr>
      </p:sp>
      <p:sp>
        <p:nvSpPr>
          <p:cNvPr id="16" name="Text 14"/>
          <p:cNvSpPr txBox="1"/>
          <p:nvPr/>
        </p:nvSpPr>
        <p:spPr>
          <a:xfrm>
            <a:off x="9683222" y="2011680"/>
            <a:ext cx="1554480" cy="1554480"/>
          </a:xfrm>
          <a:prstGeom prst="rect">
            <a:avLst/>
          </a:prstGeom>
          <a:noFill/>
          <a:ln/>
        </p:spPr>
        <p:txBody>
          <a:bodyPr wrap="square" lIns="0" tIns="0" rIns="0" bIns="0" rtlCol="0" anchor="ctr">
            <a:normAutofit/>
          </a:bodyPr>
          <a:lstStyle/>
          <a:p>
            <a:pPr algn="ctr" indent="0" marL="0">
              <a:lnSpc>
                <a:spcPct val="100000"/>
              </a:lnSpc>
              <a:buNone/>
            </a:pPr>
            <a:r>
              <a:rPr lang="en-US" sz="6400" b="1" dirty="0">
                <a:solidFill>
                  <a:srgbClr val="FFFFFF"/>
                </a:solidFill>
                <a:latin typeface="Cormorant Garamond" pitchFamily="34" charset="0"/>
                <a:ea typeface="Cormorant Garamond" pitchFamily="34" charset="-122"/>
                <a:cs typeface="Cormorant Garamond" pitchFamily="34" charset="-120"/>
              </a:rPr>
              <a:t>E</a:t>
            </a:r>
            <a:endParaRPr lang="en-US" sz="6400" dirty="0"/>
          </a:p>
        </p:txBody>
      </p:sp>
      <p:sp>
        <p:nvSpPr>
          <p:cNvPr id="17" name="Text 15"/>
          <p:cNvSpPr txBox="1"/>
          <p:nvPr/>
        </p:nvSpPr>
        <p:spPr>
          <a:xfrm>
            <a:off x="9232148" y="3840480"/>
            <a:ext cx="2456627" cy="1280160"/>
          </a:xfrm>
          <a:prstGeom prst="rect">
            <a:avLst/>
          </a:prstGeom>
          <a:noFill/>
          <a:ln/>
        </p:spPr>
        <p:txBody>
          <a:bodyPr wrap="square" lIns="0" tIns="0" rIns="0" bIns="0" rtlCol="0" anchor="t">
            <a:normAutofit/>
          </a:bodyPr>
          <a:lstStyle/>
          <a:p>
            <a:pPr algn="ctr" indent="0" marL="0">
              <a:lnSpc>
                <a:spcPct val="100000"/>
              </a:lnSpc>
              <a:buNone/>
            </a:pPr>
            <a:r>
              <a:rPr lang="en-US" sz="2600" b="1" dirty="0">
                <a:solidFill>
                  <a:srgbClr val="1E4A4A"/>
                </a:solidFill>
                <a:latin typeface="Cormorant Garamond" pitchFamily="34" charset="0"/>
                <a:ea typeface="Cormorant Garamond" pitchFamily="34" charset="-122"/>
                <a:cs typeface="Cormorant Garamond" pitchFamily="34" charset="-120"/>
              </a:rPr>
              <a:t>Execution</a:t>
            </a:r>
            <a:endParaRPr lang="en-US" sz="2600" dirty="0"/>
          </a:p>
        </p:txBody>
      </p:sp>
      <p:sp>
        <p:nvSpPr>
          <p:cNvPr id="25" name="Slide Number Placeholder 0"/>
          <p:cNvSpPr>
            <a:spLocks noGrp="1"/>
          </p:cNvSpPr>
          <p:nvPr>
            <p:ph type="sldNum" sz="quarter" idx="4294967295"/>
          </p:nvPr>
        </p:nvSpPr>
        <p:spPr>
          <a:xfrm>
            <a:off x="11368735"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AA6A3"/>
                </a:solidFill>
                <a:latin typeface="DM Sans"/>
                <a:ea typeface="DM Sans"/>
                <a:cs typeface="DM Sans"/>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1E4A4A"/>
        </a:solidFill>
      </p:bgPr>
    </p:bg>
    <p:spTree>
      <p:nvGrpSpPr>
        <p:cNvPr id="1" name=""/>
        <p:cNvGrpSpPr/>
        <p:nvPr/>
      </p:nvGrpSpPr>
      <p:grpSpPr>
        <a:xfrm>
          <a:off x="0" y="0"/>
          <a:ext cx="0" cy="0"/>
          <a:chOff x="0" y="0"/>
          <a:chExt cx="0" cy="0"/>
        </a:xfrm>
      </p:grpSpPr>
      <p:sp>
        <p:nvSpPr>
          <p:cNvPr id="2" name="Text 0"/>
          <p:cNvSpPr txBox="1"/>
          <p:nvPr/>
        </p:nvSpPr>
        <p:spPr>
          <a:xfrm>
            <a:off x="1097280" y="1097280"/>
            <a:ext cx="9997135" cy="2926080"/>
          </a:xfrm>
          <a:prstGeom prst="rect">
            <a:avLst/>
          </a:prstGeom>
          <a:noFill/>
          <a:ln/>
        </p:spPr>
        <p:txBody>
          <a:bodyPr wrap="square" lIns="0" tIns="0" rIns="0" bIns="0" rtlCol="0" anchor="b">
            <a:normAutofit/>
          </a:bodyPr>
          <a:lstStyle/>
          <a:p>
            <a:pPr algn="ctr" indent="0" marL="0">
              <a:lnSpc>
                <a:spcPct val="95000"/>
              </a:lnSpc>
              <a:buNone/>
            </a:pPr>
            <a:r>
              <a:rPr lang="en-US" sz="3600" b="1" dirty="0">
                <a:solidFill>
                  <a:srgbClr val="FFFFFF"/>
                </a:solidFill>
                <a:latin typeface="Cormorant Garamond" pitchFamily="34" charset="0"/>
                <a:ea typeface="Cormorant Garamond" pitchFamily="34" charset="-122"/>
                <a:cs typeface="Cormorant Garamond" pitchFamily="34" charset="-120"/>
              </a:rPr>
              <a:t>Negotiation is the vehicle. </a:t>
            </a:r>
            <a:pPr algn="ctr" indent="0" marL="0">
              <a:lnSpc>
                <a:spcPct val="95000"/>
              </a:lnSpc>
              <a:buNone/>
            </a:pPr>
            <a:r>
              <a:rPr lang="en-US" sz="3600" b="1" dirty="0">
                <a:solidFill>
                  <a:srgbClr val="B7D3B7"/>
                </a:solidFill>
                <a:latin typeface="Cormorant Garamond" pitchFamily="34" charset="0"/>
                <a:ea typeface="Cormorant Garamond" pitchFamily="34" charset="-122"/>
                <a:cs typeface="Cormorant Garamond" pitchFamily="34" charset="-120"/>
              </a:rPr>
              <a:t>Transformation is the destination.</a:t>
            </a:r>
            <a:endParaRPr lang="en-US" sz="3600" dirty="0"/>
          </a:p>
        </p:txBody>
      </p:sp>
      <p:sp>
        <p:nvSpPr>
          <p:cNvPr id="3" name="Text 1"/>
          <p:cNvSpPr txBox="1"/>
          <p:nvPr/>
        </p:nvSpPr>
        <p:spPr>
          <a:xfrm>
            <a:off x="1645920" y="4297680"/>
            <a:ext cx="8899855" cy="1463040"/>
          </a:xfrm>
          <a:prstGeom prst="rect">
            <a:avLst/>
          </a:prstGeom>
          <a:noFill/>
          <a:ln/>
        </p:spPr>
        <p:txBody>
          <a:bodyPr wrap="square" lIns="0" tIns="0" rIns="0" bIns="0" rtlCol="0" anchor="t">
            <a:normAutofit/>
          </a:bodyPr>
          <a:lstStyle/>
          <a:p>
            <a:pPr algn="ctr" indent="0" marL="0">
              <a:lnSpc>
                <a:spcPct val="115000"/>
              </a:lnSpc>
              <a:buNone/>
            </a:pPr>
            <a:r>
              <a:rPr lang="en-US" sz="2000" dirty="0">
                <a:solidFill>
                  <a:srgbClr val="E1F5EE"/>
                </a:solidFill>
                <a:latin typeface="DM Sans" pitchFamily="34" charset="0"/>
                <a:ea typeface="DM Sans" pitchFamily="34" charset="-122"/>
                <a:cs typeface="DM Sans" pitchFamily="34" charset="-120"/>
              </a:rPr>
              <a:t>Every part of the V.O.I.C.E. Framework combines real-world strategy with the identity work underneath it.</a:t>
            </a:r>
            <a:endParaRPr lang="en-US" sz="2000" dirty="0"/>
          </a:p>
        </p:txBody>
      </p:sp>
      <p:sp>
        <p:nvSpPr>
          <p:cNvPr id="25" name="Slide Number Placeholder 0"/>
          <p:cNvSpPr>
            <a:spLocks noGrp="1"/>
          </p:cNvSpPr>
          <p:nvPr>
            <p:ph type="sldNum" sz="quarter" idx="4294967295"/>
          </p:nvPr>
        </p:nvSpPr>
        <p:spPr>
          <a:xfrm>
            <a:off x="11368735"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AAF8A"/>
                </a:solidFill>
                <a:latin typeface="DM Sans"/>
                <a:ea typeface="DM Sans"/>
                <a:cs typeface="DM Sans"/>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1E4A4A"/>
        </a:solidFill>
      </p:bgPr>
    </p:bg>
    <p:spTree>
      <p:nvGrpSpPr>
        <p:cNvPr id="1" name=""/>
        <p:cNvGrpSpPr/>
        <p:nvPr/>
      </p:nvGrpSpPr>
      <p:grpSpPr>
        <a:xfrm>
          <a:off x="0" y="0"/>
          <a:ext cx="0" cy="0"/>
          <a:chOff x="0" y="0"/>
          <a:chExt cx="0" cy="0"/>
        </a:xfrm>
      </p:grpSpPr>
      <p:sp>
        <p:nvSpPr>
          <p:cNvPr id="2" name="Text 0"/>
          <p:cNvSpPr txBox="1"/>
          <p:nvPr/>
        </p:nvSpPr>
        <p:spPr>
          <a:xfrm>
            <a:off x="822960" y="822960"/>
            <a:ext cx="10545775" cy="365760"/>
          </a:xfrm>
          <a:prstGeom prst="rect">
            <a:avLst/>
          </a:prstGeom>
          <a:noFill/>
          <a:ln/>
        </p:spPr>
        <p:txBody>
          <a:bodyPr wrap="square" lIns="0" tIns="0" rIns="0" bIns="0" rtlCol="0" anchor="ctr">
            <a:normAutofit/>
          </a:bodyPr>
          <a:lstStyle/>
          <a:p>
            <a:pPr algn="l" indent="0" marL="0">
              <a:lnSpc>
                <a:spcPct val="100000"/>
              </a:lnSpc>
              <a:buNone/>
            </a:pPr>
            <a:r>
              <a:rPr lang="en-US" sz="1400" b="1" spc="400" kern="0" dirty="0">
                <a:solidFill>
                  <a:srgbClr val="8AAF8A"/>
                </a:solidFill>
                <a:latin typeface="DM Sans" pitchFamily="34" charset="0"/>
                <a:ea typeface="DM Sans" pitchFamily="34" charset="-122"/>
                <a:cs typeface="DM Sans" pitchFamily="34" charset="-120"/>
              </a:rPr>
              <a:t>THE V.O.I.C.E. FRAMEWORK · PILLAR 1 OF 5</a:t>
            </a:r>
            <a:endParaRPr lang="en-US" sz="1400" dirty="0"/>
          </a:p>
        </p:txBody>
      </p:sp>
      <p:sp>
        <p:nvSpPr>
          <p:cNvPr id="3" name="Text 1"/>
          <p:cNvSpPr txBox="1"/>
          <p:nvPr/>
        </p:nvSpPr>
        <p:spPr>
          <a:xfrm>
            <a:off x="640080" y="1280160"/>
            <a:ext cx="3657600" cy="4572000"/>
          </a:xfrm>
          <a:prstGeom prst="rect">
            <a:avLst/>
          </a:prstGeom>
          <a:noFill/>
          <a:ln/>
        </p:spPr>
        <p:txBody>
          <a:bodyPr wrap="square" lIns="0" tIns="0" rIns="0" bIns="0" rtlCol="0" anchor="ctr">
            <a:normAutofit/>
          </a:bodyPr>
          <a:lstStyle/>
          <a:p>
            <a:pPr algn="ctr" indent="0" marL="0">
              <a:lnSpc>
                <a:spcPct val="100000"/>
              </a:lnSpc>
              <a:buNone/>
            </a:pPr>
            <a:r>
              <a:rPr lang="en-US" sz="28000" b="1" dirty="0">
                <a:solidFill>
                  <a:srgbClr val="8AAF8A"/>
                </a:solidFill>
                <a:latin typeface="Cormorant Garamond" pitchFamily="34" charset="0"/>
                <a:ea typeface="Cormorant Garamond" pitchFamily="34" charset="-122"/>
                <a:cs typeface="Cormorant Garamond" pitchFamily="34" charset="-120"/>
              </a:rPr>
              <a:t>V</a:t>
            </a:r>
            <a:endParaRPr lang="en-US" sz="28000" dirty="0"/>
          </a:p>
        </p:txBody>
      </p:sp>
      <p:sp>
        <p:nvSpPr>
          <p:cNvPr id="4" name="Text 2"/>
          <p:cNvSpPr txBox="1"/>
          <p:nvPr/>
        </p:nvSpPr>
        <p:spPr>
          <a:xfrm>
            <a:off x="4572000" y="2011680"/>
            <a:ext cx="6949440" cy="1188720"/>
          </a:xfrm>
          <a:prstGeom prst="rect">
            <a:avLst/>
          </a:prstGeom>
          <a:noFill/>
          <a:ln/>
        </p:spPr>
        <p:txBody>
          <a:bodyPr wrap="square" lIns="0" tIns="0" rIns="0" bIns="0" rtlCol="0" anchor="b">
            <a:normAutofit/>
          </a:bodyPr>
          <a:lstStyle/>
          <a:p>
            <a:pPr algn="l" indent="0" marL="0">
              <a:lnSpc>
                <a:spcPct val="95000"/>
              </a:lnSpc>
              <a:buNone/>
            </a:pPr>
            <a:r>
              <a:rPr lang="en-US" sz="6000" b="1" dirty="0">
                <a:solidFill>
                  <a:srgbClr val="FFFFFF"/>
                </a:solidFill>
                <a:latin typeface="Cormorant Garamond" pitchFamily="34" charset="0"/>
                <a:ea typeface="Cormorant Garamond" pitchFamily="34" charset="-122"/>
                <a:cs typeface="Cormorant Garamond" pitchFamily="34" charset="-120"/>
              </a:rPr>
              <a:t>Value</a:t>
            </a:r>
            <a:endParaRPr lang="en-US" sz="6000" dirty="0"/>
          </a:p>
        </p:txBody>
      </p:sp>
      <p:sp>
        <p:nvSpPr>
          <p:cNvPr id="5" name="Text 3"/>
          <p:cNvSpPr txBox="1"/>
          <p:nvPr/>
        </p:nvSpPr>
        <p:spPr>
          <a:xfrm>
            <a:off x="4572000" y="3429000"/>
            <a:ext cx="6766560" cy="1828800"/>
          </a:xfrm>
          <a:prstGeom prst="rect">
            <a:avLst/>
          </a:prstGeom>
          <a:noFill/>
          <a:ln/>
        </p:spPr>
        <p:txBody>
          <a:bodyPr wrap="square" lIns="0" tIns="0" rIns="0" bIns="0" rtlCol="0" anchor="t">
            <a:normAutofit/>
          </a:bodyPr>
          <a:lstStyle/>
          <a:p>
            <a:pPr algn="l" indent="0" marL="0">
              <a:lnSpc>
                <a:spcPct val="105000"/>
              </a:lnSpc>
              <a:buNone/>
            </a:pPr>
            <a:r>
              <a:rPr lang="en-US" sz="3100" i="1" dirty="0">
                <a:solidFill>
                  <a:srgbClr val="E1F5EE"/>
                </a:solidFill>
                <a:latin typeface="Cormorant Garamond" pitchFamily="34" charset="0"/>
                <a:ea typeface="Cormorant Garamond" pitchFamily="34" charset="-122"/>
                <a:cs typeface="Cormorant Garamond" pitchFamily="34" charset="-120"/>
              </a:rPr>
              <a:t>Learn to see your value </a:t>
            </a:r>
            <a:pPr algn="l" indent="0" marL="0">
              <a:lnSpc>
                <a:spcPct val="105000"/>
              </a:lnSpc>
              <a:buNone/>
            </a:pPr>
            <a:r>
              <a:rPr lang="en-US" sz="3100" i="1" dirty="0">
                <a:solidFill>
                  <a:srgbClr val="B7D3B7"/>
                </a:solidFill>
                <a:latin typeface="Cormorant Garamond" pitchFamily="34" charset="0"/>
                <a:ea typeface="Cormorant Garamond" pitchFamily="34" charset="-122"/>
                <a:cs typeface="Cormorant Garamond" pitchFamily="34" charset="-120"/>
              </a:rPr>
              <a:t>before you ask others to.</a:t>
            </a:r>
            <a:endParaRPr lang="en-US" sz="3100" dirty="0"/>
          </a:p>
        </p:txBody>
      </p:sp>
      <p:sp>
        <p:nvSpPr>
          <p:cNvPr id="25" name="Slide Number Placeholder 0"/>
          <p:cNvSpPr>
            <a:spLocks noGrp="1"/>
          </p:cNvSpPr>
          <p:nvPr>
            <p:ph type="sldNum" sz="quarter" idx="4294967295"/>
          </p:nvPr>
        </p:nvSpPr>
        <p:spPr>
          <a:xfrm>
            <a:off x="11368735"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AAF8A"/>
                </a:solidFill>
                <a:latin typeface="DM Sans"/>
                <a:ea typeface="DM Sans"/>
                <a:cs typeface="DM Sans"/>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22960" y="640080"/>
            <a:ext cx="10545775" cy="365760"/>
          </a:xfrm>
          <a:prstGeom prst="rect">
            <a:avLst/>
          </a:prstGeom>
          <a:noFill/>
          <a:ln/>
        </p:spPr>
        <p:txBody>
          <a:bodyPr wrap="square" lIns="0" tIns="0" rIns="0" bIns="0" rtlCol="0" anchor="ctr">
            <a:normAutofit/>
          </a:bodyPr>
          <a:lstStyle/>
          <a:p>
            <a:pPr algn="l" indent="0" marL="0">
              <a:lnSpc>
                <a:spcPct val="100000"/>
              </a:lnSpc>
              <a:buNone/>
            </a:pPr>
            <a:r>
              <a:rPr lang="en-US" sz="1400" b="1" spc="400" kern="0" dirty="0">
                <a:solidFill>
                  <a:srgbClr val="8AAF8A"/>
                </a:solidFill>
                <a:latin typeface="DM Sans" pitchFamily="34" charset="0"/>
                <a:ea typeface="DM Sans" pitchFamily="34" charset="-122"/>
                <a:cs typeface="DM Sans" pitchFamily="34" charset="-120"/>
              </a:rPr>
              <a:t>THE BELIEF VALUE BREAKS</a:t>
            </a:r>
            <a:endParaRPr lang="en-US" sz="1400" dirty="0"/>
          </a:p>
        </p:txBody>
      </p:sp>
      <p:sp>
        <p:nvSpPr>
          <p:cNvPr id="3" name="Shape 1"/>
          <p:cNvSpPr/>
          <p:nvPr/>
        </p:nvSpPr>
        <p:spPr>
          <a:xfrm>
            <a:off x="822960" y="1325880"/>
            <a:ext cx="4815688" cy="4754880"/>
          </a:xfrm>
          <a:prstGeom prst="roundRect">
            <a:avLst>
              <a:gd name="adj" fmla="val 2308"/>
            </a:avLst>
          </a:prstGeom>
          <a:solidFill>
            <a:srgbClr val="EFEAE2"/>
          </a:solidFill>
          <a:ln w="12700">
            <a:solidFill>
              <a:srgbClr val="EFEAE2"/>
            </a:solidFill>
            <a:prstDash val="solid"/>
          </a:ln>
        </p:spPr>
      </p:sp>
      <p:sp>
        <p:nvSpPr>
          <p:cNvPr id="4" name="Text 2"/>
          <p:cNvSpPr txBox="1"/>
          <p:nvPr/>
        </p:nvSpPr>
        <p:spPr>
          <a:xfrm>
            <a:off x="1234440" y="1737360"/>
            <a:ext cx="3992728" cy="365760"/>
          </a:xfrm>
          <a:prstGeom prst="rect">
            <a:avLst/>
          </a:prstGeom>
          <a:noFill/>
          <a:ln/>
        </p:spPr>
        <p:txBody>
          <a:bodyPr wrap="square" lIns="0" tIns="0" rIns="0" bIns="0" rtlCol="0" anchor="t">
            <a:normAutofit/>
          </a:bodyPr>
          <a:lstStyle/>
          <a:p>
            <a:pPr algn="l" indent="0" marL="0">
              <a:lnSpc>
                <a:spcPct val="100000"/>
              </a:lnSpc>
              <a:buNone/>
            </a:pPr>
            <a:r>
              <a:rPr lang="en-US" sz="1300" b="1" spc="300" kern="0" dirty="0">
                <a:solidFill>
                  <a:srgbClr val="5E6B68"/>
                </a:solidFill>
                <a:latin typeface="DM Sans" pitchFamily="34" charset="0"/>
                <a:ea typeface="DM Sans" pitchFamily="34" charset="-122"/>
                <a:cs typeface="DM Sans" pitchFamily="34" charset="-120"/>
              </a:rPr>
              <a:t>WHAT MOST THINK</a:t>
            </a:r>
            <a:endParaRPr lang="en-US" sz="1300" dirty="0"/>
          </a:p>
        </p:txBody>
      </p:sp>
      <p:sp>
        <p:nvSpPr>
          <p:cNvPr id="5" name="Text 3"/>
          <p:cNvSpPr txBox="1"/>
          <p:nvPr/>
        </p:nvSpPr>
        <p:spPr>
          <a:xfrm>
            <a:off x="1234440" y="2331720"/>
            <a:ext cx="3992728" cy="3291840"/>
          </a:xfrm>
          <a:prstGeom prst="rect">
            <a:avLst/>
          </a:prstGeom>
          <a:noFill/>
          <a:ln/>
        </p:spPr>
        <p:txBody>
          <a:bodyPr wrap="square" lIns="0" tIns="0" rIns="0" bIns="0" rtlCol="0" anchor="ctr">
            <a:normAutofit/>
          </a:bodyPr>
          <a:lstStyle/>
          <a:p>
            <a:pPr algn="l" indent="0" marL="0">
              <a:lnSpc>
                <a:spcPct val="105000"/>
              </a:lnSpc>
              <a:buNone/>
            </a:pPr>
            <a:r>
              <a:rPr lang="en-US" sz="3400" b="1" dirty="0">
                <a:solidFill>
                  <a:srgbClr val="1B2B2B"/>
                </a:solidFill>
                <a:latin typeface="Cormorant Garamond" pitchFamily="34" charset="0"/>
                <a:ea typeface="Cormorant Garamond" pitchFamily="34" charset="-122"/>
                <a:cs typeface="Cormorant Garamond" pitchFamily="34" charset="-120"/>
              </a:rPr>
              <a:t>"My value is how hard I work."</a:t>
            </a:r>
            <a:endParaRPr lang="en-US" sz="3400" dirty="0"/>
          </a:p>
        </p:txBody>
      </p:sp>
      <p:sp>
        <p:nvSpPr>
          <p:cNvPr id="6" name="Shape 4"/>
          <p:cNvSpPr/>
          <p:nvPr/>
        </p:nvSpPr>
        <p:spPr>
          <a:xfrm>
            <a:off x="6553048" y="1325880"/>
            <a:ext cx="4815688" cy="4754880"/>
          </a:xfrm>
          <a:prstGeom prst="roundRect">
            <a:avLst>
              <a:gd name="adj" fmla="val 2308"/>
            </a:avLst>
          </a:prstGeom>
          <a:solidFill>
            <a:srgbClr val="1E4A4A"/>
          </a:solidFill>
          <a:ln w="12700">
            <a:solidFill>
              <a:srgbClr val="1E4A4A"/>
            </a:solidFill>
            <a:prstDash val="solid"/>
          </a:ln>
        </p:spPr>
      </p:sp>
      <p:sp>
        <p:nvSpPr>
          <p:cNvPr id="7" name="Text 5"/>
          <p:cNvSpPr txBox="1"/>
          <p:nvPr/>
        </p:nvSpPr>
        <p:spPr>
          <a:xfrm>
            <a:off x="6964528" y="1737360"/>
            <a:ext cx="3992728" cy="365760"/>
          </a:xfrm>
          <a:prstGeom prst="rect">
            <a:avLst/>
          </a:prstGeom>
          <a:noFill/>
          <a:ln/>
        </p:spPr>
        <p:txBody>
          <a:bodyPr wrap="square" lIns="0" tIns="0" rIns="0" bIns="0" rtlCol="0" anchor="t">
            <a:normAutofit/>
          </a:bodyPr>
          <a:lstStyle/>
          <a:p>
            <a:pPr algn="l" indent="0" marL="0">
              <a:lnSpc>
                <a:spcPct val="100000"/>
              </a:lnSpc>
              <a:buNone/>
            </a:pPr>
            <a:r>
              <a:rPr lang="en-US" sz="1300" b="1" spc="300" kern="0" dirty="0">
                <a:solidFill>
                  <a:srgbClr val="B7D3B7"/>
                </a:solidFill>
                <a:latin typeface="DM Sans" pitchFamily="34" charset="0"/>
                <a:ea typeface="DM Sans" pitchFamily="34" charset="-122"/>
                <a:cs typeface="DM Sans" pitchFamily="34" charset="-120"/>
              </a:rPr>
              <a:t>THE REALITY</a:t>
            </a:r>
            <a:endParaRPr lang="en-US" sz="1300" dirty="0"/>
          </a:p>
        </p:txBody>
      </p:sp>
      <p:sp>
        <p:nvSpPr>
          <p:cNvPr id="8" name="Text 6"/>
          <p:cNvSpPr txBox="1"/>
          <p:nvPr/>
        </p:nvSpPr>
        <p:spPr>
          <a:xfrm>
            <a:off x="6964528" y="2331720"/>
            <a:ext cx="3992728" cy="3291840"/>
          </a:xfrm>
          <a:prstGeom prst="rect">
            <a:avLst/>
          </a:prstGeom>
          <a:noFill/>
          <a:ln/>
        </p:spPr>
        <p:txBody>
          <a:bodyPr wrap="square" lIns="0" tIns="0" rIns="0" bIns="0" rtlCol="0" anchor="ctr">
            <a:normAutofit/>
          </a:bodyPr>
          <a:lstStyle/>
          <a:p>
            <a:pPr algn="l" indent="0" marL="0">
              <a:lnSpc>
                <a:spcPct val="105000"/>
              </a:lnSpc>
              <a:buNone/>
            </a:pPr>
            <a:r>
              <a:rPr lang="en-US" sz="2500" b="1" dirty="0">
                <a:solidFill>
                  <a:srgbClr val="FFFFFF"/>
                </a:solidFill>
                <a:latin typeface="Cormorant Garamond" pitchFamily="34" charset="0"/>
                <a:ea typeface="Cormorant Garamond" pitchFamily="34" charset="-122"/>
                <a:cs typeface="Cormorant Garamond" pitchFamily="34" charset="-120"/>
              </a:rPr>
              <a:t>Companies pay for value. Effort alone never makes it into the comp discussion.</a:t>
            </a:r>
            <a:endParaRPr lang="en-US" sz="2500" dirty="0"/>
          </a:p>
        </p:txBody>
      </p:sp>
      <p:sp>
        <p:nvSpPr>
          <p:cNvPr id="9" name="Text 7"/>
          <p:cNvSpPr txBox="1"/>
          <p:nvPr/>
        </p:nvSpPr>
        <p:spPr>
          <a:xfrm>
            <a:off x="5638648" y="1325880"/>
            <a:ext cx="914400" cy="4754880"/>
          </a:xfrm>
          <a:prstGeom prst="rect">
            <a:avLst/>
          </a:prstGeom>
          <a:noFill/>
          <a:ln/>
        </p:spPr>
        <p:txBody>
          <a:bodyPr wrap="square" lIns="0" tIns="0" rIns="0" bIns="0" rtlCol="0" anchor="ctr">
            <a:normAutofit/>
          </a:bodyPr>
          <a:lstStyle/>
          <a:p>
            <a:pPr algn="ctr" indent="0" marL="0">
              <a:lnSpc>
                <a:spcPct val="100000"/>
              </a:lnSpc>
              <a:buNone/>
            </a:pPr>
            <a:r>
              <a:rPr lang="en-US" sz="4000" b="1" dirty="0">
                <a:solidFill>
                  <a:srgbClr val="8AAF8A"/>
                </a:solidFill>
                <a:latin typeface="DM Sans" pitchFamily="34" charset="0"/>
                <a:ea typeface="DM Sans" pitchFamily="34" charset="-122"/>
                <a:cs typeface="DM Sans" pitchFamily="34" charset="-120"/>
              </a:rPr>
              <a:t>→</a:t>
            </a:r>
            <a:endParaRPr lang="en-US" sz="4000" dirty="0"/>
          </a:p>
        </p:txBody>
      </p:sp>
      <p:sp>
        <p:nvSpPr>
          <p:cNvPr id="25" name="Slide Number Placeholder 0"/>
          <p:cNvSpPr>
            <a:spLocks noGrp="1"/>
          </p:cNvSpPr>
          <p:nvPr>
            <p:ph type="sldNum" sz="quarter" idx="4294967295"/>
          </p:nvPr>
        </p:nvSpPr>
        <p:spPr>
          <a:xfrm>
            <a:off x="11368735"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AA6A3"/>
                </a:solidFill>
                <a:latin typeface="DM Sans"/>
                <a:ea typeface="DM Sans"/>
                <a:cs typeface="DM Sans"/>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AF5EE"/>
        </a:solidFill>
      </p:bgPr>
    </p:bg>
    <p:spTree>
      <p:nvGrpSpPr>
        <p:cNvPr id="1" name=""/>
        <p:cNvGrpSpPr/>
        <p:nvPr/>
      </p:nvGrpSpPr>
      <p:grpSpPr>
        <a:xfrm>
          <a:off x="0" y="0"/>
          <a:ext cx="0" cy="0"/>
          <a:chOff x="0" y="0"/>
          <a:chExt cx="0" cy="0"/>
        </a:xfrm>
      </p:grpSpPr>
      <p:sp>
        <p:nvSpPr>
          <p:cNvPr id="2" name="Text 0"/>
          <p:cNvSpPr txBox="1"/>
          <p:nvPr/>
        </p:nvSpPr>
        <p:spPr>
          <a:xfrm>
            <a:off x="822960" y="1005840"/>
            <a:ext cx="10545775" cy="365760"/>
          </a:xfrm>
          <a:prstGeom prst="rect">
            <a:avLst/>
          </a:prstGeom>
          <a:noFill/>
          <a:ln/>
        </p:spPr>
        <p:txBody>
          <a:bodyPr wrap="square" lIns="0" tIns="0" rIns="0" bIns="0" rtlCol="0" anchor="ctr">
            <a:normAutofit/>
          </a:bodyPr>
          <a:lstStyle/>
          <a:p>
            <a:pPr algn="l" indent="0" marL="0">
              <a:lnSpc>
                <a:spcPct val="100000"/>
              </a:lnSpc>
              <a:buNone/>
            </a:pPr>
            <a:r>
              <a:rPr lang="en-US" sz="1400" b="1" spc="400" kern="0" dirty="0">
                <a:solidFill>
                  <a:srgbClr val="8AAF8A"/>
                </a:solidFill>
                <a:latin typeface="DM Sans" pitchFamily="34" charset="0"/>
                <a:ea typeface="DM Sans" pitchFamily="34" charset="-122"/>
                <a:cs typeface="DM Sans" pitchFamily="34" charset="-120"/>
              </a:rPr>
              <a:t>VALUE</a:t>
            </a:r>
            <a:endParaRPr lang="en-US" sz="1400" dirty="0"/>
          </a:p>
        </p:txBody>
      </p:sp>
      <p:sp>
        <p:nvSpPr>
          <p:cNvPr id="3" name="Text 1"/>
          <p:cNvSpPr txBox="1"/>
          <p:nvPr/>
        </p:nvSpPr>
        <p:spPr>
          <a:xfrm>
            <a:off x="822960" y="1463040"/>
            <a:ext cx="10545775" cy="2286000"/>
          </a:xfrm>
          <a:prstGeom prst="rect">
            <a:avLst/>
          </a:prstGeom>
          <a:noFill/>
          <a:ln/>
        </p:spPr>
        <p:txBody>
          <a:bodyPr wrap="square" lIns="0" tIns="0" rIns="0" bIns="0" rtlCol="0" anchor="ctr">
            <a:normAutofit/>
          </a:bodyPr>
          <a:lstStyle/>
          <a:p>
            <a:pPr algn="l" indent="0" marL="0">
              <a:lnSpc>
                <a:spcPct val="100000"/>
              </a:lnSpc>
              <a:buNone/>
            </a:pPr>
            <a:r>
              <a:rPr lang="en-US" sz="13000" b="1" dirty="0">
                <a:solidFill>
                  <a:srgbClr val="1E4A4A"/>
                </a:solidFill>
                <a:latin typeface="Cormorant Garamond" pitchFamily="34" charset="0"/>
                <a:ea typeface="Cormorant Garamond" pitchFamily="34" charset="-122"/>
                <a:cs typeface="Cormorant Garamond" pitchFamily="34" charset="-120"/>
              </a:rPr>
              <a:t>74%</a:t>
            </a:r>
            <a:endParaRPr lang="en-US" sz="13000" dirty="0"/>
          </a:p>
        </p:txBody>
      </p:sp>
      <p:sp>
        <p:nvSpPr>
          <p:cNvPr id="4" name="Text 2"/>
          <p:cNvSpPr txBox="1"/>
          <p:nvPr/>
        </p:nvSpPr>
        <p:spPr>
          <a:xfrm>
            <a:off x="822960" y="3977640"/>
            <a:ext cx="9448495" cy="1280160"/>
          </a:xfrm>
          <a:prstGeom prst="rect">
            <a:avLst/>
          </a:prstGeom>
          <a:noFill/>
          <a:ln/>
        </p:spPr>
        <p:txBody>
          <a:bodyPr wrap="square" lIns="0" tIns="0" rIns="0" bIns="0" rtlCol="0" anchor="t">
            <a:normAutofit/>
          </a:bodyPr>
          <a:lstStyle/>
          <a:p>
            <a:pPr algn="l" indent="0" marL="0">
              <a:lnSpc>
                <a:spcPct val="115000"/>
              </a:lnSpc>
              <a:buNone/>
            </a:pPr>
            <a:r>
              <a:rPr lang="en-US" sz="2600" dirty="0">
                <a:solidFill>
                  <a:srgbClr val="1B2B2B"/>
                </a:solidFill>
                <a:latin typeface="DM Sans" pitchFamily="34" charset="0"/>
                <a:ea typeface="DM Sans" pitchFamily="34" charset="-122"/>
                <a:cs typeface="DM Sans" pitchFamily="34" charset="-120"/>
              </a:rPr>
              <a:t>Women who prepare are 74% more likely to earn a raise.</a:t>
            </a:r>
            <a:endParaRPr lang="en-US" sz="2600" dirty="0"/>
          </a:p>
        </p:txBody>
      </p:sp>
      <p:sp>
        <p:nvSpPr>
          <p:cNvPr id="5" name="Text 3"/>
          <p:cNvSpPr txBox="1"/>
          <p:nvPr/>
        </p:nvSpPr>
        <p:spPr>
          <a:xfrm>
            <a:off x="822960" y="5760720"/>
            <a:ext cx="9448495" cy="365760"/>
          </a:xfrm>
          <a:prstGeom prst="rect">
            <a:avLst/>
          </a:prstGeom>
          <a:noFill/>
          <a:ln/>
        </p:spPr>
        <p:txBody>
          <a:bodyPr wrap="square" lIns="0" tIns="0" rIns="0" bIns="0" rtlCol="0" anchor="t">
            <a:normAutofit/>
          </a:bodyPr>
          <a:lstStyle/>
          <a:p>
            <a:pPr algn="l" indent="0" marL="0">
              <a:lnSpc>
                <a:spcPct val="100000"/>
              </a:lnSpc>
              <a:buNone/>
            </a:pPr>
            <a:r>
              <a:rPr lang="en-US" sz="1200" dirty="0">
                <a:solidFill>
                  <a:srgbClr val="5E6B68"/>
                </a:solidFill>
                <a:latin typeface="DM Sans" pitchFamily="34" charset="0"/>
                <a:ea typeface="DM Sans" pitchFamily="34" charset="-122"/>
                <a:cs typeface="DM Sans" pitchFamily="34" charset="-120"/>
              </a:rPr>
              <a:t>Source: </a:t>
            </a:r>
            <a:pPr algn="l" indent="0" marL="0">
              <a:lnSpc>
                <a:spcPct val="100000"/>
              </a:lnSpc>
              <a:buNone/>
            </a:pPr>
            <a:r>
              <a:rPr lang="en-US" sz="1200" b="1" dirty="0">
                <a:solidFill>
                  <a:srgbClr val="B85042"/>
                </a:solidFill>
                <a:latin typeface="DM Sans" pitchFamily="34" charset="0"/>
                <a:ea typeface="DM Sans" pitchFamily="34" charset="-122"/>
                <a:cs typeface="DM Sans" pitchFamily="34" charset="-120"/>
              </a:rPr>
              <a:t>[PLACEHOLDER: new source]</a:t>
            </a:r>
            <a:endParaRPr lang="en-US" sz="1200" dirty="0"/>
          </a:p>
        </p:txBody>
      </p:sp>
      <p:sp>
        <p:nvSpPr>
          <p:cNvPr id="25" name="Slide Number Placeholder 0"/>
          <p:cNvSpPr>
            <a:spLocks noGrp="1"/>
          </p:cNvSpPr>
          <p:nvPr>
            <p:ph type="sldNum" sz="quarter" idx="4294967295"/>
          </p:nvPr>
        </p:nvSpPr>
        <p:spPr>
          <a:xfrm>
            <a:off x="11368735"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AA6A3"/>
                </a:solidFill>
                <a:latin typeface="DM Sans"/>
                <a:ea typeface="DM Sans"/>
                <a:cs typeface="DM Sans"/>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E1F5EE"/>
        </a:solidFill>
      </p:bgPr>
    </p:bg>
    <p:spTree>
      <p:nvGrpSpPr>
        <p:cNvPr id="1" name=""/>
        <p:cNvGrpSpPr/>
        <p:nvPr/>
      </p:nvGrpSpPr>
      <p:grpSpPr>
        <a:xfrm>
          <a:off x="0" y="0"/>
          <a:ext cx="0" cy="0"/>
          <a:chOff x="0" y="0"/>
          <a:chExt cx="0" cy="0"/>
        </a:xfrm>
      </p:grpSpPr>
      <p:sp>
        <p:nvSpPr>
          <p:cNvPr id="2" name="Text 0"/>
          <p:cNvSpPr txBox="1"/>
          <p:nvPr/>
        </p:nvSpPr>
        <p:spPr>
          <a:xfrm>
            <a:off x="914400" y="1554480"/>
            <a:ext cx="10362895" cy="411480"/>
          </a:xfrm>
          <a:prstGeom prst="rect">
            <a:avLst/>
          </a:prstGeom>
          <a:noFill/>
          <a:ln/>
        </p:spPr>
        <p:txBody>
          <a:bodyPr wrap="square" lIns="0" tIns="0" rIns="0" bIns="0" rtlCol="0" anchor="ctr">
            <a:normAutofit/>
          </a:bodyPr>
          <a:lstStyle/>
          <a:p>
            <a:pPr algn="ctr" indent="0" marL="0">
              <a:lnSpc>
                <a:spcPct val="100000"/>
              </a:lnSpc>
              <a:buNone/>
            </a:pPr>
            <a:r>
              <a:rPr lang="en-US" sz="1500" b="1" spc="500" kern="0" dirty="0">
                <a:solidFill>
                  <a:srgbClr val="1E4A4A"/>
                </a:solidFill>
                <a:latin typeface="DM Sans" pitchFamily="34" charset="0"/>
                <a:ea typeface="DM Sans" pitchFamily="34" charset="-122"/>
                <a:cs typeface="DM Sans" pitchFamily="34" charset="-120"/>
              </a:rPr>
              <a:t>ASK YOURSELF</a:t>
            </a:r>
            <a:endParaRPr lang="en-US" sz="1500" dirty="0"/>
          </a:p>
        </p:txBody>
      </p:sp>
      <p:sp>
        <p:nvSpPr>
          <p:cNvPr id="3" name="Text 1"/>
          <p:cNvSpPr txBox="1"/>
          <p:nvPr/>
        </p:nvSpPr>
        <p:spPr>
          <a:xfrm>
            <a:off x="1188720" y="2194560"/>
            <a:ext cx="9814255" cy="2743200"/>
          </a:xfrm>
          <a:prstGeom prst="rect">
            <a:avLst/>
          </a:prstGeom>
          <a:noFill/>
          <a:ln/>
        </p:spPr>
        <p:txBody>
          <a:bodyPr wrap="square" lIns="0" tIns="0" rIns="0" bIns="0" rtlCol="0" anchor="t">
            <a:normAutofit/>
          </a:bodyPr>
          <a:lstStyle/>
          <a:p>
            <a:pPr algn="ctr" indent="0" marL="0">
              <a:lnSpc>
                <a:spcPct val="100000"/>
              </a:lnSpc>
              <a:buNone/>
            </a:pPr>
            <a:r>
              <a:rPr lang="en-US" sz="3700" b="1" i="1" dirty="0">
                <a:solidFill>
                  <a:srgbClr val="1E4A4A"/>
                </a:solidFill>
                <a:latin typeface="Cormorant Garamond" pitchFamily="34" charset="0"/>
                <a:ea typeface="Cormorant Garamond" pitchFamily="34" charset="-122"/>
                <a:cs typeface="Cormorant Garamond" pitchFamily="34" charset="-120"/>
              </a:rPr>
              <a:t>If your work had to speak for itself in a comp meeting tomorrow, </a:t>
            </a:r>
            <a:pPr algn="ctr" indent="0" marL="0">
              <a:lnSpc>
                <a:spcPct val="100000"/>
              </a:lnSpc>
              <a:buNone/>
            </a:pPr>
            <a:r>
              <a:rPr lang="en-US" sz="3700" b="1" i="1" dirty="0">
                <a:solidFill>
                  <a:srgbClr val="1E4A4A"/>
                </a:solidFill>
                <a:highlight>
                  <a:srgbClr val="CFE3CF"/>
                </a:highlight>
                <a:latin typeface="Cormorant Garamond" pitchFamily="34" charset="0"/>
                <a:ea typeface="Cormorant Garamond" pitchFamily="34" charset="-122"/>
                <a:cs typeface="Cormorant Garamond" pitchFamily="34" charset="-120"/>
              </a:rPr>
              <a:t>what would it actually say?</a:t>
            </a:r>
            <a:endParaRPr lang="en-US" sz="3700" dirty="0"/>
          </a:p>
        </p:txBody>
      </p:sp>
      <p:sp>
        <p:nvSpPr>
          <p:cNvPr id="25" name="Slide Number Placeholder 0"/>
          <p:cNvSpPr>
            <a:spLocks noGrp="1"/>
          </p:cNvSpPr>
          <p:nvPr>
            <p:ph type="sldNum" sz="quarter" idx="4294967295"/>
          </p:nvPr>
        </p:nvSpPr>
        <p:spPr>
          <a:xfrm>
            <a:off x="11368735"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AA6A3"/>
                </a:solidFill>
                <a:latin typeface="DM Sans"/>
                <a:ea typeface="DM Sans"/>
                <a:cs typeface="DM Sans"/>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AF5EE"/>
        </a:solidFill>
      </p:bgPr>
    </p:bg>
    <p:spTree>
      <p:nvGrpSpPr>
        <p:cNvPr id="1" name=""/>
        <p:cNvGrpSpPr/>
        <p:nvPr/>
      </p:nvGrpSpPr>
      <p:grpSpPr>
        <a:xfrm>
          <a:off x="0" y="0"/>
          <a:ext cx="0" cy="0"/>
          <a:chOff x="0" y="0"/>
          <a:chExt cx="0" cy="0"/>
        </a:xfrm>
      </p:grpSpPr>
      <p:sp>
        <p:nvSpPr>
          <p:cNvPr id="2" name="Text 0"/>
          <p:cNvSpPr txBox="1"/>
          <p:nvPr/>
        </p:nvSpPr>
        <p:spPr>
          <a:xfrm>
            <a:off x="822960" y="731520"/>
            <a:ext cx="10545775" cy="365760"/>
          </a:xfrm>
          <a:prstGeom prst="rect">
            <a:avLst/>
          </a:prstGeom>
          <a:noFill/>
          <a:ln/>
        </p:spPr>
        <p:txBody>
          <a:bodyPr wrap="square" lIns="0" tIns="0" rIns="0" bIns="0" rtlCol="0" anchor="ctr">
            <a:normAutofit/>
          </a:bodyPr>
          <a:lstStyle/>
          <a:p>
            <a:pPr algn="l" indent="0" marL="0">
              <a:lnSpc>
                <a:spcPct val="100000"/>
              </a:lnSpc>
              <a:buNone/>
            </a:pPr>
            <a:r>
              <a:rPr lang="en-US" sz="1400" b="1" spc="400" kern="0" dirty="0">
                <a:solidFill>
                  <a:srgbClr val="8AAF8A"/>
                </a:solidFill>
                <a:latin typeface="DM Sans" pitchFamily="34" charset="0"/>
                <a:ea typeface="DM Sans" pitchFamily="34" charset="-122"/>
                <a:cs typeface="DM Sans" pitchFamily="34" charset="-120"/>
              </a:rPr>
              <a:t>WHAT THIS LOOKS LIKE</a:t>
            </a:r>
            <a:endParaRPr lang="en-US" sz="1400" dirty="0"/>
          </a:p>
        </p:txBody>
      </p:sp>
      <p:sp>
        <p:nvSpPr>
          <p:cNvPr id="3" name="Text 1"/>
          <p:cNvSpPr txBox="1"/>
          <p:nvPr/>
        </p:nvSpPr>
        <p:spPr>
          <a:xfrm>
            <a:off x="822960" y="1143000"/>
            <a:ext cx="10545775" cy="1280160"/>
          </a:xfrm>
          <a:prstGeom prst="rect">
            <a:avLst/>
          </a:prstGeom>
          <a:noFill/>
          <a:ln/>
        </p:spPr>
        <p:txBody>
          <a:bodyPr wrap="square" lIns="0" tIns="0" rIns="0" bIns="0" rtlCol="0" anchor="t">
            <a:normAutofit/>
          </a:bodyPr>
          <a:lstStyle/>
          <a:p>
            <a:pPr algn="l" indent="0" marL="0">
              <a:lnSpc>
                <a:spcPct val="95000"/>
              </a:lnSpc>
              <a:buNone/>
            </a:pPr>
            <a:r>
              <a:rPr lang="en-US" sz="3400" b="1" dirty="0">
                <a:solidFill>
                  <a:srgbClr val="1E4A4A"/>
                </a:solidFill>
                <a:latin typeface="Cormorant Garamond" pitchFamily="34" charset="0"/>
                <a:ea typeface="Cormorant Garamond" pitchFamily="34" charset="-122"/>
                <a:cs typeface="Cormorant Garamond" pitchFamily="34" charset="-120"/>
              </a:rPr>
              <a:t>She knows her value and can </a:t>
            </a:r>
            <a:pPr algn="l" indent="0" marL="0">
              <a:lnSpc>
                <a:spcPct val="95000"/>
              </a:lnSpc>
              <a:buNone/>
            </a:pPr>
            <a:r>
              <a:rPr lang="en-US" sz="3400" b="1" dirty="0">
                <a:solidFill>
                  <a:srgbClr val="1E4A4A"/>
                </a:solidFill>
                <a:highlight>
                  <a:srgbClr val="CFE3CF"/>
                </a:highlight>
                <a:latin typeface="Cormorant Garamond" pitchFamily="34" charset="0"/>
                <a:ea typeface="Cormorant Garamond" pitchFamily="34" charset="-122"/>
                <a:cs typeface="Cormorant Garamond" pitchFamily="34" charset="-120"/>
              </a:rPr>
              <a:t>articulate it with confidence.</a:t>
            </a:r>
            <a:endParaRPr lang="en-US" sz="3400" dirty="0"/>
          </a:p>
        </p:txBody>
      </p:sp>
      <p:sp>
        <p:nvSpPr>
          <p:cNvPr id="4" name="Shape 2"/>
          <p:cNvSpPr/>
          <p:nvPr/>
        </p:nvSpPr>
        <p:spPr>
          <a:xfrm>
            <a:off x="868680" y="2990088"/>
            <a:ext cx="237744" cy="237744"/>
          </a:xfrm>
          <a:prstGeom prst="ellipse">
            <a:avLst/>
          </a:prstGeom>
          <a:solidFill>
            <a:srgbClr val="8AAF8A"/>
          </a:solidFill>
          <a:ln w="12700">
            <a:solidFill>
              <a:srgbClr val="8AAF8A"/>
            </a:solidFill>
            <a:prstDash val="solid"/>
          </a:ln>
        </p:spPr>
      </p:sp>
      <p:sp>
        <p:nvSpPr>
          <p:cNvPr id="5" name="Text 3"/>
          <p:cNvSpPr txBox="1"/>
          <p:nvPr/>
        </p:nvSpPr>
        <p:spPr>
          <a:xfrm>
            <a:off x="1463040" y="2743200"/>
            <a:ext cx="9875520" cy="731520"/>
          </a:xfrm>
          <a:prstGeom prst="rect">
            <a:avLst/>
          </a:prstGeom>
          <a:noFill/>
          <a:ln/>
        </p:spPr>
        <p:txBody>
          <a:bodyPr wrap="square" lIns="0" tIns="0" rIns="0" bIns="0" rtlCol="0" anchor="ctr">
            <a:normAutofit/>
          </a:bodyPr>
          <a:lstStyle/>
          <a:p>
            <a:pPr algn="l" indent="0" marL="0">
              <a:lnSpc>
                <a:spcPct val="100000"/>
              </a:lnSpc>
              <a:buNone/>
            </a:pPr>
            <a:r>
              <a:rPr lang="en-US" sz="2600" b="1" dirty="0">
                <a:solidFill>
                  <a:srgbClr val="1B2B2B"/>
                </a:solidFill>
                <a:latin typeface="Cormorant Garamond" pitchFamily="34" charset="0"/>
                <a:ea typeface="Cormorant Garamond" pitchFamily="34" charset="-122"/>
                <a:cs typeface="Cormorant Garamond" pitchFamily="34" charset="-120"/>
              </a:rPr>
              <a:t>You stop apologizing for your wins</a:t>
            </a:r>
            <a:endParaRPr lang="en-US" sz="2600" dirty="0"/>
          </a:p>
        </p:txBody>
      </p:sp>
      <p:sp>
        <p:nvSpPr>
          <p:cNvPr id="6" name="Shape 4"/>
          <p:cNvSpPr/>
          <p:nvPr/>
        </p:nvSpPr>
        <p:spPr>
          <a:xfrm>
            <a:off x="868680" y="3858768"/>
            <a:ext cx="237744" cy="237744"/>
          </a:xfrm>
          <a:prstGeom prst="ellipse">
            <a:avLst/>
          </a:prstGeom>
          <a:solidFill>
            <a:srgbClr val="8AAF8A"/>
          </a:solidFill>
          <a:ln w="12700">
            <a:solidFill>
              <a:srgbClr val="8AAF8A"/>
            </a:solidFill>
            <a:prstDash val="solid"/>
          </a:ln>
        </p:spPr>
      </p:sp>
      <p:sp>
        <p:nvSpPr>
          <p:cNvPr id="7" name="Text 5"/>
          <p:cNvSpPr txBox="1"/>
          <p:nvPr/>
        </p:nvSpPr>
        <p:spPr>
          <a:xfrm>
            <a:off x="1463040" y="3611880"/>
            <a:ext cx="9875520" cy="731520"/>
          </a:xfrm>
          <a:prstGeom prst="rect">
            <a:avLst/>
          </a:prstGeom>
          <a:noFill/>
          <a:ln/>
        </p:spPr>
        <p:txBody>
          <a:bodyPr wrap="square" lIns="0" tIns="0" rIns="0" bIns="0" rtlCol="0" anchor="ctr">
            <a:normAutofit/>
          </a:bodyPr>
          <a:lstStyle/>
          <a:p>
            <a:pPr algn="l" indent="0" marL="0">
              <a:lnSpc>
                <a:spcPct val="100000"/>
              </a:lnSpc>
              <a:buNone/>
            </a:pPr>
            <a:r>
              <a:rPr lang="en-US" sz="2600" b="1" dirty="0">
                <a:solidFill>
                  <a:srgbClr val="1B2B2B"/>
                </a:solidFill>
                <a:latin typeface="Cormorant Garamond" pitchFamily="34" charset="0"/>
                <a:ea typeface="Cormorant Garamond" pitchFamily="34" charset="-122"/>
                <a:cs typeface="Cormorant Garamond" pitchFamily="34" charset="-120"/>
              </a:rPr>
              <a:t>You know your market value before anyone names a number</a:t>
            </a:r>
            <a:endParaRPr lang="en-US" sz="2600" dirty="0"/>
          </a:p>
        </p:txBody>
      </p:sp>
      <p:sp>
        <p:nvSpPr>
          <p:cNvPr id="8" name="Shape 6"/>
          <p:cNvSpPr/>
          <p:nvPr/>
        </p:nvSpPr>
        <p:spPr>
          <a:xfrm>
            <a:off x="868680" y="4727448"/>
            <a:ext cx="237744" cy="237744"/>
          </a:xfrm>
          <a:prstGeom prst="ellipse">
            <a:avLst/>
          </a:prstGeom>
          <a:solidFill>
            <a:srgbClr val="8AAF8A"/>
          </a:solidFill>
          <a:ln w="12700">
            <a:solidFill>
              <a:srgbClr val="8AAF8A"/>
            </a:solidFill>
            <a:prstDash val="solid"/>
          </a:ln>
        </p:spPr>
      </p:sp>
      <p:sp>
        <p:nvSpPr>
          <p:cNvPr id="9" name="Text 7"/>
          <p:cNvSpPr txBox="1"/>
          <p:nvPr/>
        </p:nvSpPr>
        <p:spPr>
          <a:xfrm>
            <a:off x="1463040" y="4480560"/>
            <a:ext cx="9875520" cy="731520"/>
          </a:xfrm>
          <a:prstGeom prst="rect">
            <a:avLst/>
          </a:prstGeom>
          <a:noFill/>
          <a:ln/>
        </p:spPr>
        <p:txBody>
          <a:bodyPr wrap="square" lIns="0" tIns="0" rIns="0" bIns="0" rtlCol="0" anchor="ctr">
            <a:normAutofit/>
          </a:bodyPr>
          <a:lstStyle/>
          <a:p>
            <a:pPr algn="l" indent="0" marL="0">
              <a:lnSpc>
                <a:spcPct val="100000"/>
              </a:lnSpc>
              <a:buNone/>
            </a:pPr>
            <a:r>
              <a:rPr lang="en-US" sz="2600" b="1" dirty="0">
                <a:solidFill>
                  <a:srgbClr val="1B2B2B"/>
                </a:solidFill>
                <a:latin typeface="Cormorant Garamond" pitchFamily="34" charset="0"/>
                <a:ea typeface="Cormorant Garamond" pitchFamily="34" charset="-122"/>
                <a:cs typeface="Cormorant Garamond" pitchFamily="34" charset="-120"/>
              </a:rPr>
              <a:t>You talk about your work in terms of results</a:t>
            </a:r>
            <a:endParaRPr lang="en-US" sz="2600" dirty="0"/>
          </a:p>
        </p:txBody>
      </p:sp>
      <p:sp>
        <p:nvSpPr>
          <p:cNvPr id="10" name="Shape 8"/>
          <p:cNvSpPr/>
          <p:nvPr/>
        </p:nvSpPr>
        <p:spPr>
          <a:xfrm>
            <a:off x="868680" y="5596128"/>
            <a:ext cx="237744" cy="237744"/>
          </a:xfrm>
          <a:prstGeom prst="ellipse">
            <a:avLst/>
          </a:prstGeom>
          <a:solidFill>
            <a:srgbClr val="8AAF8A"/>
          </a:solidFill>
          <a:ln w="12700">
            <a:solidFill>
              <a:srgbClr val="8AAF8A"/>
            </a:solidFill>
            <a:prstDash val="solid"/>
          </a:ln>
        </p:spPr>
      </p:sp>
      <p:sp>
        <p:nvSpPr>
          <p:cNvPr id="11" name="Text 9"/>
          <p:cNvSpPr txBox="1"/>
          <p:nvPr/>
        </p:nvSpPr>
        <p:spPr>
          <a:xfrm>
            <a:off x="1463040" y="5349240"/>
            <a:ext cx="9875520" cy="731520"/>
          </a:xfrm>
          <a:prstGeom prst="rect">
            <a:avLst/>
          </a:prstGeom>
          <a:noFill/>
          <a:ln/>
        </p:spPr>
        <p:txBody>
          <a:bodyPr wrap="square" lIns="0" tIns="0" rIns="0" bIns="0" rtlCol="0" anchor="ctr">
            <a:normAutofit/>
          </a:bodyPr>
          <a:lstStyle/>
          <a:p>
            <a:pPr algn="l" indent="0" marL="0">
              <a:lnSpc>
                <a:spcPct val="100000"/>
              </a:lnSpc>
              <a:buNone/>
            </a:pPr>
            <a:r>
              <a:rPr lang="en-US" sz="2600" b="1" dirty="0">
                <a:solidFill>
                  <a:srgbClr val="1B2B2B"/>
                </a:solidFill>
                <a:latin typeface="Cormorant Garamond" pitchFamily="34" charset="0"/>
                <a:ea typeface="Cormorant Garamond" pitchFamily="34" charset="-122"/>
                <a:cs typeface="Cormorant Garamond" pitchFamily="34" charset="-120"/>
              </a:rPr>
              <a:t>Review season stops being where you find out what you're worth</a:t>
            </a:r>
            <a:endParaRPr lang="en-US" sz="2600" dirty="0"/>
          </a:p>
        </p:txBody>
      </p:sp>
      <p:sp>
        <p:nvSpPr>
          <p:cNvPr id="25" name="Slide Number Placeholder 0"/>
          <p:cNvSpPr>
            <a:spLocks noGrp="1"/>
          </p:cNvSpPr>
          <p:nvPr>
            <p:ph type="sldNum" sz="quarter" idx="4294967295"/>
          </p:nvPr>
        </p:nvSpPr>
        <p:spPr>
          <a:xfrm>
            <a:off x="11368735"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AA6A3"/>
                </a:solidFill>
                <a:latin typeface="DM Sans"/>
                <a:ea typeface="DM Sans"/>
                <a:cs typeface="DM Sans"/>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1E4A4A"/>
        </a:solidFill>
      </p:bgPr>
    </p:bg>
    <p:spTree>
      <p:nvGrpSpPr>
        <p:cNvPr id="1" name=""/>
        <p:cNvGrpSpPr/>
        <p:nvPr/>
      </p:nvGrpSpPr>
      <p:grpSpPr>
        <a:xfrm>
          <a:off x="0" y="0"/>
          <a:ext cx="0" cy="0"/>
          <a:chOff x="0" y="0"/>
          <a:chExt cx="0" cy="0"/>
        </a:xfrm>
      </p:grpSpPr>
      <p:sp>
        <p:nvSpPr>
          <p:cNvPr id="2" name="Text 0"/>
          <p:cNvSpPr txBox="1"/>
          <p:nvPr/>
        </p:nvSpPr>
        <p:spPr>
          <a:xfrm>
            <a:off x="822960" y="822960"/>
            <a:ext cx="10545775" cy="365760"/>
          </a:xfrm>
          <a:prstGeom prst="rect">
            <a:avLst/>
          </a:prstGeom>
          <a:noFill/>
          <a:ln/>
        </p:spPr>
        <p:txBody>
          <a:bodyPr wrap="square" lIns="0" tIns="0" rIns="0" bIns="0" rtlCol="0" anchor="ctr">
            <a:normAutofit/>
          </a:bodyPr>
          <a:lstStyle/>
          <a:p>
            <a:pPr algn="l" indent="0" marL="0">
              <a:lnSpc>
                <a:spcPct val="100000"/>
              </a:lnSpc>
              <a:buNone/>
            </a:pPr>
            <a:r>
              <a:rPr lang="en-US" sz="1400" b="1" spc="400" kern="0" dirty="0">
                <a:solidFill>
                  <a:srgbClr val="8AAF8A"/>
                </a:solidFill>
                <a:latin typeface="DM Sans" pitchFamily="34" charset="0"/>
                <a:ea typeface="DM Sans" pitchFamily="34" charset="-122"/>
                <a:cs typeface="DM Sans" pitchFamily="34" charset="-120"/>
              </a:rPr>
              <a:t>THE V.O.I.C.E. FRAMEWORK · PILLAR 2 OF 5</a:t>
            </a:r>
            <a:endParaRPr lang="en-US" sz="1400" dirty="0"/>
          </a:p>
        </p:txBody>
      </p:sp>
      <p:sp>
        <p:nvSpPr>
          <p:cNvPr id="3" name="Text 1"/>
          <p:cNvSpPr txBox="1"/>
          <p:nvPr/>
        </p:nvSpPr>
        <p:spPr>
          <a:xfrm>
            <a:off x="640080" y="1280160"/>
            <a:ext cx="3657600" cy="4572000"/>
          </a:xfrm>
          <a:prstGeom prst="rect">
            <a:avLst/>
          </a:prstGeom>
          <a:noFill/>
          <a:ln/>
        </p:spPr>
        <p:txBody>
          <a:bodyPr wrap="square" lIns="0" tIns="0" rIns="0" bIns="0" rtlCol="0" anchor="ctr">
            <a:normAutofit/>
          </a:bodyPr>
          <a:lstStyle/>
          <a:p>
            <a:pPr algn="ctr" indent="0" marL="0">
              <a:lnSpc>
                <a:spcPct val="100000"/>
              </a:lnSpc>
              <a:buNone/>
            </a:pPr>
            <a:r>
              <a:rPr lang="en-US" sz="28000" b="1" dirty="0">
                <a:solidFill>
                  <a:srgbClr val="8AAF8A"/>
                </a:solidFill>
                <a:latin typeface="Cormorant Garamond" pitchFamily="34" charset="0"/>
                <a:ea typeface="Cormorant Garamond" pitchFamily="34" charset="-122"/>
                <a:cs typeface="Cormorant Garamond" pitchFamily="34" charset="-120"/>
              </a:rPr>
              <a:t>O</a:t>
            </a:r>
            <a:endParaRPr lang="en-US" sz="28000" dirty="0"/>
          </a:p>
        </p:txBody>
      </p:sp>
      <p:sp>
        <p:nvSpPr>
          <p:cNvPr id="4" name="Text 2"/>
          <p:cNvSpPr txBox="1"/>
          <p:nvPr/>
        </p:nvSpPr>
        <p:spPr>
          <a:xfrm>
            <a:off x="4572000" y="2011680"/>
            <a:ext cx="6949440" cy="1188720"/>
          </a:xfrm>
          <a:prstGeom prst="rect">
            <a:avLst/>
          </a:prstGeom>
          <a:noFill/>
          <a:ln/>
        </p:spPr>
        <p:txBody>
          <a:bodyPr wrap="square" lIns="0" tIns="0" rIns="0" bIns="0" rtlCol="0" anchor="b">
            <a:normAutofit/>
          </a:bodyPr>
          <a:lstStyle/>
          <a:p>
            <a:pPr algn="l" indent="0" marL="0">
              <a:lnSpc>
                <a:spcPct val="95000"/>
              </a:lnSpc>
              <a:buNone/>
            </a:pPr>
            <a:r>
              <a:rPr lang="en-US" sz="6000" b="1" dirty="0">
                <a:solidFill>
                  <a:srgbClr val="FFFFFF"/>
                </a:solidFill>
                <a:latin typeface="Cormorant Garamond" pitchFamily="34" charset="0"/>
                <a:ea typeface="Cormorant Garamond" pitchFamily="34" charset="-122"/>
                <a:cs typeface="Cormorant Garamond" pitchFamily="34" charset="-120"/>
              </a:rPr>
              <a:t>Ownership</a:t>
            </a:r>
            <a:endParaRPr lang="en-US" sz="6000" dirty="0"/>
          </a:p>
        </p:txBody>
      </p:sp>
      <p:sp>
        <p:nvSpPr>
          <p:cNvPr id="5" name="Text 3"/>
          <p:cNvSpPr txBox="1"/>
          <p:nvPr/>
        </p:nvSpPr>
        <p:spPr>
          <a:xfrm>
            <a:off x="4572000" y="3429000"/>
            <a:ext cx="6766560" cy="1828800"/>
          </a:xfrm>
          <a:prstGeom prst="rect">
            <a:avLst/>
          </a:prstGeom>
          <a:noFill/>
          <a:ln/>
        </p:spPr>
        <p:txBody>
          <a:bodyPr wrap="square" lIns="0" tIns="0" rIns="0" bIns="0" rtlCol="0" anchor="t">
            <a:normAutofit/>
          </a:bodyPr>
          <a:lstStyle/>
          <a:p>
            <a:pPr algn="l" indent="0" marL="0">
              <a:lnSpc>
                <a:spcPct val="105000"/>
              </a:lnSpc>
              <a:buNone/>
            </a:pPr>
            <a:r>
              <a:rPr lang="en-US" sz="3100" i="1" dirty="0">
                <a:solidFill>
                  <a:srgbClr val="E1F5EE"/>
                </a:solidFill>
                <a:latin typeface="Cormorant Garamond" pitchFamily="34" charset="0"/>
                <a:ea typeface="Cormorant Garamond" pitchFamily="34" charset="-122"/>
                <a:cs typeface="Cormorant Garamond" pitchFamily="34" charset="-120"/>
              </a:rPr>
              <a:t>If you want a bigger job, </a:t>
            </a:r>
            <a:pPr algn="l" indent="0" marL="0">
              <a:lnSpc>
                <a:spcPct val="105000"/>
              </a:lnSpc>
              <a:buNone/>
            </a:pPr>
            <a:r>
              <a:rPr lang="en-US" sz="3100" i="1" dirty="0">
                <a:solidFill>
                  <a:srgbClr val="B7D3B7"/>
                </a:solidFill>
                <a:latin typeface="Cormorant Garamond" pitchFamily="34" charset="0"/>
                <a:ea typeface="Cormorant Garamond" pitchFamily="34" charset="-122"/>
                <a:cs typeface="Cormorant Garamond" pitchFamily="34" charset="-120"/>
              </a:rPr>
              <a:t>make your job bigger.</a:t>
            </a:r>
            <a:endParaRPr lang="en-US" sz="3100" dirty="0"/>
          </a:p>
        </p:txBody>
      </p:sp>
      <p:sp>
        <p:nvSpPr>
          <p:cNvPr id="25" name="Slide Number Placeholder 0"/>
          <p:cNvSpPr>
            <a:spLocks noGrp="1"/>
          </p:cNvSpPr>
          <p:nvPr>
            <p:ph type="sldNum" sz="quarter" idx="4294967295"/>
          </p:nvPr>
        </p:nvSpPr>
        <p:spPr>
          <a:xfrm>
            <a:off x="11368735"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AAF8A"/>
                </a:solidFill>
                <a:latin typeface="DM Sans"/>
                <a:ea typeface="DM Sans"/>
                <a:cs typeface="DM Sans"/>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22960" y="640080"/>
            <a:ext cx="10545775" cy="365760"/>
          </a:xfrm>
          <a:prstGeom prst="rect">
            <a:avLst/>
          </a:prstGeom>
          <a:noFill/>
          <a:ln/>
        </p:spPr>
        <p:txBody>
          <a:bodyPr wrap="square" lIns="0" tIns="0" rIns="0" bIns="0" rtlCol="0" anchor="ctr">
            <a:normAutofit/>
          </a:bodyPr>
          <a:lstStyle/>
          <a:p>
            <a:pPr algn="l" indent="0" marL="0">
              <a:lnSpc>
                <a:spcPct val="100000"/>
              </a:lnSpc>
              <a:buNone/>
            </a:pPr>
            <a:r>
              <a:rPr lang="en-US" sz="1400" b="1" spc="400" kern="0" dirty="0">
                <a:solidFill>
                  <a:srgbClr val="8AAF8A"/>
                </a:solidFill>
                <a:latin typeface="DM Sans" pitchFamily="34" charset="0"/>
                <a:ea typeface="DM Sans" pitchFamily="34" charset="-122"/>
                <a:cs typeface="DM Sans" pitchFamily="34" charset="-120"/>
              </a:rPr>
              <a:t>THE BELIEF OWNERSHIP BREAKS</a:t>
            </a:r>
            <a:endParaRPr lang="en-US" sz="1400" dirty="0"/>
          </a:p>
        </p:txBody>
      </p:sp>
      <p:sp>
        <p:nvSpPr>
          <p:cNvPr id="3" name="Shape 1"/>
          <p:cNvSpPr/>
          <p:nvPr/>
        </p:nvSpPr>
        <p:spPr>
          <a:xfrm>
            <a:off x="822960" y="1325880"/>
            <a:ext cx="4815688" cy="4754880"/>
          </a:xfrm>
          <a:prstGeom prst="roundRect">
            <a:avLst>
              <a:gd name="adj" fmla="val 2308"/>
            </a:avLst>
          </a:prstGeom>
          <a:solidFill>
            <a:srgbClr val="EFEAE2"/>
          </a:solidFill>
          <a:ln w="12700">
            <a:solidFill>
              <a:srgbClr val="EFEAE2"/>
            </a:solidFill>
            <a:prstDash val="solid"/>
          </a:ln>
        </p:spPr>
      </p:sp>
      <p:sp>
        <p:nvSpPr>
          <p:cNvPr id="4" name="Text 2"/>
          <p:cNvSpPr txBox="1"/>
          <p:nvPr/>
        </p:nvSpPr>
        <p:spPr>
          <a:xfrm>
            <a:off x="1234440" y="1737360"/>
            <a:ext cx="3992728" cy="365760"/>
          </a:xfrm>
          <a:prstGeom prst="rect">
            <a:avLst/>
          </a:prstGeom>
          <a:noFill/>
          <a:ln/>
        </p:spPr>
        <p:txBody>
          <a:bodyPr wrap="square" lIns="0" tIns="0" rIns="0" bIns="0" rtlCol="0" anchor="t">
            <a:normAutofit/>
          </a:bodyPr>
          <a:lstStyle/>
          <a:p>
            <a:pPr algn="l" indent="0" marL="0">
              <a:lnSpc>
                <a:spcPct val="100000"/>
              </a:lnSpc>
              <a:buNone/>
            </a:pPr>
            <a:r>
              <a:rPr lang="en-US" sz="1300" b="1" spc="300" kern="0" dirty="0">
                <a:solidFill>
                  <a:srgbClr val="5E6B68"/>
                </a:solidFill>
                <a:latin typeface="DM Sans" pitchFamily="34" charset="0"/>
                <a:ea typeface="DM Sans" pitchFamily="34" charset="-122"/>
                <a:cs typeface="DM Sans" pitchFamily="34" charset="-120"/>
              </a:rPr>
              <a:t>WHAT MOST THINK</a:t>
            </a:r>
            <a:endParaRPr lang="en-US" sz="1300" dirty="0"/>
          </a:p>
        </p:txBody>
      </p:sp>
      <p:sp>
        <p:nvSpPr>
          <p:cNvPr id="5" name="Text 3"/>
          <p:cNvSpPr txBox="1"/>
          <p:nvPr/>
        </p:nvSpPr>
        <p:spPr>
          <a:xfrm>
            <a:off x="1234440" y="2331720"/>
            <a:ext cx="3992728" cy="3291840"/>
          </a:xfrm>
          <a:prstGeom prst="rect">
            <a:avLst/>
          </a:prstGeom>
          <a:noFill/>
          <a:ln/>
        </p:spPr>
        <p:txBody>
          <a:bodyPr wrap="square" lIns="0" tIns="0" rIns="0" bIns="0" rtlCol="0" anchor="ctr">
            <a:normAutofit/>
          </a:bodyPr>
          <a:lstStyle/>
          <a:p>
            <a:pPr algn="l" indent="0" marL="0">
              <a:lnSpc>
                <a:spcPct val="105000"/>
              </a:lnSpc>
              <a:buNone/>
            </a:pPr>
            <a:r>
              <a:rPr lang="en-US" sz="2900" b="1" dirty="0">
                <a:solidFill>
                  <a:srgbClr val="1B2B2B"/>
                </a:solidFill>
                <a:latin typeface="Cormorant Garamond" pitchFamily="34" charset="0"/>
                <a:ea typeface="Cormorant Garamond" pitchFamily="34" charset="-122"/>
                <a:cs typeface="Cormorant Garamond" pitchFamily="34" charset="-120"/>
              </a:rPr>
              <a:t>"If I do great work, someone will notice and promote me."</a:t>
            </a:r>
            <a:endParaRPr lang="en-US" sz="2900" dirty="0"/>
          </a:p>
        </p:txBody>
      </p:sp>
      <p:sp>
        <p:nvSpPr>
          <p:cNvPr id="6" name="Shape 4"/>
          <p:cNvSpPr/>
          <p:nvPr/>
        </p:nvSpPr>
        <p:spPr>
          <a:xfrm>
            <a:off x="6553048" y="1325880"/>
            <a:ext cx="4815688" cy="4754880"/>
          </a:xfrm>
          <a:prstGeom prst="roundRect">
            <a:avLst>
              <a:gd name="adj" fmla="val 2308"/>
            </a:avLst>
          </a:prstGeom>
          <a:solidFill>
            <a:srgbClr val="1E4A4A"/>
          </a:solidFill>
          <a:ln w="12700">
            <a:solidFill>
              <a:srgbClr val="1E4A4A"/>
            </a:solidFill>
            <a:prstDash val="solid"/>
          </a:ln>
        </p:spPr>
      </p:sp>
      <p:sp>
        <p:nvSpPr>
          <p:cNvPr id="7" name="Text 5"/>
          <p:cNvSpPr txBox="1"/>
          <p:nvPr/>
        </p:nvSpPr>
        <p:spPr>
          <a:xfrm>
            <a:off x="6964528" y="1737360"/>
            <a:ext cx="3992728" cy="365760"/>
          </a:xfrm>
          <a:prstGeom prst="rect">
            <a:avLst/>
          </a:prstGeom>
          <a:noFill/>
          <a:ln/>
        </p:spPr>
        <p:txBody>
          <a:bodyPr wrap="square" lIns="0" tIns="0" rIns="0" bIns="0" rtlCol="0" anchor="t">
            <a:normAutofit/>
          </a:bodyPr>
          <a:lstStyle/>
          <a:p>
            <a:pPr algn="l" indent="0" marL="0">
              <a:lnSpc>
                <a:spcPct val="100000"/>
              </a:lnSpc>
              <a:buNone/>
            </a:pPr>
            <a:r>
              <a:rPr lang="en-US" sz="1300" b="1" spc="300" kern="0" dirty="0">
                <a:solidFill>
                  <a:srgbClr val="B7D3B7"/>
                </a:solidFill>
                <a:latin typeface="DM Sans" pitchFamily="34" charset="0"/>
                <a:ea typeface="DM Sans" pitchFamily="34" charset="-122"/>
                <a:cs typeface="DM Sans" pitchFamily="34" charset="-120"/>
              </a:rPr>
              <a:t>THE REALITY</a:t>
            </a:r>
            <a:endParaRPr lang="en-US" sz="1300" dirty="0"/>
          </a:p>
        </p:txBody>
      </p:sp>
      <p:sp>
        <p:nvSpPr>
          <p:cNvPr id="8" name="Text 6"/>
          <p:cNvSpPr txBox="1"/>
          <p:nvPr/>
        </p:nvSpPr>
        <p:spPr>
          <a:xfrm>
            <a:off x="6964528" y="2331720"/>
            <a:ext cx="3992728" cy="3291840"/>
          </a:xfrm>
          <a:prstGeom prst="rect">
            <a:avLst/>
          </a:prstGeom>
          <a:noFill/>
          <a:ln/>
        </p:spPr>
        <p:txBody>
          <a:bodyPr wrap="square" lIns="0" tIns="0" rIns="0" bIns="0" rtlCol="0" anchor="ctr">
            <a:normAutofit/>
          </a:bodyPr>
          <a:lstStyle/>
          <a:p>
            <a:pPr algn="l" indent="0" marL="0">
              <a:lnSpc>
                <a:spcPct val="105000"/>
              </a:lnSpc>
              <a:buNone/>
            </a:pPr>
            <a:r>
              <a:rPr lang="en-US" sz="2500" b="1" dirty="0">
                <a:solidFill>
                  <a:srgbClr val="FFFFFF"/>
                </a:solidFill>
                <a:latin typeface="Cormorant Garamond" pitchFamily="34" charset="0"/>
                <a:ea typeface="Cormorant Garamond" pitchFamily="34" charset="-122"/>
                <a:cs typeface="Cormorant Garamond" pitchFamily="34" charset="-120"/>
              </a:rPr>
              <a:t>Nobody is coming to hand it to you. You're the CEO of your career.</a:t>
            </a:r>
            <a:endParaRPr lang="en-US" sz="2500" dirty="0"/>
          </a:p>
        </p:txBody>
      </p:sp>
      <p:sp>
        <p:nvSpPr>
          <p:cNvPr id="9" name="Text 7"/>
          <p:cNvSpPr txBox="1"/>
          <p:nvPr/>
        </p:nvSpPr>
        <p:spPr>
          <a:xfrm>
            <a:off x="5638648" y="1325880"/>
            <a:ext cx="914400" cy="4754880"/>
          </a:xfrm>
          <a:prstGeom prst="rect">
            <a:avLst/>
          </a:prstGeom>
          <a:noFill/>
          <a:ln/>
        </p:spPr>
        <p:txBody>
          <a:bodyPr wrap="square" lIns="0" tIns="0" rIns="0" bIns="0" rtlCol="0" anchor="ctr">
            <a:normAutofit/>
          </a:bodyPr>
          <a:lstStyle/>
          <a:p>
            <a:pPr algn="ctr" indent="0" marL="0">
              <a:lnSpc>
                <a:spcPct val="100000"/>
              </a:lnSpc>
              <a:buNone/>
            </a:pPr>
            <a:r>
              <a:rPr lang="en-US" sz="4000" b="1" dirty="0">
                <a:solidFill>
                  <a:srgbClr val="8AAF8A"/>
                </a:solidFill>
                <a:latin typeface="DM Sans" pitchFamily="34" charset="0"/>
                <a:ea typeface="DM Sans" pitchFamily="34" charset="-122"/>
                <a:cs typeface="DM Sans" pitchFamily="34" charset="-120"/>
              </a:rPr>
              <a:t>→</a:t>
            </a:r>
            <a:endParaRPr lang="en-US" sz="4000" dirty="0"/>
          </a:p>
        </p:txBody>
      </p:sp>
      <p:sp>
        <p:nvSpPr>
          <p:cNvPr id="25" name="Slide Number Placeholder 0"/>
          <p:cNvSpPr>
            <a:spLocks noGrp="1"/>
          </p:cNvSpPr>
          <p:nvPr>
            <p:ph type="sldNum" sz="quarter" idx="4294967295"/>
          </p:nvPr>
        </p:nvSpPr>
        <p:spPr>
          <a:xfrm>
            <a:off x="11368735"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AA6A3"/>
                </a:solidFill>
                <a:latin typeface="DM Sans"/>
                <a:ea typeface="DM Sans"/>
                <a:cs typeface="DM Sans"/>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E1F5EE"/>
        </a:solidFill>
      </p:bgPr>
    </p:bg>
    <p:spTree>
      <p:nvGrpSpPr>
        <p:cNvPr id="1" name=""/>
        <p:cNvGrpSpPr/>
        <p:nvPr/>
      </p:nvGrpSpPr>
      <p:grpSpPr>
        <a:xfrm>
          <a:off x="0" y="0"/>
          <a:ext cx="0" cy="0"/>
          <a:chOff x="0" y="0"/>
          <a:chExt cx="0" cy="0"/>
        </a:xfrm>
      </p:grpSpPr>
      <p:sp>
        <p:nvSpPr>
          <p:cNvPr id="2" name="Text 0"/>
          <p:cNvSpPr txBox="1"/>
          <p:nvPr/>
        </p:nvSpPr>
        <p:spPr>
          <a:xfrm>
            <a:off x="914400" y="1554480"/>
            <a:ext cx="10362895" cy="411480"/>
          </a:xfrm>
          <a:prstGeom prst="rect">
            <a:avLst/>
          </a:prstGeom>
          <a:noFill/>
          <a:ln/>
        </p:spPr>
        <p:txBody>
          <a:bodyPr wrap="square" lIns="0" tIns="0" rIns="0" bIns="0" rtlCol="0" anchor="ctr">
            <a:normAutofit/>
          </a:bodyPr>
          <a:lstStyle/>
          <a:p>
            <a:pPr algn="ctr" indent="0" marL="0">
              <a:lnSpc>
                <a:spcPct val="100000"/>
              </a:lnSpc>
              <a:buNone/>
            </a:pPr>
            <a:r>
              <a:rPr lang="en-US" sz="1500" b="1" spc="500" kern="0" dirty="0">
                <a:solidFill>
                  <a:srgbClr val="1E4A4A"/>
                </a:solidFill>
                <a:latin typeface="DM Sans" pitchFamily="34" charset="0"/>
                <a:ea typeface="DM Sans" pitchFamily="34" charset="-122"/>
                <a:cs typeface="DM Sans" pitchFamily="34" charset="-120"/>
              </a:rPr>
              <a:t>ASK YOURSELF</a:t>
            </a:r>
            <a:endParaRPr lang="en-US" sz="1500" dirty="0"/>
          </a:p>
        </p:txBody>
      </p:sp>
      <p:sp>
        <p:nvSpPr>
          <p:cNvPr id="3" name="Text 1"/>
          <p:cNvSpPr txBox="1"/>
          <p:nvPr/>
        </p:nvSpPr>
        <p:spPr>
          <a:xfrm>
            <a:off x="1188720" y="2194560"/>
            <a:ext cx="9814255" cy="2743200"/>
          </a:xfrm>
          <a:prstGeom prst="rect">
            <a:avLst/>
          </a:prstGeom>
          <a:noFill/>
          <a:ln/>
        </p:spPr>
        <p:txBody>
          <a:bodyPr wrap="square" lIns="0" tIns="0" rIns="0" bIns="0" rtlCol="0" anchor="t">
            <a:normAutofit/>
          </a:bodyPr>
          <a:lstStyle/>
          <a:p>
            <a:pPr algn="ctr" indent="0" marL="0">
              <a:lnSpc>
                <a:spcPct val="100000"/>
              </a:lnSpc>
              <a:buNone/>
            </a:pPr>
            <a:r>
              <a:rPr lang="en-US" sz="4300" b="1" i="1" dirty="0">
                <a:solidFill>
                  <a:srgbClr val="1E4A4A"/>
                </a:solidFill>
                <a:latin typeface="Cormorant Garamond" pitchFamily="34" charset="0"/>
                <a:ea typeface="Cormorant Garamond" pitchFamily="34" charset="-122"/>
                <a:cs typeface="Cormorant Garamond" pitchFamily="34" charset="-120"/>
              </a:rPr>
              <a:t>Where in your career are you still </a:t>
            </a:r>
            <a:pPr algn="ctr" indent="0" marL="0">
              <a:lnSpc>
                <a:spcPct val="100000"/>
              </a:lnSpc>
              <a:buNone/>
            </a:pPr>
            <a:r>
              <a:rPr lang="en-US" sz="4300" b="1" i="1" dirty="0">
                <a:solidFill>
                  <a:srgbClr val="1E4A4A"/>
                </a:solidFill>
                <a:highlight>
                  <a:srgbClr val="CFE3CF"/>
                </a:highlight>
                <a:latin typeface="Cormorant Garamond" pitchFamily="34" charset="0"/>
                <a:ea typeface="Cormorant Garamond" pitchFamily="34" charset="-122"/>
                <a:cs typeface="Cormorant Garamond" pitchFamily="34" charset="-120"/>
              </a:rPr>
              <a:t>waiting to be chosen?</a:t>
            </a:r>
            <a:endParaRPr lang="en-US" sz="4300" dirty="0"/>
          </a:p>
        </p:txBody>
      </p:sp>
      <p:sp>
        <p:nvSpPr>
          <p:cNvPr id="25" name="Slide Number Placeholder 0"/>
          <p:cNvSpPr>
            <a:spLocks noGrp="1"/>
          </p:cNvSpPr>
          <p:nvPr>
            <p:ph type="sldNum" sz="quarter" idx="4294967295"/>
          </p:nvPr>
        </p:nvSpPr>
        <p:spPr>
          <a:xfrm>
            <a:off x="11368735"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AA6A3"/>
                </a:solidFill>
                <a:latin typeface="DM Sans"/>
                <a:ea typeface="DM Sans"/>
                <a:cs typeface="DM Sans"/>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AF5EE"/>
        </a:solidFill>
      </p:bgPr>
    </p:bg>
    <p:spTree>
      <p:nvGrpSpPr>
        <p:cNvPr id="1" name=""/>
        <p:cNvGrpSpPr/>
        <p:nvPr/>
      </p:nvGrpSpPr>
      <p:grpSpPr>
        <a:xfrm>
          <a:off x="0" y="0"/>
          <a:ext cx="0" cy="0"/>
          <a:chOff x="0" y="0"/>
          <a:chExt cx="0" cy="0"/>
        </a:xfrm>
      </p:grpSpPr>
      <p:sp>
        <p:nvSpPr>
          <p:cNvPr id="2" name="Text 0"/>
          <p:cNvSpPr txBox="1"/>
          <p:nvPr/>
        </p:nvSpPr>
        <p:spPr>
          <a:xfrm>
            <a:off x="822960" y="731520"/>
            <a:ext cx="10545775" cy="365760"/>
          </a:xfrm>
          <a:prstGeom prst="rect">
            <a:avLst/>
          </a:prstGeom>
          <a:noFill/>
          <a:ln/>
        </p:spPr>
        <p:txBody>
          <a:bodyPr wrap="square" lIns="0" tIns="0" rIns="0" bIns="0" rtlCol="0" anchor="ctr">
            <a:normAutofit/>
          </a:bodyPr>
          <a:lstStyle/>
          <a:p>
            <a:pPr algn="l" indent="0" marL="0">
              <a:lnSpc>
                <a:spcPct val="100000"/>
              </a:lnSpc>
              <a:buNone/>
            </a:pPr>
            <a:r>
              <a:rPr lang="en-US" sz="1400" b="1" spc="400" kern="0" dirty="0">
                <a:solidFill>
                  <a:srgbClr val="8AAF8A"/>
                </a:solidFill>
                <a:latin typeface="DM Sans" pitchFamily="34" charset="0"/>
                <a:ea typeface="DM Sans" pitchFamily="34" charset="-122"/>
                <a:cs typeface="DM Sans" pitchFamily="34" charset="-120"/>
              </a:rPr>
              <a:t>WHAT THIS LOOKS LIKE</a:t>
            </a:r>
            <a:endParaRPr lang="en-US" sz="1400" dirty="0"/>
          </a:p>
        </p:txBody>
      </p:sp>
      <p:sp>
        <p:nvSpPr>
          <p:cNvPr id="3" name="Text 1"/>
          <p:cNvSpPr txBox="1"/>
          <p:nvPr/>
        </p:nvSpPr>
        <p:spPr>
          <a:xfrm>
            <a:off x="822960" y="1143000"/>
            <a:ext cx="10545775" cy="1280160"/>
          </a:xfrm>
          <a:prstGeom prst="rect">
            <a:avLst/>
          </a:prstGeom>
          <a:noFill/>
          <a:ln/>
        </p:spPr>
        <p:txBody>
          <a:bodyPr wrap="square" lIns="0" tIns="0" rIns="0" bIns="0" rtlCol="0" anchor="t">
            <a:normAutofit/>
          </a:bodyPr>
          <a:lstStyle/>
          <a:p>
            <a:pPr algn="l" indent="0" marL="0">
              <a:lnSpc>
                <a:spcPct val="95000"/>
              </a:lnSpc>
              <a:buNone/>
            </a:pPr>
            <a:r>
              <a:rPr lang="en-US" sz="3400" b="1" dirty="0">
                <a:solidFill>
                  <a:srgbClr val="1E4A4A"/>
                </a:solidFill>
                <a:latin typeface="Cormorant Garamond" pitchFamily="34" charset="0"/>
                <a:ea typeface="Cormorant Garamond" pitchFamily="34" charset="-122"/>
                <a:cs typeface="Cormorant Garamond" pitchFamily="34" charset="-120"/>
              </a:rPr>
              <a:t>She stops waiting to be chosen and </a:t>
            </a:r>
            <a:pPr algn="l" indent="0" marL="0">
              <a:lnSpc>
                <a:spcPct val="95000"/>
              </a:lnSpc>
              <a:buNone/>
            </a:pPr>
            <a:r>
              <a:rPr lang="en-US" sz="3400" b="1" dirty="0">
                <a:solidFill>
                  <a:srgbClr val="1E4A4A"/>
                </a:solidFill>
                <a:highlight>
                  <a:srgbClr val="CFE3CF"/>
                </a:highlight>
                <a:latin typeface="Cormorant Garamond" pitchFamily="34" charset="0"/>
                <a:ea typeface="Cormorant Garamond" pitchFamily="34" charset="-122"/>
                <a:cs typeface="Cormorant Garamond" pitchFamily="34" charset="-120"/>
              </a:rPr>
              <a:t>starts choosing herself.</a:t>
            </a:r>
            <a:endParaRPr lang="en-US" sz="3400" dirty="0"/>
          </a:p>
        </p:txBody>
      </p:sp>
      <p:sp>
        <p:nvSpPr>
          <p:cNvPr id="4" name="Shape 2"/>
          <p:cNvSpPr/>
          <p:nvPr/>
        </p:nvSpPr>
        <p:spPr>
          <a:xfrm>
            <a:off x="868680" y="2990088"/>
            <a:ext cx="237744" cy="237744"/>
          </a:xfrm>
          <a:prstGeom prst="ellipse">
            <a:avLst/>
          </a:prstGeom>
          <a:solidFill>
            <a:srgbClr val="8AAF8A"/>
          </a:solidFill>
          <a:ln w="12700">
            <a:solidFill>
              <a:srgbClr val="8AAF8A"/>
            </a:solidFill>
            <a:prstDash val="solid"/>
          </a:ln>
        </p:spPr>
      </p:sp>
      <p:sp>
        <p:nvSpPr>
          <p:cNvPr id="5" name="Text 3"/>
          <p:cNvSpPr txBox="1"/>
          <p:nvPr/>
        </p:nvSpPr>
        <p:spPr>
          <a:xfrm>
            <a:off x="1463040" y="2743200"/>
            <a:ext cx="9875520" cy="731520"/>
          </a:xfrm>
          <a:prstGeom prst="rect">
            <a:avLst/>
          </a:prstGeom>
          <a:noFill/>
          <a:ln/>
        </p:spPr>
        <p:txBody>
          <a:bodyPr wrap="square" lIns="0" tIns="0" rIns="0" bIns="0" rtlCol="0" anchor="ctr">
            <a:normAutofit/>
          </a:bodyPr>
          <a:lstStyle/>
          <a:p>
            <a:pPr algn="l" indent="0" marL="0">
              <a:lnSpc>
                <a:spcPct val="100000"/>
              </a:lnSpc>
              <a:buNone/>
            </a:pPr>
            <a:r>
              <a:rPr lang="en-US" sz="2600" b="1" dirty="0">
                <a:solidFill>
                  <a:srgbClr val="1B2B2B"/>
                </a:solidFill>
                <a:latin typeface="Cormorant Garamond" pitchFamily="34" charset="0"/>
                <a:ea typeface="Cormorant Garamond" pitchFamily="34" charset="-122"/>
                <a:cs typeface="Cormorant Garamond" pitchFamily="34" charset="-120"/>
              </a:rPr>
              <a:t>You create opportunities instead of applying for them</a:t>
            </a:r>
            <a:endParaRPr lang="en-US" sz="2600" dirty="0"/>
          </a:p>
        </p:txBody>
      </p:sp>
      <p:sp>
        <p:nvSpPr>
          <p:cNvPr id="6" name="Shape 4"/>
          <p:cNvSpPr/>
          <p:nvPr/>
        </p:nvSpPr>
        <p:spPr>
          <a:xfrm>
            <a:off x="868680" y="3858768"/>
            <a:ext cx="237744" cy="237744"/>
          </a:xfrm>
          <a:prstGeom prst="ellipse">
            <a:avLst/>
          </a:prstGeom>
          <a:solidFill>
            <a:srgbClr val="8AAF8A"/>
          </a:solidFill>
          <a:ln w="12700">
            <a:solidFill>
              <a:srgbClr val="8AAF8A"/>
            </a:solidFill>
            <a:prstDash val="solid"/>
          </a:ln>
        </p:spPr>
      </p:sp>
      <p:sp>
        <p:nvSpPr>
          <p:cNvPr id="7" name="Text 5"/>
          <p:cNvSpPr txBox="1"/>
          <p:nvPr/>
        </p:nvSpPr>
        <p:spPr>
          <a:xfrm>
            <a:off x="1463040" y="3611880"/>
            <a:ext cx="9875520" cy="731520"/>
          </a:xfrm>
          <a:prstGeom prst="rect">
            <a:avLst/>
          </a:prstGeom>
          <a:noFill/>
          <a:ln/>
        </p:spPr>
        <p:txBody>
          <a:bodyPr wrap="square" lIns="0" tIns="0" rIns="0" bIns="0" rtlCol="0" anchor="ctr">
            <a:normAutofit/>
          </a:bodyPr>
          <a:lstStyle/>
          <a:p>
            <a:pPr algn="l" indent="0" marL="0">
              <a:lnSpc>
                <a:spcPct val="100000"/>
              </a:lnSpc>
              <a:buNone/>
            </a:pPr>
            <a:r>
              <a:rPr lang="en-US" sz="2600" b="1" dirty="0">
                <a:solidFill>
                  <a:srgbClr val="1B2B2B"/>
                </a:solidFill>
                <a:latin typeface="Cormorant Garamond" pitchFamily="34" charset="0"/>
                <a:ea typeface="Cormorant Garamond" pitchFamily="34" charset="-122"/>
                <a:cs typeface="Cormorant Garamond" pitchFamily="34" charset="-120"/>
              </a:rPr>
              <a:t>You stop waiting for the annual review to raise your hand</a:t>
            </a:r>
            <a:endParaRPr lang="en-US" sz="2600" dirty="0"/>
          </a:p>
        </p:txBody>
      </p:sp>
      <p:sp>
        <p:nvSpPr>
          <p:cNvPr id="8" name="Shape 6"/>
          <p:cNvSpPr/>
          <p:nvPr/>
        </p:nvSpPr>
        <p:spPr>
          <a:xfrm>
            <a:off x="868680" y="4727448"/>
            <a:ext cx="237744" cy="237744"/>
          </a:xfrm>
          <a:prstGeom prst="ellipse">
            <a:avLst/>
          </a:prstGeom>
          <a:solidFill>
            <a:srgbClr val="8AAF8A"/>
          </a:solidFill>
          <a:ln w="12700">
            <a:solidFill>
              <a:srgbClr val="8AAF8A"/>
            </a:solidFill>
            <a:prstDash val="solid"/>
          </a:ln>
        </p:spPr>
      </p:sp>
      <p:sp>
        <p:nvSpPr>
          <p:cNvPr id="9" name="Text 7"/>
          <p:cNvSpPr txBox="1"/>
          <p:nvPr/>
        </p:nvSpPr>
        <p:spPr>
          <a:xfrm>
            <a:off x="1463040" y="4480560"/>
            <a:ext cx="9875520" cy="731520"/>
          </a:xfrm>
          <a:prstGeom prst="rect">
            <a:avLst/>
          </a:prstGeom>
          <a:noFill/>
          <a:ln/>
        </p:spPr>
        <p:txBody>
          <a:bodyPr wrap="square" lIns="0" tIns="0" rIns="0" bIns="0" rtlCol="0" anchor="ctr">
            <a:normAutofit/>
          </a:bodyPr>
          <a:lstStyle/>
          <a:p>
            <a:pPr algn="l" indent="0" marL="0">
              <a:lnSpc>
                <a:spcPct val="100000"/>
              </a:lnSpc>
              <a:buNone/>
            </a:pPr>
            <a:r>
              <a:rPr lang="en-US" sz="2600" b="1" dirty="0">
                <a:solidFill>
                  <a:srgbClr val="1B2B2B"/>
                </a:solidFill>
                <a:latin typeface="Cormorant Garamond" pitchFamily="34" charset="0"/>
                <a:ea typeface="Cormorant Garamond" pitchFamily="34" charset="-122"/>
                <a:cs typeface="Cormorant Garamond" pitchFamily="34" charset="-120"/>
              </a:rPr>
              <a:t>Your influence grows past your job description</a:t>
            </a:r>
            <a:endParaRPr lang="en-US" sz="2600" dirty="0"/>
          </a:p>
        </p:txBody>
      </p:sp>
      <p:sp>
        <p:nvSpPr>
          <p:cNvPr id="10" name="Shape 8"/>
          <p:cNvSpPr/>
          <p:nvPr/>
        </p:nvSpPr>
        <p:spPr>
          <a:xfrm>
            <a:off x="868680" y="5596128"/>
            <a:ext cx="237744" cy="237744"/>
          </a:xfrm>
          <a:prstGeom prst="ellipse">
            <a:avLst/>
          </a:prstGeom>
          <a:solidFill>
            <a:srgbClr val="8AAF8A"/>
          </a:solidFill>
          <a:ln w="12700">
            <a:solidFill>
              <a:srgbClr val="8AAF8A"/>
            </a:solidFill>
            <a:prstDash val="solid"/>
          </a:ln>
        </p:spPr>
      </p:sp>
      <p:sp>
        <p:nvSpPr>
          <p:cNvPr id="11" name="Text 9"/>
          <p:cNvSpPr txBox="1"/>
          <p:nvPr/>
        </p:nvSpPr>
        <p:spPr>
          <a:xfrm>
            <a:off x="1463040" y="5349240"/>
            <a:ext cx="9875520" cy="731520"/>
          </a:xfrm>
          <a:prstGeom prst="rect">
            <a:avLst/>
          </a:prstGeom>
          <a:noFill/>
          <a:ln/>
        </p:spPr>
        <p:txBody>
          <a:bodyPr wrap="square" lIns="0" tIns="0" rIns="0" bIns="0" rtlCol="0" anchor="ctr">
            <a:normAutofit/>
          </a:bodyPr>
          <a:lstStyle/>
          <a:p>
            <a:pPr algn="l" indent="0" marL="0">
              <a:lnSpc>
                <a:spcPct val="100000"/>
              </a:lnSpc>
              <a:buNone/>
            </a:pPr>
            <a:r>
              <a:rPr lang="en-US" sz="2600" b="1" dirty="0">
                <a:solidFill>
                  <a:srgbClr val="1B2B2B"/>
                </a:solidFill>
                <a:latin typeface="Cormorant Garamond" pitchFamily="34" charset="0"/>
                <a:ea typeface="Cormorant Garamond" pitchFamily="34" charset="-122"/>
                <a:cs typeface="Cormorant Garamond" pitchFamily="34" charset="-120"/>
              </a:rPr>
              <a:t>You decide where your career goes next</a:t>
            </a:r>
            <a:endParaRPr lang="en-US" sz="2600" dirty="0"/>
          </a:p>
        </p:txBody>
      </p:sp>
      <p:sp>
        <p:nvSpPr>
          <p:cNvPr id="25" name="Slide Number Placeholder 0"/>
          <p:cNvSpPr>
            <a:spLocks noGrp="1"/>
          </p:cNvSpPr>
          <p:nvPr>
            <p:ph type="sldNum" sz="quarter" idx="4294967295"/>
          </p:nvPr>
        </p:nvSpPr>
        <p:spPr>
          <a:xfrm>
            <a:off x="11368735"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AA6A3"/>
                </a:solidFill>
                <a:latin typeface="DM Sans"/>
                <a:ea typeface="DM Sans"/>
                <a:cs typeface="DM Sans"/>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1E4A4A"/>
        </a:solidFill>
      </p:bgPr>
    </p:bg>
    <p:spTree>
      <p:nvGrpSpPr>
        <p:cNvPr id="1" name=""/>
        <p:cNvGrpSpPr/>
        <p:nvPr/>
      </p:nvGrpSpPr>
      <p:grpSpPr>
        <a:xfrm>
          <a:off x="0" y="0"/>
          <a:ext cx="0" cy="0"/>
          <a:chOff x="0" y="0"/>
          <a:chExt cx="0" cy="0"/>
        </a:xfrm>
      </p:grpSpPr>
      <p:sp>
        <p:nvSpPr>
          <p:cNvPr id="2" name="Text 0"/>
          <p:cNvSpPr txBox="1"/>
          <p:nvPr/>
        </p:nvSpPr>
        <p:spPr>
          <a:xfrm>
            <a:off x="822960" y="822960"/>
            <a:ext cx="10545775" cy="365760"/>
          </a:xfrm>
          <a:prstGeom prst="rect">
            <a:avLst/>
          </a:prstGeom>
          <a:noFill/>
          <a:ln/>
        </p:spPr>
        <p:txBody>
          <a:bodyPr wrap="square" lIns="0" tIns="0" rIns="0" bIns="0" rtlCol="0" anchor="ctr">
            <a:normAutofit/>
          </a:bodyPr>
          <a:lstStyle/>
          <a:p>
            <a:pPr algn="l" indent="0" marL="0">
              <a:lnSpc>
                <a:spcPct val="100000"/>
              </a:lnSpc>
              <a:buNone/>
            </a:pPr>
            <a:r>
              <a:rPr lang="en-US" sz="1400" b="1" spc="400" kern="0" dirty="0">
                <a:solidFill>
                  <a:srgbClr val="8AAF8A"/>
                </a:solidFill>
                <a:latin typeface="DM Sans" pitchFamily="34" charset="0"/>
                <a:ea typeface="DM Sans" pitchFamily="34" charset="-122"/>
                <a:cs typeface="DM Sans" pitchFamily="34" charset="-120"/>
              </a:rPr>
              <a:t>THE V.O.I.C.E. FRAMEWORK · PILLAR 3 OF 5</a:t>
            </a:r>
            <a:endParaRPr lang="en-US" sz="1400" dirty="0"/>
          </a:p>
        </p:txBody>
      </p:sp>
      <p:sp>
        <p:nvSpPr>
          <p:cNvPr id="3" name="Text 1"/>
          <p:cNvSpPr txBox="1"/>
          <p:nvPr/>
        </p:nvSpPr>
        <p:spPr>
          <a:xfrm>
            <a:off x="640080" y="1280160"/>
            <a:ext cx="3657600" cy="4572000"/>
          </a:xfrm>
          <a:prstGeom prst="rect">
            <a:avLst/>
          </a:prstGeom>
          <a:noFill/>
          <a:ln/>
        </p:spPr>
        <p:txBody>
          <a:bodyPr wrap="square" lIns="0" tIns="0" rIns="0" bIns="0" rtlCol="0" anchor="ctr">
            <a:normAutofit/>
          </a:bodyPr>
          <a:lstStyle/>
          <a:p>
            <a:pPr algn="ctr" indent="0" marL="0">
              <a:lnSpc>
                <a:spcPct val="100000"/>
              </a:lnSpc>
              <a:buNone/>
            </a:pPr>
            <a:r>
              <a:rPr lang="en-US" sz="28000" b="1" dirty="0">
                <a:solidFill>
                  <a:srgbClr val="8AAF8A"/>
                </a:solidFill>
                <a:latin typeface="Cormorant Garamond" pitchFamily="34" charset="0"/>
                <a:ea typeface="Cormorant Garamond" pitchFamily="34" charset="-122"/>
                <a:cs typeface="Cormorant Garamond" pitchFamily="34" charset="-120"/>
              </a:rPr>
              <a:t>I</a:t>
            </a:r>
            <a:endParaRPr lang="en-US" sz="28000" dirty="0"/>
          </a:p>
        </p:txBody>
      </p:sp>
      <p:sp>
        <p:nvSpPr>
          <p:cNvPr id="4" name="Text 2"/>
          <p:cNvSpPr txBox="1"/>
          <p:nvPr/>
        </p:nvSpPr>
        <p:spPr>
          <a:xfrm>
            <a:off x="4572000" y="2011680"/>
            <a:ext cx="6949440" cy="1188720"/>
          </a:xfrm>
          <a:prstGeom prst="rect">
            <a:avLst/>
          </a:prstGeom>
          <a:noFill/>
          <a:ln/>
        </p:spPr>
        <p:txBody>
          <a:bodyPr wrap="square" lIns="0" tIns="0" rIns="0" bIns="0" rtlCol="0" anchor="b">
            <a:normAutofit/>
          </a:bodyPr>
          <a:lstStyle/>
          <a:p>
            <a:pPr algn="l" indent="0" marL="0">
              <a:lnSpc>
                <a:spcPct val="95000"/>
              </a:lnSpc>
              <a:buNone/>
            </a:pPr>
            <a:r>
              <a:rPr lang="en-US" sz="6000" b="1" dirty="0">
                <a:solidFill>
                  <a:srgbClr val="FFFFFF"/>
                </a:solidFill>
                <a:latin typeface="Cormorant Garamond" pitchFamily="34" charset="0"/>
                <a:ea typeface="Cormorant Garamond" pitchFamily="34" charset="-122"/>
                <a:cs typeface="Cormorant Garamond" pitchFamily="34" charset="-120"/>
              </a:rPr>
              <a:t>Identity</a:t>
            </a:r>
            <a:endParaRPr lang="en-US" sz="6000" dirty="0"/>
          </a:p>
        </p:txBody>
      </p:sp>
      <p:sp>
        <p:nvSpPr>
          <p:cNvPr id="5" name="Text 3"/>
          <p:cNvSpPr txBox="1"/>
          <p:nvPr/>
        </p:nvSpPr>
        <p:spPr>
          <a:xfrm>
            <a:off x="4572000" y="3429000"/>
            <a:ext cx="6766560" cy="1828800"/>
          </a:xfrm>
          <a:prstGeom prst="rect">
            <a:avLst/>
          </a:prstGeom>
          <a:noFill/>
          <a:ln/>
        </p:spPr>
        <p:txBody>
          <a:bodyPr wrap="square" lIns="0" tIns="0" rIns="0" bIns="0" rtlCol="0" anchor="t">
            <a:normAutofit/>
          </a:bodyPr>
          <a:lstStyle/>
          <a:p>
            <a:pPr algn="l" indent="0" marL="0">
              <a:lnSpc>
                <a:spcPct val="105000"/>
              </a:lnSpc>
              <a:buNone/>
            </a:pPr>
            <a:r>
              <a:rPr lang="en-US" sz="3600" i="1" dirty="0">
                <a:solidFill>
                  <a:srgbClr val="E1F5EE"/>
                </a:solidFill>
                <a:latin typeface="Cormorant Garamond" pitchFamily="34" charset="0"/>
                <a:ea typeface="Cormorant Garamond" pitchFamily="34" charset="-122"/>
                <a:cs typeface="Cormorant Garamond" pitchFamily="34" charset="-120"/>
              </a:rPr>
              <a:t>Become </a:t>
            </a:r>
            <a:pPr algn="l" indent="0" marL="0">
              <a:lnSpc>
                <a:spcPct val="105000"/>
              </a:lnSpc>
              <a:buNone/>
            </a:pPr>
            <a:r>
              <a:rPr lang="en-US" sz="3600" i="1" dirty="0">
                <a:solidFill>
                  <a:srgbClr val="B7D3B7"/>
                </a:solidFill>
                <a:latin typeface="Cormorant Garamond" pitchFamily="34" charset="0"/>
                <a:ea typeface="Cormorant Garamond" pitchFamily="34" charset="-122"/>
                <a:cs typeface="Cormorant Garamond" pitchFamily="34" charset="-120"/>
              </a:rPr>
              <a:t>the woman first.</a:t>
            </a:r>
            <a:endParaRPr lang="en-US" sz="3600" dirty="0"/>
          </a:p>
        </p:txBody>
      </p:sp>
      <p:sp>
        <p:nvSpPr>
          <p:cNvPr id="25" name="Slide Number Placeholder 0"/>
          <p:cNvSpPr>
            <a:spLocks noGrp="1"/>
          </p:cNvSpPr>
          <p:nvPr>
            <p:ph type="sldNum" sz="quarter" idx="4294967295"/>
          </p:nvPr>
        </p:nvSpPr>
        <p:spPr>
          <a:xfrm>
            <a:off x="11368735"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AAF8A"/>
                </a:solidFill>
                <a:latin typeface="DM Sans"/>
                <a:ea typeface="DM Sans"/>
                <a:cs typeface="DM Sans"/>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22960" y="640080"/>
            <a:ext cx="10545775" cy="365760"/>
          </a:xfrm>
          <a:prstGeom prst="rect">
            <a:avLst/>
          </a:prstGeom>
          <a:noFill/>
          <a:ln/>
        </p:spPr>
        <p:txBody>
          <a:bodyPr wrap="square" lIns="0" tIns="0" rIns="0" bIns="0" rtlCol="0" anchor="ctr">
            <a:normAutofit/>
          </a:bodyPr>
          <a:lstStyle/>
          <a:p>
            <a:pPr algn="l" indent="0" marL="0">
              <a:lnSpc>
                <a:spcPct val="100000"/>
              </a:lnSpc>
              <a:buNone/>
            </a:pPr>
            <a:r>
              <a:rPr lang="en-US" sz="1400" b="1" spc="400" kern="0" dirty="0">
                <a:solidFill>
                  <a:srgbClr val="8AAF8A"/>
                </a:solidFill>
                <a:latin typeface="DM Sans" pitchFamily="34" charset="0"/>
                <a:ea typeface="DM Sans" pitchFamily="34" charset="-122"/>
                <a:cs typeface="DM Sans" pitchFamily="34" charset="-120"/>
              </a:rPr>
              <a:t>YOUR IDENTITY DRIVES YOUR BEHAVIOR</a:t>
            </a:r>
            <a:endParaRPr lang="en-US" sz="1400" dirty="0"/>
          </a:p>
        </p:txBody>
      </p:sp>
      <p:sp>
        <p:nvSpPr>
          <p:cNvPr id="3" name="Text 1"/>
          <p:cNvSpPr txBox="1"/>
          <p:nvPr/>
        </p:nvSpPr>
        <p:spPr>
          <a:xfrm>
            <a:off x="1097280" y="1143000"/>
            <a:ext cx="5090008" cy="365760"/>
          </a:xfrm>
          <a:prstGeom prst="rect">
            <a:avLst/>
          </a:prstGeom>
          <a:noFill/>
          <a:ln/>
        </p:spPr>
        <p:txBody>
          <a:bodyPr wrap="square" lIns="0" tIns="0" rIns="0" bIns="0" rtlCol="0" anchor="t">
            <a:normAutofit/>
          </a:bodyPr>
          <a:lstStyle/>
          <a:p>
            <a:pPr algn="l" indent="0" marL="0">
              <a:lnSpc>
                <a:spcPct val="100000"/>
              </a:lnSpc>
              <a:buNone/>
            </a:pPr>
            <a:r>
              <a:rPr lang="en-US" sz="1300" b="1" spc="300" kern="0" dirty="0">
                <a:solidFill>
                  <a:srgbClr val="5E6B68"/>
                </a:solidFill>
                <a:latin typeface="DM Sans" pitchFamily="34" charset="0"/>
                <a:ea typeface="DM Sans" pitchFamily="34" charset="-122"/>
                <a:cs typeface="DM Sans" pitchFamily="34" charset="-120"/>
              </a:rPr>
              <a:t>WHEN SHE PLAYS SMALL</a:t>
            </a:r>
            <a:endParaRPr lang="en-US" sz="1300" dirty="0"/>
          </a:p>
        </p:txBody>
      </p:sp>
      <p:sp>
        <p:nvSpPr>
          <p:cNvPr id="4" name="Text 2"/>
          <p:cNvSpPr txBox="1"/>
          <p:nvPr/>
        </p:nvSpPr>
        <p:spPr>
          <a:xfrm>
            <a:off x="6553048" y="1143000"/>
            <a:ext cx="5090008" cy="365760"/>
          </a:xfrm>
          <a:prstGeom prst="rect">
            <a:avLst/>
          </a:prstGeom>
          <a:noFill/>
          <a:ln/>
        </p:spPr>
        <p:txBody>
          <a:bodyPr wrap="square" lIns="0" tIns="0" rIns="0" bIns="0" rtlCol="0" anchor="t">
            <a:normAutofit/>
          </a:bodyPr>
          <a:lstStyle/>
          <a:p>
            <a:pPr algn="l" indent="0" marL="0">
              <a:lnSpc>
                <a:spcPct val="100000"/>
              </a:lnSpc>
              <a:buNone/>
            </a:pPr>
            <a:r>
              <a:rPr lang="en-US" sz="1300" b="1" spc="300" kern="0" dirty="0">
                <a:solidFill>
                  <a:srgbClr val="8AAF8A"/>
                </a:solidFill>
                <a:latin typeface="DM Sans" pitchFamily="34" charset="0"/>
                <a:ea typeface="DM Sans" pitchFamily="34" charset="-122"/>
                <a:cs typeface="DM Sans" pitchFamily="34" charset="-120"/>
              </a:rPr>
              <a:t>WHEN SHE KNOWS HER VALUE</a:t>
            </a:r>
            <a:endParaRPr lang="en-US" sz="1300" dirty="0"/>
          </a:p>
        </p:txBody>
      </p:sp>
      <p:sp>
        <p:nvSpPr>
          <p:cNvPr id="5" name="Shape 3"/>
          <p:cNvSpPr/>
          <p:nvPr/>
        </p:nvSpPr>
        <p:spPr>
          <a:xfrm>
            <a:off x="822960" y="1645920"/>
            <a:ext cx="5090008" cy="1280160"/>
          </a:xfrm>
          <a:prstGeom prst="roundRect">
            <a:avLst>
              <a:gd name="adj" fmla="val 8571"/>
            </a:avLst>
          </a:prstGeom>
          <a:solidFill>
            <a:srgbClr val="EFEAE2"/>
          </a:solidFill>
          <a:ln w="12700">
            <a:solidFill>
              <a:srgbClr val="EFEAE2"/>
            </a:solidFill>
            <a:prstDash val="solid"/>
          </a:ln>
        </p:spPr>
      </p:sp>
      <p:sp>
        <p:nvSpPr>
          <p:cNvPr id="6" name="Shape 4"/>
          <p:cNvSpPr/>
          <p:nvPr/>
        </p:nvSpPr>
        <p:spPr>
          <a:xfrm>
            <a:off x="6278728" y="1645920"/>
            <a:ext cx="5090008" cy="1280160"/>
          </a:xfrm>
          <a:prstGeom prst="roundRect">
            <a:avLst>
              <a:gd name="adj" fmla="val 8571"/>
            </a:avLst>
          </a:prstGeom>
          <a:solidFill>
            <a:srgbClr val="1E4A4A"/>
          </a:solidFill>
          <a:ln w="12700">
            <a:solidFill>
              <a:srgbClr val="1E4A4A"/>
            </a:solidFill>
            <a:prstDash val="solid"/>
          </a:ln>
        </p:spPr>
      </p:sp>
      <p:sp>
        <p:nvSpPr>
          <p:cNvPr id="7" name="Text 5"/>
          <p:cNvSpPr txBox="1"/>
          <p:nvPr/>
        </p:nvSpPr>
        <p:spPr>
          <a:xfrm>
            <a:off x="1097280" y="1645920"/>
            <a:ext cx="4541368" cy="1280160"/>
          </a:xfrm>
          <a:prstGeom prst="rect">
            <a:avLst/>
          </a:prstGeom>
          <a:noFill/>
          <a:ln/>
        </p:spPr>
        <p:txBody>
          <a:bodyPr wrap="square" lIns="0" tIns="0" rIns="0" bIns="0" rtlCol="0" anchor="ctr">
            <a:normAutofit/>
          </a:bodyPr>
          <a:lstStyle/>
          <a:p>
            <a:pPr algn="l" indent="0" marL="0">
              <a:lnSpc>
                <a:spcPct val="100000"/>
              </a:lnSpc>
              <a:buNone/>
            </a:pPr>
            <a:r>
              <a:rPr lang="en-US" sz="2200" b="1" dirty="0">
                <a:solidFill>
                  <a:srgbClr val="1B2B2B"/>
                </a:solidFill>
                <a:latin typeface="Cormorant Garamond" pitchFamily="34" charset="0"/>
                <a:ea typeface="Cormorant Garamond" pitchFamily="34" charset="-122"/>
                <a:cs typeface="Cormorant Garamond" pitchFamily="34" charset="-120"/>
              </a:rPr>
              <a:t>She sees herself as lucky to be here, and negotiates like it</a:t>
            </a:r>
            <a:endParaRPr lang="en-US" sz="2200" dirty="0"/>
          </a:p>
        </p:txBody>
      </p:sp>
      <p:sp>
        <p:nvSpPr>
          <p:cNvPr id="8" name="Text 6"/>
          <p:cNvSpPr txBox="1"/>
          <p:nvPr/>
        </p:nvSpPr>
        <p:spPr>
          <a:xfrm>
            <a:off x="6553048" y="1645920"/>
            <a:ext cx="4541368" cy="1280160"/>
          </a:xfrm>
          <a:prstGeom prst="rect">
            <a:avLst/>
          </a:prstGeom>
          <a:noFill/>
          <a:ln/>
        </p:spPr>
        <p:txBody>
          <a:bodyPr wrap="square" lIns="0" tIns="0" rIns="0" bIns="0" rtlCol="0" anchor="ctr">
            <a:normAutofit/>
          </a:bodyPr>
          <a:lstStyle/>
          <a:p>
            <a:pPr algn="l" indent="0" marL="0">
              <a:lnSpc>
                <a:spcPct val="100000"/>
              </a:lnSpc>
              <a:buNone/>
            </a:pPr>
            <a:r>
              <a:rPr lang="en-US" sz="2200" b="1" dirty="0">
                <a:solidFill>
                  <a:srgbClr val="FFFFFF"/>
                </a:solidFill>
                <a:latin typeface="Cormorant Garamond" pitchFamily="34" charset="0"/>
                <a:ea typeface="Cormorant Garamond" pitchFamily="34" charset="-122"/>
                <a:cs typeface="Cormorant Garamond" pitchFamily="34" charset="-120"/>
              </a:rPr>
              <a:t>She sees herself as an asset, and negotiates like one</a:t>
            </a:r>
            <a:endParaRPr lang="en-US" sz="2200" dirty="0"/>
          </a:p>
        </p:txBody>
      </p:sp>
      <p:sp>
        <p:nvSpPr>
          <p:cNvPr id="9" name="Shape 7"/>
          <p:cNvSpPr/>
          <p:nvPr/>
        </p:nvSpPr>
        <p:spPr>
          <a:xfrm>
            <a:off x="822960" y="3108960"/>
            <a:ext cx="5090008" cy="1280160"/>
          </a:xfrm>
          <a:prstGeom prst="roundRect">
            <a:avLst>
              <a:gd name="adj" fmla="val 8571"/>
            </a:avLst>
          </a:prstGeom>
          <a:solidFill>
            <a:srgbClr val="EFEAE2"/>
          </a:solidFill>
          <a:ln w="12700">
            <a:solidFill>
              <a:srgbClr val="EFEAE2"/>
            </a:solidFill>
            <a:prstDash val="solid"/>
          </a:ln>
        </p:spPr>
      </p:sp>
      <p:sp>
        <p:nvSpPr>
          <p:cNvPr id="10" name="Shape 8"/>
          <p:cNvSpPr/>
          <p:nvPr/>
        </p:nvSpPr>
        <p:spPr>
          <a:xfrm>
            <a:off x="6278728" y="3108960"/>
            <a:ext cx="5090008" cy="1280160"/>
          </a:xfrm>
          <a:prstGeom prst="roundRect">
            <a:avLst>
              <a:gd name="adj" fmla="val 8571"/>
            </a:avLst>
          </a:prstGeom>
          <a:solidFill>
            <a:srgbClr val="1E4A4A"/>
          </a:solidFill>
          <a:ln w="12700">
            <a:solidFill>
              <a:srgbClr val="1E4A4A"/>
            </a:solidFill>
            <a:prstDash val="solid"/>
          </a:ln>
        </p:spPr>
      </p:sp>
      <p:sp>
        <p:nvSpPr>
          <p:cNvPr id="11" name="Text 9"/>
          <p:cNvSpPr txBox="1"/>
          <p:nvPr/>
        </p:nvSpPr>
        <p:spPr>
          <a:xfrm>
            <a:off x="1097280" y="3108960"/>
            <a:ext cx="4541368" cy="1280160"/>
          </a:xfrm>
          <a:prstGeom prst="rect">
            <a:avLst/>
          </a:prstGeom>
          <a:noFill/>
          <a:ln/>
        </p:spPr>
        <p:txBody>
          <a:bodyPr wrap="square" lIns="0" tIns="0" rIns="0" bIns="0" rtlCol="0" anchor="ctr">
            <a:normAutofit/>
          </a:bodyPr>
          <a:lstStyle/>
          <a:p>
            <a:pPr algn="l" indent="0" marL="0">
              <a:lnSpc>
                <a:spcPct val="100000"/>
              </a:lnSpc>
              <a:buNone/>
            </a:pPr>
            <a:r>
              <a:rPr lang="en-US" sz="2200" b="1" dirty="0">
                <a:solidFill>
                  <a:srgbClr val="1B2B2B"/>
                </a:solidFill>
                <a:latin typeface="Cormorant Garamond" pitchFamily="34" charset="0"/>
                <a:ea typeface="Cormorant Garamond" pitchFamily="34" charset="-122"/>
                <a:cs typeface="Cormorant Garamond" pitchFamily="34" charset="-120"/>
              </a:rPr>
              <a:t>She fears rejection, so she hints and hopes</a:t>
            </a:r>
            <a:endParaRPr lang="en-US" sz="2200" dirty="0"/>
          </a:p>
        </p:txBody>
      </p:sp>
      <p:sp>
        <p:nvSpPr>
          <p:cNvPr id="12" name="Text 10"/>
          <p:cNvSpPr txBox="1"/>
          <p:nvPr/>
        </p:nvSpPr>
        <p:spPr>
          <a:xfrm>
            <a:off x="6553048" y="3108960"/>
            <a:ext cx="4541368" cy="1280160"/>
          </a:xfrm>
          <a:prstGeom prst="rect">
            <a:avLst/>
          </a:prstGeom>
          <a:noFill/>
          <a:ln/>
        </p:spPr>
        <p:txBody>
          <a:bodyPr wrap="square" lIns="0" tIns="0" rIns="0" bIns="0" rtlCol="0" anchor="ctr">
            <a:normAutofit/>
          </a:bodyPr>
          <a:lstStyle/>
          <a:p>
            <a:pPr algn="l" indent="0" marL="0">
              <a:lnSpc>
                <a:spcPct val="100000"/>
              </a:lnSpc>
              <a:buNone/>
            </a:pPr>
            <a:r>
              <a:rPr lang="en-US" sz="2200" b="1" dirty="0">
                <a:solidFill>
                  <a:srgbClr val="FFFFFF"/>
                </a:solidFill>
                <a:latin typeface="Cormorant Garamond" pitchFamily="34" charset="0"/>
                <a:ea typeface="Cormorant Garamond" pitchFamily="34" charset="-122"/>
                <a:cs typeface="Cormorant Garamond" pitchFamily="34" charset="-120"/>
              </a:rPr>
              <a:t>She knows her power, so she asks clearly</a:t>
            </a:r>
            <a:endParaRPr lang="en-US" sz="2200" dirty="0"/>
          </a:p>
        </p:txBody>
      </p:sp>
      <p:sp>
        <p:nvSpPr>
          <p:cNvPr id="13" name="Shape 11"/>
          <p:cNvSpPr/>
          <p:nvPr/>
        </p:nvSpPr>
        <p:spPr>
          <a:xfrm>
            <a:off x="822960" y="4572000"/>
            <a:ext cx="5090008" cy="1280160"/>
          </a:xfrm>
          <a:prstGeom prst="roundRect">
            <a:avLst>
              <a:gd name="adj" fmla="val 8571"/>
            </a:avLst>
          </a:prstGeom>
          <a:solidFill>
            <a:srgbClr val="EFEAE2"/>
          </a:solidFill>
          <a:ln w="12700">
            <a:solidFill>
              <a:srgbClr val="EFEAE2"/>
            </a:solidFill>
            <a:prstDash val="solid"/>
          </a:ln>
        </p:spPr>
      </p:sp>
      <p:sp>
        <p:nvSpPr>
          <p:cNvPr id="14" name="Shape 12"/>
          <p:cNvSpPr/>
          <p:nvPr/>
        </p:nvSpPr>
        <p:spPr>
          <a:xfrm>
            <a:off x="6278728" y="4572000"/>
            <a:ext cx="5090008" cy="1280160"/>
          </a:xfrm>
          <a:prstGeom prst="roundRect">
            <a:avLst>
              <a:gd name="adj" fmla="val 8571"/>
            </a:avLst>
          </a:prstGeom>
          <a:solidFill>
            <a:srgbClr val="1E4A4A"/>
          </a:solidFill>
          <a:ln w="12700">
            <a:solidFill>
              <a:srgbClr val="1E4A4A"/>
            </a:solidFill>
            <a:prstDash val="solid"/>
          </a:ln>
        </p:spPr>
      </p:sp>
      <p:sp>
        <p:nvSpPr>
          <p:cNvPr id="15" name="Text 13"/>
          <p:cNvSpPr txBox="1"/>
          <p:nvPr/>
        </p:nvSpPr>
        <p:spPr>
          <a:xfrm>
            <a:off x="1097280" y="4572000"/>
            <a:ext cx="4541368" cy="1280160"/>
          </a:xfrm>
          <a:prstGeom prst="rect">
            <a:avLst/>
          </a:prstGeom>
          <a:noFill/>
          <a:ln/>
        </p:spPr>
        <p:txBody>
          <a:bodyPr wrap="square" lIns="0" tIns="0" rIns="0" bIns="0" rtlCol="0" anchor="ctr">
            <a:normAutofit/>
          </a:bodyPr>
          <a:lstStyle/>
          <a:p>
            <a:pPr algn="l" indent="0" marL="0">
              <a:lnSpc>
                <a:spcPct val="100000"/>
              </a:lnSpc>
              <a:buNone/>
            </a:pPr>
            <a:r>
              <a:rPr lang="en-US" sz="2200" b="1" dirty="0">
                <a:solidFill>
                  <a:srgbClr val="1B2B2B"/>
                </a:solidFill>
                <a:latin typeface="Cormorant Garamond" pitchFamily="34" charset="0"/>
                <a:ea typeface="Cormorant Garamond" pitchFamily="34" charset="-122"/>
                <a:cs typeface="Cormorant Garamond" pitchFamily="34" charset="-120"/>
              </a:rPr>
              <a:t>She believes her value must be earned, so she overdelivers and stays underpaid</a:t>
            </a:r>
            <a:endParaRPr lang="en-US" sz="2200" dirty="0"/>
          </a:p>
        </p:txBody>
      </p:sp>
      <p:sp>
        <p:nvSpPr>
          <p:cNvPr id="16" name="Text 14"/>
          <p:cNvSpPr txBox="1"/>
          <p:nvPr/>
        </p:nvSpPr>
        <p:spPr>
          <a:xfrm>
            <a:off x="6553048" y="4572000"/>
            <a:ext cx="4541368" cy="1280160"/>
          </a:xfrm>
          <a:prstGeom prst="rect">
            <a:avLst/>
          </a:prstGeom>
          <a:noFill/>
          <a:ln/>
        </p:spPr>
        <p:txBody>
          <a:bodyPr wrap="square" lIns="0" tIns="0" rIns="0" bIns="0" rtlCol="0" anchor="ctr">
            <a:normAutofit/>
          </a:bodyPr>
          <a:lstStyle/>
          <a:p>
            <a:pPr algn="l" indent="0" marL="0">
              <a:lnSpc>
                <a:spcPct val="100000"/>
              </a:lnSpc>
              <a:buNone/>
            </a:pPr>
            <a:r>
              <a:rPr lang="en-US" sz="2200" b="1" dirty="0">
                <a:solidFill>
                  <a:srgbClr val="FFFFFF"/>
                </a:solidFill>
                <a:latin typeface="Cormorant Garamond" pitchFamily="34" charset="0"/>
                <a:ea typeface="Cormorant Garamond" pitchFamily="34" charset="-122"/>
                <a:cs typeface="Cormorant Garamond" pitchFamily="34" charset="-120"/>
              </a:rPr>
              <a:t>She walks in expecting to be paid for the value she creates</a:t>
            </a:r>
            <a:endParaRPr lang="en-US" sz="2200" dirty="0"/>
          </a:p>
        </p:txBody>
      </p:sp>
      <p:sp>
        <p:nvSpPr>
          <p:cNvPr id="25" name="Slide Number Placeholder 0"/>
          <p:cNvSpPr>
            <a:spLocks noGrp="1"/>
          </p:cNvSpPr>
          <p:nvPr>
            <p:ph type="sldNum" sz="quarter" idx="4294967295"/>
          </p:nvPr>
        </p:nvSpPr>
        <p:spPr>
          <a:xfrm>
            <a:off x="11368735"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AA6A3"/>
                </a:solidFill>
                <a:latin typeface="DM Sans"/>
                <a:ea typeface="DM Sans"/>
                <a:cs typeface="DM Sans"/>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1E4A4A"/>
        </a:solidFill>
      </p:bgPr>
    </p:bg>
    <p:spTree>
      <p:nvGrpSpPr>
        <p:cNvPr id="1" name=""/>
        <p:cNvGrpSpPr/>
        <p:nvPr/>
      </p:nvGrpSpPr>
      <p:grpSpPr>
        <a:xfrm>
          <a:off x="0" y="0"/>
          <a:ext cx="0" cy="0"/>
          <a:chOff x="0" y="0"/>
          <a:chExt cx="0" cy="0"/>
        </a:xfrm>
      </p:grpSpPr>
      <p:sp>
        <p:nvSpPr>
          <p:cNvPr id="2" name="Text 0"/>
          <p:cNvSpPr txBox="1"/>
          <p:nvPr/>
        </p:nvSpPr>
        <p:spPr>
          <a:xfrm>
            <a:off x="822960" y="731520"/>
            <a:ext cx="10545775" cy="365760"/>
          </a:xfrm>
          <a:prstGeom prst="rect">
            <a:avLst/>
          </a:prstGeom>
          <a:noFill/>
          <a:ln/>
        </p:spPr>
        <p:txBody>
          <a:bodyPr wrap="square" lIns="0" tIns="0" rIns="0" bIns="0" rtlCol="0" anchor="ctr">
            <a:normAutofit/>
          </a:bodyPr>
          <a:lstStyle/>
          <a:p>
            <a:pPr algn="l" indent="0" marL="0">
              <a:lnSpc>
                <a:spcPct val="100000"/>
              </a:lnSpc>
              <a:buNone/>
            </a:pPr>
            <a:r>
              <a:rPr lang="en-US" sz="1400" b="1" spc="400" kern="0" dirty="0">
                <a:solidFill>
                  <a:srgbClr val="8AAF8A"/>
                </a:solidFill>
                <a:latin typeface="DM Sans" pitchFamily="34" charset="0"/>
                <a:ea typeface="DM Sans" pitchFamily="34" charset="-122"/>
                <a:cs typeface="DM Sans" pitchFamily="34" charset="-120"/>
              </a:rPr>
              <a:t>PEOPLE RARELY OUTPERFORM THEIR IDENTITY</a:t>
            </a:r>
            <a:endParaRPr lang="en-US" sz="1400" dirty="0"/>
          </a:p>
        </p:txBody>
      </p:sp>
      <p:sp>
        <p:nvSpPr>
          <p:cNvPr id="3" name="Text 1"/>
          <p:cNvSpPr txBox="1"/>
          <p:nvPr/>
        </p:nvSpPr>
        <p:spPr>
          <a:xfrm>
            <a:off x="457200" y="1371600"/>
            <a:ext cx="5760720" cy="731520"/>
          </a:xfrm>
          <a:prstGeom prst="rect">
            <a:avLst/>
          </a:prstGeom>
          <a:noFill/>
          <a:ln/>
        </p:spPr>
        <p:txBody>
          <a:bodyPr wrap="square" lIns="0" tIns="0" rIns="0" bIns="0" rtlCol="0" anchor="ctr">
            <a:normAutofit/>
          </a:bodyPr>
          <a:lstStyle/>
          <a:p>
            <a:pPr algn="r" indent="0" marL="0">
              <a:lnSpc>
                <a:spcPct val="100000"/>
              </a:lnSpc>
              <a:buNone/>
            </a:pPr>
            <a:r>
              <a:rPr lang="en-US" sz="2600" b="1" dirty="0">
                <a:solidFill>
                  <a:srgbClr val="B7D3B7"/>
                </a:solidFill>
                <a:latin typeface="Cormorant Garamond" pitchFamily="34" charset="0"/>
                <a:ea typeface="Cormorant Garamond" pitchFamily="34" charset="-122"/>
                <a:cs typeface="Cormorant Garamond" pitchFamily="34" charset="-120"/>
              </a:rPr>
              <a:t>If you feel invisible</a:t>
            </a:r>
            <a:endParaRPr lang="en-US" sz="2600" dirty="0"/>
          </a:p>
        </p:txBody>
      </p:sp>
      <p:sp>
        <p:nvSpPr>
          <p:cNvPr id="4" name="Text 2"/>
          <p:cNvSpPr txBox="1"/>
          <p:nvPr/>
        </p:nvSpPr>
        <p:spPr>
          <a:xfrm>
            <a:off x="6263640" y="1371600"/>
            <a:ext cx="640080" cy="731520"/>
          </a:xfrm>
          <a:prstGeom prst="rect">
            <a:avLst/>
          </a:prstGeom>
          <a:noFill/>
          <a:ln/>
        </p:spPr>
        <p:txBody>
          <a:bodyPr wrap="square" lIns="0" tIns="0" rIns="0" bIns="0" rtlCol="0" anchor="ctr">
            <a:normAutofit/>
          </a:bodyPr>
          <a:lstStyle/>
          <a:p>
            <a:pPr algn="ctr" indent="0" marL="0">
              <a:lnSpc>
                <a:spcPct val="100000"/>
              </a:lnSpc>
              <a:buNone/>
            </a:pPr>
            <a:r>
              <a:rPr lang="en-US" sz="2800" b="1" dirty="0">
                <a:solidFill>
                  <a:srgbClr val="8AAF8A"/>
                </a:solidFill>
                <a:latin typeface="DM Sans" pitchFamily="34" charset="0"/>
                <a:ea typeface="DM Sans" pitchFamily="34" charset="-122"/>
                <a:cs typeface="DM Sans" pitchFamily="34" charset="-120"/>
              </a:rPr>
              <a:t>→</a:t>
            </a:r>
            <a:endParaRPr lang="en-US" sz="2800" dirty="0"/>
          </a:p>
        </p:txBody>
      </p:sp>
      <p:sp>
        <p:nvSpPr>
          <p:cNvPr id="5" name="Text 3"/>
          <p:cNvSpPr txBox="1"/>
          <p:nvPr/>
        </p:nvSpPr>
        <p:spPr>
          <a:xfrm>
            <a:off x="6949440" y="1371600"/>
            <a:ext cx="4846320" cy="731520"/>
          </a:xfrm>
          <a:prstGeom prst="rect">
            <a:avLst/>
          </a:prstGeom>
          <a:noFill/>
          <a:ln/>
        </p:spPr>
        <p:txBody>
          <a:bodyPr wrap="square" lIns="0" tIns="0" rIns="0" bIns="0" rtlCol="0" anchor="ctr">
            <a:normAutofit/>
          </a:bodyPr>
          <a:lstStyle/>
          <a:p>
            <a:pPr algn="l" indent="0" marL="0">
              <a:lnSpc>
                <a:spcPct val="100000"/>
              </a:lnSpc>
              <a:buNone/>
            </a:pPr>
            <a:r>
              <a:rPr lang="en-US" sz="2600" b="1" dirty="0">
                <a:solidFill>
                  <a:srgbClr val="FFFFFF"/>
                </a:solidFill>
                <a:latin typeface="Cormorant Garamond" pitchFamily="34" charset="0"/>
                <a:ea typeface="Cormorant Garamond" pitchFamily="34" charset="-122"/>
                <a:cs typeface="Cormorant Garamond" pitchFamily="34" charset="-120"/>
              </a:rPr>
              <a:t>you stay quiet</a:t>
            </a:r>
            <a:endParaRPr lang="en-US" sz="2600" dirty="0"/>
          </a:p>
        </p:txBody>
      </p:sp>
      <p:sp>
        <p:nvSpPr>
          <p:cNvPr id="6" name="Text 4"/>
          <p:cNvSpPr txBox="1"/>
          <p:nvPr/>
        </p:nvSpPr>
        <p:spPr>
          <a:xfrm>
            <a:off x="457200" y="2286000"/>
            <a:ext cx="5760720" cy="731520"/>
          </a:xfrm>
          <a:prstGeom prst="rect">
            <a:avLst/>
          </a:prstGeom>
          <a:noFill/>
          <a:ln/>
        </p:spPr>
        <p:txBody>
          <a:bodyPr wrap="square" lIns="0" tIns="0" rIns="0" bIns="0" rtlCol="0" anchor="ctr">
            <a:normAutofit/>
          </a:bodyPr>
          <a:lstStyle/>
          <a:p>
            <a:pPr algn="r" indent="0" marL="0">
              <a:lnSpc>
                <a:spcPct val="100000"/>
              </a:lnSpc>
              <a:buNone/>
            </a:pPr>
            <a:r>
              <a:rPr lang="en-US" sz="2600" b="1" dirty="0">
                <a:solidFill>
                  <a:srgbClr val="B7D3B7"/>
                </a:solidFill>
                <a:latin typeface="Cormorant Garamond" pitchFamily="34" charset="0"/>
                <a:ea typeface="Cormorant Garamond" pitchFamily="34" charset="-122"/>
                <a:cs typeface="Cormorant Garamond" pitchFamily="34" charset="-120"/>
              </a:rPr>
              <a:t>If you feel replaceable</a:t>
            </a:r>
            <a:endParaRPr lang="en-US" sz="2600" dirty="0"/>
          </a:p>
        </p:txBody>
      </p:sp>
      <p:sp>
        <p:nvSpPr>
          <p:cNvPr id="7" name="Text 5"/>
          <p:cNvSpPr txBox="1"/>
          <p:nvPr/>
        </p:nvSpPr>
        <p:spPr>
          <a:xfrm>
            <a:off x="6263640" y="2286000"/>
            <a:ext cx="640080" cy="731520"/>
          </a:xfrm>
          <a:prstGeom prst="rect">
            <a:avLst/>
          </a:prstGeom>
          <a:noFill/>
          <a:ln/>
        </p:spPr>
        <p:txBody>
          <a:bodyPr wrap="square" lIns="0" tIns="0" rIns="0" bIns="0" rtlCol="0" anchor="ctr">
            <a:normAutofit/>
          </a:bodyPr>
          <a:lstStyle/>
          <a:p>
            <a:pPr algn="ctr" indent="0" marL="0">
              <a:lnSpc>
                <a:spcPct val="100000"/>
              </a:lnSpc>
              <a:buNone/>
            </a:pPr>
            <a:r>
              <a:rPr lang="en-US" sz="2800" b="1" dirty="0">
                <a:solidFill>
                  <a:srgbClr val="8AAF8A"/>
                </a:solidFill>
                <a:latin typeface="DM Sans" pitchFamily="34" charset="0"/>
                <a:ea typeface="DM Sans" pitchFamily="34" charset="-122"/>
                <a:cs typeface="DM Sans" pitchFamily="34" charset="-120"/>
              </a:rPr>
              <a:t>→</a:t>
            </a:r>
            <a:endParaRPr lang="en-US" sz="2800" dirty="0"/>
          </a:p>
        </p:txBody>
      </p:sp>
      <p:sp>
        <p:nvSpPr>
          <p:cNvPr id="8" name="Text 6"/>
          <p:cNvSpPr txBox="1"/>
          <p:nvPr/>
        </p:nvSpPr>
        <p:spPr>
          <a:xfrm>
            <a:off x="6949440" y="2286000"/>
            <a:ext cx="4846320" cy="731520"/>
          </a:xfrm>
          <a:prstGeom prst="rect">
            <a:avLst/>
          </a:prstGeom>
          <a:noFill/>
          <a:ln/>
        </p:spPr>
        <p:txBody>
          <a:bodyPr wrap="square" lIns="0" tIns="0" rIns="0" bIns="0" rtlCol="0" anchor="ctr">
            <a:normAutofit/>
          </a:bodyPr>
          <a:lstStyle/>
          <a:p>
            <a:pPr algn="l" indent="0" marL="0">
              <a:lnSpc>
                <a:spcPct val="100000"/>
              </a:lnSpc>
              <a:buNone/>
            </a:pPr>
            <a:r>
              <a:rPr lang="en-US" sz="2600" b="1" dirty="0">
                <a:solidFill>
                  <a:srgbClr val="FFFFFF"/>
                </a:solidFill>
                <a:latin typeface="Cormorant Garamond" pitchFamily="34" charset="0"/>
                <a:ea typeface="Cormorant Garamond" pitchFamily="34" charset="-122"/>
                <a:cs typeface="Cormorant Garamond" pitchFamily="34" charset="-120"/>
              </a:rPr>
              <a:t>you settle</a:t>
            </a:r>
            <a:endParaRPr lang="en-US" sz="2600" dirty="0"/>
          </a:p>
        </p:txBody>
      </p:sp>
      <p:sp>
        <p:nvSpPr>
          <p:cNvPr id="9" name="Text 7"/>
          <p:cNvSpPr txBox="1"/>
          <p:nvPr/>
        </p:nvSpPr>
        <p:spPr>
          <a:xfrm>
            <a:off x="457200" y="3200400"/>
            <a:ext cx="5760720" cy="731520"/>
          </a:xfrm>
          <a:prstGeom prst="rect">
            <a:avLst/>
          </a:prstGeom>
          <a:noFill/>
          <a:ln/>
        </p:spPr>
        <p:txBody>
          <a:bodyPr wrap="square" lIns="0" tIns="0" rIns="0" bIns="0" rtlCol="0" anchor="ctr">
            <a:normAutofit/>
          </a:bodyPr>
          <a:lstStyle/>
          <a:p>
            <a:pPr algn="r" indent="0" marL="0">
              <a:lnSpc>
                <a:spcPct val="100000"/>
              </a:lnSpc>
              <a:buNone/>
            </a:pPr>
            <a:r>
              <a:rPr lang="en-US" sz="2600" b="1" dirty="0">
                <a:solidFill>
                  <a:srgbClr val="B7D3B7"/>
                </a:solidFill>
                <a:latin typeface="Cormorant Garamond" pitchFamily="34" charset="0"/>
                <a:ea typeface="Cormorant Garamond" pitchFamily="34" charset="-122"/>
                <a:cs typeface="Cormorant Garamond" pitchFamily="34" charset="-120"/>
              </a:rPr>
              <a:t>If you believe you're unworthy</a:t>
            </a:r>
            <a:endParaRPr lang="en-US" sz="2600" dirty="0"/>
          </a:p>
        </p:txBody>
      </p:sp>
      <p:sp>
        <p:nvSpPr>
          <p:cNvPr id="10" name="Text 8"/>
          <p:cNvSpPr txBox="1"/>
          <p:nvPr/>
        </p:nvSpPr>
        <p:spPr>
          <a:xfrm>
            <a:off x="6263640" y="3200400"/>
            <a:ext cx="640080" cy="731520"/>
          </a:xfrm>
          <a:prstGeom prst="rect">
            <a:avLst/>
          </a:prstGeom>
          <a:noFill/>
          <a:ln/>
        </p:spPr>
        <p:txBody>
          <a:bodyPr wrap="square" lIns="0" tIns="0" rIns="0" bIns="0" rtlCol="0" anchor="ctr">
            <a:normAutofit/>
          </a:bodyPr>
          <a:lstStyle/>
          <a:p>
            <a:pPr algn="ctr" indent="0" marL="0">
              <a:lnSpc>
                <a:spcPct val="100000"/>
              </a:lnSpc>
              <a:buNone/>
            </a:pPr>
            <a:r>
              <a:rPr lang="en-US" sz="2800" b="1" dirty="0">
                <a:solidFill>
                  <a:srgbClr val="8AAF8A"/>
                </a:solidFill>
                <a:latin typeface="DM Sans" pitchFamily="34" charset="0"/>
                <a:ea typeface="DM Sans" pitchFamily="34" charset="-122"/>
                <a:cs typeface="DM Sans" pitchFamily="34" charset="-120"/>
              </a:rPr>
              <a:t>→</a:t>
            </a:r>
            <a:endParaRPr lang="en-US" sz="2800" dirty="0"/>
          </a:p>
        </p:txBody>
      </p:sp>
      <p:sp>
        <p:nvSpPr>
          <p:cNvPr id="11" name="Text 9"/>
          <p:cNvSpPr txBox="1"/>
          <p:nvPr/>
        </p:nvSpPr>
        <p:spPr>
          <a:xfrm>
            <a:off x="6949440" y="3200400"/>
            <a:ext cx="4846320" cy="731520"/>
          </a:xfrm>
          <a:prstGeom prst="rect">
            <a:avLst/>
          </a:prstGeom>
          <a:noFill/>
          <a:ln/>
        </p:spPr>
        <p:txBody>
          <a:bodyPr wrap="square" lIns="0" tIns="0" rIns="0" bIns="0" rtlCol="0" anchor="ctr">
            <a:normAutofit/>
          </a:bodyPr>
          <a:lstStyle/>
          <a:p>
            <a:pPr algn="l" indent="0" marL="0">
              <a:lnSpc>
                <a:spcPct val="100000"/>
              </a:lnSpc>
              <a:buNone/>
            </a:pPr>
            <a:r>
              <a:rPr lang="en-US" sz="2600" b="1" dirty="0">
                <a:solidFill>
                  <a:srgbClr val="FFFFFF"/>
                </a:solidFill>
                <a:latin typeface="Cormorant Garamond" pitchFamily="34" charset="0"/>
                <a:ea typeface="Cormorant Garamond" pitchFamily="34" charset="-122"/>
                <a:cs typeface="Cormorant Garamond" pitchFamily="34" charset="-120"/>
              </a:rPr>
              <a:t>you stay underpaid</a:t>
            </a:r>
            <a:endParaRPr lang="en-US" sz="2600" dirty="0"/>
          </a:p>
        </p:txBody>
      </p:sp>
      <p:sp>
        <p:nvSpPr>
          <p:cNvPr id="12" name="Text 10"/>
          <p:cNvSpPr txBox="1"/>
          <p:nvPr/>
        </p:nvSpPr>
        <p:spPr>
          <a:xfrm>
            <a:off x="457200" y="4114800"/>
            <a:ext cx="5760720" cy="731520"/>
          </a:xfrm>
          <a:prstGeom prst="rect">
            <a:avLst/>
          </a:prstGeom>
          <a:noFill/>
          <a:ln/>
        </p:spPr>
        <p:txBody>
          <a:bodyPr wrap="square" lIns="0" tIns="0" rIns="0" bIns="0" rtlCol="0" anchor="ctr">
            <a:normAutofit/>
          </a:bodyPr>
          <a:lstStyle/>
          <a:p>
            <a:pPr algn="r" indent="0" marL="0">
              <a:lnSpc>
                <a:spcPct val="100000"/>
              </a:lnSpc>
              <a:buNone/>
            </a:pPr>
            <a:r>
              <a:rPr lang="en-US" sz="2600" b="1" dirty="0">
                <a:solidFill>
                  <a:srgbClr val="B7D3B7"/>
                </a:solidFill>
                <a:latin typeface="Cormorant Garamond" pitchFamily="34" charset="0"/>
                <a:ea typeface="Cormorant Garamond" pitchFamily="34" charset="-122"/>
                <a:cs typeface="Cormorant Garamond" pitchFamily="34" charset="-120"/>
              </a:rPr>
              <a:t>If you feel valuable</a:t>
            </a:r>
            <a:endParaRPr lang="en-US" sz="2600" dirty="0"/>
          </a:p>
        </p:txBody>
      </p:sp>
      <p:sp>
        <p:nvSpPr>
          <p:cNvPr id="13" name="Text 11"/>
          <p:cNvSpPr txBox="1"/>
          <p:nvPr/>
        </p:nvSpPr>
        <p:spPr>
          <a:xfrm>
            <a:off x="6263640" y="4114800"/>
            <a:ext cx="640080" cy="731520"/>
          </a:xfrm>
          <a:prstGeom prst="rect">
            <a:avLst/>
          </a:prstGeom>
          <a:noFill/>
          <a:ln/>
        </p:spPr>
        <p:txBody>
          <a:bodyPr wrap="square" lIns="0" tIns="0" rIns="0" bIns="0" rtlCol="0" anchor="ctr">
            <a:normAutofit/>
          </a:bodyPr>
          <a:lstStyle/>
          <a:p>
            <a:pPr algn="ctr" indent="0" marL="0">
              <a:lnSpc>
                <a:spcPct val="100000"/>
              </a:lnSpc>
              <a:buNone/>
            </a:pPr>
            <a:r>
              <a:rPr lang="en-US" sz="2800" b="1" dirty="0">
                <a:solidFill>
                  <a:srgbClr val="8AAF8A"/>
                </a:solidFill>
                <a:latin typeface="DM Sans" pitchFamily="34" charset="0"/>
                <a:ea typeface="DM Sans" pitchFamily="34" charset="-122"/>
                <a:cs typeface="DM Sans" pitchFamily="34" charset="-120"/>
              </a:rPr>
              <a:t>→</a:t>
            </a:r>
            <a:endParaRPr lang="en-US" sz="2800" dirty="0"/>
          </a:p>
        </p:txBody>
      </p:sp>
      <p:sp>
        <p:nvSpPr>
          <p:cNvPr id="14" name="Text 12"/>
          <p:cNvSpPr txBox="1"/>
          <p:nvPr/>
        </p:nvSpPr>
        <p:spPr>
          <a:xfrm>
            <a:off x="6949440" y="4114800"/>
            <a:ext cx="4846320" cy="731520"/>
          </a:xfrm>
          <a:prstGeom prst="rect">
            <a:avLst/>
          </a:prstGeom>
          <a:noFill/>
          <a:ln/>
        </p:spPr>
        <p:txBody>
          <a:bodyPr wrap="square" lIns="0" tIns="0" rIns="0" bIns="0" rtlCol="0" anchor="ctr">
            <a:normAutofit/>
          </a:bodyPr>
          <a:lstStyle/>
          <a:p>
            <a:pPr algn="l" indent="0" marL="0">
              <a:lnSpc>
                <a:spcPct val="100000"/>
              </a:lnSpc>
              <a:buNone/>
            </a:pPr>
            <a:r>
              <a:rPr lang="en-US" sz="2600" b="1" dirty="0">
                <a:solidFill>
                  <a:srgbClr val="FFFFFF"/>
                </a:solidFill>
                <a:latin typeface="Cormorant Garamond" pitchFamily="34" charset="0"/>
                <a:ea typeface="Cormorant Garamond" pitchFamily="34" charset="-122"/>
                <a:cs typeface="Cormorant Garamond" pitchFamily="34" charset="-120"/>
              </a:rPr>
              <a:t>you ask for more</a:t>
            </a:r>
            <a:endParaRPr lang="en-US" sz="2600" dirty="0"/>
          </a:p>
        </p:txBody>
      </p:sp>
      <p:sp>
        <p:nvSpPr>
          <p:cNvPr id="15" name="Text 13"/>
          <p:cNvSpPr txBox="1"/>
          <p:nvPr/>
        </p:nvSpPr>
        <p:spPr>
          <a:xfrm>
            <a:off x="457200" y="5029200"/>
            <a:ext cx="5760720" cy="731520"/>
          </a:xfrm>
          <a:prstGeom prst="rect">
            <a:avLst/>
          </a:prstGeom>
          <a:noFill/>
          <a:ln/>
        </p:spPr>
        <p:txBody>
          <a:bodyPr wrap="square" lIns="0" tIns="0" rIns="0" bIns="0" rtlCol="0" anchor="ctr">
            <a:normAutofit/>
          </a:bodyPr>
          <a:lstStyle/>
          <a:p>
            <a:pPr algn="r" indent="0" marL="0">
              <a:lnSpc>
                <a:spcPct val="100000"/>
              </a:lnSpc>
              <a:buNone/>
            </a:pPr>
            <a:r>
              <a:rPr lang="en-US" sz="2600" b="1" dirty="0">
                <a:solidFill>
                  <a:srgbClr val="B7D3B7"/>
                </a:solidFill>
                <a:latin typeface="Cormorant Garamond" pitchFamily="34" charset="0"/>
                <a:ea typeface="Cormorant Garamond" pitchFamily="34" charset="-122"/>
                <a:cs typeface="Cormorant Garamond" pitchFamily="34" charset="-120"/>
              </a:rPr>
              <a:t>If you feel powerful</a:t>
            </a:r>
            <a:endParaRPr lang="en-US" sz="2600" dirty="0"/>
          </a:p>
        </p:txBody>
      </p:sp>
      <p:sp>
        <p:nvSpPr>
          <p:cNvPr id="16" name="Text 14"/>
          <p:cNvSpPr txBox="1"/>
          <p:nvPr/>
        </p:nvSpPr>
        <p:spPr>
          <a:xfrm>
            <a:off x="6263640" y="5029200"/>
            <a:ext cx="640080" cy="731520"/>
          </a:xfrm>
          <a:prstGeom prst="rect">
            <a:avLst/>
          </a:prstGeom>
          <a:noFill/>
          <a:ln/>
        </p:spPr>
        <p:txBody>
          <a:bodyPr wrap="square" lIns="0" tIns="0" rIns="0" bIns="0" rtlCol="0" anchor="ctr">
            <a:normAutofit/>
          </a:bodyPr>
          <a:lstStyle/>
          <a:p>
            <a:pPr algn="ctr" indent="0" marL="0">
              <a:lnSpc>
                <a:spcPct val="100000"/>
              </a:lnSpc>
              <a:buNone/>
            </a:pPr>
            <a:r>
              <a:rPr lang="en-US" sz="2800" b="1" dirty="0">
                <a:solidFill>
                  <a:srgbClr val="8AAF8A"/>
                </a:solidFill>
                <a:latin typeface="DM Sans" pitchFamily="34" charset="0"/>
                <a:ea typeface="DM Sans" pitchFamily="34" charset="-122"/>
                <a:cs typeface="DM Sans" pitchFamily="34" charset="-120"/>
              </a:rPr>
              <a:t>→</a:t>
            </a:r>
            <a:endParaRPr lang="en-US" sz="2800" dirty="0"/>
          </a:p>
        </p:txBody>
      </p:sp>
      <p:sp>
        <p:nvSpPr>
          <p:cNvPr id="17" name="Text 15"/>
          <p:cNvSpPr txBox="1"/>
          <p:nvPr/>
        </p:nvSpPr>
        <p:spPr>
          <a:xfrm>
            <a:off x="6949440" y="5029200"/>
            <a:ext cx="4846320" cy="731520"/>
          </a:xfrm>
          <a:prstGeom prst="rect">
            <a:avLst/>
          </a:prstGeom>
          <a:noFill/>
          <a:ln/>
        </p:spPr>
        <p:txBody>
          <a:bodyPr wrap="square" lIns="0" tIns="0" rIns="0" bIns="0" rtlCol="0" anchor="ctr">
            <a:normAutofit/>
          </a:bodyPr>
          <a:lstStyle/>
          <a:p>
            <a:pPr algn="l" indent="0" marL="0">
              <a:lnSpc>
                <a:spcPct val="100000"/>
              </a:lnSpc>
              <a:buNone/>
            </a:pPr>
            <a:r>
              <a:rPr lang="en-US" sz="2600" b="1" dirty="0">
                <a:solidFill>
                  <a:srgbClr val="FFFFFF"/>
                </a:solidFill>
                <a:latin typeface="Cormorant Garamond" pitchFamily="34" charset="0"/>
                <a:ea typeface="Cormorant Garamond" pitchFamily="34" charset="-122"/>
                <a:cs typeface="Cormorant Garamond" pitchFamily="34" charset="-120"/>
              </a:rPr>
              <a:t>you show up differently</a:t>
            </a:r>
            <a:endParaRPr lang="en-US" sz="2600" dirty="0"/>
          </a:p>
        </p:txBody>
      </p:sp>
      <p:sp>
        <p:nvSpPr>
          <p:cNvPr id="25" name="Slide Number Placeholder 0"/>
          <p:cNvSpPr>
            <a:spLocks noGrp="1"/>
          </p:cNvSpPr>
          <p:nvPr>
            <p:ph type="sldNum" sz="quarter" idx="4294967295"/>
          </p:nvPr>
        </p:nvSpPr>
        <p:spPr>
          <a:xfrm>
            <a:off x="11368735"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AAF8A"/>
                </a:solidFill>
                <a:latin typeface="DM Sans"/>
                <a:ea typeface="DM Sans"/>
                <a:cs typeface="DM Sans"/>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22960" y="640080"/>
            <a:ext cx="10545775" cy="365760"/>
          </a:xfrm>
          <a:prstGeom prst="rect">
            <a:avLst/>
          </a:prstGeom>
          <a:noFill/>
          <a:ln/>
        </p:spPr>
        <p:txBody>
          <a:bodyPr wrap="square" lIns="0" tIns="0" rIns="0" bIns="0" rtlCol="0" anchor="ctr">
            <a:normAutofit/>
          </a:bodyPr>
          <a:lstStyle/>
          <a:p>
            <a:pPr algn="l" indent="0" marL="0">
              <a:lnSpc>
                <a:spcPct val="100000"/>
              </a:lnSpc>
              <a:buNone/>
            </a:pPr>
            <a:r>
              <a:rPr lang="en-US" sz="1400" b="1" spc="400" kern="0" dirty="0">
                <a:solidFill>
                  <a:srgbClr val="8AAF8A"/>
                </a:solidFill>
                <a:latin typeface="DM Sans" pitchFamily="34" charset="0"/>
                <a:ea typeface="DM Sans" pitchFamily="34" charset="-122"/>
                <a:cs typeface="DM Sans" pitchFamily="34" charset="-120"/>
              </a:rPr>
              <a:t>THE BELIEF IDENTITY BREAKS</a:t>
            </a:r>
            <a:endParaRPr lang="en-US" sz="1400" dirty="0"/>
          </a:p>
        </p:txBody>
      </p:sp>
      <p:sp>
        <p:nvSpPr>
          <p:cNvPr id="3" name="Shape 1"/>
          <p:cNvSpPr/>
          <p:nvPr/>
        </p:nvSpPr>
        <p:spPr>
          <a:xfrm>
            <a:off x="822960" y="1325880"/>
            <a:ext cx="4815688" cy="4754880"/>
          </a:xfrm>
          <a:prstGeom prst="roundRect">
            <a:avLst>
              <a:gd name="adj" fmla="val 2308"/>
            </a:avLst>
          </a:prstGeom>
          <a:solidFill>
            <a:srgbClr val="EFEAE2"/>
          </a:solidFill>
          <a:ln w="12700">
            <a:solidFill>
              <a:srgbClr val="EFEAE2"/>
            </a:solidFill>
            <a:prstDash val="solid"/>
          </a:ln>
        </p:spPr>
      </p:sp>
      <p:sp>
        <p:nvSpPr>
          <p:cNvPr id="4" name="Text 2"/>
          <p:cNvSpPr txBox="1"/>
          <p:nvPr/>
        </p:nvSpPr>
        <p:spPr>
          <a:xfrm>
            <a:off x="1234440" y="1737360"/>
            <a:ext cx="3992728" cy="365760"/>
          </a:xfrm>
          <a:prstGeom prst="rect">
            <a:avLst/>
          </a:prstGeom>
          <a:noFill/>
          <a:ln/>
        </p:spPr>
        <p:txBody>
          <a:bodyPr wrap="square" lIns="0" tIns="0" rIns="0" bIns="0" rtlCol="0" anchor="t">
            <a:normAutofit/>
          </a:bodyPr>
          <a:lstStyle/>
          <a:p>
            <a:pPr algn="l" indent="0" marL="0">
              <a:lnSpc>
                <a:spcPct val="100000"/>
              </a:lnSpc>
              <a:buNone/>
            </a:pPr>
            <a:r>
              <a:rPr lang="en-US" sz="1300" b="1" spc="300" kern="0" dirty="0">
                <a:solidFill>
                  <a:srgbClr val="5E6B68"/>
                </a:solidFill>
                <a:latin typeface="DM Sans" pitchFamily="34" charset="0"/>
                <a:ea typeface="DM Sans" pitchFamily="34" charset="-122"/>
                <a:cs typeface="DM Sans" pitchFamily="34" charset="-120"/>
              </a:rPr>
              <a:t>WHAT MOST THINK</a:t>
            </a:r>
            <a:endParaRPr lang="en-US" sz="1300" dirty="0"/>
          </a:p>
        </p:txBody>
      </p:sp>
      <p:sp>
        <p:nvSpPr>
          <p:cNvPr id="5" name="Text 3"/>
          <p:cNvSpPr txBox="1"/>
          <p:nvPr/>
        </p:nvSpPr>
        <p:spPr>
          <a:xfrm>
            <a:off x="1234440" y="2331720"/>
            <a:ext cx="3992728" cy="3291840"/>
          </a:xfrm>
          <a:prstGeom prst="rect">
            <a:avLst/>
          </a:prstGeom>
          <a:noFill/>
          <a:ln/>
        </p:spPr>
        <p:txBody>
          <a:bodyPr wrap="square" lIns="0" tIns="0" rIns="0" bIns="0" rtlCol="0" anchor="ctr">
            <a:normAutofit/>
          </a:bodyPr>
          <a:lstStyle/>
          <a:p>
            <a:pPr algn="l" indent="0" marL="0">
              <a:lnSpc>
                <a:spcPct val="105000"/>
              </a:lnSpc>
              <a:buNone/>
            </a:pPr>
            <a:r>
              <a:rPr lang="en-US" sz="2900" b="1" dirty="0">
                <a:solidFill>
                  <a:srgbClr val="1B2B2B"/>
                </a:solidFill>
                <a:latin typeface="Cormorant Garamond" pitchFamily="34" charset="0"/>
                <a:ea typeface="Cormorant Garamond" pitchFamily="34" charset="-122"/>
                <a:cs typeface="Cormorant Garamond" pitchFamily="34" charset="-120"/>
              </a:rPr>
              <a:t>"I'll feel confident once I get the title and the number."</a:t>
            </a:r>
            <a:endParaRPr lang="en-US" sz="2900" dirty="0"/>
          </a:p>
        </p:txBody>
      </p:sp>
      <p:sp>
        <p:nvSpPr>
          <p:cNvPr id="6" name="Shape 4"/>
          <p:cNvSpPr/>
          <p:nvPr/>
        </p:nvSpPr>
        <p:spPr>
          <a:xfrm>
            <a:off x="6553048" y="1325880"/>
            <a:ext cx="4815688" cy="4754880"/>
          </a:xfrm>
          <a:prstGeom prst="roundRect">
            <a:avLst>
              <a:gd name="adj" fmla="val 2308"/>
            </a:avLst>
          </a:prstGeom>
          <a:solidFill>
            <a:srgbClr val="1E4A4A"/>
          </a:solidFill>
          <a:ln w="12700">
            <a:solidFill>
              <a:srgbClr val="1E4A4A"/>
            </a:solidFill>
            <a:prstDash val="solid"/>
          </a:ln>
        </p:spPr>
      </p:sp>
      <p:sp>
        <p:nvSpPr>
          <p:cNvPr id="7" name="Text 5"/>
          <p:cNvSpPr txBox="1"/>
          <p:nvPr/>
        </p:nvSpPr>
        <p:spPr>
          <a:xfrm>
            <a:off x="6964528" y="1737360"/>
            <a:ext cx="3992728" cy="365760"/>
          </a:xfrm>
          <a:prstGeom prst="rect">
            <a:avLst/>
          </a:prstGeom>
          <a:noFill/>
          <a:ln/>
        </p:spPr>
        <p:txBody>
          <a:bodyPr wrap="square" lIns="0" tIns="0" rIns="0" bIns="0" rtlCol="0" anchor="t">
            <a:normAutofit/>
          </a:bodyPr>
          <a:lstStyle/>
          <a:p>
            <a:pPr algn="l" indent="0" marL="0">
              <a:lnSpc>
                <a:spcPct val="100000"/>
              </a:lnSpc>
              <a:buNone/>
            </a:pPr>
            <a:r>
              <a:rPr lang="en-US" sz="1300" b="1" spc="300" kern="0" dirty="0">
                <a:solidFill>
                  <a:srgbClr val="B7D3B7"/>
                </a:solidFill>
                <a:latin typeface="DM Sans" pitchFamily="34" charset="0"/>
                <a:ea typeface="DM Sans" pitchFamily="34" charset="-122"/>
                <a:cs typeface="DM Sans" pitchFamily="34" charset="-120"/>
              </a:rPr>
              <a:t>THE REALITY</a:t>
            </a:r>
            <a:endParaRPr lang="en-US" sz="1300" dirty="0"/>
          </a:p>
        </p:txBody>
      </p:sp>
      <p:sp>
        <p:nvSpPr>
          <p:cNvPr id="8" name="Text 6"/>
          <p:cNvSpPr txBox="1"/>
          <p:nvPr/>
        </p:nvSpPr>
        <p:spPr>
          <a:xfrm>
            <a:off x="6964528" y="2331720"/>
            <a:ext cx="3992728" cy="3291840"/>
          </a:xfrm>
          <a:prstGeom prst="rect">
            <a:avLst/>
          </a:prstGeom>
          <a:noFill/>
          <a:ln/>
        </p:spPr>
        <p:txBody>
          <a:bodyPr wrap="square" lIns="0" tIns="0" rIns="0" bIns="0" rtlCol="0" anchor="ctr">
            <a:normAutofit/>
          </a:bodyPr>
          <a:lstStyle/>
          <a:p>
            <a:pPr algn="l" indent="0" marL="0">
              <a:lnSpc>
                <a:spcPct val="105000"/>
              </a:lnSpc>
              <a:buNone/>
            </a:pPr>
            <a:r>
              <a:rPr lang="en-US" sz="2500" b="1" dirty="0">
                <a:solidFill>
                  <a:srgbClr val="FFFFFF"/>
                </a:solidFill>
                <a:latin typeface="Cormorant Garamond" pitchFamily="34" charset="0"/>
                <a:ea typeface="Cormorant Garamond" pitchFamily="34" charset="-122"/>
                <a:cs typeface="Cormorant Garamond" pitchFamily="34" charset="-120"/>
              </a:rPr>
              <a:t>Your career will rarely exceed the identity you've accepted for yourself.</a:t>
            </a:r>
            <a:endParaRPr lang="en-US" sz="2500" dirty="0"/>
          </a:p>
        </p:txBody>
      </p:sp>
      <p:sp>
        <p:nvSpPr>
          <p:cNvPr id="9" name="Text 7"/>
          <p:cNvSpPr txBox="1"/>
          <p:nvPr/>
        </p:nvSpPr>
        <p:spPr>
          <a:xfrm>
            <a:off x="5638648" y="1325880"/>
            <a:ext cx="914400" cy="4754880"/>
          </a:xfrm>
          <a:prstGeom prst="rect">
            <a:avLst/>
          </a:prstGeom>
          <a:noFill/>
          <a:ln/>
        </p:spPr>
        <p:txBody>
          <a:bodyPr wrap="square" lIns="0" tIns="0" rIns="0" bIns="0" rtlCol="0" anchor="ctr">
            <a:normAutofit/>
          </a:bodyPr>
          <a:lstStyle/>
          <a:p>
            <a:pPr algn="ctr" indent="0" marL="0">
              <a:lnSpc>
                <a:spcPct val="100000"/>
              </a:lnSpc>
              <a:buNone/>
            </a:pPr>
            <a:r>
              <a:rPr lang="en-US" sz="4000" b="1" dirty="0">
                <a:solidFill>
                  <a:srgbClr val="8AAF8A"/>
                </a:solidFill>
                <a:latin typeface="DM Sans" pitchFamily="34" charset="0"/>
                <a:ea typeface="DM Sans" pitchFamily="34" charset="-122"/>
                <a:cs typeface="DM Sans" pitchFamily="34" charset="-120"/>
              </a:rPr>
              <a:t>→</a:t>
            </a:r>
            <a:endParaRPr lang="en-US" sz="4000" dirty="0"/>
          </a:p>
        </p:txBody>
      </p:sp>
      <p:sp>
        <p:nvSpPr>
          <p:cNvPr id="25" name="Slide Number Placeholder 0"/>
          <p:cNvSpPr>
            <a:spLocks noGrp="1"/>
          </p:cNvSpPr>
          <p:nvPr>
            <p:ph type="sldNum" sz="quarter" idx="4294967295"/>
          </p:nvPr>
        </p:nvSpPr>
        <p:spPr>
          <a:xfrm>
            <a:off x="11368735"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AA6A3"/>
                </a:solidFill>
                <a:latin typeface="DM Sans"/>
                <a:ea typeface="DM Sans"/>
                <a:cs typeface="DM Sans"/>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1E4A4A"/>
        </a:solidFill>
      </p:bgPr>
    </p:bg>
    <p:spTree>
      <p:nvGrpSpPr>
        <p:cNvPr id="1" name=""/>
        <p:cNvGrpSpPr/>
        <p:nvPr/>
      </p:nvGrpSpPr>
      <p:grpSpPr>
        <a:xfrm>
          <a:off x="0" y="0"/>
          <a:ext cx="0" cy="0"/>
          <a:chOff x="0" y="0"/>
          <a:chExt cx="0" cy="0"/>
        </a:xfrm>
      </p:grpSpPr>
      <p:sp>
        <p:nvSpPr>
          <p:cNvPr id="2" name="Text 0"/>
          <p:cNvSpPr txBox="1"/>
          <p:nvPr/>
        </p:nvSpPr>
        <p:spPr>
          <a:xfrm>
            <a:off x="1097280" y="1097280"/>
            <a:ext cx="9997135" cy="2926080"/>
          </a:xfrm>
          <a:prstGeom prst="rect">
            <a:avLst/>
          </a:prstGeom>
          <a:noFill/>
          <a:ln/>
        </p:spPr>
        <p:txBody>
          <a:bodyPr wrap="square" lIns="0" tIns="0" rIns="0" bIns="0" rtlCol="0" anchor="b">
            <a:normAutofit/>
          </a:bodyPr>
          <a:lstStyle/>
          <a:p>
            <a:pPr algn="ctr" indent="0" marL="0">
              <a:lnSpc>
                <a:spcPct val="95000"/>
              </a:lnSpc>
              <a:buNone/>
            </a:pPr>
            <a:r>
              <a:rPr lang="en-US" sz="4100" b="1" dirty="0">
                <a:solidFill>
                  <a:srgbClr val="FFFFFF"/>
                </a:solidFill>
                <a:latin typeface="Cormorant Garamond" pitchFamily="34" charset="0"/>
                <a:ea typeface="Cormorant Garamond" pitchFamily="34" charset="-122"/>
                <a:cs typeface="Cormorant Garamond" pitchFamily="34" charset="-120"/>
              </a:rPr>
              <a:t>Identity is not fixed. </a:t>
            </a:r>
            <a:pPr algn="ctr" indent="0" marL="0">
              <a:lnSpc>
                <a:spcPct val="95000"/>
              </a:lnSpc>
              <a:buNone/>
            </a:pPr>
            <a:r>
              <a:rPr lang="en-US" sz="4100" b="1" dirty="0">
                <a:solidFill>
                  <a:srgbClr val="B7D3B7"/>
                </a:solidFill>
                <a:latin typeface="Cormorant Garamond" pitchFamily="34" charset="0"/>
                <a:ea typeface="Cormorant Garamond" pitchFamily="34" charset="-122"/>
                <a:cs typeface="Cormorant Garamond" pitchFamily="34" charset="-120"/>
              </a:rPr>
              <a:t>Identity is constructed.</a:t>
            </a:r>
            <a:endParaRPr lang="en-US" sz="4100" dirty="0"/>
          </a:p>
        </p:txBody>
      </p:sp>
      <p:sp>
        <p:nvSpPr>
          <p:cNvPr id="3" name="Text 1"/>
          <p:cNvSpPr txBox="1"/>
          <p:nvPr/>
        </p:nvSpPr>
        <p:spPr>
          <a:xfrm>
            <a:off x="1645920" y="4297680"/>
            <a:ext cx="8899855" cy="1463040"/>
          </a:xfrm>
          <a:prstGeom prst="rect">
            <a:avLst/>
          </a:prstGeom>
          <a:noFill/>
          <a:ln/>
        </p:spPr>
        <p:txBody>
          <a:bodyPr wrap="square" lIns="0" tIns="0" rIns="0" bIns="0" rtlCol="0" anchor="t">
            <a:normAutofit/>
          </a:bodyPr>
          <a:lstStyle/>
          <a:p>
            <a:pPr algn="ctr" indent="0" marL="0">
              <a:lnSpc>
                <a:spcPct val="115000"/>
              </a:lnSpc>
              <a:buNone/>
            </a:pPr>
            <a:r>
              <a:rPr lang="en-US" sz="2000" dirty="0">
                <a:solidFill>
                  <a:srgbClr val="E1F5EE"/>
                </a:solidFill>
                <a:latin typeface="DM Sans" pitchFamily="34" charset="0"/>
                <a:ea typeface="DM Sans" pitchFamily="34" charset="-122"/>
                <a:cs typeface="DM Sans" pitchFamily="34" charset="-120"/>
              </a:rPr>
              <a:t>And once you understand that, you can rebuild it on purpose.</a:t>
            </a:r>
            <a:endParaRPr lang="en-US" sz="2000" dirty="0"/>
          </a:p>
        </p:txBody>
      </p:sp>
      <p:sp>
        <p:nvSpPr>
          <p:cNvPr id="25" name="Slide Number Placeholder 0"/>
          <p:cNvSpPr>
            <a:spLocks noGrp="1"/>
          </p:cNvSpPr>
          <p:nvPr>
            <p:ph type="sldNum" sz="quarter" idx="4294967295"/>
          </p:nvPr>
        </p:nvSpPr>
        <p:spPr>
          <a:xfrm>
            <a:off x="11368735"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AAF8A"/>
                </a:solidFill>
                <a:latin typeface="DM Sans"/>
                <a:ea typeface="DM Sans"/>
                <a:cs typeface="DM Sans"/>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E1F5EE"/>
        </a:solidFill>
      </p:bgPr>
    </p:bg>
    <p:spTree>
      <p:nvGrpSpPr>
        <p:cNvPr id="1" name=""/>
        <p:cNvGrpSpPr/>
        <p:nvPr/>
      </p:nvGrpSpPr>
      <p:grpSpPr>
        <a:xfrm>
          <a:off x="0" y="0"/>
          <a:ext cx="0" cy="0"/>
          <a:chOff x="0" y="0"/>
          <a:chExt cx="0" cy="0"/>
        </a:xfrm>
      </p:grpSpPr>
      <p:sp>
        <p:nvSpPr>
          <p:cNvPr id="2" name="Text 0"/>
          <p:cNvSpPr txBox="1"/>
          <p:nvPr/>
        </p:nvSpPr>
        <p:spPr>
          <a:xfrm>
            <a:off x="914400" y="1554480"/>
            <a:ext cx="10362895" cy="411480"/>
          </a:xfrm>
          <a:prstGeom prst="rect">
            <a:avLst/>
          </a:prstGeom>
          <a:noFill/>
          <a:ln/>
        </p:spPr>
        <p:txBody>
          <a:bodyPr wrap="square" lIns="0" tIns="0" rIns="0" bIns="0" rtlCol="0" anchor="ctr">
            <a:normAutofit/>
          </a:bodyPr>
          <a:lstStyle/>
          <a:p>
            <a:pPr algn="ctr" indent="0" marL="0">
              <a:lnSpc>
                <a:spcPct val="100000"/>
              </a:lnSpc>
              <a:buNone/>
            </a:pPr>
            <a:r>
              <a:rPr lang="en-US" sz="1500" b="1" spc="500" kern="0" dirty="0">
                <a:solidFill>
                  <a:srgbClr val="1E4A4A"/>
                </a:solidFill>
                <a:latin typeface="DM Sans" pitchFamily="34" charset="0"/>
                <a:ea typeface="DM Sans" pitchFamily="34" charset="-122"/>
                <a:cs typeface="DM Sans" pitchFamily="34" charset="-120"/>
              </a:rPr>
              <a:t>ASK YOURSELF</a:t>
            </a:r>
            <a:endParaRPr lang="en-US" sz="1500" dirty="0"/>
          </a:p>
        </p:txBody>
      </p:sp>
      <p:sp>
        <p:nvSpPr>
          <p:cNvPr id="3" name="Text 1"/>
          <p:cNvSpPr txBox="1"/>
          <p:nvPr/>
        </p:nvSpPr>
        <p:spPr>
          <a:xfrm>
            <a:off x="1188720" y="2194560"/>
            <a:ext cx="9814255" cy="2743200"/>
          </a:xfrm>
          <a:prstGeom prst="rect">
            <a:avLst/>
          </a:prstGeom>
          <a:noFill/>
          <a:ln/>
        </p:spPr>
        <p:txBody>
          <a:bodyPr wrap="square" lIns="0" tIns="0" rIns="0" bIns="0" rtlCol="0" anchor="t">
            <a:normAutofit/>
          </a:bodyPr>
          <a:lstStyle/>
          <a:p>
            <a:pPr algn="ctr" indent="0" marL="0">
              <a:lnSpc>
                <a:spcPct val="100000"/>
              </a:lnSpc>
              <a:buNone/>
            </a:pPr>
            <a:r>
              <a:rPr lang="en-US" sz="3700" b="1" i="1" dirty="0">
                <a:solidFill>
                  <a:srgbClr val="1E4A4A"/>
                </a:solidFill>
                <a:latin typeface="Cormorant Garamond" pitchFamily="34" charset="0"/>
                <a:ea typeface="Cormorant Garamond" pitchFamily="34" charset="-122"/>
                <a:cs typeface="Cormorant Garamond" pitchFamily="34" charset="-120"/>
              </a:rPr>
              <a:t>What did you learn about money </a:t>
            </a:r>
            <a:pPr algn="ctr" indent="0" marL="0">
              <a:lnSpc>
                <a:spcPct val="100000"/>
              </a:lnSpc>
              <a:buNone/>
            </a:pPr>
            <a:r>
              <a:rPr lang="en-US" sz="3700" b="1" i="1" dirty="0">
                <a:solidFill>
                  <a:srgbClr val="1E4A4A"/>
                </a:solidFill>
                <a:highlight>
                  <a:srgbClr val="CFE3CF"/>
                </a:highlight>
                <a:latin typeface="Cormorant Garamond" pitchFamily="34" charset="0"/>
                <a:ea typeface="Cormorant Garamond" pitchFamily="34" charset="-122"/>
                <a:cs typeface="Cormorant Garamond" pitchFamily="34" charset="-120"/>
              </a:rPr>
              <a:t>before you were ten years old?</a:t>
            </a:r>
            <a:endParaRPr lang="en-US" sz="3700" dirty="0"/>
          </a:p>
        </p:txBody>
      </p:sp>
      <p:sp>
        <p:nvSpPr>
          <p:cNvPr id="25" name="Slide Number Placeholder 0"/>
          <p:cNvSpPr>
            <a:spLocks noGrp="1"/>
          </p:cNvSpPr>
          <p:nvPr>
            <p:ph type="sldNum" sz="quarter" idx="4294967295"/>
          </p:nvPr>
        </p:nvSpPr>
        <p:spPr>
          <a:xfrm>
            <a:off x="11368735"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AA6A3"/>
                </a:solidFill>
                <a:latin typeface="DM Sans"/>
                <a:ea typeface="DM Sans"/>
                <a:cs typeface="DM Sans"/>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AF5EE"/>
        </a:solidFill>
      </p:bgPr>
    </p:bg>
    <p:spTree>
      <p:nvGrpSpPr>
        <p:cNvPr id="1" name=""/>
        <p:cNvGrpSpPr/>
        <p:nvPr/>
      </p:nvGrpSpPr>
      <p:grpSpPr>
        <a:xfrm>
          <a:off x="0" y="0"/>
          <a:ext cx="0" cy="0"/>
          <a:chOff x="0" y="0"/>
          <a:chExt cx="0" cy="0"/>
        </a:xfrm>
      </p:grpSpPr>
      <p:sp>
        <p:nvSpPr>
          <p:cNvPr id="2" name="Text 0"/>
          <p:cNvSpPr txBox="1"/>
          <p:nvPr/>
        </p:nvSpPr>
        <p:spPr>
          <a:xfrm>
            <a:off x="822960" y="731520"/>
            <a:ext cx="10545775" cy="365760"/>
          </a:xfrm>
          <a:prstGeom prst="rect">
            <a:avLst/>
          </a:prstGeom>
          <a:noFill/>
          <a:ln/>
        </p:spPr>
        <p:txBody>
          <a:bodyPr wrap="square" lIns="0" tIns="0" rIns="0" bIns="0" rtlCol="0" anchor="ctr">
            <a:normAutofit/>
          </a:bodyPr>
          <a:lstStyle/>
          <a:p>
            <a:pPr algn="l" indent="0" marL="0">
              <a:lnSpc>
                <a:spcPct val="100000"/>
              </a:lnSpc>
              <a:buNone/>
            </a:pPr>
            <a:r>
              <a:rPr lang="en-US" sz="1400" b="1" spc="400" kern="0" dirty="0">
                <a:solidFill>
                  <a:srgbClr val="8AAF8A"/>
                </a:solidFill>
                <a:latin typeface="DM Sans" pitchFamily="34" charset="0"/>
                <a:ea typeface="DM Sans" pitchFamily="34" charset="-122"/>
                <a:cs typeface="DM Sans" pitchFamily="34" charset="-120"/>
              </a:rPr>
              <a:t>WHAT THIS LOOKS LIKE</a:t>
            </a:r>
            <a:endParaRPr lang="en-US" sz="1400" dirty="0"/>
          </a:p>
        </p:txBody>
      </p:sp>
      <p:sp>
        <p:nvSpPr>
          <p:cNvPr id="3" name="Text 1"/>
          <p:cNvSpPr txBox="1"/>
          <p:nvPr/>
        </p:nvSpPr>
        <p:spPr>
          <a:xfrm>
            <a:off x="822960" y="1143000"/>
            <a:ext cx="10545775" cy="1280160"/>
          </a:xfrm>
          <a:prstGeom prst="rect">
            <a:avLst/>
          </a:prstGeom>
          <a:noFill/>
          <a:ln/>
        </p:spPr>
        <p:txBody>
          <a:bodyPr wrap="square" lIns="0" tIns="0" rIns="0" bIns="0" rtlCol="0" anchor="t">
            <a:normAutofit/>
          </a:bodyPr>
          <a:lstStyle/>
          <a:p>
            <a:pPr algn="l" indent="0" marL="0">
              <a:lnSpc>
                <a:spcPct val="95000"/>
              </a:lnSpc>
              <a:buNone/>
            </a:pPr>
            <a:r>
              <a:rPr lang="en-US" sz="3000" b="1" dirty="0">
                <a:solidFill>
                  <a:srgbClr val="1E4A4A"/>
                </a:solidFill>
                <a:latin typeface="Cormorant Garamond" pitchFamily="34" charset="0"/>
                <a:ea typeface="Cormorant Garamond" pitchFamily="34" charset="-122"/>
                <a:cs typeface="Cormorant Garamond" pitchFamily="34" charset="-120"/>
              </a:rPr>
              <a:t>She no longer questions whether she deserves more. </a:t>
            </a:r>
            <a:pPr algn="l" indent="0" marL="0">
              <a:lnSpc>
                <a:spcPct val="95000"/>
              </a:lnSpc>
              <a:buNone/>
            </a:pPr>
            <a:r>
              <a:rPr lang="en-US" sz="3000" b="1" dirty="0">
                <a:solidFill>
                  <a:srgbClr val="1E4A4A"/>
                </a:solidFill>
                <a:highlight>
                  <a:srgbClr val="CFE3CF"/>
                </a:highlight>
                <a:latin typeface="Cormorant Garamond" pitchFamily="34" charset="0"/>
                <a:ea typeface="Cormorant Garamond" pitchFamily="34" charset="-122"/>
                <a:cs typeface="Cormorant Garamond" pitchFamily="34" charset="-120"/>
              </a:rPr>
              <a:t>She expects it.</a:t>
            </a:r>
            <a:endParaRPr lang="en-US" sz="3000" dirty="0"/>
          </a:p>
        </p:txBody>
      </p:sp>
      <p:sp>
        <p:nvSpPr>
          <p:cNvPr id="4" name="Shape 2"/>
          <p:cNvSpPr/>
          <p:nvPr/>
        </p:nvSpPr>
        <p:spPr>
          <a:xfrm>
            <a:off x="868680" y="2990088"/>
            <a:ext cx="237744" cy="237744"/>
          </a:xfrm>
          <a:prstGeom prst="ellipse">
            <a:avLst/>
          </a:prstGeom>
          <a:solidFill>
            <a:srgbClr val="8AAF8A"/>
          </a:solidFill>
          <a:ln w="12700">
            <a:solidFill>
              <a:srgbClr val="8AAF8A"/>
            </a:solidFill>
            <a:prstDash val="solid"/>
          </a:ln>
        </p:spPr>
      </p:sp>
      <p:sp>
        <p:nvSpPr>
          <p:cNvPr id="5" name="Text 3"/>
          <p:cNvSpPr txBox="1"/>
          <p:nvPr/>
        </p:nvSpPr>
        <p:spPr>
          <a:xfrm>
            <a:off x="1463040" y="2743200"/>
            <a:ext cx="9875520" cy="731520"/>
          </a:xfrm>
          <a:prstGeom prst="rect">
            <a:avLst/>
          </a:prstGeom>
          <a:noFill/>
          <a:ln/>
        </p:spPr>
        <p:txBody>
          <a:bodyPr wrap="square" lIns="0" tIns="0" rIns="0" bIns="0" rtlCol="0" anchor="ctr">
            <a:normAutofit/>
          </a:bodyPr>
          <a:lstStyle/>
          <a:p>
            <a:pPr algn="l" indent="0" marL="0">
              <a:lnSpc>
                <a:spcPct val="100000"/>
              </a:lnSpc>
              <a:buNone/>
            </a:pPr>
            <a:r>
              <a:rPr lang="en-US" sz="2600" b="1" dirty="0">
                <a:solidFill>
                  <a:srgbClr val="1B2B2B"/>
                </a:solidFill>
                <a:latin typeface="Cormorant Garamond" pitchFamily="34" charset="0"/>
                <a:ea typeface="Cormorant Garamond" pitchFamily="34" charset="-122"/>
                <a:cs typeface="Cormorant Garamond" pitchFamily="34" charset="-120"/>
              </a:rPr>
              <a:t>You stop asking whether you deserve more</a:t>
            </a:r>
            <a:endParaRPr lang="en-US" sz="2600" dirty="0"/>
          </a:p>
        </p:txBody>
      </p:sp>
      <p:sp>
        <p:nvSpPr>
          <p:cNvPr id="6" name="Shape 4"/>
          <p:cNvSpPr/>
          <p:nvPr/>
        </p:nvSpPr>
        <p:spPr>
          <a:xfrm>
            <a:off x="868680" y="3858768"/>
            <a:ext cx="237744" cy="237744"/>
          </a:xfrm>
          <a:prstGeom prst="ellipse">
            <a:avLst/>
          </a:prstGeom>
          <a:solidFill>
            <a:srgbClr val="8AAF8A"/>
          </a:solidFill>
          <a:ln w="12700">
            <a:solidFill>
              <a:srgbClr val="8AAF8A"/>
            </a:solidFill>
            <a:prstDash val="solid"/>
          </a:ln>
        </p:spPr>
      </p:sp>
      <p:sp>
        <p:nvSpPr>
          <p:cNvPr id="7" name="Text 5"/>
          <p:cNvSpPr txBox="1"/>
          <p:nvPr/>
        </p:nvSpPr>
        <p:spPr>
          <a:xfrm>
            <a:off x="1463040" y="3611880"/>
            <a:ext cx="9875520" cy="731520"/>
          </a:xfrm>
          <a:prstGeom prst="rect">
            <a:avLst/>
          </a:prstGeom>
          <a:noFill/>
          <a:ln/>
        </p:spPr>
        <p:txBody>
          <a:bodyPr wrap="square" lIns="0" tIns="0" rIns="0" bIns="0" rtlCol="0" anchor="ctr">
            <a:normAutofit/>
          </a:bodyPr>
          <a:lstStyle/>
          <a:p>
            <a:pPr algn="l" indent="0" marL="0">
              <a:lnSpc>
                <a:spcPct val="100000"/>
              </a:lnSpc>
              <a:buNone/>
            </a:pPr>
            <a:r>
              <a:rPr lang="en-US" sz="2600" b="1" dirty="0">
                <a:solidFill>
                  <a:srgbClr val="1B2B2B"/>
                </a:solidFill>
                <a:latin typeface="Cormorant Garamond" pitchFamily="34" charset="0"/>
                <a:ea typeface="Cormorant Garamond" pitchFamily="34" charset="-122"/>
                <a:cs typeface="Cormorant Garamond" pitchFamily="34" charset="-120"/>
              </a:rPr>
              <a:t>You take a compliment without deflecting it</a:t>
            </a:r>
            <a:endParaRPr lang="en-US" sz="2600" dirty="0"/>
          </a:p>
        </p:txBody>
      </p:sp>
      <p:sp>
        <p:nvSpPr>
          <p:cNvPr id="8" name="Shape 6"/>
          <p:cNvSpPr/>
          <p:nvPr/>
        </p:nvSpPr>
        <p:spPr>
          <a:xfrm>
            <a:off x="868680" y="4727448"/>
            <a:ext cx="237744" cy="237744"/>
          </a:xfrm>
          <a:prstGeom prst="ellipse">
            <a:avLst/>
          </a:prstGeom>
          <a:solidFill>
            <a:srgbClr val="8AAF8A"/>
          </a:solidFill>
          <a:ln w="12700">
            <a:solidFill>
              <a:srgbClr val="8AAF8A"/>
            </a:solidFill>
            <a:prstDash val="solid"/>
          </a:ln>
        </p:spPr>
      </p:sp>
      <p:sp>
        <p:nvSpPr>
          <p:cNvPr id="9" name="Text 7"/>
          <p:cNvSpPr txBox="1"/>
          <p:nvPr/>
        </p:nvSpPr>
        <p:spPr>
          <a:xfrm>
            <a:off x="1463040" y="4480560"/>
            <a:ext cx="9875520" cy="731520"/>
          </a:xfrm>
          <a:prstGeom prst="rect">
            <a:avLst/>
          </a:prstGeom>
          <a:noFill/>
          <a:ln/>
        </p:spPr>
        <p:txBody>
          <a:bodyPr wrap="square" lIns="0" tIns="0" rIns="0" bIns="0" rtlCol="0" anchor="ctr">
            <a:normAutofit/>
          </a:bodyPr>
          <a:lstStyle/>
          <a:p>
            <a:pPr algn="l" indent="0" marL="0">
              <a:lnSpc>
                <a:spcPct val="100000"/>
              </a:lnSpc>
              <a:buNone/>
            </a:pPr>
            <a:r>
              <a:rPr lang="en-US" sz="2600" b="1" dirty="0">
                <a:solidFill>
                  <a:srgbClr val="1B2B2B"/>
                </a:solidFill>
                <a:latin typeface="Cormorant Garamond" pitchFamily="34" charset="0"/>
                <a:ea typeface="Cormorant Garamond" pitchFamily="34" charset="-122"/>
                <a:cs typeface="Cormorant Garamond" pitchFamily="34" charset="-120"/>
              </a:rPr>
              <a:t>A no stops feeling like a verdict on you</a:t>
            </a:r>
            <a:endParaRPr lang="en-US" sz="2600" dirty="0"/>
          </a:p>
        </p:txBody>
      </p:sp>
      <p:sp>
        <p:nvSpPr>
          <p:cNvPr id="10" name="Shape 8"/>
          <p:cNvSpPr/>
          <p:nvPr/>
        </p:nvSpPr>
        <p:spPr>
          <a:xfrm>
            <a:off x="868680" y="5596128"/>
            <a:ext cx="237744" cy="237744"/>
          </a:xfrm>
          <a:prstGeom prst="ellipse">
            <a:avLst/>
          </a:prstGeom>
          <a:solidFill>
            <a:srgbClr val="8AAF8A"/>
          </a:solidFill>
          <a:ln w="12700">
            <a:solidFill>
              <a:srgbClr val="8AAF8A"/>
            </a:solidFill>
            <a:prstDash val="solid"/>
          </a:ln>
        </p:spPr>
      </p:sp>
      <p:sp>
        <p:nvSpPr>
          <p:cNvPr id="11" name="Text 9"/>
          <p:cNvSpPr txBox="1"/>
          <p:nvPr/>
        </p:nvSpPr>
        <p:spPr>
          <a:xfrm>
            <a:off x="1463040" y="5349240"/>
            <a:ext cx="9875520" cy="731520"/>
          </a:xfrm>
          <a:prstGeom prst="rect">
            <a:avLst/>
          </a:prstGeom>
          <a:noFill/>
          <a:ln/>
        </p:spPr>
        <p:txBody>
          <a:bodyPr wrap="square" lIns="0" tIns="0" rIns="0" bIns="0" rtlCol="0" anchor="ctr">
            <a:normAutofit/>
          </a:bodyPr>
          <a:lstStyle/>
          <a:p>
            <a:pPr algn="l" indent="0" marL="0">
              <a:lnSpc>
                <a:spcPct val="100000"/>
              </a:lnSpc>
              <a:buNone/>
            </a:pPr>
            <a:r>
              <a:rPr lang="en-US" sz="2600" b="1" dirty="0">
                <a:solidFill>
                  <a:srgbClr val="1B2B2B"/>
                </a:solidFill>
                <a:latin typeface="Cormorant Garamond" pitchFamily="34" charset="0"/>
                <a:ea typeface="Cormorant Garamond" pitchFamily="34" charset="-122"/>
                <a:cs typeface="Cormorant Garamond" pitchFamily="34" charset="-120"/>
              </a:rPr>
              <a:t>You walk into the room and feel like you belong there</a:t>
            </a:r>
            <a:endParaRPr lang="en-US" sz="2600" dirty="0"/>
          </a:p>
        </p:txBody>
      </p:sp>
      <p:sp>
        <p:nvSpPr>
          <p:cNvPr id="25" name="Slide Number Placeholder 0"/>
          <p:cNvSpPr>
            <a:spLocks noGrp="1"/>
          </p:cNvSpPr>
          <p:nvPr>
            <p:ph type="sldNum" sz="quarter" idx="4294967295"/>
          </p:nvPr>
        </p:nvSpPr>
        <p:spPr>
          <a:xfrm>
            <a:off x="11368735"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AA6A3"/>
                </a:solidFill>
                <a:latin typeface="DM Sans"/>
                <a:ea typeface="DM Sans"/>
                <a:cs typeface="DM Sans"/>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1E4A4A"/>
        </a:solidFill>
      </p:bgPr>
    </p:bg>
    <p:spTree>
      <p:nvGrpSpPr>
        <p:cNvPr id="1" name=""/>
        <p:cNvGrpSpPr/>
        <p:nvPr/>
      </p:nvGrpSpPr>
      <p:grpSpPr>
        <a:xfrm>
          <a:off x="0" y="0"/>
          <a:ext cx="0" cy="0"/>
          <a:chOff x="0" y="0"/>
          <a:chExt cx="0" cy="0"/>
        </a:xfrm>
      </p:grpSpPr>
      <p:sp>
        <p:nvSpPr>
          <p:cNvPr id="2" name="Text 0"/>
          <p:cNvSpPr txBox="1"/>
          <p:nvPr/>
        </p:nvSpPr>
        <p:spPr>
          <a:xfrm>
            <a:off x="822960" y="822960"/>
            <a:ext cx="10545775" cy="365760"/>
          </a:xfrm>
          <a:prstGeom prst="rect">
            <a:avLst/>
          </a:prstGeom>
          <a:noFill/>
          <a:ln/>
        </p:spPr>
        <p:txBody>
          <a:bodyPr wrap="square" lIns="0" tIns="0" rIns="0" bIns="0" rtlCol="0" anchor="ctr">
            <a:normAutofit/>
          </a:bodyPr>
          <a:lstStyle/>
          <a:p>
            <a:pPr algn="l" indent="0" marL="0">
              <a:lnSpc>
                <a:spcPct val="100000"/>
              </a:lnSpc>
              <a:buNone/>
            </a:pPr>
            <a:r>
              <a:rPr lang="en-US" sz="1400" b="1" spc="400" kern="0" dirty="0">
                <a:solidFill>
                  <a:srgbClr val="8AAF8A"/>
                </a:solidFill>
                <a:latin typeface="DM Sans" pitchFamily="34" charset="0"/>
                <a:ea typeface="DM Sans" pitchFamily="34" charset="-122"/>
                <a:cs typeface="DM Sans" pitchFamily="34" charset="-120"/>
              </a:rPr>
              <a:t>THE V.O.I.C.E. FRAMEWORK · PILLAR 4 OF 5</a:t>
            </a:r>
            <a:endParaRPr lang="en-US" sz="1400" dirty="0"/>
          </a:p>
        </p:txBody>
      </p:sp>
      <p:sp>
        <p:nvSpPr>
          <p:cNvPr id="3" name="Text 1"/>
          <p:cNvSpPr txBox="1"/>
          <p:nvPr/>
        </p:nvSpPr>
        <p:spPr>
          <a:xfrm>
            <a:off x="640080" y="1280160"/>
            <a:ext cx="3657600" cy="4572000"/>
          </a:xfrm>
          <a:prstGeom prst="rect">
            <a:avLst/>
          </a:prstGeom>
          <a:noFill/>
          <a:ln/>
        </p:spPr>
        <p:txBody>
          <a:bodyPr wrap="square" lIns="0" tIns="0" rIns="0" bIns="0" rtlCol="0" anchor="ctr">
            <a:normAutofit/>
          </a:bodyPr>
          <a:lstStyle/>
          <a:p>
            <a:pPr algn="ctr" indent="0" marL="0">
              <a:lnSpc>
                <a:spcPct val="100000"/>
              </a:lnSpc>
              <a:buNone/>
            </a:pPr>
            <a:r>
              <a:rPr lang="en-US" sz="28000" b="1" dirty="0">
                <a:solidFill>
                  <a:srgbClr val="8AAF8A"/>
                </a:solidFill>
                <a:latin typeface="Cormorant Garamond" pitchFamily="34" charset="0"/>
                <a:ea typeface="Cormorant Garamond" pitchFamily="34" charset="-122"/>
                <a:cs typeface="Cormorant Garamond" pitchFamily="34" charset="-120"/>
              </a:rPr>
              <a:t>C</a:t>
            </a:r>
            <a:endParaRPr lang="en-US" sz="28000" dirty="0"/>
          </a:p>
        </p:txBody>
      </p:sp>
      <p:sp>
        <p:nvSpPr>
          <p:cNvPr id="4" name="Text 2"/>
          <p:cNvSpPr txBox="1"/>
          <p:nvPr/>
        </p:nvSpPr>
        <p:spPr>
          <a:xfrm>
            <a:off x="4572000" y="2011680"/>
            <a:ext cx="6949440" cy="1188720"/>
          </a:xfrm>
          <a:prstGeom prst="rect">
            <a:avLst/>
          </a:prstGeom>
          <a:noFill/>
          <a:ln/>
        </p:spPr>
        <p:txBody>
          <a:bodyPr wrap="square" lIns="0" tIns="0" rIns="0" bIns="0" rtlCol="0" anchor="b">
            <a:normAutofit/>
          </a:bodyPr>
          <a:lstStyle/>
          <a:p>
            <a:pPr algn="l" indent="0" marL="0">
              <a:lnSpc>
                <a:spcPct val="95000"/>
              </a:lnSpc>
              <a:buNone/>
            </a:pPr>
            <a:r>
              <a:rPr lang="en-US" sz="6000" b="1" dirty="0">
                <a:solidFill>
                  <a:srgbClr val="FFFFFF"/>
                </a:solidFill>
                <a:latin typeface="Cormorant Garamond" pitchFamily="34" charset="0"/>
                <a:ea typeface="Cormorant Garamond" pitchFamily="34" charset="-122"/>
                <a:cs typeface="Cormorant Garamond" pitchFamily="34" charset="-120"/>
              </a:rPr>
              <a:t>Communication</a:t>
            </a:r>
            <a:endParaRPr lang="en-US" sz="6000" dirty="0"/>
          </a:p>
        </p:txBody>
      </p:sp>
      <p:sp>
        <p:nvSpPr>
          <p:cNvPr id="5" name="Text 3"/>
          <p:cNvSpPr txBox="1"/>
          <p:nvPr/>
        </p:nvSpPr>
        <p:spPr>
          <a:xfrm>
            <a:off x="4572000" y="3429000"/>
            <a:ext cx="6766560" cy="1828800"/>
          </a:xfrm>
          <a:prstGeom prst="rect">
            <a:avLst/>
          </a:prstGeom>
          <a:noFill/>
          <a:ln/>
        </p:spPr>
        <p:txBody>
          <a:bodyPr wrap="square" lIns="0" tIns="0" rIns="0" bIns="0" rtlCol="0" anchor="t">
            <a:normAutofit/>
          </a:bodyPr>
          <a:lstStyle/>
          <a:p>
            <a:pPr algn="l" indent="0" marL="0">
              <a:lnSpc>
                <a:spcPct val="105000"/>
              </a:lnSpc>
              <a:buNone/>
            </a:pPr>
            <a:r>
              <a:rPr lang="en-US" sz="3100" i="1" dirty="0">
                <a:solidFill>
                  <a:srgbClr val="E1F5EE"/>
                </a:solidFill>
                <a:latin typeface="Cormorant Garamond" pitchFamily="34" charset="0"/>
                <a:ea typeface="Cormorant Garamond" pitchFamily="34" charset="-122"/>
                <a:cs typeface="Cormorant Garamond" pitchFamily="34" charset="-120"/>
              </a:rPr>
              <a:t>Make your value </a:t>
            </a:r>
            <a:pPr algn="l" indent="0" marL="0">
              <a:lnSpc>
                <a:spcPct val="105000"/>
              </a:lnSpc>
              <a:buNone/>
            </a:pPr>
            <a:r>
              <a:rPr lang="en-US" sz="3100" i="1" dirty="0">
                <a:solidFill>
                  <a:srgbClr val="B7D3B7"/>
                </a:solidFill>
                <a:latin typeface="Cormorant Garamond" pitchFamily="34" charset="0"/>
                <a:ea typeface="Cormorant Garamond" pitchFamily="34" charset="-122"/>
                <a:cs typeface="Cormorant Garamond" pitchFamily="34" charset="-120"/>
              </a:rPr>
              <a:t>impossible to ignore.</a:t>
            </a:r>
            <a:endParaRPr lang="en-US" sz="3100" dirty="0"/>
          </a:p>
        </p:txBody>
      </p:sp>
      <p:sp>
        <p:nvSpPr>
          <p:cNvPr id="25" name="Slide Number Placeholder 0"/>
          <p:cNvSpPr>
            <a:spLocks noGrp="1"/>
          </p:cNvSpPr>
          <p:nvPr>
            <p:ph type="sldNum" sz="quarter" idx="4294967295"/>
          </p:nvPr>
        </p:nvSpPr>
        <p:spPr>
          <a:xfrm>
            <a:off x="11368735"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AAF8A"/>
                </a:solidFill>
                <a:latin typeface="DM Sans"/>
                <a:ea typeface="DM Sans"/>
                <a:cs typeface="DM Sans"/>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22960" y="640080"/>
            <a:ext cx="10545775" cy="365760"/>
          </a:xfrm>
          <a:prstGeom prst="rect">
            <a:avLst/>
          </a:prstGeom>
          <a:noFill/>
          <a:ln/>
        </p:spPr>
        <p:txBody>
          <a:bodyPr wrap="square" lIns="0" tIns="0" rIns="0" bIns="0" rtlCol="0" anchor="ctr">
            <a:normAutofit/>
          </a:bodyPr>
          <a:lstStyle/>
          <a:p>
            <a:pPr algn="l" indent="0" marL="0">
              <a:lnSpc>
                <a:spcPct val="100000"/>
              </a:lnSpc>
              <a:buNone/>
            </a:pPr>
            <a:r>
              <a:rPr lang="en-US" sz="1400" b="1" spc="400" kern="0" dirty="0">
                <a:solidFill>
                  <a:srgbClr val="8AAF8A"/>
                </a:solidFill>
                <a:latin typeface="DM Sans" pitchFamily="34" charset="0"/>
                <a:ea typeface="DM Sans" pitchFamily="34" charset="-122"/>
                <a:cs typeface="DM Sans" pitchFamily="34" charset="-120"/>
              </a:rPr>
              <a:t>THE BELIEF COMMUNICATION BREAKS</a:t>
            </a:r>
            <a:endParaRPr lang="en-US" sz="1400" dirty="0"/>
          </a:p>
        </p:txBody>
      </p:sp>
      <p:sp>
        <p:nvSpPr>
          <p:cNvPr id="3" name="Shape 1"/>
          <p:cNvSpPr/>
          <p:nvPr/>
        </p:nvSpPr>
        <p:spPr>
          <a:xfrm>
            <a:off x="822960" y="1325880"/>
            <a:ext cx="4815688" cy="4754880"/>
          </a:xfrm>
          <a:prstGeom prst="roundRect">
            <a:avLst>
              <a:gd name="adj" fmla="val 2308"/>
            </a:avLst>
          </a:prstGeom>
          <a:solidFill>
            <a:srgbClr val="EFEAE2"/>
          </a:solidFill>
          <a:ln w="12700">
            <a:solidFill>
              <a:srgbClr val="EFEAE2"/>
            </a:solidFill>
            <a:prstDash val="solid"/>
          </a:ln>
        </p:spPr>
      </p:sp>
      <p:sp>
        <p:nvSpPr>
          <p:cNvPr id="4" name="Text 2"/>
          <p:cNvSpPr txBox="1"/>
          <p:nvPr/>
        </p:nvSpPr>
        <p:spPr>
          <a:xfrm>
            <a:off x="1234440" y="1737360"/>
            <a:ext cx="3992728" cy="365760"/>
          </a:xfrm>
          <a:prstGeom prst="rect">
            <a:avLst/>
          </a:prstGeom>
          <a:noFill/>
          <a:ln/>
        </p:spPr>
        <p:txBody>
          <a:bodyPr wrap="square" lIns="0" tIns="0" rIns="0" bIns="0" rtlCol="0" anchor="t">
            <a:normAutofit/>
          </a:bodyPr>
          <a:lstStyle/>
          <a:p>
            <a:pPr algn="l" indent="0" marL="0">
              <a:lnSpc>
                <a:spcPct val="100000"/>
              </a:lnSpc>
              <a:buNone/>
            </a:pPr>
            <a:r>
              <a:rPr lang="en-US" sz="1300" b="1" spc="300" kern="0" dirty="0">
                <a:solidFill>
                  <a:srgbClr val="5E6B68"/>
                </a:solidFill>
                <a:latin typeface="DM Sans" pitchFamily="34" charset="0"/>
                <a:ea typeface="DM Sans" pitchFamily="34" charset="-122"/>
                <a:cs typeface="DM Sans" pitchFamily="34" charset="-120"/>
              </a:rPr>
              <a:t>WHAT MOST THINK</a:t>
            </a:r>
            <a:endParaRPr lang="en-US" sz="1300" dirty="0"/>
          </a:p>
        </p:txBody>
      </p:sp>
      <p:sp>
        <p:nvSpPr>
          <p:cNvPr id="5" name="Text 3"/>
          <p:cNvSpPr txBox="1"/>
          <p:nvPr/>
        </p:nvSpPr>
        <p:spPr>
          <a:xfrm>
            <a:off x="1234440" y="2331720"/>
            <a:ext cx="3992728" cy="3291840"/>
          </a:xfrm>
          <a:prstGeom prst="rect">
            <a:avLst/>
          </a:prstGeom>
          <a:noFill/>
          <a:ln/>
        </p:spPr>
        <p:txBody>
          <a:bodyPr wrap="square" lIns="0" tIns="0" rIns="0" bIns="0" rtlCol="0" anchor="ctr">
            <a:normAutofit/>
          </a:bodyPr>
          <a:lstStyle/>
          <a:p>
            <a:pPr algn="l" indent="0" marL="0">
              <a:lnSpc>
                <a:spcPct val="105000"/>
              </a:lnSpc>
              <a:buNone/>
            </a:pPr>
            <a:r>
              <a:rPr lang="en-US" sz="3400" b="1" dirty="0">
                <a:solidFill>
                  <a:srgbClr val="1B2B2B"/>
                </a:solidFill>
                <a:latin typeface="Cormorant Garamond" pitchFamily="34" charset="0"/>
                <a:ea typeface="Cormorant Garamond" pitchFamily="34" charset="-122"/>
                <a:cs typeface="Cormorant Garamond" pitchFamily="34" charset="-120"/>
              </a:rPr>
              <a:t>"I just need the perfect words."</a:t>
            </a:r>
            <a:endParaRPr lang="en-US" sz="3400" dirty="0"/>
          </a:p>
        </p:txBody>
      </p:sp>
      <p:sp>
        <p:nvSpPr>
          <p:cNvPr id="6" name="Shape 4"/>
          <p:cNvSpPr/>
          <p:nvPr/>
        </p:nvSpPr>
        <p:spPr>
          <a:xfrm>
            <a:off x="6553048" y="1325880"/>
            <a:ext cx="4815688" cy="4754880"/>
          </a:xfrm>
          <a:prstGeom prst="roundRect">
            <a:avLst>
              <a:gd name="adj" fmla="val 2308"/>
            </a:avLst>
          </a:prstGeom>
          <a:solidFill>
            <a:srgbClr val="1E4A4A"/>
          </a:solidFill>
          <a:ln w="12700">
            <a:solidFill>
              <a:srgbClr val="1E4A4A"/>
            </a:solidFill>
            <a:prstDash val="solid"/>
          </a:ln>
        </p:spPr>
      </p:sp>
      <p:sp>
        <p:nvSpPr>
          <p:cNvPr id="7" name="Text 5"/>
          <p:cNvSpPr txBox="1"/>
          <p:nvPr/>
        </p:nvSpPr>
        <p:spPr>
          <a:xfrm>
            <a:off x="6964528" y="1737360"/>
            <a:ext cx="3992728" cy="365760"/>
          </a:xfrm>
          <a:prstGeom prst="rect">
            <a:avLst/>
          </a:prstGeom>
          <a:noFill/>
          <a:ln/>
        </p:spPr>
        <p:txBody>
          <a:bodyPr wrap="square" lIns="0" tIns="0" rIns="0" bIns="0" rtlCol="0" anchor="t">
            <a:normAutofit/>
          </a:bodyPr>
          <a:lstStyle/>
          <a:p>
            <a:pPr algn="l" indent="0" marL="0">
              <a:lnSpc>
                <a:spcPct val="100000"/>
              </a:lnSpc>
              <a:buNone/>
            </a:pPr>
            <a:r>
              <a:rPr lang="en-US" sz="1300" b="1" spc="300" kern="0" dirty="0">
                <a:solidFill>
                  <a:srgbClr val="B7D3B7"/>
                </a:solidFill>
                <a:latin typeface="DM Sans" pitchFamily="34" charset="0"/>
                <a:ea typeface="DM Sans" pitchFamily="34" charset="-122"/>
                <a:cs typeface="DM Sans" pitchFamily="34" charset="-120"/>
              </a:rPr>
              <a:t>THE REALITY</a:t>
            </a:r>
            <a:endParaRPr lang="en-US" sz="1300" dirty="0"/>
          </a:p>
        </p:txBody>
      </p:sp>
      <p:sp>
        <p:nvSpPr>
          <p:cNvPr id="8" name="Text 6"/>
          <p:cNvSpPr txBox="1"/>
          <p:nvPr/>
        </p:nvSpPr>
        <p:spPr>
          <a:xfrm>
            <a:off x="6964528" y="2331720"/>
            <a:ext cx="3992728" cy="3291840"/>
          </a:xfrm>
          <a:prstGeom prst="rect">
            <a:avLst/>
          </a:prstGeom>
          <a:noFill/>
          <a:ln/>
        </p:spPr>
        <p:txBody>
          <a:bodyPr wrap="square" lIns="0" tIns="0" rIns="0" bIns="0" rtlCol="0" anchor="ctr">
            <a:normAutofit/>
          </a:bodyPr>
          <a:lstStyle/>
          <a:p>
            <a:pPr algn="l" indent="0" marL="0">
              <a:lnSpc>
                <a:spcPct val="105000"/>
              </a:lnSpc>
              <a:buNone/>
            </a:pPr>
            <a:r>
              <a:rPr lang="en-US" sz="2500" b="1" dirty="0">
                <a:solidFill>
                  <a:srgbClr val="FFFFFF"/>
                </a:solidFill>
                <a:latin typeface="Cormorant Garamond" pitchFamily="34" charset="0"/>
                <a:ea typeface="Cormorant Garamond" pitchFamily="34" charset="-122"/>
                <a:cs typeface="Cormorant Garamond" pitchFamily="34" charset="-120"/>
              </a:rPr>
              <a:t>People respond to who's saying the words far more than the words themselves.</a:t>
            </a:r>
            <a:endParaRPr lang="en-US" sz="2500" dirty="0"/>
          </a:p>
        </p:txBody>
      </p:sp>
      <p:sp>
        <p:nvSpPr>
          <p:cNvPr id="9" name="Text 7"/>
          <p:cNvSpPr txBox="1"/>
          <p:nvPr/>
        </p:nvSpPr>
        <p:spPr>
          <a:xfrm>
            <a:off x="5638648" y="1325880"/>
            <a:ext cx="914400" cy="4754880"/>
          </a:xfrm>
          <a:prstGeom prst="rect">
            <a:avLst/>
          </a:prstGeom>
          <a:noFill/>
          <a:ln/>
        </p:spPr>
        <p:txBody>
          <a:bodyPr wrap="square" lIns="0" tIns="0" rIns="0" bIns="0" rtlCol="0" anchor="ctr">
            <a:normAutofit/>
          </a:bodyPr>
          <a:lstStyle/>
          <a:p>
            <a:pPr algn="ctr" indent="0" marL="0">
              <a:lnSpc>
                <a:spcPct val="100000"/>
              </a:lnSpc>
              <a:buNone/>
            </a:pPr>
            <a:r>
              <a:rPr lang="en-US" sz="4000" b="1" dirty="0">
                <a:solidFill>
                  <a:srgbClr val="8AAF8A"/>
                </a:solidFill>
                <a:latin typeface="DM Sans" pitchFamily="34" charset="0"/>
                <a:ea typeface="DM Sans" pitchFamily="34" charset="-122"/>
                <a:cs typeface="DM Sans" pitchFamily="34" charset="-120"/>
              </a:rPr>
              <a:t>→</a:t>
            </a:r>
            <a:endParaRPr lang="en-US" sz="4000" dirty="0"/>
          </a:p>
        </p:txBody>
      </p:sp>
      <p:sp>
        <p:nvSpPr>
          <p:cNvPr id="25" name="Slide Number Placeholder 0"/>
          <p:cNvSpPr>
            <a:spLocks noGrp="1"/>
          </p:cNvSpPr>
          <p:nvPr>
            <p:ph type="sldNum" sz="quarter" idx="4294967295"/>
          </p:nvPr>
        </p:nvSpPr>
        <p:spPr>
          <a:xfrm>
            <a:off x="11368735"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AA6A3"/>
                </a:solidFill>
                <a:latin typeface="DM Sans"/>
                <a:ea typeface="DM Sans"/>
                <a:cs typeface="DM Sans"/>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E1F5EE"/>
        </a:solidFill>
      </p:bgPr>
    </p:bg>
    <p:spTree>
      <p:nvGrpSpPr>
        <p:cNvPr id="1" name=""/>
        <p:cNvGrpSpPr/>
        <p:nvPr/>
      </p:nvGrpSpPr>
      <p:grpSpPr>
        <a:xfrm>
          <a:off x="0" y="0"/>
          <a:ext cx="0" cy="0"/>
          <a:chOff x="0" y="0"/>
          <a:chExt cx="0" cy="0"/>
        </a:xfrm>
      </p:grpSpPr>
      <p:sp>
        <p:nvSpPr>
          <p:cNvPr id="2" name="Text 0"/>
          <p:cNvSpPr txBox="1"/>
          <p:nvPr/>
        </p:nvSpPr>
        <p:spPr>
          <a:xfrm>
            <a:off x="914400" y="1554480"/>
            <a:ext cx="10362895" cy="411480"/>
          </a:xfrm>
          <a:prstGeom prst="rect">
            <a:avLst/>
          </a:prstGeom>
          <a:noFill/>
          <a:ln/>
        </p:spPr>
        <p:txBody>
          <a:bodyPr wrap="square" lIns="0" tIns="0" rIns="0" bIns="0" rtlCol="0" anchor="ctr">
            <a:normAutofit/>
          </a:bodyPr>
          <a:lstStyle/>
          <a:p>
            <a:pPr algn="ctr" indent="0" marL="0">
              <a:lnSpc>
                <a:spcPct val="100000"/>
              </a:lnSpc>
              <a:buNone/>
            </a:pPr>
            <a:r>
              <a:rPr lang="en-US" sz="1500" b="1" spc="500" kern="0" dirty="0">
                <a:solidFill>
                  <a:srgbClr val="1E4A4A"/>
                </a:solidFill>
                <a:latin typeface="DM Sans" pitchFamily="34" charset="0"/>
                <a:ea typeface="DM Sans" pitchFamily="34" charset="-122"/>
                <a:cs typeface="DM Sans" pitchFamily="34" charset="-120"/>
              </a:rPr>
              <a:t>ASK YOURSELF</a:t>
            </a:r>
            <a:endParaRPr lang="en-US" sz="1500" dirty="0"/>
          </a:p>
        </p:txBody>
      </p:sp>
      <p:sp>
        <p:nvSpPr>
          <p:cNvPr id="3" name="Text 1"/>
          <p:cNvSpPr txBox="1"/>
          <p:nvPr/>
        </p:nvSpPr>
        <p:spPr>
          <a:xfrm>
            <a:off x="1188720" y="2194560"/>
            <a:ext cx="9814255" cy="2743200"/>
          </a:xfrm>
          <a:prstGeom prst="rect">
            <a:avLst/>
          </a:prstGeom>
          <a:noFill/>
          <a:ln/>
        </p:spPr>
        <p:txBody>
          <a:bodyPr wrap="square" lIns="0" tIns="0" rIns="0" bIns="0" rtlCol="0" anchor="t">
            <a:normAutofit/>
          </a:bodyPr>
          <a:lstStyle/>
          <a:p>
            <a:pPr algn="ctr" indent="0" marL="0">
              <a:lnSpc>
                <a:spcPct val="100000"/>
              </a:lnSpc>
              <a:buNone/>
            </a:pPr>
            <a:r>
              <a:rPr lang="en-US" sz="3700" b="1" i="1" dirty="0">
                <a:solidFill>
                  <a:srgbClr val="1E4A4A"/>
                </a:solidFill>
                <a:latin typeface="Cormorant Garamond" pitchFamily="34" charset="0"/>
                <a:ea typeface="Cormorant Garamond" pitchFamily="34" charset="-122"/>
                <a:cs typeface="Cormorant Garamond" pitchFamily="34" charset="-120"/>
              </a:rPr>
              <a:t>When you over-explain, </a:t>
            </a:r>
            <a:pPr algn="ctr" indent="0" marL="0">
              <a:lnSpc>
                <a:spcPct val="100000"/>
              </a:lnSpc>
              <a:buNone/>
            </a:pPr>
            <a:r>
              <a:rPr lang="en-US" sz="3700" b="1" i="1" dirty="0">
                <a:solidFill>
                  <a:srgbClr val="1E4A4A"/>
                </a:solidFill>
                <a:highlight>
                  <a:srgbClr val="CFE3CF"/>
                </a:highlight>
                <a:latin typeface="Cormorant Garamond" pitchFamily="34" charset="0"/>
                <a:ea typeface="Cormorant Garamond" pitchFamily="34" charset="-122"/>
                <a:cs typeface="Cormorant Garamond" pitchFamily="34" charset="-120"/>
              </a:rPr>
              <a:t>who are you really trying to convince?</a:t>
            </a:r>
            <a:endParaRPr lang="en-US" sz="3700" dirty="0"/>
          </a:p>
        </p:txBody>
      </p:sp>
      <p:sp>
        <p:nvSpPr>
          <p:cNvPr id="25" name="Slide Number Placeholder 0"/>
          <p:cNvSpPr>
            <a:spLocks noGrp="1"/>
          </p:cNvSpPr>
          <p:nvPr>
            <p:ph type="sldNum" sz="quarter" idx="4294967295"/>
          </p:nvPr>
        </p:nvSpPr>
        <p:spPr>
          <a:xfrm>
            <a:off x="11368735"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AA6A3"/>
                </a:solidFill>
                <a:latin typeface="DM Sans"/>
                <a:ea typeface="DM Sans"/>
                <a:cs typeface="DM Sans"/>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AF5EE"/>
        </a:solidFill>
      </p:bgPr>
    </p:bg>
    <p:spTree>
      <p:nvGrpSpPr>
        <p:cNvPr id="1" name=""/>
        <p:cNvGrpSpPr/>
        <p:nvPr/>
      </p:nvGrpSpPr>
      <p:grpSpPr>
        <a:xfrm>
          <a:off x="0" y="0"/>
          <a:ext cx="0" cy="0"/>
          <a:chOff x="0" y="0"/>
          <a:chExt cx="0" cy="0"/>
        </a:xfrm>
      </p:grpSpPr>
      <p:sp>
        <p:nvSpPr>
          <p:cNvPr id="2" name="Text 0"/>
          <p:cNvSpPr txBox="1"/>
          <p:nvPr/>
        </p:nvSpPr>
        <p:spPr>
          <a:xfrm>
            <a:off x="822960" y="731520"/>
            <a:ext cx="10545775" cy="365760"/>
          </a:xfrm>
          <a:prstGeom prst="rect">
            <a:avLst/>
          </a:prstGeom>
          <a:noFill/>
          <a:ln/>
        </p:spPr>
        <p:txBody>
          <a:bodyPr wrap="square" lIns="0" tIns="0" rIns="0" bIns="0" rtlCol="0" anchor="ctr">
            <a:normAutofit/>
          </a:bodyPr>
          <a:lstStyle/>
          <a:p>
            <a:pPr algn="l" indent="0" marL="0">
              <a:lnSpc>
                <a:spcPct val="100000"/>
              </a:lnSpc>
              <a:buNone/>
            </a:pPr>
            <a:r>
              <a:rPr lang="en-US" sz="1400" b="1" spc="400" kern="0" dirty="0">
                <a:solidFill>
                  <a:srgbClr val="8AAF8A"/>
                </a:solidFill>
                <a:latin typeface="DM Sans" pitchFamily="34" charset="0"/>
                <a:ea typeface="DM Sans" pitchFamily="34" charset="-122"/>
                <a:cs typeface="DM Sans" pitchFamily="34" charset="-120"/>
              </a:rPr>
              <a:t>WHAT THIS LOOKS LIKE</a:t>
            </a:r>
            <a:endParaRPr lang="en-US" sz="1400" dirty="0"/>
          </a:p>
        </p:txBody>
      </p:sp>
      <p:sp>
        <p:nvSpPr>
          <p:cNvPr id="3" name="Text 1"/>
          <p:cNvSpPr txBox="1"/>
          <p:nvPr/>
        </p:nvSpPr>
        <p:spPr>
          <a:xfrm>
            <a:off x="822960" y="1143000"/>
            <a:ext cx="10545775" cy="1280160"/>
          </a:xfrm>
          <a:prstGeom prst="rect">
            <a:avLst/>
          </a:prstGeom>
          <a:noFill/>
          <a:ln/>
        </p:spPr>
        <p:txBody>
          <a:bodyPr wrap="square" lIns="0" tIns="0" rIns="0" bIns="0" rtlCol="0" anchor="t">
            <a:normAutofit/>
          </a:bodyPr>
          <a:lstStyle/>
          <a:p>
            <a:pPr algn="l" indent="0" marL="0">
              <a:lnSpc>
                <a:spcPct val="95000"/>
              </a:lnSpc>
              <a:buNone/>
            </a:pPr>
            <a:r>
              <a:rPr lang="en-US" sz="3400" b="1" dirty="0">
                <a:solidFill>
                  <a:srgbClr val="1E4A4A"/>
                </a:solidFill>
                <a:latin typeface="Cormorant Garamond" pitchFamily="34" charset="0"/>
                <a:ea typeface="Cormorant Garamond" pitchFamily="34" charset="-122"/>
                <a:cs typeface="Cormorant Garamond" pitchFamily="34" charset="-120"/>
              </a:rPr>
              <a:t>Her communication finally </a:t>
            </a:r>
            <a:pPr algn="l" indent="0" marL="0">
              <a:lnSpc>
                <a:spcPct val="95000"/>
              </a:lnSpc>
              <a:buNone/>
            </a:pPr>
            <a:r>
              <a:rPr lang="en-US" sz="3400" b="1" dirty="0">
                <a:solidFill>
                  <a:srgbClr val="1E4A4A"/>
                </a:solidFill>
                <a:highlight>
                  <a:srgbClr val="CFE3CF"/>
                </a:highlight>
                <a:latin typeface="Cormorant Garamond" pitchFamily="34" charset="0"/>
                <a:ea typeface="Cormorant Garamond" pitchFamily="34" charset="-122"/>
                <a:cs typeface="Cormorant Garamond" pitchFamily="34" charset="-120"/>
              </a:rPr>
              <a:t>reflects her capability.</a:t>
            </a:r>
            <a:endParaRPr lang="en-US" sz="3400" dirty="0"/>
          </a:p>
        </p:txBody>
      </p:sp>
      <p:sp>
        <p:nvSpPr>
          <p:cNvPr id="4" name="Shape 2"/>
          <p:cNvSpPr/>
          <p:nvPr/>
        </p:nvSpPr>
        <p:spPr>
          <a:xfrm>
            <a:off x="868680" y="2990088"/>
            <a:ext cx="237744" cy="237744"/>
          </a:xfrm>
          <a:prstGeom prst="ellipse">
            <a:avLst/>
          </a:prstGeom>
          <a:solidFill>
            <a:srgbClr val="8AAF8A"/>
          </a:solidFill>
          <a:ln w="12700">
            <a:solidFill>
              <a:srgbClr val="8AAF8A"/>
            </a:solidFill>
            <a:prstDash val="solid"/>
          </a:ln>
        </p:spPr>
      </p:sp>
      <p:sp>
        <p:nvSpPr>
          <p:cNvPr id="5" name="Text 3"/>
          <p:cNvSpPr txBox="1"/>
          <p:nvPr/>
        </p:nvSpPr>
        <p:spPr>
          <a:xfrm>
            <a:off x="1463040" y="2743200"/>
            <a:ext cx="9875520" cy="731520"/>
          </a:xfrm>
          <a:prstGeom prst="rect">
            <a:avLst/>
          </a:prstGeom>
          <a:noFill/>
          <a:ln/>
        </p:spPr>
        <p:txBody>
          <a:bodyPr wrap="square" lIns="0" tIns="0" rIns="0" bIns="0" rtlCol="0" anchor="ctr">
            <a:normAutofit/>
          </a:bodyPr>
          <a:lstStyle/>
          <a:p>
            <a:pPr algn="l" indent="0" marL="0">
              <a:lnSpc>
                <a:spcPct val="100000"/>
              </a:lnSpc>
              <a:buNone/>
            </a:pPr>
            <a:r>
              <a:rPr lang="en-US" sz="2600" b="1" dirty="0">
                <a:solidFill>
                  <a:srgbClr val="1B2B2B"/>
                </a:solidFill>
                <a:latin typeface="Cormorant Garamond" pitchFamily="34" charset="0"/>
                <a:ea typeface="Cormorant Garamond" pitchFamily="34" charset="-122"/>
                <a:cs typeface="Cormorant Garamond" pitchFamily="34" charset="-120"/>
              </a:rPr>
              <a:t>Your ideas get credited to you</a:t>
            </a:r>
            <a:endParaRPr lang="en-US" sz="2600" dirty="0"/>
          </a:p>
        </p:txBody>
      </p:sp>
      <p:sp>
        <p:nvSpPr>
          <p:cNvPr id="6" name="Shape 4"/>
          <p:cNvSpPr/>
          <p:nvPr/>
        </p:nvSpPr>
        <p:spPr>
          <a:xfrm>
            <a:off x="868680" y="3858768"/>
            <a:ext cx="237744" cy="237744"/>
          </a:xfrm>
          <a:prstGeom prst="ellipse">
            <a:avLst/>
          </a:prstGeom>
          <a:solidFill>
            <a:srgbClr val="8AAF8A"/>
          </a:solidFill>
          <a:ln w="12700">
            <a:solidFill>
              <a:srgbClr val="8AAF8A"/>
            </a:solidFill>
            <a:prstDash val="solid"/>
          </a:ln>
        </p:spPr>
      </p:sp>
      <p:sp>
        <p:nvSpPr>
          <p:cNvPr id="7" name="Text 5"/>
          <p:cNvSpPr txBox="1"/>
          <p:nvPr/>
        </p:nvSpPr>
        <p:spPr>
          <a:xfrm>
            <a:off x="1463040" y="3611880"/>
            <a:ext cx="9875520" cy="731520"/>
          </a:xfrm>
          <a:prstGeom prst="rect">
            <a:avLst/>
          </a:prstGeom>
          <a:noFill/>
          <a:ln/>
        </p:spPr>
        <p:txBody>
          <a:bodyPr wrap="square" lIns="0" tIns="0" rIns="0" bIns="0" rtlCol="0" anchor="ctr">
            <a:normAutofit/>
          </a:bodyPr>
          <a:lstStyle/>
          <a:p>
            <a:pPr algn="l" indent="0" marL="0">
              <a:lnSpc>
                <a:spcPct val="100000"/>
              </a:lnSpc>
              <a:buNone/>
            </a:pPr>
            <a:r>
              <a:rPr lang="en-US" sz="2600" b="1" dirty="0">
                <a:solidFill>
                  <a:srgbClr val="1B2B2B"/>
                </a:solidFill>
                <a:latin typeface="Cormorant Garamond" pitchFamily="34" charset="0"/>
                <a:ea typeface="Cormorant Garamond" pitchFamily="34" charset="-122"/>
                <a:cs typeface="Cormorant Garamond" pitchFamily="34" charset="-120"/>
              </a:rPr>
              <a:t>You speak with authority without feeling like you're performing</a:t>
            </a:r>
            <a:endParaRPr lang="en-US" sz="2600" dirty="0"/>
          </a:p>
        </p:txBody>
      </p:sp>
      <p:sp>
        <p:nvSpPr>
          <p:cNvPr id="8" name="Shape 6"/>
          <p:cNvSpPr/>
          <p:nvPr/>
        </p:nvSpPr>
        <p:spPr>
          <a:xfrm>
            <a:off x="868680" y="4727448"/>
            <a:ext cx="237744" cy="237744"/>
          </a:xfrm>
          <a:prstGeom prst="ellipse">
            <a:avLst/>
          </a:prstGeom>
          <a:solidFill>
            <a:srgbClr val="8AAF8A"/>
          </a:solidFill>
          <a:ln w="12700">
            <a:solidFill>
              <a:srgbClr val="8AAF8A"/>
            </a:solidFill>
            <a:prstDash val="solid"/>
          </a:ln>
        </p:spPr>
      </p:sp>
      <p:sp>
        <p:nvSpPr>
          <p:cNvPr id="9" name="Text 7"/>
          <p:cNvSpPr txBox="1"/>
          <p:nvPr/>
        </p:nvSpPr>
        <p:spPr>
          <a:xfrm>
            <a:off x="1463040" y="4480560"/>
            <a:ext cx="9875520" cy="731520"/>
          </a:xfrm>
          <a:prstGeom prst="rect">
            <a:avLst/>
          </a:prstGeom>
          <a:noFill/>
          <a:ln/>
        </p:spPr>
        <p:txBody>
          <a:bodyPr wrap="square" lIns="0" tIns="0" rIns="0" bIns="0" rtlCol="0" anchor="ctr">
            <a:normAutofit/>
          </a:bodyPr>
          <a:lstStyle/>
          <a:p>
            <a:pPr algn="l" indent="0" marL="0">
              <a:lnSpc>
                <a:spcPct val="100000"/>
              </a:lnSpc>
              <a:buNone/>
            </a:pPr>
            <a:r>
              <a:rPr lang="en-US" sz="2600" b="1" dirty="0">
                <a:solidFill>
                  <a:srgbClr val="1B2B2B"/>
                </a:solidFill>
                <a:latin typeface="Cormorant Garamond" pitchFamily="34" charset="0"/>
                <a:ea typeface="Cormorant Garamond" pitchFamily="34" charset="-122"/>
                <a:cs typeface="Cormorant Garamond" pitchFamily="34" charset="-120"/>
              </a:rPr>
              <a:t>You get through the hard conversation without over-explaining</a:t>
            </a:r>
            <a:endParaRPr lang="en-US" sz="2600" dirty="0"/>
          </a:p>
        </p:txBody>
      </p:sp>
      <p:sp>
        <p:nvSpPr>
          <p:cNvPr id="10" name="Shape 8"/>
          <p:cNvSpPr/>
          <p:nvPr/>
        </p:nvSpPr>
        <p:spPr>
          <a:xfrm>
            <a:off x="868680" y="5596128"/>
            <a:ext cx="237744" cy="237744"/>
          </a:xfrm>
          <a:prstGeom prst="ellipse">
            <a:avLst/>
          </a:prstGeom>
          <a:solidFill>
            <a:srgbClr val="8AAF8A"/>
          </a:solidFill>
          <a:ln w="12700">
            <a:solidFill>
              <a:srgbClr val="8AAF8A"/>
            </a:solidFill>
            <a:prstDash val="solid"/>
          </a:ln>
        </p:spPr>
      </p:sp>
      <p:sp>
        <p:nvSpPr>
          <p:cNvPr id="11" name="Text 9"/>
          <p:cNvSpPr txBox="1"/>
          <p:nvPr/>
        </p:nvSpPr>
        <p:spPr>
          <a:xfrm>
            <a:off x="1463040" y="5349240"/>
            <a:ext cx="9875520" cy="731520"/>
          </a:xfrm>
          <a:prstGeom prst="rect">
            <a:avLst/>
          </a:prstGeom>
          <a:noFill/>
          <a:ln/>
        </p:spPr>
        <p:txBody>
          <a:bodyPr wrap="square" lIns="0" tIns="0" rIns="0" bIns="0" rtlCol="0" anchor="ctr">
            <a:normAutofit/>
          </a:bodyPr>
          <a:lstStyle/>
          <a:p>
            <a:pPr algn="l" indent="0" marL="0">
              <a:lnSpc>
                <a:spcPct val="100000"/>
              </a:lnSpc>
              <a:buNone/>
            </a:pPr>
            <a:r>
              <a:rPr lang="en-US" sz="2600" b="1" dirty="0">
                <a:solidFill>
                  <a:srgbClr val="1B2B2B"/>
                </a:solidFill>
                <a:latin typeface="Cormorant Garamond" pitchFamily="34" charset="0"/>
                <a:ea typeface="Cormorant Garamond" pitchFamily="34" charset="-122"/>
                <a:cs typeface="Cormorant Garamond" pitchFamily="34" charset="-120"/>
              </a:rPr>
              <a:t>Decision makers start coming to you</a:t>
            </a:r>
            <a:endParaRPr lang="en-US" sz="2600" dirty="0"/>
          </a:p>
        </p:txBody>
      </p:sp>
      <p:sp>
        <p:nvSpPr>
          <p:cNvPr id="25" name="Slide Number Placeholder 0"/>
          <p:cNvSpPr>
            <a:spLocks noGrp="1"/>
          </p:cNvSpPr>
          <p:nvPr>
            <p:ph type="sldNum" sz="quarter" idx="4294967295"/>
          </p:nvPr>
        </p:nvSpPr>
        <p:spPr>
          <a:xfrm>
            <a:off x="11368735"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AA6A3"/>
                </a:solidFill>
                <a:latin typeface="DM Sans"/>
                <a:ea typeface="DM Sans"/>
                <a:cs typeface="DM Sans"/>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1E4A4A"/>
        </a:solidFill>
      </p:bgPr>
    </p:bg>
    <p:spTree>
      <p:nvGrpSpPr>
        <p:cNvPr id="1" name=""/>
        <p:cNvGrpSpPr/>
        <p:nvPr/>
      </p:nvGrpSpPr>
      <p:grpSpPr>
        <a:xfrm>
          <a:off x="0" y="0"/>
          <a:ext cx="0" cy="0"/>
          <a:chOff x="0" y="0"/>
          <a:chExt cx="0" cy="0"/>
        </a:xfrm>
      </p:grpSpPr>
      <p:sp>
        <p:nvSpPr>
          <p:cNvPr id="2" name="Text 0"/>
          <p:cNvSpPr txBox="1"/>
          <p:nvPr/>
        </p:nvSpPr>
        <p:spPr>
          <a:xfrm>
            <a:off x="822960" y="822960"/>
            <a:ext cx="10545775" cy="365760"/>
          </a:xfrm>
          <a:prstGeom prst="rect">
            <a:avLst/>
          </a:prstGeom>
          <a:noFill/>
          <a:ln/>
        </p:spPr>
        <p:txBody>
          <a:bodyPr wrap="square" lIns="0" tIns="0" rIns="0" bIns="0" rtlCol="0" anchor="ctr">
            <a:normAutofit/>
          </a:bodyPr>
          <a:lstStyle/>
          <a:p>
            <a:pPr algn="l" indent="0" marL="0">
              <a:lnSpc>
                <a:spcPct val="100000"/>
              </a:lnSpc>
              <a:buNone/>
            </a:pPr>
            <a:r>
              <a:rPr lang="en-US" sz="1400" b="1" spc="400" kern="0" dirty="0">
                <a:solidFill>
                  <a:srgbClr val="8AAF8A"/>
                </a:solidFill>
                <a:latin typeface="DM Sans" pitchFamily="34" charset="0"/>
                <a:ea typeface="DM Sans" pitchFamily="34" charset="-122"/>
                <a:cs typeface="DM Sans" pitchFamily="34" charset="-120"/>
              </a:rPr>
              <a:t>THE V.O.I.C.E. FRAMEWORK · PILLAR 5 OF 5</a:t>
            </a:r>
            <a:endParaRPr lang="en-US" sz="1400" dirty="0"/>
          </a:p>
        </p:txBody>
      </p:sp>
      <p:sp>
        <p:nvSpPr>
          <p:cNvPr id="3" name="Text 1"/>
          <p:cNvSpPr txBox="1"/>
          <p:nvPr/>
        </p:nvSpPr>
        <p:spPr>
          <a:xfrm>
            <a:off x="640080" y="1280160"/>
            <a:ext cx="3657600" cy="4572000"/>
          </a:xfrm>
          <a:prstGeom prst="rect">
            <a:avLst/>
          </a:prstGeom>
          <a:noFill/>
          <a:ln/>
        </p:spPr>
        <p:txBody>
          <a:bodyPr wrap="square" lIns="0" tIns="0" rIns="0" bIns="0" rtlCol="0" anchor="ctr">
            <a:normAutofit/>
          </a:bodyPr>
          <a:lstStyle/>
          <a:p>
            <a:pPr algn="ctr" indent="0" marL="0">
              <a:lnSpc>
                <a:spcPct val="100000"/>
              </a:lnSpc>
              <a:buNone/>
            </a:pPr>
            <a:r>
              <a:rPr lang="en-US" sz="28000" b="1" dirty="0">
                <a:solidFill>
                  <a:srgbClr val="8AAF8A"/>
                </a:solidFill>
                <a:latin typeface="Cormorant Garamond" pitchFamily="34" charset="0"/>
                <a:ea typeface="Cormorant Garamond" pitchFamily="34" charset="-122"/>
                <a:cs typeface="Cormorant Garamond" pitchFamily="34" charset="-120"/>
              </a:rPr>
              <a:t>E</a:t>
            </a:r>
            <a:endParaRPr lang="en-US" sz="28000" dirty="0"/>
          </a:p>
        </p:txBody>
      </p:sp>
      <p:sp>
        <p:nvSpPr>
          <p:cNvPr id="4" name="Text 2"/>
          <p:cNvSpPr txBox="1"/>
          <p:nvPr/>
        </p:nvSpPr>
        <p:spPr>
          <a:xfrm>
            <a:off x="4572000" y="2011680"/>
            <a:ext cx="6949440" cy="1188720"/>
          </a:xfrm>
          <a:prstGeom prst="rect">
            <a:avLst/>
          </a:prstGeom>
          <a:noFill/>
          <a:ln/>
        </p:spPr>
        <p:txBody>
          <a:bodyPr wrap="square" lIns="0" tIns="0" rIns="0" bIns="0" rtlCol="0" anchor="b">
            <a:normAutofit/>
          </a:bodyPr>
          <a:lstStyle/>
          <a:p>
            <a:pPr algn="l" indent="0" marL="0">
              <a:lnSpc>
                <a:spcPct val="95000"/>
              </a:lnSpc>
              <a:buNone/>
            </a:pPr>
            <a:r>
              <a:rPr lang="en-US" sz="6000" b="1" dirty="0">
                <a:solidFill>
                  <a:srgbClr val="FFFFFF"/>
                </a:solidFill>
                <a:latin typeface="Cormorant Garamond" pitchFamily="34" charset="0"/>
                <a:ea typeface="Cormorant Garamond" pitchFamily="34" charset="-122"/>
                <a:cs typeface="Cormorant Garamond" pitchFamily="34" charset="-120"/>
              </a:rPr>
              <a:t>Execution</a:t>
            </a:r>
            <a:endParaRPr lang="en-US" sz="6000" dirty="0"/>
          </a:p>
        </p:txBody>
      </p:sp>
      <p:sp>
        <p:nvSpPr>
          <p:cNvPr id="5" name="Text 3"/>
          <p:cNvSpPr txBox="1"/>
          <p:nvPr/>
        </p:nvSpPr>
        <p:spPr>
          <a:xfrm>
            <a:off x="4572000" y="3429000"/>
            <a:ext cx="6766560" cy="1828800"/>
          </a:xfrm>
          <a:prstGeom prst="rect">
            <a:avLst/>
          </a:prstGeom>
          <a:noFill/>
          <a:ln/>
        </p:spPr>
        <p:txBody>
          <a:bodyPr wrap="square" lIns="0" tIns="0" rIns="0" bIns="0" rtlCol="0" anchor="t">
            <a:normAutofit/>
          </a:bodyPr>
          <a:lstStyle/>
          <a:p>
            <a:pPr algn="l" indent="0" marL="0">
              <a:lnSpc>
                <a:spcPct val="105000"/>
              </a:lnSpc>
              <a:buNone/>
            </a:pPr>
            <a:r>
              <a:rPr lang="en-US" sz="3600" i="1" dirty="0">
                <a:solidFill>
                  <a:srgbClr val="E1F5EE"/>
                </a:solidFill>
                <a:latin typeface="Cormorant Garamond" pitchFamily="34" charset="0"/>
                <a:ea typeface="Cormorant Garamond" pitchFamily="34" charset="-122"/>
                <a:cs typeface="Cormorant Garamond" pitchFamily="34" charset="-120"/>
              </a:rPr>
              <a:t>Courage </a:t>
            </a:r>
            <a:pPr algn="l" indent="0" marL="0">
              <a:lnSpc>
                <a:spcPct val="105000"/>
              </a:lnSpc>
              <a:buNone/>
            </a:pPr>
            <a:r>
              <a:rPr lang="en-US" sz="3600" i="1" dirty="0">
                <a:solidFill>
                  <a:srgbClr val="B7D3B7"/>
                </a:solidFill>
                <a:latin typeface="Cormorant Garamond" pitchFamily="34" charset="0"/>
                <a:ea typeface="Cormorant Garamond" pitchFamily="34" charset="-122"/>
                <a:cs typeface="Cormorant Garamond" pitchFamily="34" charset="-120"/>
              </a:rPr>
              <a:t>in action.</a:t>
            </a:r>
            <a:endParaRPr lang="en-US" sz="3600" dirty="0"/>
          </a:p>
        </p:txBody>
      </p:sp>
      <p:sp>
        <p:nvSpPr>
          <p:cNvPr id="25" name="Slide Number Placeholder 0"/>
          <p:cNvSpPr>
            <a:spLocks noGrp="1"/>
          </p:cNvSpPr>
          <p:nvPr>
            <p:ph type="sldNum" sz="quarter" idx="4294967295"/>
          </p:nvPr>
        </p:nvSpPr>
        <p:spPr>
          <a:xfrm>
            <a:off x="11368735"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AAF8A"/>
                </a:solidFill>
                <a:latin typeface="DM Sans"/>
                <a:ea typeface="DM Sans"/>
                <a:cs typeface="DM Sans"/>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22960" y="640080"/>
            <a:ext cx="10545775" cy="365760"/>
          </a:xfrm>
          <a:prstGeom prst="rect">
            <a:avLst/>
          </a:prstGeom>
          <a:noFill/>
          <a:ln/>
        </p:spPr>
        <p:txBody>
          <a:bodyPr wrap="square" lIns="0" tIns="0" rIns="0" bIns="0" rtlCol="0" anchor="ctr">
            <a:normAutofit/>
          </a:bodyPr>
          <a:lstStyle/>
          <a:p>
            <a:pPr algn="l" indent="0" marL="0">
              <a:lnSpc>
                <a:spcPct val="100000"/>
              </a:lnSpc>
              <a:buNone/>
            </a:pPr>
            <a:r>
              <a:rPr lang="en-US" sz="1400" b="1" spc="400" kern="0" dirty="0">
                <a:solidFill>
                  <a:srgbClr val="8AAF8A"/>
                </a:solidFill>
                <a:latin typeface="DM Sans" pitchFamily="34" charset="0"/>
                <a:ea typeface="DM Sans" pitchFamily="34" charset="-122"/>
                <a:cs typeface="DM Sans" pitchFamily="34" charset="-120"/>
              </a:rPr>
              <a:t>THE BELIEF EXECUTION BREAKS</a:t>
            </a:r>
            <a:endParaRPr lang="en-US" sz="1400" dirty="0"/>
          </a:p>
        </p:txBody>
      </p:sp>
      <p:sp>
        <p:nvSpPr>
          <p:cNvPr id="3" name="Shape 1"/>
          <p:cNvSpPr/>
          <p:nvPr/>
        </p:nvSpPr>
        <p:spPr>
          <a:xfrm>
            <a:off x="822960" y="1325880"/>
            <a:ext cx="4815688" cy="4754880"/>
          </a:xfrm>
          <a:prstGeom prst="roundRect">
            <a:avLst>
              <a:gd name="adj" fmla="val 2308"/>
            </a:avLst>
          </a:prstGeom>
          <a:solidFill>
            <a:srgbClr val="EFEAE2"/>
          </a:solidFill>
          <a:ln w="12700">
            <a:solidFill>
              <a:srgbClr val="EFEAE2"/>
            </a:solidFill>
            <a:prstDash val="solid"/>
          </a:ln>
        </p:spPr>
      </p:sp>
      <p:sp>
        <p:nvSpPr>
          <p:cNvPr id="4" name="Text 2"/>
          <p:cNvSpPr txBox="1"/>
          <p:nvPr/>
        </p:nvSpPr>
        <p:spPr>
          <a:xfrm>
            <a:off x="1234440" y="1737360"/>
            <a:ext cx="3992728" cy="365760"/>
          </a:xfrm>
          <a:prstGeom prst="rect">
            <a:avLst/>
          </a:prstGeom>
          <a:noFill/>
          <a:ln/>
        </p:spPr>
        <p:txBody>
          <a:bodyPr wrap="square" lIns="0" tIns="0" rIns="0" bIns="0" rtlCol="0" anchor="t">
            <a:normAutofit/>
          </a:bodyPr>
          <a:lstStyle/>
          <a:p>
            <a:pPr algn="l" indent="0" marL="0">
              <a:lnSpc>
                <a:spcPct val="100000"/>
              </a:lnSpc>
              <a:buNone/>
            </a:pPr>
            <a:r>
              <a:rPr lang="en-US" sz="1300" b="1" spc="300" kern="0" dirty="0">
                <a:solidFill>
                  <a:srgbClr val="5E6B68"/>
                </a:solidFill>
                <a:latin typeface="DM Sans" pitchFamily="34" charset="0"/>
                <a:ea typeface="DM Sans" pitchFamily="34" charset="-122"/>
                <a:cs typeface="DM Sans" pitchFamily="34" charset="-120"/>
              </a:rPr>
              <a:t>WHAT MOST THINK</a:t>
            </a:r>
            <a:endParaRPr lang="en-US" sz="1300" dirty="0"/>
          </a:p>
        </p:txBody>
      </p:sp>
      <p:sp>
        <p:nvSpPr>
          <p:cNvPr id="5" name="Text 3"/>
          <p:cNvSpPr txBox="1"/>
          <p:nvPr/>
        </p:nvSpPr>
        <p:spPr>
          <a:xfrm>
            <a:off x="1234440" y="2331720"/>
            <a:ext cx="3992728" cy="3291840"/>
          </a:xfrm>
          <a:prstGeom prst="rect">
            <a:avLst/>
          </a:prstGeom>
          <a:noFill/>
          <a:ln/>
        </p:spPr>
        <p:txBody>
          <a:bodyPr wrap="square" lIns="0" tIns="0" rIns="0" bIns="0" rtlCol="0" anchor="ctr">
            <a:normAutofit/>
          </a:bodyPr>
          <a:lstStyle/>
          <a:p>
            <a:pPr algn="l" indent="0" marL="0">
              <a:lnSpc>
                <a:spcPct val="105000"/>
              </a:lnSpc>
              <a:buNone/>
            </a:pPr>
            <a:r>
              <a:rPr lang="en-US" sz="3400" b="1" dirty="0">
                <a:solidFill>
                  <a:srgbClr val="1B2B2B"/>
                </a:solidFill>
                <a:latin typeface="Cormorant Garamond" pitchFamily="34" charset="0"/>
                <a:ea typeface="Cormorant Garamond" pitchFamily="34" charset="-122"/>
                <a:cs typeface="Cormorant Garamond" pitchFamily="34" charset="-120"/>
              </a:rPr>
              <a:t>"I'll act when I feel ready."</a:t>
            </a:r>
            <a:endParaRPr lang="en-US" sz="3400" dirty="0"/>
          </a:p>
        </p:txBody>
      </p:sp>
      <p:sp>
        <p:nvSpPr>
          <p:cNvPr id="6" name="Shape 4"/>
          <p:cNvSpPr/>
          <p:nvPr/>
        </p:nvSpPr>
        <p:spPr>
          <a:xfrm>
            <a:off x="6553048" y="1325880"/>
            <a:ext cx="4815688" cy="4754880"/>
          </a:xfrm>
          <a:prstGeom prst="roundRect">
            <a:avLst>
              <a:gd name="adj" fmla="val 2308"/>
            </a:avLst>
          </a:prstGeom>
          <a:solidFill>
            <a:srgbClr val="1E4A4A"/>
          </a:solidFill>
          <a:ln w="12700">
            <a:solidFill>
              <a:srgbClr val="1E4A4A"/>
            </a:solidFill>
            <a:prstDash val="solid"/>
          </a:ln>
        </p:spPr>
      </p:sp>
      <p:sp>
        <p:nvSpPr>
          <p:cNvPr id="7" name="Text 5"/>
          <p:cNvSpPr txBox="1"/>
          <p:nvPr/>
        </p:nvSpPr>
        <p:spPr>
          <a:xfrm>
            <a:off x="6964528" y="1737360"/>
            <a:ext cx="3992728" cy="365760"/>
          </a:xfrm>
          <a:prstGeom prst="rect">
            <a:avLst/>
          </a:prstGeom>
          <a:noFill/>
          <a:ln/>
        </p:spPr>
        <p:txBody>
          <a:bodyPr wrap="square" lIns="0" tIns="0" rIns="0" bIns="0" rtlCol="0" anchor="t">
            <a:normAutofit/>
          </a:bodyPr>
          <a:lstStyle/>
          <a:p>
            <a:pPr algn="l" indent="0" marL="0">
              <a:lnSpc>
                <a:spcPct val="100000"/>
              </a:lnSpc>
              <a:buNone/>
            </a:pPr>
            <a:r>
              <a:rPr lang="en-US" sz="1300" b="1" spc="300" kern="0" dirty="0">
                <a:solidFill>
                  <a:srgbClr val="B7D3B7"/>
                </a:solidFill>
                <a:latin typeface="DM Sans" pitchFamily="34" charset="0"/>
                <a:ea typeface="DM Sans" pitchFamily="34" charset="-122"/>
                <a:cs typeface="DM Sans" pitchFamily="34" charset="-120"/>
              </a:rPr>
              <a:t>THE REALITY</a:t>
            </a:r>
            <a:endParaRPr lang="en-US" sz="1300" dirty="0"/>
          </a:p>
        </p:txBody>
      </p:sp>
      <p:sp>
        <p:nvSpPr>
          <p:cNvPr id="8" name="Text 6"/>
          <p:cNvSpPr txBox="1"/>
          <p:nvPr/>
        </p:nvSpPr>
        <p:spPr>
          <a:xfrm>
            <a:off x="6964528" y="2331720"/>
            <a:ext cx="3992728" cy="3291840"/>
          </a:xfrm>
          <a:prstGeom prst="rect">
            <a:avLst/>
          </a:prstGeom>
          <a:noFill/>
          <a:ln/>
        </p:spPr>
        <p:txBody>
          <a:bodyPr wrap="square" lIns="0" tIns="0" rIns="0" bIns="0" rtlCol="0" anchor="ctr">
            <a:normAutofit/>
          </a:bodyPr>
          <a:lstStyle/>
          <a:p>
            <a:pPr algn="l" indent="0" marL="0">
              <a:lnSpc>
                <a:spcPct val="105000"/>
              </a:lnSpc>
              <a:buNone/>
            </a:pPr>
            <a:r>
              <a:rPr lang="en-US" sz="2900" b="1" dirty="0">
                <a:solidFill>
                  <a:srgbClr val="FFFFFF"/>
                </a:solidFill>
                <a:latin typeface="Cormorant Garamond" pitchFamily="34" charset="0"/>
                <a:ea typeface="Cormorant Garamond" pitchFamily="34" charset="-122"/>
                <a:cs typeface="Cormorant Garamond" pitchFamily="34" charset="-120"/>
              </a:rPr>
              <a:t>Confidence shows up after action. Rarely before.</a:t>
            </a:r>
            <a:endParaRPr lang="en-US" sz="2900" dirty="0"/>
          </a:p>
        </p:txBody>
      </p:sp>
      <p:sp>
        <p:nvSpPr>
          <p:cNvPr id="9" name="Text 7"/>
          <p:cNvSpPr txBox="1"/>
          <p:nvPr/>
        </p:nvSpPr>
        <p:spPr>
          <a:xfrm>
            <a:off x="5638648" y="1325880"/>
            <a:ext cx="914400" cy="4754880"/>
          </a:xfrm>
          <a:prstGeom prst="rect">
            <a:avLst/>
          </a:prstGeom>
          <a:noFill/>
          <a:ln/>
        </p:spPr>
        <p:txBody>
          <a:bodyPr wrap="square" lIns="0" tIns="0" rIns="0" bIns="0" rtlCol="0" anchor="ctr">
            <a:normAutofit/>
          </a:bodyPr>
          <a:lstStyle/>
          <a:p>
            <a:pPr algn="ctr" indent="0" marL="0">
              <a:lnSpc>
                <a:spcPct val="100000"/>
              </a:lnSpc>
              <a:buNone/>
            </a:pPr>
            <a:r>
              <a:rPr lang="en-US" sz="4000" b="1" dirty="0">
                <a:solidFill>
                  <a:srgbClr val="8AAF8A"/>
                </a:solidFill>
                <a:latin typeface="DM Sans" pitchFamily="34" charset="0"/>
                <a:ea typeface="DM Sans" pitchFamily="34" charset="-122"/>
                <a:cs typeface="DM Sans" pitchFamily="34" charset="-120"/>
              </a:rPr>
              <a:t>→</a:t>
            </a:r>
            <a:endParaRPr lang="en-US" sz="4000" dirty="0"/>
          </a:p>
        </p:txBody>
      </p:sp>
      <p:sp>
        <p:nvSpPr>
          <p:cNvPr id="25" name="Slide Number Placeholder 0"/>
          <p:cNvSpPr>
            <a:spLocks noGrp="1"/>
          </p:cNvSpPr>
          <p:nvPr>
            <p:ph type="sldNum" sz="quarter" idx="4294967295"/>
          </p:nvPr>
        </p:nvSpPr>
        <p:spPr>
          <a:xfrm>
            <a:off x="11368735"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AA6A3"/>
                </a:solidFill>
                <a:latin typeface="DM Sans"/>
                <a:ea typeface="DM Sans"/>
                <a:cs typeface="DM Sans"/>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1E4A4A"/>
        </a:solidFill>
      </p:bgPr>
    </p:bg>
    <p:spTree>
      <p:nvGrpSpPr>
        <p:cNvPr id="1" name=""/>
        <p:cNvGrpSpPr/>
        <p:nvPr/>
      </p:nvGrpSpPr>
      <p:grpSpPr>
        <a:xfrm>
          <a:off x="0" y="0"/>
          <a:ext cx="0" cy="0"/>
          <a:chOff x="0" y="0"/>
          <a:chExt cx="0" cy="0"/>
        </a:xfrm>
      </p:grpSpPr>
      <p:sp>
        <p:nvSpPr>
          <p:cNvPr id="2" name="Text 0"/>
          <p:cNvSpPr txBox="1"/>
          <p:nvPr/>
        </p:nvSpPr>
        <p:spPr>
          <a:xfrm>
            <a:off x="822960" y="1188720"/>
            <a:ext cx="10545775" cy="365760"/>
          </a:xfrm>
          <a:prstGeom prst="rect">
            <a:avLst/>
          </a:prstGeom>
          <a:noFill/>
          <a:ln/>
        </p:spPr>
        <p:txBody>
          <a:bodyPr wrap="square" lIns="0" tIns="0" rIns="0" bIns="0" rtlCol="0" anchor="ctr">
            <a:normAutofit/>
          </a:bodyPr>
          <a:lstStyle/>
          <a:p>
            <a:pPr algn="l" indent="0" marL="0">
              <a:lnSpc>
                <a:spcPct val="100000"/>
              </a:lnSpc>
              <a:buNone/>
            </a:pPr>
            <a:r>
              <a:rPr lang="en-US" sz="1400" b="1" spc="400" kern="0" dirty="0">
                <a:solidFill>
                  <a:srgbClr val="8AAF8A"/>
                </a:solidFill>
                <a:latin typeface="DM Sans" pitchFamily="34" charset="0"/>
                <a:ea typeface="DM Sans" pitchFamily="34" charset="-122"/>
                <a:cs typeface="DM Sans" pitchFamily="34" charset="-120"/>
              </a:rPr>
              <a:t>EXECUTION</a:t>
            </a:r>
            <a:endParaRPr lang="en-US" sz="1400" dirty="0"/>
          </a:p>
        </p:txBody>
      </p:sp>
      <p:sp>
        <p:nvSpPr>
          <p:cNvPr id="3" name="Text 1"/>
          <p:cNvSpPr txBox="1"/>
          <p:nvPr/>
        </p:nvSpPr>
        <p:spPr>
          <a:xfrm>
            <a:off x="822960" y="1691640"/>
            <a:ext cx="10180015" cy="2651760"/>
          </a:xfrm>
          <a:prstGeom prst="rect">
            <a:avLst/>
          </a:prstGeom>
          <a:noFill/>
          <a:ln/>
        </p:spPr>
        <p:txBody>
          <a:bodyPr wrap="square" lIns="0" tIns="0" rIns="0" bIns="0" rtlCol="0" anchor="t">
            <a:normAutofit/>
          </a:bodyPr>
          <a:lstStyle/>
          <a:p>
            <a:pPr algn="l" indent="0" marL="0">
              <a:lnSpc>
                <a:spcPct val="95000"/>
              </a:lnSpc>
              <a:buNone/>
            </a:pPr>
            <a:r>
              <a:rPr lang="en-US" sz="4300" b="1" dirty="0">
                <a:solidFill>
                  <a:srgbClr val="FFFFFF"/>
                </a:solidFill>
                <a:latin typeface="Cormorant Garamond" pitchFamily="34" charset="0"/>
                <a:ea typeface="Cormorant Garamond" pitchFamily="34" charset="-122"/>
                <a:cs typeface="Cormorant Garamond" pitchFamily="34" charset="-120"/>
              </a:rPr>
              <a:t>"I'm afraid every day. </a:t>
            </a:r>
            <a:pPr algn="l" indent="0" marL="0">
              <a:lnSpc>
                <a:spcPct val="95000"/>
              </a:lnSpc>
              <a:buNone/>
            </a:pPr>
            <a:r>
              <a:rPr lang="en-US" sz="4300" b="1" dirty="0">
                <a:solidFill>
                  <a:srgbClr val="B7D3B7"/>
                </a:solidFill>
                <a:latin typeface="Cormorant Garamond" pitchFamily="34" charset="0"/>
                <a:ea typeface="Cormorant Garamond" pitchFamily="34" charset="-122"/>
                <a:cs typeface="Cormorant Garamond" pitchFamily="34" charset="-120"/>
              </a:rPr>
              <a:t>But I do it anyway.</a:t>
            </a:r>
            <a:pPr algn="l" indent="0" marL="0">
              <a:lnSpc>
                <a:spcPct val="95000"/>
              </a:lnSpc>
              <a:buNone/>
            </a:pPr>
            <a:r>
              <a:rPr lang="en-US" sz="4300" b="1" dirty="0">
                <a:solidFill>
                  <a:srgbClr val="FFFFFF"/>
                </a:solidFill>
                <a:latin typeface="Cormorant Garamond" pitchFamily="34" charset="0"/>
                <a:ea typeface="Cormorant Garamond" pitchFamily="34" charset="-122"/>
                <a:cs typeface="Cormorant Garamond" pitchFamily="34" charset="-120"/>
              </a:rPr>
              <a:t>"</a:t>
            </a:r>
            <a:endParaRPr lang="en-US" sz="4300" dirty="0"/>
          </a:p>
        </p:txBody>
      </p:sp>
      <p:sp>
        <p:nvSpPr>
          <p:cNvPr id="4" name="Text 2"/>
          <p:cNvSpPr txBox="1"/>
          <p:nvPr/>
        </p:nvSpPr>
        <p:spPr>
          <a:xfrm>
            <a:off x="822960" y="4572000"/>
            <a:ext cx="9265615" cy="1463040"/>
          </a:xfrm>
          <a:prstGeom prst="rect">
            <a:avLst/>
          </a:prstGeom>
          <a:noFill/>
          <a:ln/>
        </p:spPr>
        <p:txBody>
          <a:bodyPr wrap="square" lIns="0" tIns="0" rIns="0" bIns="0" rtlCol="0" anchor="t">
            <a:normAutofit/>
          </a:bodyPr>
          <a:lstStyle/>
          <a:p>
            <a:pPr algn="l" indent="0" marL="0">
              <a:lnSpc>
                <a:spcPct val="115000"/>
              </a:lnSpc>
              <a:buNone/>
            </a:pPr>
            <a:r>
              <a:rPr lang="en-US" sz="2200" dirty="0">
                <a:solidFill>
                  <a:srgbClr val="E1F5EE"/>
                </a:solidFill>
                <a:latin typeface="DM Sans" pitchFamily="34" charset="0"/>
                <a:ea typeface="DM Sans" pitchFamily="34" charset="-122"/>
                <a:cs typeface="DM Sans" pitchFamily="34" charset="-120"/>
              </a:rPr>
              <a:t>Fear always comes along for the ride. You become a woman who isn't stopped by it.</a:t>
            </a:r>
            <a:endParaRPr lang="en-US" sz="2200" dirty="0"/>
          </a:p>
        </p:txBody>
      </p:sp>
      <p:sp>
        <p:nvSpPr>
          <p:cNvPr id="25" name="Slide Number Placeholder 0"/>
          <p:cNvSpPr>
            <a:spLocks noGrp="1"/>
          </p:cNvSpPr>
          <p:nvPr>
            <p:ph type="sldNum" sz="quarter" idx="4294967295"/>
          </p:nvPr>
        </p:nvSpPr>
        <p:spPr>
          <a:xfrm>
            <a:off x="11368735"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AAF8A"/>
                </a:solidFill>
                <a:latin typeface="DM Sans"/>
                <a:ea typeface="DM Sans"/>
                <a:cs typeface="DM Sans"/>
              </a:defRPr>
            </a:lvl1pPr>
          </a:lstStyle>
          <a:p>
            <a:pPr algn="r"/>
            <a:fld id="{F7021451-1387-4CA6-816F-3879F97B5CBC}" type="slidenum">
              <a:rPr b="0"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E1F5EE"/>
        </a:solidFill>
      </p:bgPr>
    </p:bg>
    <p:spTree>
      <p:nvGrpSpPr>
        <p:cNvPr id="1" name=""/>
        <p:cNvGrpSpPr/>
        <p:nvPr/>
      </p:nvGrpSpPr>
      <p:grpSpPr>
        <a:xfrm>
          <a:off x="0" y="0"/>
          <a:ext cx="0" cy="0"/>
          <a:chOff x="0" y="0"/>
          <a:chExt cx="0" cy="0"/>
        </a:xfrm>
      </p:grpSpPr>
      <p:sp>
        <p:nvSpPr>
          <p:cNvPr id="2" name="Text 0"/>
          <p:cNvSpPr txBox="1"/>
          <p:nvPr/>
        </p:nvSpPr>
        <p:spPr>
          <a:xfrm>
            <a:off x="914400" y="1554480"/>
            <a:ext cx="10362895" cy="411480"/>
          </a:xfrm>
          <a:prstGeom prst="rect">
            <a:avLst/>
          </a:prstGeom>
          <a:noFill/>
          <a:ln/>
        </p:spPr>
        <p:txBody>
          <a:bodyPr wrap="square" lIns="0" tIns="0" rIns="0" bIns="0" rtlCol="0" anchor="ctr">
            <a:normAutofit/>
          </a:bodyPr>
          <a:lstStyle/>
          <a:p>
            <a:pPr algn="ctr" indent="0" marL="0">
              <a:lnSpc>
                <a:spcPct val="100000"/>
              </a:lnSpc>
              <a:buNone/>
            </a:pPr>
            <a:r>
              <a:rPr lang="en-US" sz="1500" b="1" spc="500" kern="0" dirty="0">
                <a:solidFill>
                  <a:srgbClr val="1E4A4A"/>
                </a:solidFill>
                <a:latin typeface="DM Sans" pitchFamily="34" charset="0"/>
                <a:ea typeface="DM Sans" pitchFamily="34" charset="-122"/>
                <a:cs typeface="DM Sans" pitchFamily="34" charset="-120"/>
              </a:rPr>
              <a:t>ASK YOURSELF</a:t>
            </a:r>
            <a:endParaRPr lang="en-US" sz="1500" dirty="0"/>
          </a:p>
        </p:txBody>
      </p:sp>
      <p:sp>
        <p:nvSpPr>
          <p:cNvPr id="3" name="Text 1"/>
          <p:cNvSpPr txBox="1"/>
          <p:nvPr/>
        </p:nvSpPr>
        <p:spPr>
          <a:xfrm>
            <a:off x="1188720" y="2194560"/>
            <a:ext cx="9814255" cy="2743200"/>
          </a:xfrm>
          <a:prstGeom prst="rect">
            <a:avLst/>
          </a:prstGeom>
          <a:noFill/>
          <a:ln/>
        </p:spPr>
        <p:txBody>
          <a:bodyPr wrap="square" lIns="0" tIns="0" rIns="0" bIns="0" rtlCol="0" anchor="t">
            <a:normAutofit/>
          </a:bodyPr>
          <a:lstStyle/>
          <a:p>
            <a:pPr algn="ctr" indent="0" marL="0">
              <a:lnSpc>
                <a:spcPct val="100000"/>
              </a:lnSpc>
              <a:buNone/>
            </a:pPr>
            <a:r>
              <a:rPr lang="en-US" sz="4300" b="1" i="1" dirty="0">
                <a:solidFill>
                  <a:srgbClr val="1E4A4A"/>
                </a:solidFill>
                <a:latin typeface="Cormorant Garamond" pitchFamily="34" charset="0"/>
                <a:ea typeface="Cormorant Garamond" pitchFamily="34" charset="-122"/>
                <a:cs typeface="Cormorant Garamond" pitchFamily="34" charset="-120"/>
              </a:rPr>
              <a:t>What conversation have you been </a:t>
            </a:r>
            <a:pPr algn="ctr" indent="0" marL="0">
              <a:lnSpc>
                <a:spcPct val="100000"/>
              </a:lnSpc>
              <a:buNone/>
            </a:pPr>
            <a:r>
              <a:rPr lang="en-US" sz="4300" b="1" i="1" dirty="0">
                <a:solidFill>
                  <a:srgbClr val="1E4A4A"/>
                </a:solidFill>
                <a:highlight>
                  <a:srgbClr val="CFE3CF"/>
                </a:highlight>
                <a:latin typeface="Cormorant Garamond" pitchFamily="34" charset="0"/>
                <a:ea typeface="Cormorant Garamond" pitchFamily="34" charset="-122"/>
                <a:cs typeface="Cormorant Garamond" pitchFamily="34" charset="-120"/>
              </a:rPr>
              <a:t>putting off?</a:t>
            </a:r>
            <a:endParaRPr lang="en-US" sz="4300" dirty="0"/>
          </a:p>
        </p:txBody>
      </p:sp>
      <p:sp>
        <p:nvSpPr>
          <p:cNvPr id="25" name="Slide Number Placeholder 0"/>
          <p:cNvSpPr>
            <a:spLocks noGrp="1"/>
          </p:cNvSpPr>
          <p:nvPr>
            <p:ph type="sldNum" sz="quarter" idx="4294967295"/>
          </p:nvPr>
        </p:nvSpPr>
        <p:spPr>
          <a:xfrm>
            <a:off x="11368735"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AA6A3"/>
                </a:solidFill>
                <a:latin typeface="DM Sans"/>
                <a:ea typeface="DM Sans"/>
                <a:cs typeface="DM Sans"/>
              </a:defRPr>
            </a:lvl1pPr>
          </a:lstStyle>
          <a:p>
            <a:pPr algn="r"/>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AF5EE"/>
        </a:solidFill>
      </p:bgPr>
    </p:bg>
    <p:spTree>
      <p:nvGrpSpPr>
        <p:cNvPr id="1" name=""/>
        <p:cNvGrpSpPr/>
        <p:nvPr/>
      </p:nvGrpSpPr>
      <p:grpSpPr>
        <a:xfrm>
          <a:off x="0" y="0"/>
          <a:ext cx="0" cy="0"/>
          <a:chOff x="0" y="0"/>
          <a:chExt cx="0" cy="0"/>
        </a:xfrm>
      </p:grpSpPr>
      <p:sp>
        <p:nvSpPr>
          <p:cNvPr id="2" name="Text 0"/>
          <p:cNvSpPr txBox="1"/>
          <p:nvPr/>
        </p:nvSpPr>
        <p:spPr>
          <a:xfrm>
            <a:off x="822960" y="731520"/>
            <a:ext cx="10545775" cy="365760"/>
          </a:xfrm>
          <a:prstGeom prst="rect">
            <a:avLst/>
          </a:prstGeom>
          <a:noFill/>
          <a:ln/>
        </p:spPr>
        <p:txBody>
          <a:bodyPr wrap="square" lIns="0" tIns="0" rIns="0" bIns="0" rtlCol="0" anchor="ctr">
            <a:normAutofit/>
          </a:bodyPr>
          <a:lstStyle/>
          <a:p>
            <a:pPr algn="l" indent="0" marL="0">
              <a:lnSpc>
                <a:spcPct val="100000"/>
              </a:lnSpc>
              <a:buNone/>
            </a:pPr>
            <a:r>
              <a:rPr lang="en-US" sz="1400" b="1" spc="400" kern="0" dirty="0">
                <a:solidFill>
                  <a:srgbClr val="8AAF8A"/>
                </a:solidFill>
                <a:latin typeface="DM Sans" pitchFamily="34" charset="0"/>
                <a:ea typeface="DM Sans" pitchFamily="34" charset="-122"/>
                <a:cs typeface="DM Sans" pitchFamily="34" charset="-120"/>
              </a:rPr>
              <a:t>WHAT THIS LOOKS LIKE</a:t>
            </a:r>
            <a:endParaRPr lang="en-US" sz="1400" dirty="0"/>
          </a:p>
        </p:txBody>
      </p:sp>
      <p:sp>
        <p:nvSpPr>
          <p:cNvPr id="3" name="Text 1"/>
          <p:cNvSpPr txBox="1"/>
          <p:nvPr/>
        </p:nvSpPr>
        <p:spPr>
          <a:xfrm>
            <a:off x="822960" y="1143000"/>
            <a:ext cx="10545775" cy="1280160"/>
          </a:xfrm>
          <a:prstGeom prst="rect">
            <a:avLst/>
          </a:prstGeom>
          <a:noFill/>
          <a:ln/>
        </p:spPr>
        <p:txBody>
          <a:bodyPr wrap="square" lIns="0" tIns="0" rIns="0" bIns="0" rtlCol="0" anchor="t">
            <a:normAutofit/>
          </a:bodyPr>
          <a:lstStyle/>
          <a:p>
            <a:pPr algn="l" indent="0" marL="0">
              <a:lnSpc>
                <a:spcPct val="95000"/>
              </a:lnSpc>
              <a:buNone/>
            </a:pPr>
            <a:r>
              <a:rPr lang="en-US" sz="3400" b="1" dirty="0">
                <a:solidFill>
                  <a:srgbClr val="1E4A4A"/>
                </a:solidFill>
                <a:latin typeface="Cormorant Garamond" pitchFamily="34" charset="0"/>
                <a:ea typeface="Cormorant Garamond" pitchFamily="34" charset="-122"/>
                <a:cs typeface="Cormorant Garamond" pitchFamily="34" charset="-120"/>
              </a:rPr>
              <a:t>She builds the confidence that </a:t>
            </a:r>
            <a:pPr algn="l" indent="0" marL="0">
              <a:lnSpc>
                <a:spcPct val="95000"/>
              </a:lnSpc>
              <a:buNone/>
            </a:pPr>
            <a:r>
              <a:rPr lang="en-US" sz="3400" b="1" dirty="0">
                <a:solidFill>
                  <a:srgbClr val="1E4A4A"/>
                </a:solidFill>
                <a:highlight>
                  <a:srgbClr val="CFE3CF"/>
                </a:highlight>
                <a:latin typeface="Cormorant Garamond" pitchFamily="34" charset="0"/>
                <a:ea typeface="Cormorant Garamond" pitchFamily="34" charset="-122"/>
                <a:cs typeface="Cormorant Garamond" pitchFamily="34" charset="-120"/>
              </a:rPr>
              <a:t>only comes from action.</a:t>
            </a:r>
            <a:endParaRPr lang="en-US" sz="3400" dirty="0"/>
          </a:p>
        </p:txBody>
      </p:sp>
      <p:sp>
        <p:nvSpPr>
          <p:cNvPr id="4" name="Shape 2"/>
          <p:cNvSpPr/>
          <p:nvPr/>
        </p:nvSpPr>
        <p:spPr>
          <a:xfrm>
            <a:off x="868680" y="2990088"/>
            <a:ext cx="237744" cy="237744"/>
          </a:xfrm>
          <a:prstGeom prst="ellipse">
            <a:avLst/>
          </a:prstGeom>
          <a:solidFill>
            <a:srgbClr val="8AAF8A"/>
          </a:solidFill>
          <a:ln w="12700">
            <a:solidFill>
              <a:srgbClr val="8AAF8A"/>
            </a:solidFill>
            <a:prstDash val="solid"/>
          </a:ln>
        </p:spPr>
      </p:sp>
      <p:sp>
        <p:nvSpPr>
          <p:cNvPr id="5" name="Text 3"/>
          <p:cNvSpPr txBox="1"/>
          <p:nvPr/>
        </p:nvSpPr>
        <p:spPr>
          <a:xfrm>
            <a:off x="1463040" y="2743200"/>
            <a:ext cx="9875520" cy="731520"/>
          </a:xfrm>
          <a:prstGeom prst="rect">
            <a:avLst/>
          </a:prstGeom>
          <a:noFill/>
          <a:ln/>
        </p:spPr>
        <p:txBody>
          <a:bodyPr wrap="square" lIns="0" tIns="0" rIns="0" bIns="0" rtlCol="0" anchor="ctr">
            <a:normAutofit/>
          </a:bodyPr>
          <a:lstStyle/>
          <a:p>
            <a:pPr algn="l" indent="0" marL="0">
              <a:lnSpc>
                <a:spcPct val="100000"/>
              </a:lnSpc>
              <a:buNone/>
            </a:pPr>
            <a:r>
              <a:rPr lang="en-US" sz="2600" b="1" dirty="0">
                <a:solidFill>
                  <a:srgbClr val="1B2B2B"/>
                </a:solidFill>
                <a:latin typeface="Cormorant Garamond" pitchFamily="34" charset="0"/>
                <a:ea typeface="Cormorant Garamond" pitchFamily="34" charset="-122"/>
                <a:cs typeface="Cormorant Garamond" pitchFamily="34" charset="-120"/>
              </a:rPr>
              <a:t>You have the conversation instead of rehearsing it in the shower</a:t>
            </a:r>
            <a:endParaRPr lang="en-US" sz="2600" dirty="0"/>
          </a:p>
        </p:txBody>
      </p:sp>
      <p:sp>
        <p:nvSpPr>
          <p:cNvPr id="6" name="Shape 4"/>
          <p:cNvSpPr/>
          <p:nvPr/>
        </p:nvSpPr>
        <p:spPr>
          <a:xfrm>
            <a:off x="868680" y="3858768"/>
            <a:ext cx="237744" cy="237744"/>
          </a:xfrm>
          <a:prstGeom prst="ellipse">
            <a:avLst/>
          </a:prstGeom>
          <a:solidFill>
            <a:srgbClr val="8AAF8A"/>
          </a:solidFill>
          <a:ln w="12700">
            <a:solidFill>
              <a:srgbClr val="8AAF8A"/>
            </a:solidFill>
            <a:prstDash val="solid"/>
          </a:ln>
        </p:spPr>
      </p:sp>
      <p:sp>
        <p:nvSpPr>
          <p:cNvPr id="7" name="Text 5"/>
          <p:cNvSpPr txBox="1"/>
          <p:nvPr/>
        </p:nvSpPr>
        <p:spPr>
          <a:xfrm>
            <a:off x="1463040" y="3611880"/>
            <a:ext cx="9875520" cy="731520"/>
          </a:xfrm>
          <a:prstGeom prst="rect">
            <a:avLst/>
          </a:prstGeom>
          <a:noFill/>
          <a:ln/>
        </p:spPr>
        <p:txBody>
          <a:bodyPr wrap="square" lIns="0" tIns="0" rIns="0" bIns="0" rtlCol="0" anchor="ctr">
            <a:normAutofit/>
          </a:bodyPr>
          <a:lstStyle/>
          <a:p>
            <a:pPr algn="l" indent="0" marL="0">
              <a:lnSpc>
                <a:spcPct val="100000"/>
              </a:lnSpc>
              <a:buNone/>
            </a:pPr>
            <a:r>
              <a:rPr lang="en-US" sz="2600" b="1" dirty="0">
                <a:solidFill>
                  <a:srgbClr val="1B2B2B"/>
                </a:solidFill>
                <a:latin typeface="Cormorant Garamond" pitchFamily="34" charset="0"/>
                <a:ea typeface="Cormorant Garamond" pitchFamily="34" charset="-122"/>
                <a:cs typeface="Cormorant Garamond" pitchFamily="34" charset="-120"/>
              </a:rPr>
              <a:t>You practice before it counts, with people in your corner</a:t>
            </a:r>
            <a:endParaRPr lang="en-US" sz="2600" dirty="0"/>
          </a:p>
        </p:txBody>
      </p:sp>
      <p:sp>
        <p:nvSpPr>
          <p:cNvPr id="8" name="Shape 6"/>
          <p:cNvSpPr/>
          <p:nvPr/>
        </p:nvSpPr>
        <p:spPr>
          <a:xfrm>
            <a:off x="868680" y="4727448"/>
            <a:ext cx="237744" cy="237744"/>
          </a:xfrm>
          <a:prstGeom prst="ellipse">
            <a:avLst/>
          </a:prstGeom>
          <a:solidFill>
            <a:srgbClr val="8AAF8A"/>
          </a:solidFill>
          <a:ln w="12700">
            <a:solidFill>
              <a:srgbClr val="8AAF8A"/>
            </a:solidFill>
            <a:prstDash val="solid"/>
          </a:ln>
        </p:spPr>
      </p:sp>
      <p:sp>
        <p:nvSpPr>
          <p:cNvPr id="9" name="Text 7"/>
          <p:cNvSpPr txBox="1"/>
          <p:nvPr/>
        </p:nvSpPr>
        <p:spPr>
          <a:xfrm>
            <a:off x="1463040" y="4480560"/>
            <a:ext cx="9875520" cy="731520"/>
          </a:xfrm>
          <a:prstGeom prst="rect">
            <a:avLst/>
          </a:prstGeom>
          <a:noFill/>
          <a:ln/>
        </p:spPr>
        <p:txBody>
          <a:bodyPr wrap="square" lIns="0" tIns="0" rIns="0" bIns="0" rtlCol="0" anchor="ctr">
            <a:normAutofit/>
          </a:bodyPr>
          <a:lstStyle/>
          <a:p>
            <a:pPr algn="l" indent="0" marL="0">
              <a:lnSpc>
                <a:spcPct val="100000"/>
              </a:lnSpc>
              <a:buNone/>
            </a:pPr>
            <a:r>
              <a:rPr lang="en-US" sz="2600" b="1" dirty="0">
                <a:solidFill>
                  <a:srgbClr val="1B2B2B"/>
                </a:solidFill>
                <a:latin typeface="Cormorant Garamond" pitchFamily="34" charset="0"/>
                <a:ea typeface="Cormorant Garamond" pitchFamily="34" charset="-122"/>
                <a:cs typeface="Cormorant Garamond" pitchFamily="34" charset="-120"/>
              </a:rPr>
              <a:t>Discomfort stops being a reason to wait</a:t>
            </a:r>
            <a:endParaRPr lang="en-US" sz="2600" dirty="0"/>
          </a:p>
        </p:txBody>
      </p:sp>
      <p:sp>
        <p:nvSpPr>
          <p:cNvPr id="10" name="Shape 8"/>
          <p:cNvSpPr/>
          <p:nvPr/>
        </p:nvSpPr>
        <p:spPr>
          <a:xfrm>
            <a:off x="868680" y="5596128"/>
            <a:ext cx="237744" cy="237744"/>
          </a:xfrm>
          <a:prstGeom prst="ellipse">
            <a:avLst/>
          </a:prstGeom>
          <a:solidFill>
            <a:srgbClr val="8AAF8A"/>
          </a:solidFill>
          <a:ln w="12700">
            <a:solidFill>
              <a:srgbClr val="8AAF8A"/>
            </a:solidFill>
            <a:prstDash val="solid"/>
          </a:ln>
        </p:spPr>
      </p:sp>
      <p:sp>
        <p:nvSpPr>
          <p:cNvPr id="11" name="Text 9"/>
          <p:cNvSpPr txBox="1"/>
          <p:nvPr/>
        </p:nvSpPr>
        <p:spPr>
          <a:xfrm>
            <a:off x="1463040" y="5349240"/>
            <a:ext cx="9875520" cy="731520"/>
          </a:xfrm>
          <a:prstGeom prst="rect">
            <a:avLst/>
          </a:prstGeom>
          <a:noFill/>
          <a:ln/>
        </p:spPr>
        <p:txBody>
          <a:bodyPr wrap="square" lIns="0" tIns="0" rIns="0" bIns="0" rtlCol="0" anchor="ctr">
            <a:normAutofit/>
          </a:bodyPr>
          <a:lstStyle/>
          <a:p>
            <a:pPr algn="l" indent="0" marL="0">
              <a:lnSpc>
                <a:spcPct val="100000"/>
              </a:lnSpc>
              <a:buNone/>
            </a:pPr>
            <a:r>
              <a:rPr lang="en-US" sz="2600" b="1" dirty="0">
                <a:solidFill>
                  <a:srgbClr val="1B2B2B"/>
                </a:solidFill>
                <a:latin typeface="Cormorant Garamond" pitchFamily="34" charset="0"/>
                <a:ea typeface="Cormorant Garamond" pitchFamily="34" charset="-122"/>
                <a:cs typeface="Cormorant Garamond" pitchFamily="34" charset="-120"/>
              </a:rPr>
              <a:t>You collect proof that you can do hard things</a:t>
            </a:r>
            <a:endParaRPr lang="en-US" sz="2600" dirty="0"/>
          </a:p>
        </p:txBody>
      </p:sp>
      <p:sp>
        <p:nvSpPr>
          <p:cNvPr id="25" name="Slide Number Placeholder 0"/>
          <p:cNvSpPr>
            <a:spLocks noGrp="1"/>
          </p:cNvSpPr>
          <p:nvPr>
            <p:ph type="sldNum" sz="quarter" idx="4294967295"/>
          </p:nvPr>
        </p:nvSpPr>
        <p:spPr>
          <a:xfrm>
            <a:off x="11368735"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AA6A3"/>
                </a:solidFill>
                <a:latin typeface="DM Sans"/>
                <a:ea typeface="DM Sans"/>
                <a:cs typeface="DM Sans"/>
              </a:defRPr>
            </a:lvl1pPr>
          </a:lstStyle>
          <a:p>
            <a:pPr algn="r"/>
            <a:fld id="{F7021451-1387-4CA6-816F-3879F97B5CBC}" type="slidenum">
              <a:rPr b="0"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AF5EE"/>
        </a:solidFill>
      </p:bgPr>
    </p:bg>
    <p:spTree>
      <p:nvGrpSpPr>
        <p:cNvPr id="1" name=""/>
        <p:cNvGrpSpPr/>
        <p:nvPr/>
      </p:nvGrpSpPr>
      <p:grpSpPr>
        <a:xfrm>
          <a:off x="0" y="0"/>
          <a:ext cx="0" cy="0"/>
          <a:chOff x="0" y="0"/>
          <a:chExt cx="0" cy="0"/>
        </a:xfrm>
      </p:grpSpPr>
      <p:sp>
        <p:nvSpPr>
          <p:cNvPr id="2" name="Text 0"/>
          <p:cNvSpPr txBox="1"/>
          <p:nvPr/>
        </p:nvSpPr>
        <p:spPr>
          <a:xfrm>
            <a:off x="640080" y="548640"/>
            <a:ext cx="10911535" cy="914400"/>
          </a:xfrm>
          <a:prstGeom prst="rect">
            <a:avLst/>
          </a:prstGeom>
          <a:noFill/>
          <a:ln/>
        </p:spPr>
        <p:txBody>
          <a:bodyPr wrap="square" lIns="0" tIns="0" rIns="0" bIns="0" rtlCol="0" anchor="b">
            <a:normAutofit/>
          </a:bodyPr>
          <a:lstStyle/>
          <a:p>
            <a:pPr algn="ctr" indent="0" marL="0">
              <a:lnSpc>
                <a:spcPct val="95000"/>
              </a:lnSpc>
              <a:buNone/>
            </a:pPr>
            <a:r>
              <a:rPr lang="en-US" sz="3400" b="1" dirty="0">
                <a:solidFill>
                  <a:srgbClr val="1B2B2B"/>
                </a:solidFill>
                <a:latin typeface="Cormorant Garamond" pitchFamily="34" charset="0"/>
                <a:ea typeface="Cormorant Garamond" pitchFamily="34" charset="-122"/>
                <a:cs typeface="Cormorant Garamond" pitchFamily="34" charset="-120"/>
              </a:rPr>
              <a:t>The V.O.I.C.E. Framework™, </a:t>
            </a:r>
            <a:pPr algn="ctr" indent="0" marL="0">
              <a:lnSpc>
                <a:spcPct val="95000"/>
              </a:lnSpc>
              <a:buNone/>
            </a:pPr>
            <a:r>
              <a:rPr lang="en-US" sz="3400" b="1" dirty="0">
                <a:solidFill>
                  <a:srgbClr val="1B2B2B"/>
                </a:solidFill>
                <a:highlight>
                  <a:srgbClr val="CFE3CF"/>
                </a:highlight>
                <a:latin typeface="Cormorant Garamond" pitchFamily="34" charset="0"/>
                <a:ea typeface="Cormorant Garamond" pitchFamily="34" charset="-122"/>
                <a:cs typeface="Cormorant Garamond" pitchFamily="34" charset="-120"/>
              </a:rPr>
              <a:t>together</a:t>
            </a:r>
            <a:endParaRPr lang="en-US" sz="3400" dirty="0"/>
          </a:p>
        </p:txBody>
      </p:sp>
      <p:sp>
        <p:nvSpPr>
          <p:cNvPr id="3" name="Shape 1"/>
          <p:cNvSpPr/>
          <p:nvPr/>
        </p:nvSpPr>
        <p:spPr>
          <a:xfrm>
            <a:off x="953994" y="2011680"/>
            <a:ext cx="1554480" cy="1554480"/>
          </a:xfrm>
          <a:prstGeom prst="ellipse">
            <a:avLst/>
          </a:prstGeom>
          <a:solidFill>
            <a:srgbClr val="1E4A4A"/>
          </a:solidFill>
          <a:ln w="12700">
            <a:solidFill>
              <a:srgbClr val="1E4A4A"/>
            </a:solidFill>
            <a:prstDash val="solid"/>
          </a:ln>
        </p:spPr>
      </p:sp>
      <p:sp>
        <p:nvSpPr>
          <p:cNvPr id="4" name="Text 2"/>
          <p:cNvSpPr txBox="1"/>
          <p:nvPr/>
        </p:nvSpPr>
        <p:spPr>
          <a:xfrm>
            <a:off x="953994" y="2011680"/>
            <a:ext cx="1554480" cy="1554480"/>
          </a:xfrm>
          <a:prstGeom prst="rect">
            <a:avLst/>
          </a:prstGeom>
          <a:noFill/>
          <a:ln/>
        </p:spPr>
        <p:txBody>
          <a:bodyPr wrap="square" lIns="0" tIns="0" rIns="0" bIns="0" rtlCol="0" anchor="ctr">
            <a:normAutofit/>
          </a:bodyPr>
          <a:lstStyle/>
          <a:p>
            <a:pPr algn="ctr" indent="0" marL="0">
              <a:lnSpc>
                <a:spcPct val="100000"/>
              </a:lnSpc>
              <a:buNone/>
            </a:pPr>
            <a:r>
              <a:rPr lang="en-US" sz="6400" b="1" dirty="0">
                <a:solidFill>
                  <a:srgbClr val="FFFFFF"/>
                </a:solidFill>
                <a:latin typeface="Cormorant Garamond" pitchFamily="34" charset="0"/>
                <a:ea typeface="Cormorant Garamond" pitchFamily="34" charset="-122"/>
                <a:cs typeface="Cormorant Garamond" pitchFamily="34" charset="-120"/>
              </a:rPr>
              <a:t>V</a:t>
            </a:r>
            <a:endParaRPr lang="en-US" sz="6400" dirty="0"/>
          </a:p>
        </p:txBody>
      </p:sp>
      <p:sp>
        <p:nvSpPr>
          <p:cNvPr id="5" name="Text 3"/>
          <p:cNvSpPr txBox="1"/>
          <p:nvPr/>
        </p:nvSpPr>
        <p:spPr>
          <a:xfrm>
            <a:off x="685800" y="3840480"/>
            <a:ext cx="2090867" cy="1280160"/>
          </a:xfrm>
          <a:prstGeom prst="rect">
            <a:avLst/>
          </a:prstGeom>
          <a:noFill/>
          <a:ln/>
        </p:spPr>
        <p:txBody>
          <a:bodyPr wrap="square" lIns="0" tIns="0" rIns="0" bIns="0" rtlCol="0" anchor="t">
            <a:normAutofit/>
          </a:bodyPr>
          <a:lstStyle/>
          <a:p>
            <a:pPr algn="ctr" indent="0" marL="0">
              <a:lnSpc>
                <a:spcPct val="100000"/>
              </a:lnSpc>
              <a:buNone/>
            </a:pPr>
            <a:r>
              <a:rPr lang="en-US" sz="1700" b="1" dirty="0">
                <a:solidFill>
                  <a:srgbClr val="1E4A4A"/>
                </a:solidFill>
                <a:latin typeface="Cormorant Garamond" pitchFamily="34" charset="0"/>
                <a:ea typeface="Cormorant Garamond" pitchFamily="34" charset="-122"/>
                <a:cs typeface="Cormorant Garamond" pitchFamily="34" charset="-120"/>
              </a:rPr>
              <a:t>She knows her value</a:t>
            </a:r>
            <a:endParaRPr lang="en-US" sz="1700" dirty="0"/>
          </a:p>
        </p:txBody>
      </p:sp>
      <p:sp>
        <p:nvSpPr>
          <p:cNvPr id="6" name="Shape 4"/>
          <p:cNvSpPr/>
          <p:nvPr/>
        </p:nvSpPr>
        <p:spPr>
          <a:xfrm>
            <a:off x="3136301" y="2011680"/>
            <a:ext cx="1554480" cy="1554480"/>
          </a:xfrm>
          <a:prstGeom prst="ellipse">
            <a:avLst/>
          </a:prstGeom>
          <a:solidFill>
            <a:srgbClr val="1E4A4A"/>
          </a:solidFill>
          <a:ln w="12700">
            <a:solidFill>
              <a:srgbClr val="1E4A4A"/>
            </a:solidFill>
            <a:prstDash val="solid"/>
          </a:ln>
        </p:spPr>
      </p:sp>
      <p:sp>
        <p:nvSpPr>
          <p:cNvPr id="7" name="Text 5"/>
          <p:cNvSpPr txBox="1"/>
          <p:nvPr/>
        </p:nvSpPr>
        <p:spPr>
          <a:xfrm>
            <a:off x="3136301" y="2011680"/>
            <a:ext cx="1554480" cy="1554480"/>
          </a:xfrm>
          <a:prstGeom prst="rect">
            <a:avLst/>
          </a:prstGeom>
          <a:noFill/>
          <a:ln/>
        </p:spPr>
        <p:txBody>
          <a:bodyPr wrap="square" lIns="0" tIns="0" rIns="0" bIns="0" rtlCol="0" anchor="ctr">
            <a:normAutofit/>
          </a:bodyPr>
          <a:lstStyle/>
          <a:p>
            <a:pPr algn="ctr" indent="0" marL="0">
              <a:lnSpc>
                <a:spcPct val="100000"/>
              </a:lnSpc>
              <a:buNone/>
            </a:pPr>
            <a:r>
              <a:rPr lang="en-US" sz="6400" b="1" dirty="0">
                <a:solidFill>
                  <a:srgbClr val="FFFFFF"/>
                </a:solidFill>
                <a:latin typeface="Cormorant Garamond" pitchFamily="34" charset="0"/>
                <a:ea typeface="Cormorant Garamond" pitchFamily="34" charset="-122"/>
                <a:cs typeface="Cormorant Garamond" pitchFamily="34" charset="-120"/>
              </a:rPr>
              <a:t>O</a:t>
            </a:r>
            <a:endParaRPr lang="en-US" sz="6400" dirty="0"/>
          </a:p>
        </p:txBody>
      </p:sp>
      <p:sp>
        <p:nvSpPr>
          <p:cNvPr id="8" name="Text 6"/>
          <p:cNvSpPr txBox="1"/>
          <p:nvPr/>
        </p:nvSpPr>
        <p:spPr>
          <a:xfrm>
            <a:off x="2868107" y="3840480"/>
            <a:ext cx="2090867" cy="1280160"/>
          </a:xfrm>
          <a:prstGeom prst="rect">
            <a:avLst/>
          </a:prstGeom>
          <a:noFill/>
          <a:ln/>
        </p:spPr>
        <p:txBody>
          <a:bodyPr wrap="square" lIns="0" tIns="0" rIns="0" bIns="0" rtlCol="0" anchor="t">
            <a:normAutofit/>
          </a:bodyPr>
          <a:lstStyle/>
          <a:p>
            <a:pPr algn="ctr" indent="0" marL="0">
              <a:lnSpc>
                <a:spcPct val="100000"/>
              </a:lnSpc>
              <a:buNone/>
            </a:pPr>
            <a:r>
              <a:rPr lang="en-US" sz="1700" b="1" dirty="0">
                <a:solidFill>
                  <a:srgbClr val="1E4A4A"/>
                </a:solidFill>
                <a:latin typeface="Cormorant Garamond" pitchFamily="34" charset="0"/>
                <a:ea typeface="Cormorant Garamond" pitchFamily="34" charset="-122"/>
                <a:cs typeface="Cormorant Garamond" pitchFamily="34" charset="-120"/>
              </a:rPr>
              <a:t>She chooses herself</a:t>
            </a:r>
            <a:endParaRPr lang="en-US" sz="1700" dirty="0"/>
          </a:p>
        </p:txBody>
      </p:sp>
      <p:sp>
        <p:nvSpPr>
          <p:cNvPr id="9" name="Shape 7"/>
          <p:cNvSpPr/>
          <p:nvPr/>
        </p:nvSpPr>
        <p:spPr>
          <a:xfrm>
            <a:off x="5318608" y="2011680"/>
            <a:ext cx="1554480" cy="1554480"/>
          </a:xfrm>
          <a:prstGeom prst="ellipse">
            <a:avLst/>
          </a:prstGeom>
          <a:solidFill>
            <a:srgbClr val="1E4A4A"/>
          </a:solidFill>
          <a:ln w="12700">
            <a:solidFill>
              <a:srgbClr val="1E4A4A"/>
            </a:solidFill>
            <a:prstDash val="solid"/>
          </a:ln>
        </p:spPr>
      </p:sp>
      <p:sp>
        <p:nvSpPr>
          <p:cNvPr id="10" name="Text 8"/>
          <p:cNvSpPr txBox="1"/>
          <p:nvPr/>
        </p:nvSpPr>
        <p:spPr>
          <a:xfrm>
            <a:off x="5318608" y="2011680"/>
            <a:ext cx="1554480" cy="1554480"/>
          </a:xfrm>
          <a:prstGeom prst="rect">
            <a:avLst/>
          </a:prstGeom>
          <a:noFill/>
          <a:ln/>
        </p:spPr>
        <p:txBody>
          <a:bodyPr wrap="square" lIns="0" tIns="0" rIns="0" bIns="0" rtlCol="0" anchor="ctr">
            <a:normAutofit/>
          </a:bodyPr>
          <a:lstStyle/>
          <a:p>
            <a:pPr algn="ctr" indent="0" marL="0">
              <a:lnSpc>
                <a:spcPct val="100000"/>
              </a:lnSpc>
              <a:buNone/>
            </a:pPr>
            <a:r>
              <a:rPr lang="en-US" sz="6400" b="1" dirty="0">
                <a:solidFill>
                  <a:srgbClr val="FFFFFF"/>
                </a:solidFill>
                <a:latin typeface="Cormorant Garamond" pitchFamily="34" charset="0"/>
                <a:ea typeface="Cormorant Garamond" pitchFamily="34" charset="-122"/>
                <a:cs typeface="Cormorant Garamond" pitchFamily="34" charset="-120"/>
              </a:rPr>
              <a:t>I</a:t>
            </a:r>
            <a:endParaRPr lang="en-US" sz="6400" dirty="0"/>
          </a:p>
        </p:txBody>
      </p:sp>
      <p:sp>
        <p:nvSpPr>
          <p:cNvPr id="11" name="Text 9"/>
          <p:cNvSpPr txBox="1"/>
          <p:nvPr/>
        </p:nvSpPr>
        <p:spPr>
          <a:xfrm>
            <a:off x="5050414" y="3840480"/>
            <a:ext cx="2090867" cy="1280160"/>
          </a:xfrm>
          <a:prstGeom prst="rect">
            <a:avLst/>
          </a:prstGeom>
          <a:noFill/>
          <a:ln/>
        </p:spPr>
        <p:txBody>
          <a:bodyPr wrap="square" lIns="0" tIns="0" rIns="0" bIns="0" rtlCol="0" anchor="t">
            <a:normAutofit/>
          </a:bodyPr>
          <a:lstStyle/>
          <a:p>
            <a:pPr algn="ctr" indent="0" marL="0">
              <a:lnSpc>
                <a:spcPct val="100000"/>
              </a:lnSpc>
              <a:buNone/>
            </a:pPr>
            <a:r>
              <a:rPr lang="en-US" sz="1700" b="1" dirty="0">
                <a:solidFill>
                  <a:srgbClr val="1E4A4A"/>
                </a:solidFill>
                <a:latin typeface="Cormorant Garamond" pitchFamily="34" charset="0"/>
                <a:ea typeface="Cormorant Garamond" pitchFamily="34" charset="-122"/>
                <a:cs typeface="Cormorant Garamond" pitchFamily="34" charset="-120"/>
              </a:rPr>
              <a:t>She expects more</a:t>
            </a:r>
            <a:endParaRPr lang="en-US" sz="1700" dirty="0"/>
          </a:p>
        </p:txBody>
      </p:sp>
      <p:sp>
        <p:nvSpPr>
          <p:cNvPr id="12" name="Shape 10"/>
          <p:cNvSpPr/>
          <p:nvPr/>
        </p:nvSpPr>
        <p:spPr>
          <a:xfrm>
            <a:off x="7500915" y="2011680"/>
            <a:ext cx="1554480" cy="1554480"/>
          </a:xfrm>
          <a:prstGeom prst="ellipse">
            <a:avLst/>
          </a:prstGeom>
          <a:solidFill>
            <a:srgbClr val="1E4A4A"/>
          </a:solidFill>
          <a:ln w="12700">
            <a:solidFill>
              <a:srgbClr val="1E4A4A"/>
            </a:solidFill>
            <a:prstDash val="solid"/>
          </a:ln>
        </p:spPr>
      </p:sp>
      <p:sp>
        <p:nvSpPr>
          <p:cNvPr id="13" name="Text 11"/>
          <p:cNvSpPr txBox="1"/>
          <p:nvPr/>
        </p:nvSpPr>
        <p:spPr>
          <a:xfrm>
            <a:off x="7500915" y="2011680"/>
            <a:ext cx="1554480" cy="1554480"/>
          </a:xfrm>
          <a:prstGeom prst="rect">
            <a:avLst/>
          </a:prstGeom>
          <a:noFill/>
          <a:ln/>
        </p:spPr>
        <p:txBody>
          <a:bodyPr wrap="square" lIns="0" tIns="0" rIns="0" bIns="0" rtlCol="0" anchor="ctr">
            <a:normAutofit/>
          </a:bodyPr>
          <a:lstStyle/>
          <a:p>
            <a:pPr algn="ctr" indent="0" marL="0">
              <a:lnSpc>
                <a:spcPct val="100000"/>
              </a:lnSpc>
              <a:buNone/>
            </a:pPr>
            <a:r>
              <a:rPr lang="en-US" sz="6400" b="1" dirty="0">
                <a:solidFill>
                  <a:srgbClr val="FFFFFF"/>
                </a:solidFill>
                <a:latin typeface="Cormorant Garamond" pitchFamily="34" charset="0"/>
                <a:ea typeface="Cormorant Garamond" pitchFamily="34" charset="-122"/>
                <a:cs typeface="Cormorant Garamond" pitchFamily="34" charset="-120"/>
              </a:rPr>
              <a:t>C</a:t>
            </a:r>
            <a:endParaRPr lang="en-US" sz="6400" dirty="0"/>
          </a:p>
        </p:txBody>
      </p:sp>
      <p:sp>
        <p:nvSpPr>
          <p:cNvPr id="14" name="Text 12"/>
          <p:cNvSpPr txBox="1"/>
          <p:nvPr/>
        </p:nvSpPr>
        <p:spPr>
          <a:xfrm>
            <a:off x="7232721" y="3840480"/>
            <a:ext cx="2090867" cy="1280160"/>
          </a:xfrm>
          <a:prstGeom prst="rect">
            <a:avLst/>
          </a:prstGeom>
          <a:noFill/>
          <a:ln/>
        </p:spPr>
        <p:txBody>
          <a:bodyPr wrap="square" lIns="0" tIns="0" rIns="0" bIns="0" rtlCol="0" anchor="t">
            <a:normAutofit/>
          </a:bodyPr>
          <a:lstStyle/>
          <a:p>
            <a:pPr algn="ctr" indent="0" marL="0">
              <a:lnSpc>
                <a:spcPct val="100000"/>
              </a:lnSpc>
              <a:buNone/>
            </a:pPr>
            <a:r>
              <a:rPr lang="en-US" sz="1700" b="1" dirty="0">
                <a:solidFill>
                  <a:srgbClr val="1E4A4A"/>
                </a:solidFill>
                <a:latin typeface="Cormorant Garamond" pitchFamily="34" charset="0"/>
                <a:ea typeface="Cormorant Garamond" pitchFamily="34" charset="-122"/>
                <a:cs typeface="Cormorant Garamond" pitchFamily="34" charset="-120"/>
              </a:rPr>
              <a:t>Her words match her capability</a:t>
            </a:r>
            <a:endParaRPr lang="en-US" sz="1700" dirty="0"/>
          </a:p>
        </p:txBody>
      </p:sp>
      <p:sp>
        <p:nvSpPr>
          <p:cNvPr id="15" name="Shape 13"/>
          <p:cNvSpPr/>
          <p:nvPr/>
        </p:nvSpPr>
        <p:spPr>
          <a:xfrm>
            <a:off x="9683222" y="2011680"/>
            <a:ext cx="1554480" cy="1554480"/>
          </a:xfrm>
          <a:prstGeom prst="ellipse">
            <a:avLst/>
          </a:prstGeom>
          <a:solidFill>
            <a:srgbClr val="1E4A4A"/>
          </a:solidFill>
          <a:ln w="12700">
            <a:solidFill>
              <a:srgbClr val="1E4A4A"/>
            </a:solidFill>
            <a:prstDash val="solid"/>
          </a:ln>
        </p:spPr>
      </p:sp>
      <p:sp>
        <p:nvSpPr>
          <p:cNvPr id="16" name="Text 14"/>
          <p:cNvSpPr txBox="1"/>
          <p:nvPr/>
        </p:nvSpPr>
        <p:spPr>
          <a:xfrm>
            <a:off x="9683222" y="2011680"/>
            <a:ext cx="1554480" cy="1554480"/>
          </a:xfrm>
          <a:prstGeom prst="rect">
            <a:avLst/>
          </a:prstGeom>
          <a:noFill/>
          <a:ln/>
        </p:spPr>
        <p:txBody>
          <a:bodyPr wrap="square" lIns="0" tIns="0" rIns="0" bIns="0" rtlCol="0" anchor="ctr">
            <a:normAutofit/>
          </a:bodyPr>
          <a:lstStyle/>
          <a:p>
            <a:pPr algn="ctr" indent="0" marL="0">
              <a:lnSpc>
                <a:spcPct val="100000"/>
              </a:lnSpc>
              <a:buNone/>
            </a:pPr>
            <a:r>
              <a:rPr lang="en-US" sz="6400" b="1" dirty="0">
                <a:solidFill>
                  <a:srgbClr val="FFFFFF"/>
                </a:solidFill>
                <a:latin typeface="Cormorant Garamond" pitchFamily="34" charset="0"/>
                <a:ea typeface="Cormorant Garamond" pitchFamily="34" charset="-122"/>
                <a:cs typeface="Cormorant Garamond" pitchFamily="34" charset="-120"/>
              </a:rPr>
              <a:t>E</a:t>
            </a:r>
            <a:endParaRPr lang="en-US" sz="6400" dirty="0"/>
          </a:p>
        </p:txBody>
      </p:sp>
      <p:sp>
        <p:nvSpPr>
          <p:cNvPr id="17" name="Text 15"/>
          <p:cNvSpPr txBox="1"/>
          <p:nvPr/>
        </p:nvSpPr>
        <p:spPr>
          <a:xfrm>
            <a:off x="9415028" y="3840480"/>
            <a:ext cx="2090867" cy="1280160"/>
          </a:xfrm>
          <a:prstGeom prst="rect">
            <a:avLst/>
          </a:prstGeom>
          <a:noFill/>
          <a:ln/>
        </p:spPr>
        <p:txBody>
          <a:bodyPr wrap="square" lIns="0" tIns="0" rIns="0" bIns="0" rtlCol="0" anchor="t">
            <a:normAutofit/>
          </a:bodyPr>
          <a:lstStyle/>
          <a:p>
            <a:pPr algn="ctr" indent="0" marL="0">
              <a:lnSpc>
                <a:spcPct val="100000"/>
              </a:lnSpc>
              <a:buNone/>
            </a:pPr>
            <a:r>
              <a:rPr lang="en-US" sz="1700" b="1" dirty="0">
                <a:solidFill>
                  <a:srgbClr val="1E4A4A"/>
                </a:solidFill>
                <a:latin typeface="Cormorant Garamond" pitchFamily="34" charset="0"/>
                <a:ea typeface="Cormorant Garamond" pitchFamily="34" charset="-122"/>
                <a:cs typeface="Cormorant Garamond" pitchFamily="34" charset="-120"/>
              </a:rPr>
              <a:t>She acts, even when it's uncomfortable</a:t>
            </a:r>
            <a:endParaRPr lang="en-US" sz="1700" dirty="0"/>
          </a:p>
        </p:txBody>
      </p:sp>
      <p:sp>
        <p:nvSpPr>
          <p:cNvPr id="25" name="Slide Number Placeholder 0"/>
          <p:cNvSpPr>
            <a:spLocks noGrp="1"/>
          </p:cNvSpPr>
          <p:nvPr>
            <p:ph type="sldNum" sz="quarter" idx="4294967295"/>
          </p:nvPr>
        </p:nvSpPr>
        <p:spPr>
          <a:xfrm>
            <a:off x="11368735"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AA6A3"/>
                </a:solidFill>
                <a:latin typeface="DM Sans"/>
                <a:ea typeface="DM Sans"/>
                <a:cs typeface="DM Sans"/>
              </a:defRPr>
            </a:lvl1pPr>
          </a:lstStyle>
          <a:p>
            <a:pPr algn="r"/>
            <a:fld id="{F7021451-1387-4CA6-816F-3879F97B5CBC}" type="slidenum">
              <a:rPr b="0"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AF5EE"/>
        </a:solidFill>
      </p:bgPr>
    </p:bg>
    <p:spTree>
      <p:nvGrpSpPr>
        <p:cNvPr id="1" name=""/>
        <p:cNvGrpSpPr/>
        <p:nvPr/>
      </p:nvGrpSpPr>
      <p:grpSpPr>
        <a:xfrm>
          <a:off x="0" y="0"/>
          <a:ext cx="0" cy="0"/>
          <a:chOff x="0" y="0"/>
          <a:chExt cx="0" cy="0"/>
        </a:xfrm>
      </p:grpSpPr>
      <p:sp>
        <p:nvSpPr>
          <p:cNvPr id="2" name="Text 0"/>
          <p:cNvSpPr txBox="1"/>
          <p:nvPr/>
        </p:nvSpPr>
        <p:spPr>
          <a:xfrm>
            <a:off x="822960" y="1188720"/>
            <a:ext cx="10545775" cy="365760"/>
          </a:xfrm>
          <a:prstGeom prst="rect">
            <a:avLst/>
          </a:prstGeom>
          <a:noFill/>
          <a:ln/>
        </p:spPr>
        <p:txBody>
          <a:bodyPr wrap="square" lIns="0" tIns="0" rIns="0" bIns="0" rtlCol="0" anchor="ctr">
            <a:normAutofit/>
          </a:bodyPr>
          <a:lstStyle/>
          <a:p>
            <a:pPr algn="l" indent="0" marL="0">
              <a:lnSpc>
                <a:spcPct val="100000"/>
              </a:lnSpc>
              <a:buNone/>
            </a:pPr>
            <a:r>
              <a:rPr lang="en-US" sz="1400" b="1" spc="400" kern="0" dirty="0">
                <a:solidFill>
                  <a:srgbClr val="8AAF8A"/>
                </a:solidFill>
                <a:latin typeface="DM Sans" pitchFamily="34" charset="0"/>
                <a:ea typeface="DM Sans" pitchFamily="34" charset="-122"/>
                <a:cs typeface="DM Sans" pitchFamily="34" charset="-120"/>
              </a:rPr>
              <a:t>WHY IT WORKS</a:t>
            </a:r>
            <a:endParaRPr lang="en-US" sz="1400" dirty="0"/>
          </a:p>
        </p:txBody>
      </p:sp>
      <p:sp>
        <p:nvSpPr>
          <p:cNvPr id="3" name="Text 1"/>
          <p:cNvSpPr txBox="1"/>
          <p:nvPr/>
        </p:nvSpPr>
        <p:spPr>
          <a:xfrm>
            <a:off x="822960" y="1691640"/>
            <a:ext cx="10180015" cy="2651760"/>
          </a:xfrm>
          <a:prstGeom prst="rect">
            <a:avLst/>
          </a:prstGeom>
          <a:noFill/>
          <a:ln/>
        </p:spPr>
        <p:txBody>
          <a:bodyPr wrap="square" lIns="0" tIns="0" rIns="0" bIns="0" rtlCol="0" anchor="t">
            <a:normAutofit/>
          </a:bodyPr>
          <a:lstStyle/>
          <a:p>
            <a:pPr algn="l" indent="0" marL="0">
              <a:lnSpc>
                <a:spcPct val="95000"/>
              </a:lnSpc>
              <a:buNone/>
            </a:pPr>
            <a:r>
              <a:rPr lang="en-US" sz="4300" b="1" dirty="0">
                <a:solidFill>
                  <a:srgbClr val="1B2B2B"/>
                </a:solidFill>
                <a:latin typeface="Cormorant Garamond" pitchFamily="34" charset="0"/>
                <a:ea typeface="Cormorant Garamond" pitchFamily="34" charset="-122"/>
                <a:cs typeface="Cormorant Garamond" pitchFamily="34" charset="-120"/>
              </a:rPr>
              <a:t>Most programs start at C. </a:t>
            </a:r>
            <a:pPr algn="l" indent="0" marL="0">
              <a:lnSpc>
                <a:spcPct val="95000"/>
              </a:lnSpc>
              <a:buNone/>
            </a:pPr>
            <a:r>
              <a:rPr lang="en-US" sz="4300" b="1" dirty="0">
                <a:solidFill>
                  <a:srgbClr val="1B2B2B"/>
                </a:solidFill>
                <a:highlight>
                  <a:srgbClr val="CFE3CF"/>
                </a:highlight>
                <a:latin typeface="Cormorant Garamond" pitchFamily="34" charset="0"/>
                <a:ea typeface="Cormorant Garamond" pitchFamily="34" charset="-122"/>
                <a:cs typeface="Cormorant Garamond" pitchFamily="34" charset="-120"/>
              </a:rPr>
              <a:t>We start with who you are.</a:t>
            </a:r>
            <a:endParaRPr lang="en-US" sz="4300" dirty="0"/>
          </a:p>
        </p:txBody>
      </p:sp>
      <p:sp>
        <p:nvSpPr>
          <p:cNvPr id="4" name="Text 2"/>
          <p:cNvSpPr txBox="1"/>
          <p:nvPr/>
        </p:nvSpPr>
        <p:spPr>
          <a:xfrm>
            <a:off x="822960" y="4572000"/>
            <a:ext cx="9265615" cy="1463040"/>
          </a:xfrm>
          <a:prstGeom prst="rect">
            <a:avLst/>
          </a:prstGeom>
          <a:noFill/>
          <a:ln/>
        </p:spPr>
        <p:txBody>
          <a:bodyPr wrap="square" lIns="0" tIns="0" rIns="0" bIns="0" rtlCol="0" anchor="t">
            <a:normAutofit/>
          </a:bodyPr>
          <a:lstStyle/>
          <a:p>
            <a:pPr algn="l" indent="0" marL="0">
              <a:lnSpc>
                <a:spcPct val="115000"/>
              </a:lnSpc>
              <a:buNone/>
            </a:pPr>
            <a:r>
              <a:rPr lang="en-US" sz="2200" dirty="0">
                <a:solidFill>
                  <a:srgbClr val="5E6B68"/>
                </a:solidFill>
                <a:latin typeface="DM Sans" pitchFamily="34" charset="0"/>
                <a:ea typeface="DM Sans" pitchFamily="34" charset="-122"/>
                <a:cs typeface="DM Sans" pitchFamily="34" charset="-120"/>
              </a:rPr>
              <a:t>Scripts only touch communication. The V.O.I.C.E. Framework works on the woman saying them.</a:t>
            </a:r>
            <a:endParaRPr lang="en-US" sz="2200" dirty="0"/>
          </a:p>
        </p:txBody>
      </p:sp>
      <p:sp>
        <p:nvSpPr>
          <p:cNvPr id="25" name="Slide Number Placeholder 0"/>
          <p:cNvSpPr>
            <a:spLocks noGrp="1"/>
          </p:cNvSpPr>
          <p:nvPr>
            <p:ph type="sldNum" sz="quarter" idx="4294967295"/>
          </p:nvPr>
        </p:nvSpPr>
        <p:spPr>
          <a:xfrm>
            <a:off x="11368735"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AA6A3"/>
                </a:solidFill>
                <a:latin typeface="DM Sans"/>
                <a:ea typeface="DM Sans"/>
                <a:cs typeface="DM Sans"/>
              </a:defRPr>
            </a:lvl1pPr>
          </a:lstStyle>
          <a:p>
            <a:pPr algn="r"/>
            <a:fld id="{F7021451-1387-4CA6-816F-3879F97B5CBC}" type="slidenum">
              <a:rPr b="0"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1E4A4A"/>
        </a:solidFill>
      </p:bgPr>
    </p:bg>
    <p:spTree>
      <p:nvGrpSpPr>
        <p:cNvPr id="1" name=""/>
        <p:cNvGrpSpPr/>
        <p:nvPr/>
      </p:nvGrpSpPr>
      <p:grpSpPr>
        <a:xfrm>
          <a:off x="0" y="0"/>
          <a:ext cx="0" cy="0"/>
          <a:chOff x="0" y="0"/>
          <a:chExt cx="0" cy="0"/>
        </a:xfrm>
      </p:grpSpPr>
      <p:sp>
        <p:nvSpPr>
          <p:cNvPr id="2" name="Text 0"/>
          <p:cNvSpPr txBox="1"/>
          <p:nvPr/>
        </p:nvSpPr>
        <p:spPr>
          <a:xfrm>
            <a:off x="1097280" y="1097280"/>
            <a:ext cx="9997135" cy="2926080"/>
          </a:xfrm>
          <a:prstGeom prst="rect">
            <a:avLst/>
          </a:prstGeom>
          <a:noFill/>
          <a:ln/>
        </p:spPr>
        <p:txBody>
          <a:bodyPr wrap="square" lIns="0" tIns="0" rIns="0" bIns="0" rtlCol="0" anchor="b">
            <a:normAutofit/>
          </a:bodyPr>
          <a:lstStyle/>
          <a:p>
            <a:pPr algn="ctr" indent="0" marL="0">
              <a:lnSpc>
                <a:spcPct val="95000"/>
              </a:lnSpc>
              <a:buNone/>
            </a:pPr>
            <a:r>
              <a:rPr lang="en-US" sz="4800" b="1" dirty="0">
                <a:solidFill>
                  <a:srgbClr val="FFFFFF"/>
                </a:solidFill>
                <a:latin typeface="Cormorant Garamond" pitchFamily="34" charset="0"/>
                <a:ea typeface="Cormorant Garamond" pitchFamily="34" charset="-122"/>
                <a:cs typeface="Cormorant Garamond" pitchFamily="34" charset="-120"/>
              </a:rPr>
              <a:t>Which letter </a:t>
            </a:r>
            <a:pPr algn="ctr" indent="0" marL="0">
              <a:lnSpc>
                <a:spcPct val="95000"/>
              </a:lnSpc>
              <a:buNone/>
            </a:pPr>
            <a:r>
              <a:rPr lang="en-US" sz="4800" b="1" dirty="0">
                <a:solidFill>
                  <a:srgbClr val="B7D3B7"/>
                </a:solidFill>
                <a:latin typeface="Cormorant Garamond" pitchFamily="34" charset="0"/>
                <a:ea typeface="Cormorant Garamond" pitchFamily="34" charset="-122"/>
                <a:cs typeface="Cormorant Garamond" pitchFamily="34" charset="-120"/>
              </a:rPr>
              <a:t>hit you hardest?</a:t>
            </a:r>
            <a:endParaRPr lang="en-US" sz="4800" dirty="0"/>
          </a:p>
        </p:txBody>
      </p:sp>
      <p:sp>
        <p:nvSpPr>
          <p:cNvPr id="3" name="Text 1"/>
          <p:cNvSpPr txBox="1"/>
          <p:nvPr/>
        </p:nvSpPr>
        <p:spPr>
          <a:xfrm>
            <a:off x="1645920" y="4297680"/>
            <a:ext cx="8899855" cy="1463040"/>
          </a:xfrm>
          <a:prstGeom prst="rect">
            <a:avLst/>
          </a:prstGeom>
          <a:noFill/>
          <a:ln/>
        </p:spPr>
        <p:txBody>
          <a:bodyPr wrap="square" lIns="0" tIns="0" rIns="0" bIns="0" rtlCol="0" anchor="t">
            <a:normAutofit/>
          </a:bodyPr>
          <a:lstStyle/>
          <a:p>
            <a:pPr algn="ctr" indent="0" marL="0">
              <a:lnSpc>
                <a:spcPct val="115000"/>
              </a:lnSpc>
              <a:buNone/>
            </a:pPr>
            <a:r>
              <a:rPr lang="en-US" sz="2000" dirty="0">
                <a:solidFill>
                  <a:srgbClr val="E1F5EE"/>
                </a:solidFill>
                <a:latin typeface="DM Sans" pitchFamily="34" charset="0"/>
                <a:ea typeface="DM Sans" pitchFamily="34" charset="-122"/>
                <a:cs typeface="DM Sans" pitchFamily="34" charset="-120"/>
              </a:rPr>
              <a:t>Type V, O, I, C or E in the chat.</a:t>
            </a:r>
            <a:endParaRPr lang="en-US" sz="2000" dirty="0"/>
          </a:p>
        </p:txBody>
      </p:sp>
      <p:sp>
        <p:nvSpPr>
          <p:cNvPr id="25" name="Slide Number Placeholder 0"/>
          <p:cNvSpPr>
            <a:spLocks noGrp="1"/>
          </p:cNvSpPr>
          <p:nvPr>
            <p:ph type="sldNum" sz="quarter" idx="4294967295"/>
          </p:nvPr>
        </p:nvSpPr>
        <p:spPr>
          <a:xfrm>
            <a:off x="11368735"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AAF8A"/>
                </a:solidFill>
                <a:latin typeface="DM Sans"/>
                <a:ea typeface="DM Sans"/>
                <a:cs typeface="DM Sans"/>
              </a:defRPr>
            </a:lvl1pPr>
          </a:lstStyle>
          <a:p>
            <a:pPr algn="r"/>
            <a:fld id="{F7021451-1387-4CA6-816F-3879F97B5CBC}" type="slidenum">
              <a:rPr b="0"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1E4A4A"/>
        </a:solidFill>
      </p:bgPr>
    </p:bg>
    <p:spTree>
      <p:nvGrpSpPr>
        <p:cNvPr id="1" name=""/>
        <p:cNvGrpSpPr/>
        <p:nvPr/>
      </p:nvGrpSpPr>
      <p:grpSpPr>
        <a:xfrm>
          <a:off x="0" y="0"/>
          <a:ext cx="0" cy="0"/>
          <a:chOff x="0" y="0"/>
          <a:chExt cx="0" cy="0"/>
        </a:xfrm>
      </p:grpSpPr>
      <p:sp>
        <p:nvSpPr>
          <p:cNvPr id="2" name="Text 0"/>
          <p:cNvSpPr txBox="1"/>
          <p:nvPr/>
        </p:nvSpPr>
        <p:spPr>
          <a:xfrm>
            <a:off x="914400" y="2011680"/>
            <a:ext cx="10362895" cy="411480"/>
          </a:xfrm>
          <a:prstGeom prst="rect">
            <a:avLst/>
          </a:prstGeom>
          <a:noFill/>
          <a:ln/>
        </p:spPr>
        <p:txBody>
          <a:bodyPr wrap="square" lIns="0" tIns="0" rIns="0" bIns="0" rtlCol="0" anchor="ctr">
            <a:normAutofit/>
          </a:bodyPr>
          <a:lstStyle/>
          <a:p>
            <a:pPr algn="ctr" indent="0" marL="0">
              <a:lnSpc>
                <a:spcPct val="100000"/>
              </a:lnSpc>
              <a:buNone/>
            </a:pPr>
            <a:r>
              <a:rPr lang="en-US" sz="1600" b="1" spc="500" kern="0" dirty="0">
                <a:solidFill>
                  <a:srgbClr val="8AAF8A"/>
                </a:solidFill>
                <a:latin typeface="DM Sans" pitchFamily="34" charset="0"/>
                <a:ea typeface="DM Sans" pitchFamily="34" charset="-122"/>
                <a:cs typeface="DM Sans" pitchFamily="34" charset="-120"/>
              </a:rPr>
              <a:t>PART FOUR</a:t>
            </a:r>
            <a:endParaRPr lang="en-US" sz="1600" dirty="0"/>
          </a:p>
        </p:txBody>
      </p:sp>
      <p:sp>
        <p:nvSpPr>
          <p:cNvPr id="3" name="Text 1"/>
          <p:cNvSpPr txBox="1"/>
          <p:nvPr/>
        </p:nvSpPr>
        <p:spPr>
          <a:xfrm>
            <a:off x="914400" y="2560320"/>
            <a:ext cx="10362895" cy="1554480"/>
          </a:xfrm>
          <a:prstGeom prst="rect">
            <a:avLst/>
          </a:prstGeom>
          <a:noFill/>
          <a:ln/>
        </p:spPr>
        <p:txBody>
          <a:bodyPr wrap="square" lIns="0" tIns="0" rIns="0" bIns="0" rtlCol="0" anchor="t">
            <a:normAutofit/>
          </a:bodyPr>
          <a:lstStyle/>
          <a:p>
            <a:pPr algn="ctr" indent="0" marL="0">
              <a:lnSpc>
                <a:spcPct val="95000"/>
              </a:lnSpc>
              <a:buNone/>
            </a:pPr>
            <a:r>
              <a:rPr lang="en-US" sz="5400" b="1" dirty="0">
                <a:solidFill>
                  <a:srgbClr val="FFFFFF"/>
                </a:solidFill>
                <a:latin typeface="Cormorant Garamond" pitchFamily="34" charset="0"/>
                <a:ea typeface="Cormorant Garamond" pitchFamily="34" charset="-122"/>
                <a:cs typeface="Cormorant Garamond" pitchFamily="34" charset="-120"/>
              </a:rPr>
              <a:t>Women Who Closed the Gap</a:t>
            </a:r>
            <a:endParaRPr lang="en-US" sz="5400" dirty="0"/>
          </a:p>
        </p:txBody>
      </p:sp>
      <p:sp>
        <p:nvSpPr>
          <p:cNvPr id="25" name="Slide Number Placeholder 0"/>
          <p:cNvSpPr>
            <a:spLocks noGrp="1"/>
          </p:cNvSpPr>
          <p:nvPr>
            <p:ph type="sldNum" sz="quarter" idx="4294967295"/>
          </p:nvPr>
        </p:nvSpPr>
        <p:spPr>
          <a:xfrm>
            <a:off x="11368735"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AAF8A"/>
                </a:solidFill>
                <a:latin typeface="DM Sans"/>
                <a:ea typeface="DM Sans"/>
                <a:cs typeface="DM Sans"/>
              </a:defRPr>
            </a:lvl1pPr>
          </a:lstStyle>
          <a:p>
            <a:pPr algn="r"/>
            <a:fld id="{F7021451-1387-4CA6-816F-3879F97B5CBC}" type="slidenum">
              <a:rPr b="0" lang="en-US"/>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2960" y="731520"/>
            <a:ext cx="1737360" cy="457200"/>
          </a:xfrm>
          <a:prstGeom prst="roundRect">
            <a:avLst>
              <a:gd name="adj" fmla="val 50000"/>
            </a:avLst>
          </a:prstGeom>
          <a:solidFill>
            <a:srgbClr val="1E4A4A"/>
          </a:solidFill>
          <a:ln w="12700">
            <a:solidFill>
              <a:srgbClr val="1E4A4A"/>
            </a:solidFill>
            <a:prstDash val="solid"/>
          </a:ln>
        </p:spPr>
      </p:sp>
      <p:sp>
        <p:nvSpPr>
          <p:cNvPr id="3" name="Text 1"/>
          <p:cNvSpPr txBox="1"/>
          <p:nvPr/>
        </p:nvSpPr>
        <p:spPr>
          <a:xfrm>
            <a:off x="822960" y="731520"/>
            <a:ext cx="1737360" cy="457200"/>
          </a:xfrm>
          <a:prstGeom prst="rect">
            <a:avLst/>
          </a:prstGeom>
          <a:noFill/>
          <a:ln/>
        </p:spPr>
        <p:txBody>
          <a:bodyPr wrap="square" lIns="0" tIns="0" rIns="0" bIns="0" rtlCol="0" anchor="ctr">
            <a:normAutofit/>
          </a:bodyPr>
          <a:lstStyle/>
          <a:p>
            <a:pPr algn="ctr" indent="0" marL="0">
              <a:lnSpc>
                <a:spcPct val="100000"/>
              </a:lnSpc>
              <a:buNone/>
            </a:pPr>
            <a:r>
              <a:rPr lang="en-US" sz="1300" b="1" spc="300" kern="0" dirty="0">
                <a:solidFill>
                  <a:srgbClr val="FFFFFF"/>
                </a:solidFill>
                <a:latin typeface="DM Sans" pitchFamily="34" charset="0"/>
                <a:ea typeface="DM Sans" pitchFamily="34" charset="-122"/>
                <a:cs typeface="DM Sans" pitchFamily="34" charset="-120"/>
              </a:rPr>
              <a:t>SHELLY</a:t>
            </a:r>
            <a:endParaRPr lang="en-US" sz="1300" dirty="0"/>
          </a:p>
        </p:txBody>
      </p:sp>
      <p:sp>
        <p:nvSpPr>
          <p:cNvPr id="4" name="Text 2"/>
          <p:cNvSpPr txBox="1"/>
          <p:nvPr/>
        </p:nvSpPr>
        <p:spPr>
          <a:xfrm>
            <a:off x="2788920" y="795528"/>
            <a:ext cx="8579815" cy="365760"/>
          </a:xfrm>
          <a:prstGeom prst="rect">
            <a:avLst/>
          </a:prstGeom>
          <a:noFill/>
          <a:ln/>
        </p:spPr>
        <p:txBody>
          <a:bodyPr wrap="square" lIns="0" tIns="0" rIns="0" bIns="0" rtlCol="0" anchor="ctr">
            <a:normAutofit/>
          </a:bodyPr>
          <a:lstStyle/>
          <a:p>
            <a:pPr algn="l" indent="0" marL="0">
              <a:lnSpc>
                <a:spcPct val="100000"/>
              </a:lnSpc>
              <a:buNone/>
            </a:pPr>
            <a:r>
              <a:rPr lang="en-US" sz="1400" b="1" spc="400" kern="0" dirty="0">
                <a:solidFill>
                  <a:srgbClr val="8AAF8A"/>
                </a:solidFill>
                <a:latin typeface="DM Sans" pitchFamily="34" charset="0"/>
                <a:ea typeface="DM Sans" pitchFamily="34" charset="-122"/>
                <a:cs typeface="DM Sans" pitchFamily="34" charset="-120"/>
              </a:rPr>
              <a:t>WHERE IT STARTED</a:t>
            </a:r>
            <a:endParaRPr lang="en-US" sz="1400" dirty="0"/>
          </a:p>
        </p:txBody>
      </p:sp>
      <p:sp>
        <p:nvSpPr>
          <p:cNvPr id="5" name="Text 3"/>
          <p:cNvSpPr txBox="1"/>
          <p:nvPr/>
        </p:nvSpPr>
        <p:spPr>
          <a:xfrm>
            <a:off x="822960" y="1600200"/>
            <a:ext cx="6492240" cy="2377440"/>
          </a:xfrm>
          <a:prstGeom prst="rect">
            <a:avLst/>
          </a:prstGeom>
          <a:noFill/>
          <a:ln/>
        </p:spPr>
        <p:txBody>
          <a:bodyPr wrap="square" lIns="0" tIns="0" rIns="0" bIns="0" rtlCol="0" anchor="t">
            <a:normAutofit/>
          </a:bodyPr>
          <a:lstStyle/>
          <a:p>
            <a:pPr algn="l" indent="0" marL="0">
              <a:lnSpc>
                <a:spcPct val="95000"/>
              </a:lnSpc>
              <a:buNone/>
            </a:pPr>
            <a:r>
              <a:rPr lang="en-US" sz="4100" b="1" dirty="0">
                <a:solidFill>
                  <a:srgbClr val="1B2B2B"/>
                </a:solidFill>
                <a:latin typeface="Cormorant Garamond" pitchFamily="34" charset="0"/>
                <a:ea typeface="Cormorant Garamond" pitchFamily="34" charset="-122"/>
                <a:cs typeface="Cormorant Garamond" pitchFamily="34" charset="-120"/>
              </a:rPr>
              <a:t>Highly accomplished. </a:t>
            </a:r>
            <a:pPr algn="l" indent="0" marL="0">
              <a:lnSpc>
                <a:spcPct val="95000"/>
              </a:lnSpc>
              <a:buNone/>
            </a:pPr>
            <a:r>
              <a:rPr lang="en-US" sz="4100" b="1" dirty="0">
                <a:solidFill>
                  <a:srgbClr val="1B2B2B"/>
                </a:solidFill>
                <a:highlight>
                  <a:srgbClr val="CFE3CF"/>
                </a:highlight>
                <a:latin typeface="Cormorant Garamond" pitchFamily="34" charset="0"/>
                <a:ea typeface="Cormorant Garamond" pitchFamily="34" charset="-122"/>
                <a:cs typeface="Cormorant Garamond" pitchFamily="34" charset="-120"/>
              </a:rPr>
              <a:t>Knew she was underpaid.</a:t>
            </a:r>
            <a:endParaRPr lang="en-US" sz="4100" dirty="0"/>
          </a:p>
        </p:txBody>
      </p:sp>
      <p:sp>
        <p:nvSpPr>
          <p:cNvPr id="6" name="Text 4"/>
          <p:cNvSpPr txBox="1"/>
          <p:nvPr/>
        </p:nvSpPr>
        <p:spPr>
          <a:xfrm>
            <a:off x="822960" y="4297680"/>
            <a:ext cx="6217920" cy="1463040"/>
          </a:xfrm>
          <a:prstGeom prst="rect">
            <a:avLst/>
          </a:prstGeom>
          <a:noFill/>
          <a:ln/>
        </p:spPr>
        <p:txBody>
          <a:bodyPr wrap="square" lIns="0" tIns="0" rIns="0" bIns="0" rtlCol="0" anchor="t">
            <a:normAutofit/>
          </a:bodyPr>
          <a:lstStyle/>
          <a:p>
            <a:pPr algn="l" indent="0" marL="0">
              <a:lnSpc>
                <a:spcPct val="115000"/>
              </a:lnSpc>
              <a:buNone/>
            </a:pPr>
            <a:r>
              <a:rPr lang="en-US" sz="2000" dirty="0">
                <a:solidFill>
                  <a:srgbClr val="5E6B68"/>
                </a:solidFill>
                <a:latin typeface="DM Sans" pitchFamily="34" charset="0"/>
                <a:ea typeface="DM Sans" pitchFamily="34" charset="-122"/>
                <a:cs typeface="DM Sans" pitchFamily="34" charset="-120"/>
              </a:rPr>
              <a:t>An accomplished executive who believed her work should speak for itself.</a:t>
            </a:r>
            <a:endParaRPr lang="en-US" sz="2000" dirty="0"/>
          </a:p>
        </p:txBody>
      </p:sp>
      <p:sp>
        <p:nvSpPr>
          <p:cNvPr id="7" name="Shape 5"/>
          <p:cNvSpPr/>
          <p:nvPr/>
        </p:nvSpPr>
        <p:spPr>
          <a:xfrm>
            <a:off x="7680960" y="548640"/>
            <a:ext cx="3886200" cy="5760720"/>
          </a:xfrm>
          <a:prstGeom prst="roundRect">
            <a:avLst>
              <a:gd name="adj" fmla="val 2824"/>
            </a:avLst>
          </a:prstGeom>
          <a:solidFill>
            <a:srgbClr val="E1F5EE"/>
          </a:solidFill>
          <a:ln w="15875">
            <a:solidFill>
              <a:srgbClr val="8AAF8A"/>
            </a:solidFill>
            <a:prstDash val="dash"/>
          </a:ln>
        </p:spPr>
      </p:sp>
      <p:sp>
        <p:nvSpPr>
          <p:cNvPr id="8" name="Text 6"/>
          <p:cNvSpPr txBox="1"/>
          <p:nvPr/>
        </p:nvSpPr>
        <p:spPr>
          <a:xfrm>
            <a:off x="7991856" y="859536"/>
            <a:ext cx="3264408" cy="320040"/>
          </a:xfrm>
          <a:prstGeom prst="rect">
            <a:avLst/>
          </a:prstGeom>
          <a:noFill/>
          <a:ln/>
        </p:spPr>
        <p:txBody>
          <a:bodyPr wrap="square" lIns="0" tIns="0" rIns="0" bIns="0" rtlCol="0" anchor="ctr">
            <a:normAutofit/>
          </a:bodyPr>
          <a:lstStyle/>
          <a:p>
            <a:pPr algn="l" indent="0" marL="0">
              <a:lnSpc>
                <a:spcPct val="100000"/>
              </a:lnSpc>
              <a:buNone/>
            </a:pPr>
            <a:r>
              <a:rPr lang="en-US" sz="1100" b="1" spc="300" kern="0" dirty="0">
                <a:solidFill>
                  <a:srgbClr val="1E4A4A"/>
                </a:solidFill>
                <a:latin typeface="DM Sans" pitchFamily="34" charset="0"/>
                <a:ea typeface="DM Sans" pitchFamily="34" charset="-122"/>
                <a:cs typeface="DM Sans" pitchFamily="34" charset="-120"/>
              </a:rPr>
              <a:t>PHOTO PLACEHOLDER</a:t>
            </a:r>
            <a:endParaRPr lang="en-US" sz="1100" dirty="0"/>
          </a:p>
        </p:txBody>
      </p:sp>
      <p:sp>
        <p:nvSpPr>
          <p:cNvPr id="9" name="Text 7"/>
          <p:cNvSpPr txBox="1"/>
          <p:nvPr/>
        </p:nvSpPr>
        <p:spPr>
          <a:xfrm>
            <a:off x="7991856" y="1271016"/>
            <a:ext cx="3264408" cy="2377440"/>
          </a:xfrm>
          <a:prstGeom prst="rect">
            <a:avLst/>
          </a:prstGeom>
          <a:noFill/>
          <a:ln/>
        </p:spPr>
        <p:txBody>
          <a:bodyPr wrap="square" lIns="0" tIns="0" rIns="0" bIns="0" rtlCol="0" anchor="t">
            <a:normAutofit/>
          </a:bodyPr>
          <a:lstStyle/>
          <a:p>
            <a:pPr algn="l" indent="0" marL="0">
              <a:lnSpc>
                <a:spcPct val="110000"/>
              </a:lnSpc>
              <a:buNone/>
            </a:pPr>
            <a:r>
              <a:rPr lang="en-US" sz="1200" i="1" dirty="0">
                <a:solidFill>
                  <a:srgbClr val="5E6B68"/>
                </a:solidFill>
                <a:latin typeface="DM Sans" pitchFamily="34" charset="0"/>
                <a:ea typeface="DM Sans" pitchFamily="34" charset="-122"/>
                <a:cs typeface="DM Sans" pitchFamily="34" charset="-120"/>
              </a:rPr>
              <a:t>Shelly headshot. </a:t>
            </a:r>
            <a:pPr algn="l" indent="0" marL="0">
              <a:lnSpc>
                <a:spcPct val="110000"/>
              </a:lnSpc>
              <a:buNone/>
            </a:pPr>
            <a:r>
              <a:rPr lang="en-US" sz="1200" b="1" i="1" dirty="0">
                <a:solidFill>
                  <a:srgbClr val="B85042"/>
                </a:solidFill>
                <a:latin typeface="DM Sans" pitchFamily="34" charset="0"/>
                <a:ea typeface="DM Sans" pitchFamily="34" charset="-122"/>
                <a:cs typeface="DM Sans" pitchFamily="34" charset="-120"/>
              </a:rPr>
              <a:t>[PLACEHOLDER: client photo + written consent]</a:t>
            </a:r>
            <a:endParaRPr lang="en-US" sz="1200" dirty="0"/>
          </a:p>
        </p:txBody>
      </p:sp>
      <p:sp>
        <p:nvSpPr>
          <p:cNvPr id="25" name="Slide Number Placeholder 0"/>
          <p:cNvSpPr>
            <a:spLocks noGrp="1"/>
          </p:cNvSpPr>
          <p:nvPr>
            <p:ph type="sldNum" sz="quarter" idx="4294967295"/>
          </p:nvPr>
        </p:nvSpPr>
        <p:spPr>
          <a:xfrm>
            <a:off x="11368735"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AA6A3"/>
                </a:solidFill>
                <a:latin typeface="DM Sans"/>
                <a:ea typeface="DM Sans"/>
                <a:cs typeface="DM Sans"/>
              </a:defRPr>
            </a:lvl1pPr>
          </a:lstStyle>
          <a:p>
            <a:pPr algn="r"/>
            <a:fld id="{F7021451-1387-4CA6-816F-3879F97B5CBC}" type="slidenum">
              <a:rPr b="0" lang="en-US"/>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2960" y="731520"/>
            <a:ext cx="1737360" cy="457200"/>
          </a:xfrm>
          <a:prstGeom prst="roundRect">
            <a:avLst>
              <a:gd name="adj" fmla="val 50000"/>
            </a:avLst>
          </a:prstGeom>
          <a:solidFill>
            <a:srgbClr val="1E4A4A"/>
          </a:solidFill>
          <a:ln w="12700">
            <a:solidFill>
              <a:srgbClr val="1E4A4A"/>
            </a:solidFill>
            <a:prstDash val="solid"/>
          </a:ln>
        </p:spPr>
      </p:sp>
      <p:sp>
        <p:nvSpPr>
          <p:cNvPr id="3" name="Text 1"/>
          <p:cNvSpPr txBox="1"/>
          <p:nvPr/>
        </p:nvSpPr>
        <p:spPr>
          <a:xfrm>
            <a:off x="822960" y="731520"/>
            <a:ext cx="1737360" cy="457200"/>
          </a:xfrm>
          <a:prstGeom prst="rect">
            <a:avLst/>
          </a:prstGeom>
          <a:noFill/>
          <a:ln/>
        </p:spPr>
        <p:txBody>
          <a:bodyPr wrap="square" lIns="0" tIns="0" rIns="0" bIns="0" rtlCol="0" anchor="ctr">
            <a:normAutofit/>
          </a:bodyPr>
          <a:lstStyle/>
          <a:p>
            <a:pPr algn="ctr" indent="0" marL="0">
              <a:lnSpc>
                <a:spcPct val="100000"/>
              </a:lnSpc>
              <a:buNone/>
            </a:pPr>
            <a:r>
              <a:rPr lang="en-US" sz="1300" b="1" spc="300" kern="0" dirty="0">
                <a:solidFill>
                  <a:srgbClr val="FFFFFF"/>
                </a:solidFill>
                <a:latin typeface="DM Sans" pitchFamily="34" charset="0"/>
                <a:ea typeface="DM Sans" pitchFamily="34" charset="-122"/>
                <a:cs typeface="DM Sans" pitchFamily="34" charset="-120"/>
              </a:rPr>
              <a:t>SHELLY</a:t>
            </a:r>
            <a:endParaRPr lang="en-US" sz="1300" dirty="0"/>
          </a:p>
        </p:txBody>
      </p:sp>
      <p:sp>
        <p:nvSpPr>
          <p:cNvPr id="4" name="Text 2"/>
          <p:cNvSpPr txBox="1"/>
          <p:nvPr/>
        </p:nvSpPr>
        <p:spPr>
          <a:xfrm>
            <a:off x="2788920" y="795528"/>
            <a:ext cx="8579815" cy="365760"/>
          </a:xfrm>
          <a:prstGeom prst="rect">
            <a:avLst/>
          </a:prstGeom>
          <a:noFill/>
          <a:ln/>
        </p:spPr>
        <p:txBody>
          <a:bodyPr wrap="square" lIns="0" tIns="0" rIns="0" bIns="0" rtlCol="0" anchor="ctr">
            <a:normAutofit/>
          </a:bodyPr>
          <a:lstStyle/>
          <a:p>
            <a:pPr algn="l" indent="0" marL="0">
              <a:lnSpc>
                <a:spcPct val="100000"/>
              </a:lnSpc>
              <a:buNone/>
            </a:pPr>
            <a:r>
              <a:rPr lang="en-US" sz="1400" b="1" spc="400" kern="0" dirty="0">
                <a:solidFill>
                  <a:srgbClr val="8AAF8A"/>
                </a:solidFill>
                <a:latin typeface="DM Sans" pitchFamily="34" charset="0"/>
                <a:ea typeface="DM Sans" pitchFamily="34" charset="-122"/>
                <a:cs typeface="DM Sans" pitchFamily="34" charset="-120"/>
              </a:rPr>
              <a:t>WHAT CHANGED</a:t>
            </a:r>
            <a:endParaRPr lang="en-US" sz="1400" dirty="0"/>
          </a:p>
        </p:txBody>
      </p:sp>
      <p:sp>
        <p:nvSpPr>
          <p:cNvPr id="5" name="Text 3"/>
          <p:cNvSpPr txBox="1"/>
          <p:nvPr/>
        </p:nvSpPr>
        <p:spPr>
          <a:xfrm>
            <a:off x="822960" y="1600200"/>
            <a:ext cx="10180015" cy="2377440"/>
          </a:xfrm>
          <a:prstGeom prst="rect">
            <a:avLst/>
          </a:prstGeom>
          <a:noFill/>
          <a:ln/>
        </p:spPr>
        <p:txBody>
          <a:bodyPr wrap="square" lIns="0" tIns="0" rIns="0" bIns="0" rtlCol="0" anchor="t">
            <a:normAutofit/>
          </a:bodyPr>
          <a:lstStyle/>
          <a:p>
            <a:pPr algn="l" indent="0" marL="0">
              <a:lnSpc>
                <a:spcPct val="95000"/>
              </a:lnSpc>
              <a:buNone/>
            </a:pPr>
            <a:r>
              <a:rPr lang="en-US" sz="4100" b="1" dirty="0">
                <a:solidFill>
                  <a:srgbClr val="1B2B2B"/>
                </a:solidFill>
                <a:latin typeface="Cormorant Garamond" pitchFamily="34" charset="0"/>
                <a:ea typeface="Cormorant Garamond" pitchFamily="34" charset="-122"/>
                <a:cs typeface="Cormorant Garamond" pitchFamily="34" charset="-120"/>
              </a:rPr>
              <a:t>She saw her value, </a:t>
            </a:r>
            <a:pPr algn="l" indent="0" marL="0">
              <a:lnSpc>
                <a:spcPct val="95000"/>
              </a:lnSpc>
              <a:buNone/>
            </a:pPr>
            <a:r>
              <a:rPr lang="en-US" sz="4100" b="1" dirty="0">
                <a:solidFill>
                  <a:srgbClr val="1B2B2B"/>
                </a:solidFill>
                <a:highlight>
                  <a:srgbClr val="CFE3CF"/>
                </a:highlight>
                <a:latin typeface="Cormorant Garamond" pitchFamily="34" charset="0"/>
                <a:ea typeface="Cormorant Garamond" pitchFamily="34" charset="-122"/>
                <a:cs typeface="Cormorant Garamond" pitchFamily="34" charset="-120"/>
              </a:rPr>
              <a:t>and then she said it.</a:t>
            </a:r>
            <a:endParaRPr lang="en-US" sz="4100" dirty="0"/>
          </a:p>
        </p:txBody>
      </p:sp>
      <p:sp>
        <p:nvSpPr>
          <p:cNvPr id="6" name="Text 4"/>
          <p:cNvSpPr txBox="1"/>
          <p:nvPr/>
        </p:nvSpPr>
        <p:spPr>
          <a:xfrm>
            <a:off x="822960" y="4297680"/>
            <a:ext cx="9905695" cy="1463040"/>
          </a:xfrm>
          <a:prstGeom prst="rect">
            <a:avLst/>
          </a:prstGeom>
          <a:noFill/>
          <a:ln/>
        </p:spPr>
        <p:txBody>
          <a:bodyPr wrap="square" lIns="0" tIns="0" rIns="0" bIns="0" rtlCol="0" anchor="t">
            <a:normAutofit/>
          </a:bodyPr>
          <a:lstStyle/>
          <a:p>
            <a:pPr algn="l" indent="0" marL="0">
              <a:lnSpc>
                <a:spcPct val="115000"/>
              </a:lnSpc>
              <a:buNone/>
            </a:pPr>
            <a:r>
              <a:rPr lang="en-US" sz="2000" dirty="0">
                <a:solidFill>
                  <a:srgbClr val="5E6B68"/>
                </a:solidFill>
                <a:latin typeface="DM Sans" pitchFamily="34" charset="0"/>
                <a:ea typeface="DM Sans" pitchFamily="34" charset="-122"/>
                <a:cs typeface="DM Sans" pitchFamily="34" charset="-120"/>
              </a:rPr>
              <a:t>We shifted her strategy and the way she saw herself. Once she understood her market value, she could communicate it with confidence.</a:t>
            </a:r>
            <a:endParaRPr lang="en-US" sz="2000" dirty="0"/>
          </a:p>
        </p:txBody>
      </p:sp>
      <p:sp>
        <p:nvSpPr>
          <p:cNvPr id="25" name="Slide Number Placeholder 0"/>
          <p:cNvSpPr>
            <a:spLocks noGrp="1"/>
          </p:cNvSpPr>
          <p:nvPr>
            <p:ph type="sldNum" sz="quarter" idx="4294967295"/>
          </p:nvPr>
        </p:nvSpPr>
        <p:spPr>
          <a:xfrm>
            <a:off x="11368735"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AA6A3"/>
                </a:solidFill>
                <a:latin typeface="DM Sans"/>
                <a:ea typeface="DM Sans"/>
                <a:cs typeface="DM Sans"/>
              </a:defRPr>
            </a:lvl1pPr>
          </a:lstStyle>
          <a:p>
            <a:pPr algn="r"/>
            <a:fld id="{F7021451-1387-4CA6-816F-3879F97B5CBC}" type="slidenum">
              <a:rPr b="0" lang="en-US"/>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2960" y="731520"/>
            <a:ext cx="1737360" cy="457200"/>
          </a:xfrm>
          <a:prstGeom prst="roundRect">
            <a:avLst>
              <a:gd name="adj" fmla="val 50000"/>
            </a:avLst>
          </a:prstGeom>
          <a:solidFill>
            <a:srgbClr val="1E4A4A"/>
          </a:solidFill>
          <a:ln w="12700">
            <a:solidFill>
              <a:srgbClr val="1E4A4A"/>
            </a:solidFill>
            <a:prstDash val="solid"/>
          </a:ln>
        </p:spPr>
      </p:sp>
      <p:sp>
        <p:nvSpPr>
          <p:cNvPr id="3" name="Text 1"/>
          <p:cNvSpPr txBox="1"/>
          <p:nvPr/>
        </p:nvSpPr>
        <p:spPr>
          <a:xfrm>
            <a:off x="822960" y="731520"/>
            <a:ext cx="1737360" cy="457200"/>
          </a:xfrm>
          <a:prstGeom prst="rect">
            <a:avLst/>
          </a:prstGeom>
          <a:noFill/>
          <a:ln/>
        </p:spPr>
        <p:txBody>
          <a:bodyPr wrap="square" lIns="0" tIns="0" rIns="0" bIns="0" rtlCol="0" anchor="ctr">
            <a:normAutofit/>
          </a:bodyPr>
          <a:lstStyle/>
          <a:p>
            <a:pPr algn="ctr" indent="0" marL="0">
              <a:lnSpc>
                <a:spcPct val="100000"/>
              </a:lnSpc>
              <a:buNone/>
            </a:pPr>
            <a:r>
              <a:rPr lang="en-US" sz="1300" b="1" spc="300" kern="0" dirty="0">
                <a:solidFill>
                  <a:srgbClr val="FFFFFF"/>
                </a:solidFill>
                <a:latin typeface="DM Sans" pitchFamily="34" charset="0"/>
                <a:ea typeface="DM Sans" pitchFamily="34" charset="-122"/>
                <a:cs typeface="DM Sans" pitchFamily="34" charset="-120"/>
              </a:rPr>
              <a:t>SHELLY</a:t>
            </a:r>
            <a:endParaRPr lang="en-US" sz="1300" dirty="0"/>
          </a:p>
        </p:txBody>
      </p:sp>
      <p:sp>
        <p:nvSpPr>
          <p:cNvPr id="4" name="Text 2"/>
          <p:cNvSpPr txBox="1"/>
          <p:nvPr/>
        </p:nvSpPr>
        <p:spPr>
          <a:xfrm>
            <a:off x="2788920" y="795528"/>
            <a:ext cx="8579815" cy="365760"/>
          </a:xfrm>
          <a:prstGeom prst="rect">
            <a:avLst/>
          </a:prstGeom>
          <a:noFill/>
          <a:ln/>
        </p:spPr>
        <p:txBody>
          <a:bodyPr wrap="square" lIns="0" tIns="0" rIns="0" bIns="0" rtlCol="0" anchor="ctr">
            <a:normAutofit/>
          </a:bodyPr>
          <a:lstStyle/>
          <a:p>
            <a:pPr algn="l" indent="0" marL="0">
              <a:lnSpc>
                <a:spcPct val="100000"/>
              </a:lnSpc>
              <a:buNone/>
            </a:pPr>
            <a:r>
              <a:rPr lang="en-US" sz="1400" b="1" spc="400" kern="0" dirty="0">
                <a:solidFill>
                  <a:srgbClr val="8AAF8A"/>
                </a:solidFill>
                <a:latin typeface="DM Sans" pitchFamily="34" charset="0"/>
                <a:ea typeface="DM Sans" pitchFamily="34" charset="-122"/>
                <a:cs typeface="DM Sans" pitchFamily="34" charset="-120"/>
              </a:rPr>
              <a:t>WHERE SHE IS NOW</a:t>
            </a:r>
            <a:endParaRPr lang="en-US" sz="1400" dirty="0"/>
          </a:p>
        </p:txBody>
      </p:sp>
      <p:sp>
        <p:nvSpPr>
          <p:cNvPr id="5" name="Text 3"/>
          <p:cNvSpPr txBox="1"/>
          <p:nvPr/>
        </p:nvSpPr>
        <p:spPr>
          <a:xfrm>
            <a:off x="822960" y="1600200"/>
            <a:ext cx="10180015" cy="1463040"/>
          </a:xfrm>
          <a:prstGeom prst="rect">
            <a:avLst/>
          </a:prstGeom>
          <a:noFill/>
          <a:ln/>
        </p:spPr>
        <p:txBody>
          <a:bodyPr wrap="square" lIns="0" tIns="0" rIns="0" bIns="0" rtlCol="0" anchor="ctr">
            <a:normAutofit/>
          </a:bodyPr>
          <a:lstStyle/>
          <a:p>
            <a:pPr algn="l" indent="0" marL="0">
              <a:lnSpc>
                <a:spcPct val="100000"/>
              </a:lnSpc>
              <a:buNone/>
            </a:pPr>
            <a:r>
              <a:rPr lang="en-US" sz="8000" b="1" dirty="0">
                <a:solidFill>
                  <a:srgbClr val="1E4A4A"/>
                </a:solidFill>
                <a:latin typeface="Cormorant Garamond" pitchFamily="34" charset="0"/>
                <a:ea typeface="Cormorant Garamond" pitchFamily="34" charset="-122"/>
                <a:cs typeface="Cormorant Garamond" pitchFamily="34" charset="-120"/>
              </a:rPr>
              <a:t>$225K → $435K</a:t>
            </a:r>
            <a:endParaRPr lang="en-US" sz="8000" dirty="0"/>
          </a:p>
        </p:txBody>
      </p:sp>
      <p:sp>
        <p:nvSpPr>
          <p:cNvPr id="6" name="Text 4"/>
          <p:cNvSpPr txBox="1"/>
          <p:nvPr/>
        </p:nvSpPr>
        <p:spPr>
          <a:xfrm>
            <a:off x="822960" y="3246120"/>
            <a:ext cx="10180015" cy="1280160"/>
          </a:xfrm>
          <a:prstGeom prst="rect">
            <a:avLst/>
          </a:prstGeom>
          <a:noFill/>
          <a:ln/>
        </p:spPr>
        <p:txBody>
          <a:bodyPr wrap="square" lIns="0" tIns="0" rIns="0" bIns="0" rtlCol="0" anchor="t">
            <a:normAutofit/>
          </a:bodyPr>
          <a:lstStyle/>
          <a:p>
            <a:pPr algn="l" indent="0" marL="0">
              <a:lnSpc>
                <a:spcPct val="95000"/>
              </a:lnSpc>
              <a:buNone/>
            </a:pPr>
            <a:r>
              <a:rPr lang="en-US" sz="3100" b="1" dirty="0">
                <a:solidFill>
                  <a:srgbClr val="1B2B2B"/>
                </a:solidFill>
                <a:latin typeface="Cormorant Garamond" pitchFamily="34" charset="0"/>
                <a:ea typeface="Cormorant Garamond" pitchFamily="34" charset="-122"/>
                <a:cs typeface="Cormorant Garamond" pitchFamily="34" charset="-120"/>
              </a:rPr>
              <a:t>She stopped </a:t>
            </a:r>
            <a:pPr algn="l" indent="0" marL="0">
              <a:lnSpc>
                <a:spcPct val="95000"/>
              </a:lnSpc>
              <a:buNone/>
            </a:pPr>
            <a:r>
              <a:rPr lang="en-US" sz="3100" b="1" dirty="0">
                <a:solidFill>
                  <a:srgbClr val="1B2B2B"/>
                </a:solidFill>
                <a:highlight>
                  <a:srgbClr val="CFE3CF"/>
                </a:highlight>
                <a:latin typeface="Cormorant Garamond" pitchFamily="34" charset="0"/>
                <a:ea typeface="Cormorant Garamond" pitchFamily="34" charset="-122"/>
                <a:cs typeface="Cormorant Garamond" pitchFamily="34" charset="-120"/>
              </a:rPr>
              <a:t>waiting for permission.</a:t>
            </a:r>
            <a:endParaRPr lang="en-US" sz="3100" dirty="0"/>
          </a:p>
        </p:txBody>
      </p:sp>
      <p:sp>
        <p:nvSpPr>
          <p:cNvPr id="7" name="Text 5"/>
          <p:cNvSpPr txBox="1"/>
          <p:nvPr/>
        </p:nvSpPr>
        <p:spPr>
          <a:xfrm>
            <a:off x="822960" y="4663440"/>
            <a:ext cx="9905695" cy="1463040"/>
          </a:xfrm>
          <a:prstGeom prst="rect">
            <a:avLst/>
          </a:prstGeom>
          <a:noFill/>
          <a:ln/>
        </p:spPr>
        <p:txBody>
          <a:bodyPr wrap="square" lIns="0" tIns="0" rIns="0" bIns="0" rtlCol="0" anchor="t">
            <a:normAutofit/>
          </a:bodyPr>
          <a:lstStyle/>
          <a:p>
            <a:pPr algn="l" indent="0" marL="0">
              <a:lnSpc>
                <a:spcPct val="115000"/>
              </a:lnSpc>
              <a:buNone/>
            </a:pPr>
            <a:r>
              <a:rPr lang="en-US" sz="2000" dirty="0">
                <a:solidFill>
                  <a:srgbClr val="5E6B68"/>
                </a:solidFill>
                <a:latin typeface="DM Sans" pitchFamily="34" charset="0"/>
                <a:ea typeface="DM Sans" pitchFamily="34" charset="-122"/>
                <a:cs typeface="DM Sans" pitchFamily="34" charset="-120"/>
              </a:rPr>
              <a:t>She now makes every career decision from ownership instead of fear. </a:t>
            </a:r>
            <a:pPr algn="l" indent="0" marL="0">
              <a:lnSpc>
                <a:spcPct val="115000"/>
              </a:lnSpc>
              <a:buNone/>
            </a:pPr>
            <a:r>
              <a:rPr lang="en-US" sz="1600" b="1" dirty="0">
                <a:solidFill>
                  <a:srgbClr val="B85042"/>
                </a:solidFill>
                <a:latin typeface="DM Sans" pitchFamily="34" charset="0"/>
                <a:ea typeface="DM Sans" pitchFamily="34" charset="-122"/>
                <a:cs typeface="DM Sans" pitchFamily="34" charset="-120"/>
              </a:rPr>
              <a:t>[PLACEHOLDER: swap for Shelly's own words or video]</a:t>
            </a:r>
            <a:endParaRPr lang="en-US" sz="2000" dirty="0"/>
          </a:p>
        </p:txBody>
      </p:sp>
      <p:sp>
        <p:nvSpPr>
          <p:cNvPr id="25" name="Slide Number Placeholder 0"/>
          <p:cNvSpPr>
            <a:spLocks noGrp="1"/>
          </p:cNvSpPr>
          <p:nvPr>
            <p:ph type="sldNum" sz="quarter" idx="4294967295"/>
          </p:nvPr>
        </p:nvSpPr>
        <p:spPr>
          <a:xfrm>
            <a:off x="11368735"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AA6A3"/>
                </a:solidFill>
                <a:latin typeface="DM Sans"/>
                <a:ea typeface="DM Sans"/>
                <a:cs typeface="DM Sans"/>
              </a:defRPr>
            </a:lvl1pPr>
          </a:lstStyle>
          <a:p>
            <a:pPr algn="r"/>
            <a:fld id="{F7021451-1387-4CA6-816F-3879F97B5CBC}" type="slidenum">
              <a:rPr b="0" lang="en-US"/>
              <a:t>79</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2960" y="731520"/>
            <a:ext cx="1737360" cy="457200"/>
          </a:xfrm>
          <a:prstGeom prst="roundRect">
            <a:avLst>
              <a:gd name="adj" fmla="val 50000"/>
            </a:avLst>
          </a:prstGeom>
          <a:solidFill>
            <a:srgbClr val="1E4A4A"/>
          </a:solidFill>
          <a:ln w="12700">
            <a:solidFill>
              <a:srgbClr val="1E4A4A"/>
            </a:solidFill>
            <a:prstDash val="solid"/>
          </a:ln>
        </p:spPr>
      </p:sp>
      <p:sp>
        <p:nvSpPr>
          <p:cNvPr id="3" name="Text 1"/>
          <p:cNvSpPr txBox="1"/>
          <p:nvPr/>
        </p:nvSpPr>
        <p:spPr>
          <a:xfrm>
            <a:off x="822960" y="731520"/>
            <a:ext cx="1737360" cy="457200"/>
          </a:xfrm>
          <a:prstGeom prst="rect">
            <a:avLst/>
          </a:prstGeom>
          <a:noFill/>
          <a:ln/>
        </p:spPr>
        <p:txBody>
          <a:bodyPr wrap="square" lIns="0" tIns="0" rIns="0" bIns="0" rtlCol="0" anchor="ctr">
            <a:normAutofit/>
          </a:bodyPr>
          <a:lstStyle/>
          <a:p>
            <a:pPr algn="ctr" indent="0" marL="0">
              <a:lnSpc>
                <a:spcPct val="100000"/>
              </a:lnSpc>
              <a:buNone/>
            </a:pPr>
            <a:r>
              <a:rPr lang="en-US" sz="1300" b="1" spc="300" kern="0" dirty="0">
                <a:solidFill>
                  <a:srgbClr val="FFFFFF"/>
                </a:solidFill>
                <a:latin typeface="DM Sans" pitchFamily="34" charset="0"/>
                <a:ea typeface="DM Sans" pitchFamily="34" charset="-122"/>
                <a:cs typeface="DM Sans" pitchFamily="34" charset="-120"/>
              </a:rPr>
              <a:t>NINA</a:t>
            </a:r>
            <a:endParaRPr lang="en-US" sz="1300" dirty="0"/>
          </a:p>
        </p:txBody>
      </p:sp>
      <p:sp>
        <p:nvSpPr>
          <p:cNvPr id="4" name="Text 2"/>
          <p:cNvSpPr txBox="1"/>
          <p:nvPr/>
        </p:nvSpPr>
        <p:spPr>
          <a:xfrm>
            <a:off x="2788920" y="795528"/>
            <a:ext cx="8579815" cy="365760"/>
          </a:xfrm>
          <a:prstGeom prst="rect">
            <a:avLst/>
          </a:prstGeom>
          <a:noFill/>
          <a:ln/>
        </p:spPr>
        <p:txBody>
          <a:bodyPr wrap="square" lIns="0" tIns="0" rIns="0" bIns="0" rtlCol="0" anchor="ctr">
            <a:normAutofit/>
          </a:bodyPr>
          <a:lstStyle/>
          <a:p>
            <a:pPr algn="l" indent="0" marL="0">
              <a:lnSpc>
                <a:spcPct val="100000"/>
              </a:lnSpc>
              <a:buNone/>
            </a:pPr>
            <a:r>
              <a:rPr lang="en-US" sz="1400" b="1" spc="400" kern="0" dirty="0">
                <a:solidFill>
                  <a:srgbClr val="8AAF8A"/>
                </a:solidFill>
                <a:latin typeface="DM Sans" pitchFamily="34" charset="0"/>
                <a:ea typeface="DM Sans" pitchFamily="34" charset="-122"/>
                <a:cs typeface="DM Sans" pitchFamily="34" charset="-120"/>
              </a:rPr>
              <a:t>WHERE IT STARTED</a:t>
            </a:r>
            <a:endParaRPr lang="en-US" sz="1400" dirty="0"/>
          </a:p>
        </p:txBody>
      </p:sp>
      <p:sp>
        <p:nvSpPr>
          <p:cNvPr id="5" name="Text 3"/>
          <p:cNvSpPr txBox="1"/>
          <p:nvPr/>
        </p:nvSpPr>
        <p:spPr>
          <a:xfrm>
            <a:off x="822960" y="1600200"/>
            <a:ext cx="6492240" cy="2377440"/>
          </a:xfrm>
          <a:prstGeom prst="rect">
            <a:avLst/>
          </a:prstGeom>
          <a:noFill/>
          <a:ln/>
        </p:spPr>
        <p:txBody>
          <a:bodyPr wrap="square" lIns="0" tIns="0" rIns="0" bIns="0" rtlCol="0" anchor="t">
            <a:normAutofit/>
          </a:bodyPr>
          <a:lstStyle/>
          <a:p>
            <a:pPr algn="l" indent="0" marL="0">
              <a:lnSpc>
                <a:spcPct val="95000"/>
              </a:lnSpc>
              <a:buNone/>
            </a:pPr>
            <a:r>
              <a:rPr lang="en-US" sz="4100" b="1" dirty="0">
                <a:solidFill>
                  <a:srgbClr val="1B2B2B"/>
                </a:solidFill>
                <a:latin typeface="Cormorant Garamond" pitchFamily="34" charset="0"/>
                <a:ea typeface="Cormorant Garamond" pitchFamily="34" charset="-122"/>
                <a:cs typeface="Cormorant Garamond" pitchFamily="34" charset="-120"/>
              </a:rPr>
              <a:t>Exceptional work. </a:t>
            </a:r>
            <a:pPr algn="l" indent="0" marL="0">
              <a:lnSpc>
                <a:spcPct val="95000"/>
              </a:lnSpc>
              <a:buNone/>
            </a:pPr>
            <a:r>
              <a:rPr lang="en-US" sz="4100" b="1" dirty="0">
                <a:solidFill>
                  <a:srgbClr val="1B2B2B"/>
                </a:solidFill>
                <a:highlight>
                  <a:srgbClr val="CFE3CF"/>
                </a:highlight>
                <a:latin typeface="Cormorant Garamond" pitchFamily="34" charset="0"/>
                <a:ea typeface="Cormorant Garamond" pitchFamily="34" charset="-122"/>
                <a:cs typeface="Cormorant Garamond" pitchFamily="34" charset="-120"/>
              </a:rPr>
              <a:t>Overlooked anyway.</a:t>
            </a:r>
            <a:endParaRPr lang="en-US" sz="4100" dirty="0"/>
          </a:p>
        </p:txBody>
      </p:sp>
      <p:sp>
        <p:nvSpPr>
          <p:cNvPr id="6" name="Text 4"/>
          <p:cNvSpPr txBox="1"/>
          <p:nvPr/>
        </p:nvSpPr>
        <p:spPr>
          <a:xfrm>
            <a:off x="822960" y="4297680"/>
            <a:ext cx="6217920" cy="1463040"/>
          </a:xfrm>
          <a:prstGeom prst="rect">
            <a:avLst/>
          </a:prstGeom>
          <a:noFill/>
          <a:ln/>
        </p:spPr>
        <p:txBody>
          <a:bodyPr wrap="square" lIns="0" tIns="0" rIns="0" bIns="0" rtlCol="0" anchor="t">
            <a:normAutofit/>
          </a:bodyPr>
          <a:lstStyle/>
          <a:p>
            <a:pPr algn="l" indent="0" marL="0">
              <a:lnSpc>
                <a:spcPct val="115000"/>
              </a:lnSpc>
              <a:buNone/>
            </a:pPr>
            <a:r>
              <a:rPr lang="en-US" sz="2000" dirty="0">
                <a:solidFill>
                  <a:srgbClr val="5E6B68"/>
                </a:solidFill>
                <a:latin typeface="DM Sans" pitchFamily="34" charset="0"/>
                <a:ea typeface="DM Sans" pitchFamily="34" charset="-122"/>
                <a:cs typeface="DM Sans" pitchFamily="34" charset="-120"/>
              </a:rPr>
              <a:t>Years of success, and she still questioned her value.</a:t>
            </a:r>
            <a:endParaRPr lang="en-US" sz="2000" dirty="0"/>
          </a:p>
        </p:txBody>
      </p:sp>
      <p:sp>
        <p:nvSpPr>
          <p:cNvPr id="7" name="Shape 5"/>
          <p:cNvSpPr/>
          <p:nvPr/>
        </p:nvSpPr>
        <p:spPr>
          <a:xfrm>
            <a:off x="7680960" y="548640"/>
            <a:ext cx="3886200" cy="5760720"/>
          </a:xfrm>
          <a:prstGeom prst="roundRect">
            <a:avLst>
              <a:gd name="adj" fmla="val 2824"/>
            </a:avLst>
          </a:prstGeom>
          <a:solidFill>
            <a:srgbClr val="E1F5EE"/>
          </a:solidFill>
          <a:ln w="15875">
            <a:solidFill>
              <a:srgbClr val="8AAF8A"/>
            </a:solidFill>
            <a:prstDash val="dash"/>
          </a:ln>
        </p:spPr>
      </p:sp>
      <p:sp>
        <p:nvSpPr>
          <p:cNvPr id="8" name="Text 6"/>
          <p:cNvSpPr txBox="1"/>
          <p:nvPr/>
        </p:nvSpPr>
        <p:spPr>
          <a:xfrm>
            <a:off x="7991856" y="859536"/>
            <a:ext cx="3264408" cy="320040"/>
          </a:xfrm>
          <a:prstGeom prst="rect">
            <a:avLst/>
          </a:prstGeom>
          <a:noFill/>
          <a:ln/>
        </p:spPr>
        <p:txBody>
          <a:bodyPr wrap="square" lIns="0" tIns="0" rIns="0" bIns="0" rtlCol="0" anchor="ctr">
            <a:normAutofit/>
          </a:bodyPr>
          <a:lstStyle/>
          <a:p>
            <a:pPr algn="l" indent="0" marL="0">
              <a:lnSpc>
                <a:spcPct val="100000"/>
              </a:lnSpc>
              <a:buNone/>
            </a:pPr>
            <a:r>
              <a:rPr lang="en-US" sz="1100" b="1" spc="300" kern="0" dirty="0">
                <a:solidFill>
                  <a:srgbClr val="1E4A4A"/>
                </a:solidFill>
                <a:latin typeface="DM Sans" pitchFamily="34" charset="0"/>
                <a:ea typeface="DM Sans" pitchFamily="34" charset="-122"/>
                <a:cs typeface="DM Sans" pitchFamily="34" charset="-120"/>
              </a:rPr>
              <a:t>PHOTO PLACEHOLDER</a:t>
            </a:r>
            <a:endParaRPr lang="en-US" sz="1100" dirty="0"/>
          </a:p>
        </p:txBody>
      </p:sp>
      <p:sp>
        <p:nvSpPr>
          <p:cNvPr id="9" name="Text 7"/>
          <p:cNvSpPr txBox="1"/>
          <p:nvPr/>
        </p:nvSpPr>
        <p:spPr>
          <a:xfrm>
            <a:off x="7991856" y="1271016"/>
            <a:ext cx="3264408" cy="2377440"/>
          </a:xfrm>
          <a:prstGeom prst="rect">
            <a:avLst/>
          </a:prstGeom>
          <a:noFill/>
          <a:ln/>
        </p:spPr>
        <p:txBody>
          <a:bodyPr wrap="square" lIns="0" tIns="0" rIns="0" bIns="0" rtlCol="0" anchor="t">
            <a:normAutofit/>
          </a:bodyPr>
          <a:lstStyle/>
          <a:p>
            <a:pPr algn="l" indent="0" marL="0">
              <a:lnSpc>
                <a:spcPct val="110000"/>
              </a:lnSpc>
              <a:buNone/>
            </a:pPr>
            <a:r>
              <a:rPr lang="en-US" sz="1200" i="1" dirty="0">
                <a:solidFill>
                  <a:srgbClr val="5E6B68"/>
                </a:solidFill>
                <a:latin typeface="DM Sans" pitchFamily="34" charset="0"/>
                <a:ea typeface="DM Sans" pitchFamily="34" charset="-122"/>
                <a:cs typeface="DM Sans" pitchFamily="34" charset="-120"/>
              </a:rPr>
              <a:t>Nina headshot. </a:t>
            </a:r>
            <a:pPr algn="l" indent="0" marL="0">
              <a:lnSpc>
                <a:spcPct val="110000"/>
              </a:lnSpc>
              <a:buNone/>
            </a:pPr>
            <a:r>
              <a:rPr lang="en-US" sz="1200" b="1" i="1" dirty="0">
                <a:solidFill>
                  <a:srgbClr val="B85042"/>
                </a:solidFill>
                <a:latin typeface="DM Sans" pitchFamily="34" charset="0"/>
                <a:ea typeface="DM Sans" pitchFamily="34" charset="-122"/>
                <a:cs typeface="DM Sans" pitchFamily="34" charset="-120"/>
              </a:rPr>
              <a:t>[PLACEHOLDER: client photo + written consent]</a:t>
            </a:r>
            <a:endParaRPr lang="en-US" sz="1200" dirty="0"/>
          </a:p>
        </p:txBody>
      </p:sp>
      <p:sp>
        <p:nvSpPr>
          <p:cNvPr id="25" name="Slide Number Placeholder 0"/>
          <p:cNvSpPr>
            <a:spLocks noGrp="1"/>
          </p:cNvSpPr>
          <p:nvPr>
            <p:ph type="sldNum" sz="quarter" idx="4294967295"/>
          </p:nvPr>
        </p:nvSpPr>
        <p:spPr>
          <a:xfrm>
            <a:off x="11368735"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AA6A3"/>
                </a:solidFill>
                <a:latin typeface="DM Sans"/>
                <a:ea typeface="DM Sans"/>
                <a:cs typeface="DM Sans"/>
              </a:defRPr>
            </a:lvl1pPr>
          </a:lstStyle>
          <a:p>
            <a:pPr algn="r"/>
            <a:fld id="{F7021451-1387-4CA6-816F-3879F97B5CBC}" type="slidenum">
              <a:rPr b="0" lang="en-US"/>
              <a:t>80</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2960" y="731520"/>
            <a:ext cx="1737360" cy="457200"/>
          </a:xfrm>
          <a:prstGeom prst="roundRect">
            <a:avLst>
              <a:gd name="adj" fmla="val 50000"/>
            </a:avLst>
          </a:prstGeom>
          <a:solidFill>
            <a:srgbClr val="1E4A4A"/>
          </a:solidFill>
          <a:ln w="12700">
            <a:solidFill>
              <a:srgbClr val="1E4A4A"/>
            </a:solidFill>
            <a:prstDash val="solid"/>
          </a:ln>
        </p:spPr>
      </p:sp>
      <p:sp>
        <p:nvSpPr>
          <p:cNvPr id="3" name="Text 1"/>
          <p:cNvSpPr txBox="1"/>
          <p:nvPr/>
        </p:nvSpPr>
        <p:spPr>
          <a:xfrm>
            <a:off x="822960" y="731520"/>
            <a:ext cx="1737360" cy="457200"/>
          </a:xfrm>
          <a:prstGeom prst="rect">
            <a:avLst/>
          </a:prstGeom>
          <a:noFill/>
          <a:ln/>
        </p:spPr>
        <p:txBody>
          <a:bodyPr wrap="square" lIns="0" tIns="0" rIns="0" bIns="0" rtlCol="0" anchor="ctr">
            <a:normAutofit/>
          </a:bodyPr>
          <a:lstStyle/>
          <a:p>
            <a:pPr algn="ctr" indent="0" marL="0">
              <a:lnSpc>
                <a:spcPct val="100000"/>
              </a:lnSpc>
              <a:buNone/>
            </a:pPr>
            <a:r>
              <a:rPr lang="en-US" sz="1300" b="1" spc="300" kern="0" dirty="0">
                <a:solidFill>
                  <a:srgbClr val="FFFFFF"/>
                </a:solidFill>
                <a:latin typeface="DM Sans" pitchFamily="34" charset="0"/>
                <a:ea typeface="DM Sans" pitchFamily="34" charset="-122"/>
                <a:cs typeface="DM Sans" pitchFamily="34" charset="-120"/>
              </a:rPr>
              <a:t>NINA</a:t>
            </a:r>
            <a:endParaRPr lang="en-US" sz="1300" dirty="0"/>
          </a:p>
        </p:txBody>
      </p:sp>
      <p:sp>
        <p:nvSpPr>
          <p:cNvPr id="4" name="Text 2"/>
          <p:cNvSpPr txBox="1"/>
          <p:nvPr/>
        </p:nvSpPr>
        <p:spPr>
          <a:xfrm>
            <a:off x="2788920" y="795528"/>
            <a:ext cx="8579815" cy="365760"/>
          </a:xfrm>
          <a:prstGeom prst="rect">
            <a:avLst/>
          </a:prstGeom>
          <a:noFill/>
          <a:ln/>
        </p:spPr>
        <p:txBody>
          <a:bodyPr wrap="square" lIns="0" tIns="0" rIns="0" bIns="0" rtlCol="0" anchor="ctr">
            <a:normAutofit/>
          </a:bodyPr>
          <a:lstStyle/>
          <a:p>
            <a:pPr algn="l" indent="0" marL="0">
              <a:lnSpc>
                <a:spcPct val="100000"/>
              </a:lnSpc>
              <a:buNone/>
            </a:pPr>
            <a:r>
              <a:rPr lang="en-US" sz="1400" b="1" spc="400" kern="0" dirty="0">
                <a:solidFill>
                  <a:srgbClr val="8AAF8A"/>
                </a:solidFill>
                <a:latin typeface="DM Sans" pitchFamily="34" charset="0"/>
                <a:ea typeface="DM Sans" pitchFamily="34" charset="-122"/>
                <a:cs typeface="DM Sans" pitchFamily="34" charset="-120"/>
              </a:rPr>
              <a:t>WHAT CHANGED</a:t>
            </a:r>
            <a:endParaRPr lang="en-US" sz="1400" dirty="0"/>
          </a:p>
        </p:txBody>
      </p:sp>
      <p:sp>
        <p:nvSpPr>
          <p:cNvPr id="5" name="Text 3"/>
          <p:cNvSpPr txBox="1"/>
          <p:nvPr/>
        </p:nvSpPr>
        <p:spPr>
          <a:xfrm>
            <a:off x="822960" y="1600200"/>
            <a:ext cx="10180015" cy="2377440"/>
          </a:xfrm>
          <a:prstGeom prst="rect">
            <a:avLst/>
          </a:prstGeom>
          <a:noFill/>
          <a:ln/>
        </p:spPr>
        <p:txBody>
          <a:bodyPr wrap="square" lIns="0" tIns="0" rIns="0" bIns="0" rtlCol="0" anchor="t">
            <a:normAutofit/>
          </a:bodyPr>
          <a:lstStyle/>
          <a:p>
            <a:pPr algn="l" indent="0" marL="0">
              <a:lnSpc>
                <a:spcPct val="95000"/>
              </a:lnSpc>
              <a:buNone/>
            </a:pPr>
            <a:r>
              <a:rPr lang="en-US" sz="4100" b="1" dirty="0">
                <a:solidFill>
                  <a:srgbClr val="1B2B2B"/>
                </a:solidFill>
                <a:latin typeface="Cormorant Garamond" pitchFamily="34" charset="0"/>
                <a:ea typeface="Cormorant Garamond" pitchFamily="34" charset="-122"/>
                <a:cs typeface="Cormorant Garamond" pitchFamily="34" charset="-120"/>
              </a:rPr>
              <a:t>She learned to articulate </a:t>
            </a:r>
            <a:pPr algn="l" indent="0" marL="0">
              <a:lnSpc>
                <a:spcPct val="95000"/>
              </a:lnSpc>
              <a:buNone/>
            </a:pPr>
            <a:r>
              <a:rPr lang="en-US" sz="4100" b="1" dirty="0">
                <a:solidFill>
                  <a:srgbClr val="1B2B2B"/>
                </a:solidFill>
                <a:highlight>
                  <a:srgbClr val="CFE3CF"/>
                </a:highlight>
                <a:latin typeface="Cormorant Garamond" pitchFamily="34" charset="0"/>
                <a:ea typeface="Cormorant Garamond" pitchFamily="34" charset="-122"/>
                <a:cs typeface="Cormorant Garamond" pitchFamily="34" charset="-120"/>
              </a:rPr>
              <a:t>the impact she created.</a:t>
            </a:r>
            <a:endParaRPr lang="en-US" sz="4100" dirty="0"/>
          </a:p>
        </p:txBody>
      </p:sp>
      <p:sp>
        <p:nvSpPr>
          <p:cNvPr id="6" name="Text 4"/>
          <p:cNvSpPr txBox="1"/>
          <p:nvPr/>
        </p:nvSpPr>
        <p:spPr>
          <a:xfrm>
            <a:off x="822960" y="4297680"/>
            <a:ext cx="9905695" cy="1463040"/>
          </a:xfrm>
          <a:prstGeom prst="rect">
            <a:avLst/>
          </a:prstGeom>
          <a:noFill/>
          <a:ln/>
        </p:spPr>
        <p:txBody>
          <a:bodyPr wrap="square" lIns="0" tIns="0" rIns="0" bIns="0" rtlCol="0" anchor="t">
            <a:normAutofit/>
          </a:bodyPr>
          <a:lstStyle/>
          <a:p>
            <a:pPr algn="l" indent="0" marL="0">
              <a:lnSpc>
                <a:spcPct val="115000"/>
              </a:lnSpc>
              <a:buNone/>
            </a:pPr>
            <a:r>
              <a:rPr lang="en-US" sz="2000" dirty="0">
                <a:solidFill>
                  <a:srgbClr val="5E6B68"/>
                </a:solidFill>
                <a:latin typeface="DM Sans" pitchFamily="34" charset="0"/>
                <a:ea typeface="DM Sans" pitchFamily="34" charset="-122"/>
                <a:cs typeface="DM Sans" pitchFamily="34" charset="-120"/>
              </a:rPr>
              <a:t>She began communicating with more authority and stopped minimizing what she'd done.</a:t>
            </a:r>
            <a:endParaRPr lang="en-US" sz="2000" dirty="0"/>
          </a:p>
        </p:txBody>
      </p:sp>
      <p:sp>
        <p:nvSpPr>
          <p:cNvPr id="25" name="Slide Number Placeholder 0"/>
          <p:cNvSpPr>
            <a:spLocks noGrp="1"/>
          </p:cNvSpPr>
          <p:nvPr>
            <p:ph type="sldNum" sz="quarter" idx="4294967295"/>
          </p:nvPr>
        </p:nvSpPr>
        <p:spPr>
          <a:xfrm>
            <a:off x="11368735"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AA6A3"/>
                </a:solidFill>
                <a:latin typeface="DM Sans"/>
                <a:ea typeface="DM Sans"/>
                <a:cs typeface="DM Sans"/>
              </a:defRPr>
            </a:lvl1pPr>
          </a:lstStyle>
          <a:p>
            <a:pPr algn="r"/>
            <a:fld id="{F7021451-1387-4CA6-816F-3879F97B5CBC}" type="slidenum">
              <a:rPr b="0" lang="en-US"/>
              <a:t>81</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2960" y="731520"/>
            <a:ext cx="1737360" cy="457200"/>
          </a:xfrm>
          <a:prstGeom prst="roundRect">
            <a:avLst>
              <a:gd name="adj" fmla="val 50000"/>
            </a:avLst>
          </a:prstGeom>
          <a:solidFill>
            <a:srgbClr val="1E4A4A"/>
          </a:solidFill>
          <a:ln w="12700">
            <a:solidFill>
              <a:srgbClr val="1E4A4A"/>
            </a:solidFill>
            <a:prstDash val="solid"/>
          </a:ln>
        </p:spPr>
      </p:sp>
      <p:sp>
        <p:nvSpPr>
          <p:cNvPr id="3" name="Text 1"/>
          <p:cNvSpPr txBox="1"/>
          <p:nvPr/>
        </p:nvSpPr>
        <p:spPr>
          <a:xfrm>
            <a:off x="822960" y="731520"/>
            <a:ext cx="1737360" cy="457200"/>
          </a:xfrm>
          <a:prstGeom prst="rect">
            <a:avLst/>
          </a:prstGeom>
          <a:noFill/>
          <a:ln/>
        </p:spPr>
        <p:txBody>
          <a:bodyPr wrap="square" lIns="0" tIns="0" rIns="0" bIns="0" rtlCol="0" anchor="ctr">
            <a:normAutofit/>
          </a:bodyPr>
          <a:lstStyle/>
          <a:p>
            <a:pPr algn="ctr" indent="0" marL="0">
              <a:lnSpc>
                <a:spcPct val="100000"/>
              </a:lnSpc>
              <a:buNone/>
            </a:pPr>
            <a:r>
              <a:rPr lang="en-US" sz="1300" b="1" spc="300" kern="0" dirty="0">
                <a:solidFill>
                  <a:srgbClr val="FFFFFF"/>
                </a:solidFill>
                <a:latin typeface="DM Sans" pitchFamily="34" charset="0"/>
                <a:ea typeface="DM Sans" pitchFamily="34" charset="-122"/>
                <a:cs typeface="DM Sans" pitchFamily="34" charset="-120"/>
              </a:rPr>
              <a:t>NINA</a:t>
            </a:r>
            <a:endParaRPr lang="en-US" sz="1300" dirty="0"/>
          </a:p>
        </p:txBody>
      </p:sp>
      <p:sp>
        <p:nvSpPr>
          <p:cNvPr id="4" name="Text 2"/>
          <p:cNvSpPr txBox="1"/>
          <p:nvPr/>
        </p:nvSpPr>
        <p:spPr>
          <a:xfrm>
            <a:off x="2788920" y="795528"/>
            <a:ext cx="8579815" cy="365760"/>
          </a:xfrm>
          <a:prstGeom prst="rect">
            <a:avLst/>
          </a:prstGeom>
          <a:noFill/>
          <a:ln/>
        </p:spPr>
        <p:txBody>
          <a:bodyPr wrap="square" lIns="0" tIns="0" rIns="0" bIns="0" rtlCol="0" anchor="ctr">
            <a:normAutofit/>
          </a:bodyPr>
          <a:lstStyle/>
          <a:p>
            <a:pPr algn="l" indent="0" marL="0">
              <a:lnSpc>
                <a:spcPct val="100000"/>
              </a:lnSpc>
              <a:buNone/>
            </a:pPr>
            <a:r>
              <a:rPr lang="en-US" sz="1400" b="1" spc="400" kern="0" dirty="0">
                <a:solidFill>
                  <a:srgbClr val="8AAF8A"/>
                </a:solidFill>
                <a:latin typeface="DM Sans" pitchFamily="34" charset="0"/>
                <a:ea typeface="DM Sans" pitchFamily="34" charset="-122"/>
                <a:cs typeface="DM Sans" pitchFamily="34" charset="-120"/>
              </a:rPr>
              <a:t>WHERE SHE IS NOW</a:t>
            </a:r>
            <a:endParaRPr lang="en-US" sz="1400" dirty="0"/>
          </a:p>
        </p:txBody>
      </p:sp>
      <p:sp>
        <p:nvSpPr>
          <p:cNvPr id="5" name="Text 3"/>
          <p:cNvSpPr txBox="1"/>
          <p:nvPr/>
        </p:nvSpPr>
        <p:spPr>
          <a:xfrm>
            <a:off x="822960" y="1600200"/>
            <a:ext cx="10180015" cy="1463040"/>
          </a:xfrm>
          <a:prstGeom prst="rect">
            <a:avLst/>
          </a:prstGeom>
          <a:noFill/>
          <a:ln/>
        </p:spPr>
        <p:txBody>
          <a:bodyPr wrap="square" lIns="0" tIns="0" rIns="0" bIns="0" rtlCol="0" anchor="ctr">
            <a:normAutofit/>
          </a:bodyPr>
          <a:lstStyle/>
          <a:p>
            <a:pPr algn="l" indent="0" marL="0">
              <a:lnSpc>
                <a:spcPct val="100000"/>
              </a:lnSpc>
              <a:buNone/>
            </a:pPr>
            <a:r>
              <a:rPr lang="en-US" sz="8000" b="1" dirty="0">
                <a:solidFill>
                  <a:srgbClr val="1E4A4A"/>
                </a:solidFill>
                <a:latin typeface="Cormorant Garamond" pitchFamily="34" charset="0"/>
                <a:ea typeface="Cormorant Garamond" pitchFamily="34" charset="-122"/>
                <a:cs typeface="Cormorant Garamond" pitchFamily="34" charset="-120"/>
              </a:rPr>
              <a:t>$185K → $215K</a:t>
            </a:r>
            <a:endParaRPr lang="en-US" sz="8000" dirty="0"/>
          </a:p>
        </p:txBody>
      </p:sp>
      <p:sp>
        <p:nvSpPr>
          <p:cNvPr id="6" name="Text 4"/>
          <p:cNvSpPr txBox="1"/>
          <p:nvPr/>
        </p:nvSpPr>
        <p:spPr>
          <a:xfrm>
            <a:off x="822960" y="3246120"/>
            <a:ext cx="10180015" cy="1280160"/>
          </a:xfrm>
          <a:prstGeom prst="rect">
            <a:avLst/>
          </a:prstGeom>
          <a:noFill/>
          <a:ln/>
        </p:spPr>
        <p:txBody>
          <a:bodyPr wrap="square" lIns="0" tIns="0" rIns="0" bIns="0" rtlCol="0" anchor="t">
            <a:normAutofit/>
          </a:bodyPr>
          <a:lstStyle/>
          <a:p>
            <a:pPr algn="l" indent="0" marL="0">
              <a:lnSpc>
                <a:spcPct val="95000"/>
              </a:lnSpc>
              <a:buNone/>
            </a:pPr>
            <a:r>
              <a:rPr lang="en-US" sz="3100" b="1" dirty="0">
                <a:solidFill>
                  <a:srgbClr val="1B2B2B"/>
                </a:solidFill>
                <a:latin typeface="Cormorant Garamond" pitchFamily="34" charset="0"/>
                <a:ea typeface="Cormorant Garamond" pitchFamily="34" charset="-122"/>
                <a:cs typeface="Cormorant Garamond" pitchFamily="34" charset="-120"/>
              </a:rPr>
              <a:t>Acting like </a:t>
            </a:r>
            <a:pPr algn="l" indent="0" marL="0">
              <a:lnSpc>
                <a:spcPct val="95000"/>
              </a:lnSpc>
              <a:buNone/>
            </a:pPr>
            <a:r>
              <a:rPr lang="en-US" sz="3100" b="1" dirty="0">
                <a:solidFill>
                  <a:srgbClr val="1B2B2B"/>
                </a:solidFill>
                <a:highlight>
                  <a:srgbClr val="CFE3CF"/>
                </a:highlight>
                <a:latin typeface="Cormorant Garamond" pitchFamily="34" charset="0"/>
                <a:ea typeface="Cormorant Garamond" pitchFamily="34" charset="-122"/>
                <a:cs typeface="Cormorant Garamond" pitchFamily="34" charset="-120"/>
              </a:rPr>
              <a:t>the leader she already was.</a:t>
            </a:r>
            <a:endParaRPr lang="en-US" sz="3100" dirty="0"/>
          </a:p>
        </p:txBody>
      </p:sp>
      <p:sp>
        <p:nvSpPr>
          <p:cNvPr id="7" name="Text 5"/>
          <p:cNvSpPr txBox="1"/>
          <p:nvPr/>
        </p:nvSpPr>
        <p:spPr>
          <a:xfrm>
            <a:off x="822960" y="4663440"/>
            <a:ext cx="9905695" cy="1463040"/>
          </a:xfrm>
          <a:prstGeom prst="rect">
            <a:avLst/>
          </a:prstGeom>
          <a:noFill/>
          <a:ln/>
        </p:spPr>
        <p:txBody>
          <a:bodyPr wrap="square" lIns="0" tIns="0" rIns="0" bIns="0" rtlCol="0" anchor="t">
            <a:normAutofit/>
          </a:bodyPr>
          <a:lstStyle/>
          <a:p>
            <a:pPr algn="l" indent="0" marL="0">
              <a:lnSpc>
                <a:spcPct val="115000"/>
              </a:lnSpc>
              <a:buNone/>
            </a:pPr>
            <a:r>
              <a:rPr lang="en-US" sz="2000" dirty="0">
                <a:solidFill>
                  <a:srgbClr val="5E6B68"/>
                </a:solidFill>
                <a:latin typeface="DM Sans" pitchFamily="34" charset="0"/>
                <a:ea typeface="DM Sans" pitchFamily="34" charset="-122"/>
                <a:cs typeface="DM Sans" pitchFamily="34" charset="-120"/>
              </a:rPr>
              <a:t>And positioned for executive leadership. </a:t>
            </a:r>
            <a:pPr algn="l" indent="0" marL="0">
              <a:lnSpc>
                <a:spcPct val="115000"/>
              </a:lnSpc>
              <a:buNone/>
            </a:pPr>
            <a:r>
              <a:rPr lang="en-US" sz="1600" b="1" dirty="0">
                <a:solidFill>
                  <a:srgbClr val="B85042"/>
                </a:solidFill>
                <a:latin typeface="DM Sans" pitchFamily="34" charset="0"/>
                <a:ea typeface="DM Sans" pitchFamily="34" charset="-122"/>
                <a:cs typeface="DM Sans" pitchFamily="34" charset="-120"/>
              </a:rPr>
              <a:t>[PLACEHOLDER: swap for Nina's own words or video]</a:t>
            </a:r>
            <a:endParaRPr lang="en-US" sz="2000" dirty="0"/>
          </a:p>
        </p:txBody>
      </p:sp>
      <p:sp>
        <p:nvSpPr>
          <p:cNvPr id="25" name="Slide Number Placeholder 0"/>
          <p:cNvSpPr>
            <a:spLocks noGrp="1"/>
          </p:cNvSpPr>
          <p:nvPr>
            <p:ph type="sldNum" sz="quarter" idx="4294967295"/>
          </p:nvPr>
        </p:nvSpPr>
        <p:spPr>
          <a:xfrm>
            <a:off x="11368735"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AA6A3"/>
                </a:solidFill>
                <a:latin typeface="DM Sans"/>
                <a:ea typeface="DM Sans"/>
                <a:cs typeface="DM Sans"/>
              </a:defRPr>
            </a:lvl1pPr>
          </a:lstStyle>
          <a:p>
            <a:pPr algn="r"/>
            <a:fld id="{F7021451-1387-4CA6-816F-3879F97B5CBC}" type="slidenum">
              <a:rPr b="0" lang="en-US"/>
              <a:t>82</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2960" y="731520"/>
            <a:ext cx="1737360" cy="457200"/>
          </a:xfrm>
          <a:prstGeom prst="roundRect">
            <a:avLst>
              <a:gd name="adj" fmla="val 50000"/>
            </a:avLst>
          </a:prstGeom>
          <a:solidFill>
            <a:srgbClr val="1E4A4A"/>
          </a:solidFill>
          <a:ln w="12700">
            <a:solidFill>
              <a:srgbClr val="1E4A4A"/>
            </a:solidFill>
            <a:prstDash val="solid"/>
          </a:ln>
        </p:spPr>
      </p:sp>
      <p:sp>
        <p:nvSpPr>
          <p:cNvPr id="3" name="Text 1"/>
          <p:cNvSpPr txBox="1"/>
          <p:nvPr/>
        </p:nvSpPr>
        <p:spPr>
          <a:xfrm>
            <a:off x="822960" y="731520"/>
            <a:ext cx="1737360" cy="457200"/>
          </a:xfrm>
          <a:prstGeom prst="rect">
            <a:avLst/>
          </a:prstGeom>
          <a:noFill/>
          <a:ln/>
        </p:spPr>
        <p:txBody>
          <a:bodyPr wrap="square" lIns="0" tIns="0" rIns="0" bIns="0" rtlCol="0" anchor="ctr">
            <a:normAutofit/>
          </a:bodyPr>
          <a:lstStyle/>
          <a:p>
            <a:pPr algn="ctr" indent="0" marL="0">
              <a:lnSpc>
                <a:spcPct val="100000"/>
              </a:lnSpc>
              <a:buNone/>
            </a:pPr>
            <a:r>
              <a:rPr lang="en-US" sz="1300" b="1" spc="300" kern="0" dirty="0">
                <a:solidFill>
                  <a:srgbClr val="FFFFFF"/>
                </a:solidFill>
                <a:latin typeface="DM Sans" pitchFamily="34" charset="0"/>
                <a:ea typeface="DM Sans" pitchFamily="34" charset="-122"/>
                <a:cs typeface="DM Sans" pitchFamily="34" charset="-120"/>
              </a:rPr>
              <a:t>ERICA</a:t>
            </a:r>
            <a:endParaRPr lang="en-US" sz="1300" dirty="0"/>
          </a:p>
        </p:txBody>
      </p:sp>
      <p:sp>
        <p:nvSpPr>
          <p:cNvPr id="4" name="Text 2"/>
          <p:cNvSpPr txBox="1"/>
          <p:nvPr/>
        </p:nvSpPr>
        <p:spPr>
          <a:xfrm>
            <a:off x="2788920" y="795528"/>
            <a:ext cx="8579815" cy="365760"/>
          </a:xfrm>
          <a:prstGeom prst="rect">
            <a:avLst/>
          </a:prstGeom>
          <a:noFill/>
          <a:ln/>
        </p:spPr>
        <p:txBody>
          <a:bodyPr wrap="square" lIns="0" tIns="0" rIns="0" bIns="0" rtlCol="0" anchor="ctr">
            <a:normAutofit/>
          </a:bodyPr>
          <a:lstStyle/>
          <a:p>
            <a:pPr algn="l" indent="0" marL="0">
              <a:lnSpc>
                <a:spcPct val="100000"/>
              </a:lnSpc>
              <a:buNone/>
            </a:pPr>
            <a:r>
              <a:rPr lang="en-US" sz="1400" b="1" spc="400" kern="0" dirty="0">
                <a:solidFill>
                  <a:srgbClr val="8AAF8A"/>
                </a:solidFill>
                <a:latin typeface="DM Sans" pitchFamily="34" charset="0"/>
                <a:ea typeface="DM Sans" pitchFamily="34" charset="-122"/>
                <a:cs typeface="DM Sans" pitchFamily="34" charset="-120"/>
              </a:rPr>
              <a:t>WHERE IT STARTED</a:t>
            </a:r>
            <a:endParaRPr lang="en-US" sz="1400" dirty="0"/>
          </a:p>
        </p:txBody>
      </p:sp>
      <p:sp>
        <p:nvSpPr>
          <p:cNvPr id="5" name="Text 3"/>
          <p:cNvSpPr txBox="1"/>
          <p:nvPr/>
        </p:nvSpPr>
        <p:spPr>
          <a:xfrm>
            <a:off x="822960" y="1600200"/>
            <a:ext cx="6492240" cy="2377440"/>
          </a:xfrm>
          <a:prstGeom prst="rect">
            <a:avLst/>
          </a:prstGeom>
          <a:noFill/>
          <a:ln/>
        </p:spPr>
        <p:txBody>
          <a:bodyPr wrap="square" lIns="0" tIns="0" rIns="0" bIns="0" rtlCol="0" anchor="t">
            <a:normAutofit/>
          </a:bodyPr>
          <a:lstStyle/>
          <a:p>
            <a:pPr algn="l" indent="0" marL="0">
              <a:lnSpc>
                <a:spcPct val="95000"/>
              </a:lnSpc>
              <a:buNone/>
            </a:pPr>
            <a:r>
              <a:rPr lang="en-US" sz="4100" b="1" dirty="0">
                <a:solidFill>
                  <a:srgbClr val="1B2B2B"/>
                </a:solidFill>
                <a:latin typeface="Cormorant Garamond" pitchFamily="34" charset="0"/>
                <a:ea typeface="Cormorant Garamond" pitchFamily="34" charset="-122"/>
                <a:cs typeface="Cormorant Garamond" pitchFamily="34" charset="-120"/>
              </a:rPr>
              <a:t>She dramatically </a:t>
            </a:r>
            <a:pPr algn="l" indent="0" marL="0">
              <a:lnSpc>
                <a:spcPct val="95000"/>
              </a:lnSpc>
              <a:buNone/>
            </a:pPr>
            <a:r>
              <a:rPr lang="en-US" sz="4100" b="1" dirty="0">
                <a:solidFill>
                  <a:srgbClr val="1B2B2B"/>
                </a:solidFill>
                <a:highlight>
                  <a:srgbClr val="CFE3CF"/>
                </a:highlight>
                <a:latin typeface="Cormorant Garamond" pitchFamily="34" charset="0"/>
                <a:ea typeface="Cormorant Garamond" pitchFamily="34" charset="-122"/>
                <a:cs typeface="Cormorant Garamond" pitchFamily="34" charset="-120"/>
              </a:rPr>
              <a:t>underestimated her market value.</a:t>
            </a:r>
            <a:endParaRPr lang="en-US" sz="4100" dirty="0"/>
          </a:p>
        </p:txBody>
      </p:sp>
      <p:sp>
        <p:nvSpPr>
          <p:cNvPr id="6" name="Text 4"/>
          <p:cNvSpPr txBox="1"/>
          <p:nvPr/>
        </p:nvSpPr>
        <p:spPr>
          <a:xfrm>
            <a:off x="822960" y="4297680"/>
            <a:ext cx="6217920" cy="1463040"/>
          </a:xfrm>
          <a:prstGeom prst="rect">
            <a:avLst/>
          </a:prstGeom>
          <a:noFill/>
          <a:ln/>
        </p:spPr>
        <p:txBody>
          <a:bodyPr wrap="square" lIns="0" tIns="0" rIns="0" bIns="0" rtlCol="0" anchor="t">
            <a:normAutofit/>
          </a:bodyPr>
          <a:lstStyle/>
          <a:p>
            <a:pPr algn="l" indent="0" marL="0">
              <a:lnSpc>
                <a:spcPct val="115000"/>
              </a:lnSpc>
              <a:buNone/>
            </a:pPr>
            <a:r>
              <a:rPr lang="en-US" sz="2000" dirty="0">
                <a:solidFill>
                  <a:srgbClr val="5E6B68"/>
                </a:solidFill>
                <a:latin typeface="DM Sans" pitchFamily="34" charset="0"/>
                <a:ea typeface="DM Sans" pitchFamily="34" charset="-122"/>
                <a:cs typeface="DM Sans" pitchFamily="34" charset="-120"/>
              </a:rPr>
              <a:t>She had no idea what the market was willing to pay for what she did.</a:t>
            </a:r>
            <a:endParaRPr lang="en-US" sz="2000" dirty="0"/>
          </a:p>
        </p:txBody>
      </p:sp>
      <p:sp>
        <p:nvSpPr>
          <p:cNvPr id="7" name="Shape 5"/>
          <p:cNvSpPr/>
          <p:nvPr/>
        </p:nvSpPr>
        <p:spPr>
          <a:xfrm>
            <a:off x="7680960" y="548640"/>
            <a:ext cx="3886200" cy="5760720"/>
          </a:xfrm>
          <a:prstGeom prst="roundRect">
            <a:avLst>
              <a:gd name="adj" fmla="val 2824"/>
            </a:avLst>
          </a:prstGeom>
          <a:solidFill>
            <a:srgbClr val="E1F5EE"/>
          </a:solidFill>
          <a:ln w="15875">
            <a:solidFill>
              <a:srgbClr val="8AAF8A"/>
            </a:solidFill>
            <a:prstDash val="dash"/>
          </a:ln>
        </p:spPr>
      </p:sp>
      <p:sp>
        <p:nvSpPr>
          <p:cNvPr id="8" name="Text 6"/>
          <p:cNvSpPr txBox="1"/>
          <p:nvPr/>
        </p:nvSpPr>
        <p:spPr>
          <a:xfrm>
            <a:off x="7991856" y="859536"/>
            <a:ext cx="3264408" cy="320040"/>
          </a:xfrm>
          <a:prstGeom prst="rect">
            <a:avLst/>
          </a:prstGeom>
          <a:noFill/>
          <a:ln/>
        </p:spPr>
        <p:txBody>
          <a:bodyPr wrap="square" lIns="0" tIns="0" rIns="0" bIns="0" rtlCol="0" anchor="ctr">
            <a:normAutofit/>
          </a:bodyPr>
          <a:lstStyle/>
          <a:p>
            <a:pPr algn="l" indent="0" marL="0">
              <a:lnSpc>
                <a:spcPct val="100000"/>
              </a:lnSpc>
              <a:buNone/>
            </a:pPr>
            <a:r>
              <a:rPr lang="en-US" sz="1100" b="1" spc="300" kern="0" dirty="0">
                <a:solidFill>
                  <a:srgbClr val="1E4A4A"/>
                </a:solidFill>
                <a:latin typeface="DM Sans" pitchFamily="34" charset="0"/>
                <a:ea typeface="DM Sans" pitchFamily="34" charset="-122"/>
                <a:cs typeface="DM Sans" pitchFamily="34" charset="-120"/>
              </a:rPr>
              <a:t>PHOTO PLACEHOLDER</a:t>
            </a:r>
            <a:endParaRPr lang="en-US" sz="1100" dirty="0"/>
          </a:p>
        </p:txBody>
      </p:sp>
      <p:sp>
        <p:nvSpPr>
          <p:cNvPr id="9" name="Text 7"/>
          <p:cNvSpPr txBox="1"/>
          <p:nvPr/>
        </p:nvSpPr>
        <p:spPr>
          <a:xfrm>
            <a:off x="7991856" y="1271016"/>
            <a:ext cx="3264408" cy="2377440"/>
          </a:xfrm>
          <a:prstGeom prst="rect">
            <a:avLst/>
          </a:prstGeom>
          <a:noFill/>
          <a:ln/>
        </p:spPr>
        <p:txBody>
          <a:bodyPr wrap="square" lIns="0" tIns="0" rIns="0" bIns="0" rtlCol="0" anchor="t">
            <a:normAutofit/>
          </a:bodyPr>
          <a:lstStyle/>
          <a:p>
            <a:pPr algn="l" indent="0" marL="0">
              <a:lnSpc>
                <a:spcPct val="110000"/>
              </a:lnSpc>
              <a:buNone/>
            </a:pPr>
            <a:r>
              <a:rPr lang="en-US" sz="1200" i="1" dirty="0">
                <a:solidFill>
                  <a:srgbClr val="5E6B68"/>
                </a:solidFill>
                <a:latin typeface="DM Sans" pitchFamily="34" charset="0"/>
                <a:ea typeface="DM Sans" pitchFamily="34" charset="-122"/>
                <a:cs typeface="DM Sans" pitchFamily="34" charset="-120"/>
              </a:rPr>
              <a:t>Erica headshot. </a:t>
            </a:r>
            <a:pPr algn="l" indent="0" marL="0">
              <a:lnSpc>
                <a:spcPct val="110000"/>
              </a:lnSpc>
              <a:buNone/>
            </a:pPr>
            <a:r>
              <a:rPr lang="en-US" sz="1200" b="1" i="1" dirty="0">
                <a:solidFill>
                  <a:srgbClr val="B85042"/>
                </a:solidFill>
                <a:latin typeface="DM Sans" pitchFamily="34" charset="0"/>
                <a:ea typeface="DM Sans" pitchFamily="34" charset="-122"/>
                <a:cs typeface="DM Sans" pitchFamily="34" charset="-120"/>
              </a:rPr>
              <a:t>[PLACEHOLDER: client photo + written consent]</a:t>
            </a:r>
            <a:endParaRPr lang="en-US" sz="1200" dirty="0"/>
          </a:p>
        </p:txBody>
      </p:sp>
      <p:sp>
        <p:nvSpPr>
          <p:cNvPr id="25" name="Slide Number Placeholder 0"/>
          <p:cNvSpPr>
            <a:spLocks noGrp="1"/>
          </p:cNvSpPr>
          <p:nvPr>
            <p:ph type="sldNum" sz="quarter" idx="4294967295"/>
          </p:nvPr>
        </p:nvSpPr>
        <p:spPr>
          <a:xfrm>
            <a:off x="11368735"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AA6A3"/>
                </a:solidFill>
                <a:latin typeface="DM Sans"/>
                <a:ea typeface="DM Sans"/>
                <a:cs typeface="DM Sans"/>
              </a:defRPr>
            </a:lvl1pPr>
          </a:lstStyle>
          <a:p>
            <a:pPr algn="r"/>
            <a:fld id="{F7021451-1387-4CA6-816F-3879F97B5CBC}" type="slidenum">
              <a:rPr b="0" lang="en-US"/>
              <a:t>83</a:t>
            </a:fld>
            <a:endParaRPr 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2960" y="731520"/>
            <a:ext cx="1737360" cy="457200"/>
          </a:xfrm>
          <a:prstGeom prst="roundRect">
            <a:avLst>
              <a:gd name="adj" fmla="val 50000"/>
            </a:avLst>
          </a:prstGeom>
          <a:solidFill>
            <a:srgbClr val="1E4A4A"/>
          </a:solidFill>
          <a:ln w="12700">
            <a:solidFill>
              <a:srgbClr val="1E4A4A"/>
            </a:solidFill>
            <a:prstDash val="solid"/>
          </a:ln>
        </p:spPr>
      </p:sp>
      <p:sp>
        <p:nvSpPr>
          <p:cNvPr id="3" name="Text 1"/>
          <p:cNvSpPr txBox="1"/>
          <p:nvPr/>
        </p:nvSpPr>
        <p:spPr>
          <a:xfrm>
            <a:off x="822960" y="731520"/>
            <a:ext cx="1737360" cy="457200"/>
          </a:xfrm>
          <a:prstGeom prst="rect">
            <a:avLst/>
          </a:prstGeom>
          <a:noFill/>
          <a:ln/>
        </p:spPr>
        <p:txBody>
          <a:bodyPr wrap="square" lIns="0" tIns="0" rIns="0" bIns="0" rtlCol="0" anchor="ctr">
            <a:normAutofit/>
          </a:bodyPr>
          <a:lstStyle/>
          <a:p>
            <a:pPr algn="ctr" indent="0" marL="0">
              <a:lnSpc>
                <a:spcPct val="100000"/>
              </a:lnSpc>
              <a:buNone/>
            </a:pPr>
            <a:r>
              <a:rPr lang="en-US" sz="1300" b="1" spc="300" kern="0" dirty="0">
                <a:solidFill>
                  <a:srgbClr val="FFFFFF"/>
                </a:solidFill>
                <a:latin typeface="DM Sans" pitchFamily="34" charset="0"/>
                <a:ea typeface="DM Sans" pitchFamily="34" charset="-122"/>
                <a:cs typeface="DM Sans" pitchFamily="34" charset="-120"/>
              </a:rPr>
              <a:t>ERICA</a:t>
            </a:r>
            <a:endParaRPr lang="en-US" sz="1300" dirty="0"/>
          </a:p>
        </p:txBody>
      </p:sp>
      <p:sp>
        <p:nvSpPr>
          <p:cNvPr id="4" name="Text 2"/>
          <p:cNvSpPr txBox="1"/>
          <p:nvPr/>
        </p:nvSpPr>
        <p:spPr>
          <a:xfrm>
            <a:off x="2788920" y="795528"/>
            <a:ext cx="8579815" cy="365760"/>
          </a:xfrm>
          <a:prstGeom prst="rect">
            <a:avLst/>
          </a:prstGeom>
          <a:noFill/>
          <a:ln/>
        </p:spPr>
        <p:txBody>
          <a:bodyPr wrap="square" lIns="0" tIns="0" rIns="0" bIns="0" rtlCol="0" anchor="ctr">
            <a:normAutofit/>
          </a:bodyPr>
          <a:lstStyle/>
          <a:p>
            <a:pPr algn="l" indent="0" marL="0">
              <a:lnSpc>
                <a:spcPct val="100000"/>
              </a:lnSpc>
              <a:buNone/>
            </a:pPr>
            <a:r>
              <a:rPr lang="en-US" sz="1400" b="1" spc="400" kern="0" dirty="0">
                <a:solidFill>
                  <a:srgbClr val="8AAF8A"/>
                </a:solidFill>
                <a:latin typeface="DM Sans" pitchFamily="34" charset="0"/>
                <a:ea typeface="DM Sans" pitchFamily="34" charset="-122"/>
                <a:cs typeface="DM Sans" pitchFamily="34" charset="-120"/>
              </a:rPr>
              <a:t>WHAT CHANGED</a:t>
            </a:r>
            <a:endParaRPr lang="en-US" sz="1400" dirty="0"/>
          </a:p>
        </p:txBody>
      </p:sp>
      <p:sp>
        <p:nvSpPr>
          <p:cNvPr id="5" name="Text 3"/>
          <p:cNvSpPr txBox="1"/>
          <p:nvPr/>
        </p:nvSpPr>
        <p:spPr>
          <a:xfrm>
            <a:off x="822960" y="1600200"/>
            <a:ext cx="10180015" cy="2377440"/>
          </a:xfrm>
          <a:prstGeom prst="rect">
            <a:avLst/>
          </a:prstGeom>
          <a:noFill/>
          <a:ln/>
        </p:spPr>
        <p:txBody>
          <a:bodyPr wrap="square" lIns="0" tIns="0" rIns="0" bIns="0" rtlCol="0" anchor="t">
            <a:normAutofit/>
          </a:bodyPr>
          <a:lstStyle/>
          <a:p>
            <a:pPr algn="l" indent="0" marL="0">
              <a:lnSpc>
                <a:spcPct val="95000"/>
              </a:lnSpc>
              <a:buNone/>
            </a:pPr>
            <a:r>
              <a:rPr lang="en-US" sz="4100" b="1" dirty="0">
                <a:solidFill>
                  <a:srgbClr val="1B2B2B"/>
                </a:solidFill>
                <a:latin typeface="Cormorant Garamond" pitchFamily="34" charset="0"/>
                <a:ea typeface="Cormorant Garamond" pitchFamily="34" charset="-122"/>
                <a:cs typeface="Cormorant Garamond" pitchFamily="34" charset="-120"/>
              </a:rPr>
              <a:t>She learned what the market </a:t>
            </a:r>
            <a:pPr algn="l" indent="0" marL="0">
              <a:lnSpc>
                <a:spcPct val="95000"/>
              </a:lnSpc>
              <a:buNone/>
            </a:pPr>
            <a:r>
              <a:rPr lang="en-US" sz="4100" b="1" dirty="0">
                <a:solidFill>
                  <a:srgbClr val="1B2B2B"/>
                </a:solidFill>
                <a:highlight>
                  <a:srgbClr val="CFE3CF"/>
                </a:highlight>
                <a:latin typeface="Cormorant Garamond" pitchFamily="34" charset="0"/>
                <a:ea typeface="Cormorant Garamond" pitchFamily="34" charset="-122"/>
                <a:cs typeface="Cormorant Garamond" pitchFamily="34" charset="-120"/>
              </a:rPr>
              <a:t>was willing to pay.</a:t>
            </a:r>
            <a:endParaRPr lang="en-US" sz="4100" dirty="0"/>
          </a:p>
        </p:txBody>
      </p:sp>
      <p:sp>
        <p:nvSpPr>
          <p:cNvPr id="6" name="Text 4"/>
          <p:cNvSpPr txBox="1"/>
          <p:nvPr/>
        </p:nvSpPr>
        <p:spPr>
          <a:xfrm>
            <a:off x="822960" y="4297680"/>
            <a:ext cx="9905695" cy="1463040"/>
          </a:xfrm>
          <a:prstGeom prst="rect">
            <a:avLst/>
          </a:prstGeom>
          <a:noFill/>
          <a:ln/>
        </p:spPr>
        <p:txBody>
          <a:bodyPr wrap="square" lIns="0" tIns="0" rIns="0" bIns="0" rtlCol="0" anchor="t">
            <a:normAutofit/>
          </a:bodyPr>
          <a:lstStyle/>
          <a:p>
            <a:pPr algn="l" indent="0" marL="0">
              <a:lnSpc>
                <a:spcPct val="115000"/>
              </a:lnSpc>
              <a:buNone/>
            </a:pPr>
            <a:r>
              <a:rPr lang="en-US" sz="2000" dirty="0">
                <a:solidFill>
                  <a:srgbClr val="5E6B68"/>
                </a:solidFill>
                <a:latin typeface="DM Sans" pitchFamily="34" charset="0"/>
                <a:ea typeface="DM Sans" pitchFamily="34" charset="-122"/>
                <a:cs typeface="DM Sans" pitchFamily="34" charset="-120"/>
              </a:rPr>
              <a:t>Then she built the confidence to negotiate, and approached every opportunity differently.</a:t>
            </a:r>
            <a:endParaRPr lang="en-US" sz="2000" dirty="0"/>
          </a:p>
        </p:txBody>
      </p:sp>
      <p:sp>
        <p:nvSpPr>
          <p:cNvPr id="25" name="Slide Number Placeholder 0"/>
          <p:cNvSpPr>
            <a:spLocks noGrp="1"/>
          </p:cNvSpPr>
          <p:nvPr>
            <p:ph type="sldNum" sz="quarter" idx="4294967295"/>
          </p:nvPr>
        </p:nvSpPr>
        <p:spPr>
          <a:xfrm>
            <a:off x="11368735"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AA6A3"/>
                </a:solidFill>
                <a:latin typeface="DM Sans"/>
                <a:ea typeface="DM Sans"/>
                <a:cs typeface="DM Sans"/>
              </a:defRPr>
            </a:lvl1pPr>
          </a:lstStyle>
          <a:p>
            <a:pPr algn="r"/>
            <a:fld id="{F7021451-1387-4CA6-816F-3879F97B5CBC}" type="slidenum">
              <a:rPr b="0" lang="en-US"/>
              <a:t>84</a:t>
            </a:fld>
            <a:endParaRPr 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2960" y="731520"/>
            <a:ext cx="1737360" cy="457200"/>
          </a:xfrm>
          <a:prstGeom prst="roundRect">
            <a:avLst>
              <a:gd name="adj" fmla="val 50000"/>
            </a:avLst>
          </a:prstGeom>
          <a:solidFill>
            <a:srgbClr val="1E4A4A"/>
          </a:solidFill>
          <a:ln w="12700">
            <a:solidFill>
              <a:srgbClr val="1E4A4A"/>
            </a:solidFill>
            <a:prstDash val="solid"/>
          </a:ln>
        </p:spPr>
      </p:sp>
      <p:sp>
        <p:nvSpPr>
          <p:cNvPr id="3" name="Text 1"/>
          <p:cNvSpPr txBox="1"/>
          <p:nvPr/>
        </p:nvSpPr>
        <p:spPr>
          <a:xfrm>
            <a:off x="822960" y="731520"/>
            <a:ext cx="1737360" cy="457200"/>
          </a:xfrm>
          <a:prstGeom prst="rect">
            <a:avLst/>
          </a:prstGeom>
          <a:noFill/>
          <a:ln/>
        </p:spPr>
        <p:txBody>
          <a:bodyPr wrap="square" lIns="0" tIns="0" rIns="0" bIns="0" rtlCol="0" anchor="ctr">
            <a:normAutofit/>
          </a:bodyPr>
          <a:lstStyle/>
          <a:p>
            <a:pPr algn="ctr" indent="0" marL="0">
              <a:lnSpc>
                <a:spcPct val="100000"/>
              </a:lnSpc>
              <a:buNone/>
            </a:pPr>
            <a:r>
              <a:rPr lang="en-US" sz="1300" b="1" spc="300" kern="0" dirty="0">
                <a:solidFill>
                  <a:srgbClr val="FFFFFF"/>
                </a:solidFill>
                <a:latin typeface="DM Sans" pitchFamily="34" charset="0"/>
                <a:ea typeface="DM Sans" pitchFamily="34" charset="-122"/>
                <a:cs typeface="DM Sans" pitchFamily="34" charset="-120"/>
              </a:rPr>
              <a:t>ERICA</a:t>
            </a:r>
            <a:endParaRPr lang="en-US" sz="1300" dirty="0"/>
          </a:p>
        </p:txBody>
      </p:sp>
      <p:sp>
        <p:nvSpPr>
          <p:cNvPr id="4" name="Text 2"/>
          <p:cNvSpPr txBox="1"/>
          <p:nvPr/>
        </p:nvSpPr>
        <p:spPr>
          <a:xfrm>
            <a:off x="2788920" y="795528"/>
            <a:ext cx="8579815" cy="365760"/>
          </a:xfrm>
          <a:prstGeom prst="rect">
            <a:avLst/>
          </a:prstGeom>
          <a:noFill/>
          <a:ln/>
        </p:spPr>
        <p:txBody>
          <a:bodyPr wrap="square" lIns="0" tIns="0" rIns="0" bIns="0" rtlCol="0" anchor="ctr">
            <a:normAutofit/>
          </a:bodyPr>
          <a:lstStyle/>
          <a:p>
            <a:pPr algn="l" indent="0" marL="0">
              <a:lnSpc>
                <a:spcPct val="100000"/>
              </a:lnSpc>
              <a:buNone/>
            </a:pPr>
            <a:r>
              <a:rPr lang="en-US" sz="1400" b="1" spc="400" kern="0" dirty="0">
                <a:solidFill>
                  <a:srgbClr val="8AAF8A"/>
                </a:solidFill>
                <a:latin typeface="DM Sans" pitchFamily="34" charset="0"/>
                <a:ea typeface="DM Sans" pitchFamily="34" charset="-122"/>
                <a:cs typeface="DM Sans" pitchFamily="34" charset="-120"/>
              </a:rPr>
              <a:t>WHERE SHE IS NOW</a:t>
            </a:r>
            <a:endParaRPr lang="en-US" sz="1400" dirty="0"/>
          </a:p>
        </p:txBody>
      </p:sp>
      <p:sp>
        <p:nvSpPr>
          <p:cNvPr id="5" name="Text 3"/>
          <p:cNvSpPr txBox="1"/>
          <p:nvPr/>
        </p:nvSpPr>
        <p:spPr>
          <a:xfrm>
            <a:off x="822960" y="1600200"/>
            <a:ext cx="10180015" cy="1463040"/>
          </a:xfrm>
          <a:prstGeom prst="rect">
            <a:avLst/>
          </a:prstGeom>
          <a:noFill/>
          <a:ln/>
        </p:spPr>
        <p:txBody>
          <a:bodyPr wrap="square" lIns="0" tIns="0" rIns="0" bIns="0" rtlCol="0" anchor="ctr">
            <a:normAutofit/>
          </a:bodyPr>
          <a:lstStyle/>
          <a:p>
            <a:pPr algn="l" indent="0" marL="0">
              <a:lnSpc>
                <a:spcPct val="100000"/>
              </a:lnSpc>
              <a:buNone/>
            </a:pPr>
            <a:r>
              <a:rPr lang="en-US" sz="8000" b="1" dirty="0">
                <a:solidFill>
                  <a:srgbClr val="1E4A4A"/>
                </a:solidFill>
                <a:latin typeface="Cormorant Garamond" pitchFamily="34" charset="0"/>
                <a:ea typeface="Cormorant Garamond" pitchFamily="34" charset="-122"/>
                <a:cs typeface="Cormorant Garamond" pitchFamily="34" charset="-120"/>
              </a:rPr>
              <a:t>$28K → $80K</a:t>
            </a:r>
            <a:endParaRPr lang="en-US" sz="8000" dirty="0"/>
          </a:p>
        </p:txBody>
      </p:sp>
      <p:sp>
        <p:nvSpPr>
          <p:cNvPr id="6" name="Text 4"/>
          <p:cNvSpPr txBox="1"/>
          <p:nvPr/>
        </p:nvSpPr>
        <p:spPr>
          <a:xfrm>
            <a:off x="822960" y="3246120"/>
            <a:ext cx="10180015" cy="1280160"/>
          </a:xfrm>
          <a:prstGeom prst="rect">
            <a:avLst/>
          </a:prstGeom>
          <a:noFill/>
          <a:ln/>
        </p:spPr>
        <p:txBody>
          <a:bodyPr wrap="square" lIns="0" tIns="0" rIns="0" bIns="0" rtlCol="0" anchor="t">
            <a:normAutofit/>
          </a:bodyPr>
          <a:lstStyle/>
          <a:p>
            <a:pPr algn="l" indent="0" marL="0">
              <a:lnSpc>
                <a:spcPct val="95000"/>
              </a:lnSpc>
              <a:buNone/>
            </a:pPr>
            <a:r>
              <a:rPr lang="en-US" sz="3600" b="1" dirty="0">
                <a:solidFill>
                  <a:srgbClr val="1B2B2B"/>
                </a:solidFill>
                <a:latin typeface="Cormorant Garamond" pitchFamily="34" charset="0"/>
                <a:ea typeface="Cormorant Garamond" pitchFamily="34" charset="-122"/>
                <a:cs typeface="Cormorant Garamond" pitchFamily="34" charset="-120"/>
              </a:rPr>
              <a:t>She started </a:t>
            </a:r>
            <a:pPr algn="l" indent="0" marL="0">
              <a:lnSpc>
                <a:spcPct val="95000"/>
              </a:lnSpc>
              <a:buNone/>
            </a:pPr>
            <a:r>
              <a:rPr lang="en-US" sz="3600" b="1" dirty="0">
                <a:solidFill>
                  <a:srgbClr val="1B2B2B"/>
                </a:solidFill>
                <a:highlight>
                  <a:srgbClr val="CFE3CF"/>
                </a:highlight>
                <a:latin typeface="Cormorant Garamond" pitchFamily="34" charset="0"/>
                <a:ea typeface="Cormorant Garamond" pitchFamily="34" charset="-122"/>
                <a:cs typeface="Cormorant Garamond" pitchFamily="34" charset="-120"/>
              </a:rPr>
              <a:t>expecting it.</a:t>
            </a:r>
            <a:endParaRPr lang="en-US" sz="3600" dirty="0"/>
          </a:p>
        </p:txBody>
      </p:sp>
      <p:sp>
        <p:nvSpPr>
          <p:cNvPr id="7" name="Text 5"/>
          <p:cNvSpPr txBox="1"/>
          <p:nvPr/>
        </p:nvSpPr>
        <p:spPr>
          <a:xfrm>
            <a:off x="822960" y="4663440"/>
            <a:ext cx="9905695" cy="1463040"/>
          </a:xfrm>
          <a:prstGeom prst="rect">
            <a:avLst/>
          </a:prstGeom>
          <a:noFill/>
          <a:ln/>
        </p:spPr>
        <p:txBody>
          <a:bodyPr wrap="square" lIns="0" tIns="0" rIns="0" bIns="0" rtlCol="0" anchor="t">
            <a:normAutofit/>
          </a:bodyPr>
          <a:lstStyle/>
          <a:p>
            <a:pPr algn="l" indent="0" marL="0">
              <a:lnSpc>
                <a:spcPct val="115000"/>
              </a:lnSpc>
              <a:buNone/>
            </a:pPr>
            <a:r>
              <a:rPr lang="en-US" sz="2000" dirty="0">
                <a:solidFill>
                  <a:srgbClr val="5E6B68"/>
                </a:solidFill>
                <a:latin typeface="DM Sans" pitchFamily="34" charset="0"/>
                <a:ea typeface="DM Sans" pitchFamily="34" charset="-122"/>
                <a:cs typeface="DM Sans" pitchFamily="34" charset="-120"/>
              </a:rPr>
              <a:t>She expects to be paid for the value she creates. </a:t>
            </a:r>
            <a:pPr algn="l" indent="0" marL="0">
              <a:lnSpc>
                <a:spcPct val="115000"/>
              </a:lnSpc>
              <a:buNone/>
            </a:pPr>
            <a:r>
              <a:rPr lang="en-US" sz="1600" b="1" dirty="0">
                <a:solidFill>
                  <a:srgbClr val="B85042"/>
                </a:solidFill>
                <a:latin typeface="DM Sans" pitchFamily="34" charset="0"/>
                <a:ea typeface="DM Sans" pitchFamily="34" charset="-122"/>
                <a:cs typeface="DM Sans" pitchFamily="34" charset="-120"/>
              </a:rPr>
              <a:t>[PLACEHOLDER: swap for Erica's own words or video]</a:t>
            </a:r>
            <a:endParaRPr lang="en-US" sz="2000" dirty="0"/>
          </a:p>
        </p:txBody>
      </p:sp>
      <p:sp>
        <p:nvSpPr>
          <p:cNvPr id="25" name="Slide Number Placeholder 0"/>
          <p:cNvSpPr>
            <a:spLocks noGrp="1"/>
          </p:cNvSpPr>
          <p:nvPr>
            <p:ph type="sldNum" sz="quarter" idx="4294967295"/>
          </p:nvPr>
        </p:nvSpPr>
        <p:spPr>
          <a:xfrm>
            <a:off x="11368735"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AA6A3"/>
                </a:solidFill>
                <a:latin typeface="DM Sans"/>
                <a:ea typeface="DM Sans"/>
                <a:cs typeface="DM Sans"/>
              </a:defRPr>
            </a:lvl1pPr>
          </a:lstStyle>
          <a:p>
            <a:pPr algn="r"/>
            <a:fld id="{F7021451-1387-4CA6-816F-3879F97B5CBC}" type="slidenum">
              <a:rPr b="0" lang="en-US"/>
              <a:t>85</a:t>
            </a:fld>
            <a:endParaRPr lang="en-US"/>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1E4A4A"/>
        </a:solidFill>
      </p:bgPr>
    </p:bg>
    <p:spTree>
      <p:nvGrpSpPr>
        <p:cNvPr id="1" name=""/>
        <p:cNvGrpSpPr/>
        <p:nvPr/>
      </p:nvGrpSpPr>
      <p:grpSpPr>
        <a:xfrm>
          <a:off x="0" y="0"/>
          <a:ext cx="0" cy="0"/>
          <a:chOff x="0" y="0"/>
          <a:chExt cx="0" cy="0"/>
        </a:xfrm>
      </p:grpSpPr>
      <p:sp>
        <p:nvSpPr>
          <p:cNvPr id="2" name="Text 0"/>
          <p:cNvSpPr txBox="1"/>
          <p:nvPr/>
        </p:nvSpPr>
        <p:spPr>
          <a:xfrm>
            <a:off x="822960" y="1188720"/>
            <a:ext cx="10545775" cy="365760"/>
          </a:xfrm>
          <a:prstGeom prst="rect">
            <a:avLst/>
          </a:prstGeom>
          <a:noFill/>
          <a:ln/>
        </p:spPr>
        <p:txBody>
          <a:bodyPr wrap="square" lIns="0" tIns="0" rIns="0" bIns="0" rtlCol="0" anchor="ctr">
            <a:normAutofit/>
          </a:bodyPr>
          <a:lstStyle/>
          <a:p>
            <a:pPr algn="l" indent="0" marL="0">
              <a:lnSpc>
                <a:spcPct val="100000"/>
              </a:lnSpc>
              <a:buNone/>
            </a:pPr>
            <a:r>
              <a:rPr lang="en-US" sz="1400" b="1" spc="400" kern="0" dirty="0">
                <a:solidFill>
                  <a:srgbClr val="8AAF8A"/>
                </a:solidFill>
                <a:latin typeface="DM Sans" pitchFamily="34" charset="0"/>
                <a:ea typeface="DM Sans" pitchFamily="34" charset="-122"/>
                <a:cs typeface="DM Sans" pitchFamily="34" charset="-120"/>
              </a:rPr>
              <a:t>THE THREAD</a:t>
            </a:r>
            <a:endParaRPr lang="en-US" sz="1400" dirty="0"/>
          </a:p>
        </p:txBody>
      </p:sp>
      <p:sp>
        <p:nvSpPr>
          <p:cNvPr id="3" name="Text 1"/>
          <p:cNvSpPr txBox="1"/>
          <p:nvPr/>
        </p:nvSpPr>
        <p:spPr>
          <a:xfrm>
            <a:off x="822960" y="1691640"/>
            <a:ext cx="10180015" cy="2651760"/>
          </a:xfrm>
          <a:prstGeom prst="rect">
            <a:avLst/>
          </a:prstGeom>
          <a:noFill/>
          <a:ln/>
        </p:spPr>
        <p:txBody>
          <a:bodyPr wrap="square" lIns="0" tIns="0" rIns="0" bIns="0" rtlCol="0" anchor="t">
            <a:normAutofit/>
          </a:bodyPr>
          <a:lstStyle/>
          <a:p>
            <a:pPr algn="l" indent="0" marL="0">
              <a:lnSpc>
                <a:spcPct val="95000"/>
              </a:lnSpc>
              <a:buNone/>
            </a:pPr>
            <a:r>
              <a:rPr lang="en-US" sz="4300" b="1" dirty="0">
                <a:solidFill>
                  <a:srgbClr val="FFFFFF"/>
                </a:solidFill>
                <a:latin typeface="Cormorant Garamond" pitchFamily="34" charset="0"/>
                <a:ea typeface="Cormorant Garamond" pitchFamily="34" charset="-122"/>
                <a:cs typeface="Cormorant Garamond" pitchFamily="34" charset="-120"/>
              </a:rPr>
              <a:t>None of them waited for </a:t>
            </a:r>
            <a:pPr algn="l" indent="0" marL="0">
              <a:lnSpc>
                <a:spcPct val="95000"/>
              </a:lnSpc>
              <a:buNone/>
            </a:pPr>
            <a:r>
              <a:rPr lang="en-US" sz="4300" b="1" dirty="0">
                <a:solidFill>
                  <a:srgbClr val="B7D3B7"/>
                </a:solidFill>
                <a:latin typeface="Cormorant Garamond" pitchFamily="34" charset="0"/>
                <a:ea typeface="Cormorant Garamond" pitchFamily="34" charset="-122"/>
                <a:cs typeface="Cormorant Garamond" pitchFamily="34" charset="-120"/>
              </a:rPr>
              <a:t>permission to go first.</a:t>
            </a:r>
            <a:endParaRPr lang="en-US" sz="4300" dirty="0"/>
          </a:p>
        </p:txBody>
      </p:sp>
      <p:sp>
        <p:nvSpPr>
          <p:cNvPr id="4" name="Text 2"/>
          <p:cNvSpPr txBox="1"/>
          <p:nvPr/>
        </p:nvSpPr>
        <p:spPr>
          <a:xfrm>
            <a:off x="822960" y="4572000"/>
            <a:ext cx="9265615" cy="1463040"/>
          </a:xfrm>
          <a:prstGeom prst="rect">
            <a:avLst/>
          </a:prstGeom>
          <a:noFill/>
          <a:ln/>
        </p:spPr>
        <p:txBody>
          <a:bodyPr wrap="square" lIns="0" tIns="0" rIns="0" bIns="0" rtlCol="0" anchor="t">
            <a:normAutofit/>
          </a:bodyPr>
          <a:lstStyle/>
          <a:p>
            <a:pPr algn="l" indent="0" marL="0">
              <a:lnSpc>
                <a:spcPct val="115000"/>
              </a:lnSpc>
              <a:buNone/>
            </a:pPr>
            <a:r>
              <a:rPr lang="en-US" sz="2200" dirty="0">
                <a:solidFill>
                  <a:srgbClr val="E1F5EE"/>
                </a:solidFill>
                <a:latin typeface="DM Sans" pitchFamily="34" charset="0"/>
                <a:ea typeface="DM Sans" pitchFamily="34" charset="-122"/>
                <a:cs typeface="DM Sans" pitchFamily="34" charset="-120"/>
              </a:rPr>
              <a:t>The money is one result. The woman is the transformation. </a:t>
            </a:r>
            <a:pPr algn="l" indent="0" marL="0">
              <a:lnSpc>
                <a:spcPct val="115000"/>
              </a:lnSpc>
              <a:buNone/>
            </a:pPr>
            <a:r>
              <a:rPr lang="en-US" sz="1600" b="1" dirty="0">
                <a:solidFill>
                  <a:srgbClr val="F2B8A8"/>
                </a:solidFill>
                <a:latin typeface="DM Sans" pitchFamily="34" charset="0"/>
                <a:ea typeface="DM Sans" pitchFamily="34" charset="-122"/>
                <a:cs typeface="DM Sans" pitchFamily="34" charset="-120"/>
              </a:rPr>
              <a:t>[PLACEHOLDER: additional testimonials]</a:t>
            </a:r>
            <a:endParaRPr lang="en-US" sz="2200" dirty="0"/>
          </a:p>
        </p:txBody>
      </p:sp>
      <p:sp>
        <p:nvSpPr>
          <p:cNvPr id="25" name="Slide Number Placeholder 0"/>
          <p:cNvSpPr>
            <a:spLocks noGrp="1"/>
          </p:cNvSpPr>
          <p:nvPr>
            <p:ph type="sldNum" sz="quarter" idx="4294967295"/>
          </p:nvPr>
        </p:nvSpPr>
        <p:spPr>
          <a:xfrm>
            <a:off x="11368735"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AAF8A"/>
                </a:solidFill>
                <a:latin typeface="DM Sans"/>
                <a:ea typeface="DM Sans"/>
                <a:cs typeface="DM Sans"/>
              </a:defRPr>
            </a:lvl1pPr>
          </a:lstStyle>
          <a:p>
            <a:pPr algn="r"/>
            <a:fld id="{F7021451-1387-4CA6-816F-3879F97B5CBC}" type="slidenum">
              <a:rPr b="0" lang="en-US"/>
              <a:t>86</a:t>
            </a:fld>
            <a:endParaRPr 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1E4A4A"/>
        </a:solidFill>
      </p:bgPr>
    </p:bg>
    <p:spTree>
      <p:nvGrpSpPr>
        <p:cNvPr id="1" name=""/>
        <p:cNvGrpSpPr/>
        <p:nvPr/>
      </p:nvGrpSpPr>
      <p:grpSpPr>
        <a:xfrm>
          <a:off x="0" y="0"/>
          <a:ext cx="0" cy="0"/>
          <a:chOff x="0" y="0"/>
          <a:chExt cx="0" cy="0"/>
        </a:xfrm>
      </p:grpSpPr>
      <p:sp>
        <p:nvSpPr>
          <p:cNvPr id="2" name="Text 0"/>
          <p:cNvSpPr txBox="1"/>
          <p:nvPr/>
        </p:nvSpPr>
        <p:spPr>
          <a:xfrm>
            <a:off x="914400" y="2011680"/>
            <a:ext cx="10362895" cy="411480"/>
          </a:xfrm>
          <a:prstGeom prst="rect">
            <a:avLst/>
          </a:prstGeom>
          <a:noFill/>
          <a:ln/>
        </p:spPr>
        <p:txBody>
          <a:bodyPr wrap="square" lIns="0" tIns="0" rIns="0" bIns="0" rtlCol="0" anchor="ctr">
            <a:normAutofit/>
          </a:bodyPr>
          <a:lstStyle/>
          <a:p>
            <a:pPr algn="ctr" indent="0" marL="0">
              <a:lnSpc>
                <a:spcPct val="100000"/>
              </a:lnSpc>
              <a:buNone/>
            </a:pPr>
            <a:r>
              <a:rPr lang="en-US" sz="1600" b="1" spc="500" kern="0" dirty="0">
                <a:solidFill>
                  <a:srgbClr val="8AAF8A"/>
                </a:solidFill>
                <a:latin typeface="DM Sans" pitchFamily="34" charset="0"/>
                <a:ea typeface="DM Sans" pitchFamily="34" charset="-122"/>
                <a:cs typeface="DM Sans" pitchFamily="34" charset="-120"/>
              </a:rPr>
              <a:t>THE PROGRAM</a:t>
            </a:r>
            <a:endParaRPr lang="en-US" sz="1600" dirty="0"/>
          </a:p>
        </p:txBody>
      </p:sp>
      <p:sp>
        <p:nvSpPr>
          <p:cNvPr id="3" name="Text 1"/>
          <p:cNvSpPr txBox="1"/>
          <p:nvPr/>
        </p:nvSpPr>
        <p:spPr>
          <a:xfrm>
            <a:off x="914400" y="2560320"/>
            <a:ext cx="10362895" cy="1554480"/>
          </a:xfrm>
          <a:prstGeom prst="rect">
            <a:avLst/>
          </a:prstGeom>
          <a:noFill/>
          <a:ln/>
        </p:spPr>
        <p:txBody>
          <a:bodyPr wrap="square" lIns="0" tIns="0" rIns="0" bIns="0" rtlCol="0" anchor="t">
            <a:normAutofit/>
          </a:bodyPr>
          <a:lstStyle/>
          <a:p>
            <a:pPr algn="ctr" indent="0" marL="0">
              <a:lnSpc>
                <a:spcPct val="95000"/>
              </a:lnSpc>
              <a:buNone/>
            </a:pPr>
            <a:r>
              <a:rPr lang="en-US" sz="4600" b="1" dirty="0">
                <a:solidFill>
                  <a:srgbClr val="FFFFFF"/>
                </a:solidFill>
                <a:latin typeface="Cormorant Garamond" pitchFamily="34" charset="0"/>
                <a:ea typeface="Cormorant Garamond" pitchFamily="34" charset="-122"/>
                <a:cs typeface="Cormorant Garamond" pitchFamily="34" charset="-120"/>
              </a:rPr>
              <a:t>The Amplify Your V.O.I.C.E. Experience</a:t>
            </a:r>
            <a:endParaRPr lang="en-US" sz="4600" dirty="0"/>
          </a:p>
        </p:txBody>
      </p:sp>
      <p:sp>
        <p:nvSpPr>
          <p:cNvPr id="4" name="Text 2"/>
          <p:cNvSpPr txBox="1"/>
          <p:nvPr/>
        </p:nvSpPr>
        <p:spPr>
          <a:xfrm>
            <a:off x="1645920" y="4297680"/>
            <a:ext cx="8899855" cy="1097280"/>
          </a:xfrm>
          <a:prstGeom prst="rect">
            <a:avLst/>
          </a:prstGeom>
          <a:noFill/>
          <a:ln/>
        </p:spPr>
        <p:txBody>
          <a:bodyPr wrap="square" lIns="0" tIns="0" rIns="0" bIns="0" rtlCol="0" anchor="t">
            <a:normAutofit/>
          </a:bodyPr>
          <a:lstStyle/>
          <a:p>
            <a:pPr algn="ctr" indent="0" marL="0">
              <a:lnSpc>
                <a:spcPct val="115000"/>
              </a:lnSpc>
              <a:buNone/>
            </a:pPr>
            <a:r>
              <a:rPr lang="en-US" sz="2000" dirty="0">
                <a:solidFill>
                  <a:srgbClr val="E1F5EE"/>
                </a:solidFill>
                <a:latin typeface="DM Sans" pitchFamily="34" charset="0"/>
                <a:ea typeface="DM Sans" pitchFamily="34" charset="-122"/>
                <a:cs typeface="DM Sans" pitchFamily="34" charset="-120"/>
              </a:rPr>
              <a:t>An intimate, high-touch 8-week executive coaching experience for ambitious corporate women</a:t>
            </a:r>
            <a:endParaRPr lang="en-US" sz="2000" dirty="0"/>
          </a:p>
        </p:txBody>
      </p:sp>
      <p:sp>
        <p:nvSpPr>
          <p:cNvPr id="25" name="Slide Number Placeholder 0"/>
          <p:cNvSpPr>
            <a:spLocks noGrp="1"/>
          </p:cNvSpPr>
          <p:nvPr>
            <p:ph type="sldNum" sz="quarter" idx="4294967295"/>
          </p:nvPr>
        </p:nvSpPr>
        <p:spPr>
          <a:xfrm>
            <a:off x="11368735"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AAF8A"/>
                </a:solidFill>
                <a:latin typeface="DM Sans"/>
                <a:ea typeface="DM Sans"/>
                <a:cs typeface="DM Sans"/>
              </a:defRPr>
            </a:lvl1pPr>
          </a:lstStyle>
          <a:p>
            <a:pPr algn="r"/>
            <a:fld id="{F7021451-1387-4CA6-816F-3879F97B5CBC}" type="slidenum">
              <a:rPr b="0" lang="en-US"/>
              <a:t>87</a:t>
            </a:fld>
            <a:endParaRPr lang="en-US"/>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22960" y="640080"/>
            <a:ext cx="10545775" cy="365760"/>
          </a:xfrm>
          <a:prstGeom prst="rect">
            <a:avLst/>
          </a:prstGeom>
          <a:noFill/>
          <a:ln/>
        </p:spPr>
        <p:txBody>
          <a:bodyPr wrap="square" lIns="0" tIns="0" rIns="0" bIns="0" rtlCol="0" anchor="ctr">
            <a:normAutofit/>
          </a:bodyPr>
          <a:lstStyle/>
          <a:p>
            <a:pPr algn="l" indent="0" marL="0">
              <a:lnSpc>
                <a:spcPct val="100000"/>
              </a:lnSpc>
              <a:buNone/>
            </a:pPr>
            <a:r>
              <a:rPr lang="en-US" sz="1400" b="1" spc="400" kern="0" dirty="0">
                <a:solidFill>
                  <a:srgbClr val="8AAF8A"/>
                </a:solidFill>
                <a:latin typeface="DM Sans" pitchFamily="34" charset="0"/>
                <a:ea typeface="DM Sans" pitchFamily="34" charset="-122"/>
                <a:cs typeface="DM Sans" pitchFamily="34" charset="-120"/>
              </a:rPr>
              <a:t>WHO THIS IS FOR</a:t>
            </a:r>
            <a:endParaRPr lang="en-US" sz="1400" dirty="0"/>
          </a:p>
        </p:txBody>
      </p:sp>
      <p:sp>
        <p:nvSpPr>
          <p:cNvPr id="3" name="Shape 1"/>
          <p:cNvSpPr/>
          <p:nvPr/>
        </p:nvSpPr>
        <p:spPr>
          <a:xfrm>
            <a:off x="822960" y="1325880"/>
            <a:ext cx="5090008" cy="4754880"/>
          </a:xfrm>
          <a:prstGeom prst="roundRect">
            <a:avLst>
              <a:gd name="adj" fmla="val 2308"/>
            </a:avLst>
          </a:prstGeom>
          <a:solidFill>
            <a:srgbClr val="EFEAE2"/>
          </a:solidFill>
          <a:ln w="12700">
            <a:solidFill>
              <a:srgbClr val="EFEAE2"/>
            </a:solidFill>
            <a:prstDash val="solid"/>
          </a:ln>
        </p:spPr>
      </p:sp>
      <p:sp>
        <p:nvSpPr>
          <p:cNvPr id="4" name="Text 2"/>
          <p:cNvSpPr txBox="1"/>
          <p:nvPr/>
        </p:nvSpPr>
        <p:spPr>
          <a:xfrm>
            <a:off x="1234440" y="1737360"/>
            <a:ext cx="4267048" cy="365760"/>
          </a:xfrm>
          <a:prstGeom prst="rect">
            <a:avLst/>
          </a:prstGeom>
          <a:noFill/>
          <a:ln/>
        </p:spPr>
        <p:txBody>
          <a:bodyPr wrap="square" lIns="0" tIns="0" rIns="0" bIns="0" rtlCol="0" anchor="t">
            <a:normAutofit/>
          </a:bodyPr>
          <a:lstStyle/>
          <a:p>
            <a:pPr algn="l" indent="0" marL="0">
              <a:lnSpc>
                <a:spcPct val="100000"/>
              </a:lnSpc>
              <a:buNone/>
            </a:pPr>
            <a:r>
              <a:rPr lang="en-US" sz="1300" b="1" spc="300" kern="0" dirty="0">
                <a:solidFill>
                  <a:srgbClr val="5E6B68"/>
                </a:solidFill>
                <a:latin typeface="DM Sans" pitchFamily="34" charset="0"/>
                <a:ea typeface="DM Sans" pitchFamily="34" charset="-122"/>
                <a:cs typeface="DM Sans" pitchFamily="34" charset="-120"/>
              </a:rPr>
              <a:t>THIS IS FOR YOU IF…</a:t>
            </a:r>
            <a:endParaRPr lang="en-US" sz="1300" dirty="0"/>
          </a:p>
        </p:txBody>
      </p:sp>
      <p:sp>
        <p:nvSpPr>
          <p:cNvPr id="5" name="Text 3"/>
          <p:cNvSpPr txBox="1"/>
          <p:nvPr/>
        </p:nvSpPr>
        <p:spPr>
          <a:xfrm>
            <a:off x="1234440" y="2331720"/>
            <a:ext cx="4267048" cy="3291840"/>
          </a:xfrm>
          <a:prstGeom prst="rect">
            <a:avLst/>
          </a:prstGeom>
          <a:noFill/>
          <a:ln/>
        </p:spPr>
        <p:txBody>
          <a:bodyPr wrap="square" lIns="0" tIns="0" rIns="0" bIns="0" rtlCol="0" anchor="ctr">
            <a:normAutofit/>
          </a:bodyPr>
          <a:lstStyle/>
          <a:p>
            <a:pPr algn="l" indent="0" marL="0">
              <a:lnSpc>
                <a:spcPct val="105000"/>
              </a:lnSpc>
              <a:buNone/>
            </a:pPr>
            <a:r>
              <a:rPr lang="en-US" sz="2200" b="1" dirty="0">
                <a:solidFill>
                  <a:srgbClr val="1B2B2B"/>
                </a:solidFill>
                <a:latin typeface="Cormorant Garamond" pitchFamily="34" charset="0"/>
                <a:ea typeface="Cormorant Garamond" pitchFamily="34" charset="-122"/>
                <a:cs typeface="Cormorant Garamond" pitchFamily="34" charset="-120"/>
              </a:rPr>
              <a:t>You're an ambitious corporate woman who's capable of more, ready to go deeper than tactics, and willing to invest in yourself.</a:t>
            </a:r>
            <a:endParaRPr lang="en-US" sz="2200" dirty="0"/>
          </a:p>
        </p:txBody>
      </p:sp>
      <p:sp>
        <p:nvSpPr>
          <p:cNvPr id="6" name="Shape 4"/>
          <p:cNvSpPr/>
          <p:nvPr/>
        </p:nvSpPr>
        <p:spPr>
          <a:xfrm>
            <a:off x="6278728" y="1325880"/>
            <a:ext cx="5090008" cy="4754880"/>
          </a:xfrm>
          <a:prstGeom prst="roundRect">
            <a:avLst>
              <a:gd name="adj" fmla="val 2308"/>
            </a:avLst>
          </a:prstGeom>
          <a:solidFill>
            <a:srgbClr val="1E4A4A"/>
          </a:solidFill>
          <a:ln w="12700">
            <a:solidFill>
              <a:srgbClr val="1E4A4A"/>
            </a:solidFill>
            <a:prstDash val="solid"/>
          </a:ln>
        </p:spPr>
      </p:sp>
      <p:sp>
        <p:nvSpPr>
          <p:cNvPr id="7" name="Text 5"/>
          <p:cNvSpPr txBox="1"/>
          <p:nvPr/>
        </p:nvSpPr>
        <p:spPr>
          <a:xfrm>
            <a:off x="6690208" y="1737360"/>
            <a:ext cx="4267048" cy="365760"/>
          </a:xfrm>
          <a:prstGeom prst="rect">
            <a:avLst/>
          </a:prstGeom>
          <a:noFill/>
          <a:ln/>
        </p:spPr>
        <p:txBody>
          <a:bodyPr wrap="square" lIns="0" tIns="0" rIns="0" bIns="0" rtlCol="0" anchor="t">
            <a:normAutofit/>
          </a:bodyPr>
          <a:lstStyle/>
          <a:p>
            <a:pPr algn="l" indent="0" marL="0">
              <a:lnSpc>
                <a:spcPct val="100000"/>
              </a:lnSpc>
              <a:buNone/>
            </a:pPr>
            <a:r>
              <a:rPr lang="en-US" sz="1300" b="1" spc="300" kern="0" dirty="0">
                <a:solidFill>
                  <a:srgbClr val="B7D3B7"/>
                </a:solidFill>
                <a:latin typeface="DM Sans" pitchFamily="34" charset="0"/>
                <a:ea typeface="DM Sans" pitchFamily="34" charset="-122"/>
                <a:cs typeface="DM Sans" pitchFamily="34" charset="-120"/>
              </a:rPr>
              <a:t>THIS ISN'T FOR YOU IF…</a:t>
            </a:r>
            <a:endParaRPr lang="en-US" sz="1300" dirty="0"/>
          </a:p>
        </p:txBody>
      </p:sp>
      <p:sp>
        <p:nvSpPr>
          <p:cNvPr id="8" name="Text 6"/>
          <p:cNvSpPr txBox="1"/>
          <p:nvPr/>
        </p:nvSpPr>
        <p:spPr>
          <a:xfrm>
            <a:off x="6690208" y="2331720"/>
            <a:ext cx="4267048" cy="3291840"/>
          </a:xfrm>
          <a:prstGeom prst="rect">
            <a:avLst/>
          </a:prstGeom>
          <a:noFill/>
          <a:ln/>
        </p:spPr>
        <p:txBody>
          <a:bodyPr wrap="square" lIns="0" tIns="0" rIns="0" bIns="0" rtlCol="0" anchor="ctr">
            <a:normAutofit/>
          </a:bodyPr>
          <a:lstStyle/>
          <a:p>
            <a:pPr algn="l" indent="0" marL="0">
              <a:lnSpc>
                <a:spcPct val="105000"/>
              </a:lnSpc>
              <a:buNone/>
            </a:pPr>
            <a:r>
              <a:rPr lang="en-US" sz="2500" b="1" dirty="0">
                <a:solidFill>
                  <a:srgbClr val="FFFFFF"/>
                </a:solidFill>
                <a:latin typeface="Cormorant Garamond" pitchFamily="34" charset="0"/>
                <a:ea typeface="Cormorant Garamond" pitchFamily="34" charset="-122"/>
                <a:cs typeface="Cormorant Garamond" pitchFamily="34" charset="-120"/>
              </a:rPr>
              <a:t>You want a résumé review, a list of scripts, or a quick fix without doing the inner work.</a:t>
            </a:r>
            <a:endParaRPr lang="en-US" sz="2500" dirty="0"/>
          </a:p>
        </p:txBody>
      </p:sp>
      <p:sp>
        <p:nvSpPr>
          <p:cNvPr id="25" name="Slide Number Placeholder 0"/>
          <p:cNvSpPr>
            <a:spLocks noGrp="1"/>
          </p:cNvSpPr>
          <p:nvPr>
            <p:ph type="sldNum" sz="quarter" idx="4294967295"/>
          </p:nvPr>
        </p:nvSpPr>
        <p:spPr>
          <a:xfrm>
            <a:off x="11368735"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AA6A3"/>
                </a:solidFill>
                <a:latin typeface="DM Sans"/>
                <a:ea typeface="DM Sans"/>
                <a:cs typeface="DM Sans"/>
              </a:defRPr>
            </a:lvl1pPr>
          </a:lstStyle>
          <a:p>
            <a:pPr algn="r"/>
            <a:fld id="{F7021451-1387-4CA6-816F-3879F97B5CBC}" type="slidenum">
              <a:rPr b="0" lang="en-US"/>
              <a:t>88</a:t>
            </a:fld>
            <a:endParaRPr lang="en-US"/>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AF5EE"/>
        </a:solidFill>
      </p:bgPr>
    </p:bg>
    <p:spTree>
      <p:nvGrpSpPr>
        <p:cNvPr id="1" name=""/>
        <p:cNvGrpSpPr/>
        <p:nvPr/>
      </p:nvGrpSpPr>
      <p:grpSpPr>
        <a:xfrm>
          <a:off x="0" y="0"/>
          <a:ext cx="0" cy="0"/>
          <a:chOff x="0" y="0"/>
          <a:chExt cx="0" cy="0"/>
        </a:xfrm>
      </p:grpSpPr>
      <p:sp>
        <p:nvSpPr>
          <p:cNvPr id="2" name="Text 0"/>
          <p:cNvSpPr txBox="1"/>
          <p:nvPr/>
        </p:nvSpPr>
        <p:spPr>
          <a:xfrm>
            <a:off x="822960" y="822960"/>
            <a:ext cx="10545775" cy="365760"/>
          </a:xfrm>
          <a:prstGeom prst="rect">
            <a:avLst/>
          </a:prstGeom>
          <a:noFill/>
          <a:ln/>
        </p:spPr>
        <p:txBody>
          <a:bodyPr wrap="square" lIns="0" tIns="0" rIns="0" bIns="0" rtlCol="0" anchor="ctr">
            <a:normAutofit/>
          </a:bodyPr>
          <a:lstStyle/>
          <a:p>
            <a:pPr algn="l" indent="0" marL="0">
              <a:lnSpc>
                <a:spcPct val="100000"/>
              </a:lnSpc>
              <a:buNone/>
            </a:pPr>
            <a:r>
              <a:rPr lang="en-US" sz="1400" b="1" spc="400" kern="0" dirty="0">
                <a:solidFill>
                  <a:srgbClr val="8AAF8A"/>
                </a:solidFill>
                <a:latin typeface="DM Sans" pitchFamily="34" charset="0"/>
                <a:ea typeface="DM Sans" pitchFamily="34" charset="-122"/>
                <a:cs typeface="DM Sans" pitchFamily="34" charset="-120"/>
              </a:rPr>
              <a:t>WHAT'S INCLUDED · 1 OF 8</a:t>
            </a:r>
            <a:endParaRPr lang="en-US" sz="1400" dirty="0"/>
          </a:p>
        </p:txBody>
      </p:sp>
      <p:sp>
        <p:nvSpPr>
          <p:cNvPr id="3" name="Text 1"/>
          <p:cNvSpPr txBox="1"/>
          <p:nvPr/>
        </p:nvSpPr>
        <p:spPr>
          <a:xfrm>
            <a:off x="822960" y="1280160"/>
            <a:ext cx="10545775" cy="1188720"/>
          </a:xfrm>
          <a:prstGeom prst="rect">
            <a:avLst/>
          </a:prstGeom>
          <a:noFill/>
          <a:ln/>
        </p:spPr>
        <p:txBody>
          <a:bodyPr wrap="square" lIns="0" tIns="0" rIns="0" bIns="0" rtlCol="0" anchor="t">
            <a:normAutofit/>
          </a:bodyPr>
          <a:lstStyle/>
          <a:p>
            <a:pPr algn="l" indent="0" marL="0">
              <a:lnSpc>
                <a:spcPct val="95000"/>
              </a:lnSpc>
              <a:buNone/>
            </a:pPr>
            <a:r>
              <a:rPr lang="en-US" sz="5000" b="1" dirty="0">
                <a:solidFill>
                  <a:srgbClr val="1B2B2B"/>
                </a:solidFill>
                <a:latin typeface="Cormorant Garamond" pitchFamily="34" charset="0"/>
                <a:ea typeface="Cormorant Garamond" pitchFamily="34" charset="-122"/>
                <a:cs typeface="Cormorant Garamond" pitchFamily="34" charset="-120"/>
              </a:rPr>
              <a:t>Weekly Live Executive Coaching</a:t>
            </a:r>
            <a:endParaRPr lang="en-US" sz="5000" dirty="0"/>
          </a:p>
        </p:txBody>
      </p:sp>
      <p:sp>
        <p:nvSpPr>
          <p:cNvPr id="4" name="Shape 2"/>
          <p:cNvSpPr/>
          <p:nvPr/>
        </p:nvSpPr>
        <p:spPr>
          <a:xfrm>
            <a:off x="822960" y="2743200"/>
            <a:ext cx="4998568" cy="2377440"/>
          </a:xfrm>
          <a:prstGeom prst="roundRect">
            <a:avLst>
              <a:gd name="adj" fmla="val 4615"/>
            </a:avLst>
          </a:prstGeom>
          <a:solidFill>
            <a:srgbClr val="FFFFFF"/>
          </a:solidFill>
          <a:ln w="12700">
            <a:solidFill>
              <a:srgbClr val="FFFFFF"/>
            </a:solidFill>
            <a:prstDash val="solid"/>
          </a:ln>
        </p:spPr>
      </p:sp>
      <p:sp>
        <p:nvSpPr>
          <p:cNvPr id="5" name="Text 3"/>
          <p:cNvSpPr txBox="1"/>
          <p:nvPr/>
        </p:nvSpPr>
        <p:spPr>
          <a:xfrm>
            <a:off x="1188720" y="3017520"/>
            <a:ext cx="4267048" cy="365760"/>
          </a:xfrm>
          <a:prstGeom prst="rect">
            <a:avLst/>
          </a:prstGeom>
          <a:noFill/>
          <a:ln/>
        </p:spPr>
        <p:txBody>
          <a:bodyPr wrap="square" lIns="0" tIns="0" rIns="0" bIns="0" rtlCol="0" anchor="t">
            <a:normAutofit/>
          </a:bodyPr>
          <a:lstStyle/>
          <a:p>
            <a:pPr algn="l" indent="0" marL="0">
              <a:lnSpc>
                <a:spcPct val="100000"/>
              </a:lnSpc>
              <a:buNone/>
            </a:pPr>
            <a:r>
              <a:rPr lang="en-US" sz="1300" b="1" spc="300" kern="0" dirty="0">
                <a:solidFill>
                  <a:srgbClr val="8AAF8A"/>
                </a:solidFill>
                <a:latin typeface="DM Sans" pitchFamily="34" charset="0"/>
                <a:ea typeface="DM Sans" pitchFamily="34" charset="-122"/>
                <a:cs typeface="DM Sans" pitchFamily="34" charset="-120"/>
              </a:rPr>
              <a:t>WHAT IT IS</a:t>
            </a:r>
            <a:endParaRPr lang="en-US" sz="1300" dirty="0"/>
          </a:p>
        </p:txBody>
      </p:sp>
      <p:sp>
        <p:nvSpPr>
          <p:cNvPr id="6" name="Text 4"/>
          <p:cNvSpPr txBox="1"/>
          <p:nvPr/>
        </p:nvSpPr>
        <p:spPr>
          <a:xfrm>
            <a:off x="1188720" y="3474720"/>
            <a:ext cx="4267048" cy="1463040"/>
          </a:xfrm>
          <a:prstGeom prst="rect">
            <a:avLst/>
          </a:prstGeom>
          <a:noFill/>
          <a:ln/>
        </p:spPr>
        <p:txBody>
          <a:bodyPr wrap="square" lIns="0" tIns="0" rIns="0" bIns="0" rtlCol="0" anchor="t">
            <a:normAutofit/>
          </a:bodyPr>
          <a:lstStyle/>
          <a:p>
            <a:pPr algn="l" indent="0" marL="0">
              <a:lnSpc>
                <a:spcPct val="115000"/>
              </a:lnSpc>
              <a:buNone/>
            </a:pPr>
            <a:r>
              <a:rPr lang="en-US" sz="1900" dirty="0">
                <a:solidFill>
                  <a:srgbClr val="1B2B2B"/>
                </a:solidFill>
                <a:latin typeface="DM Sans" pitchFamily="34" charset="0"/>
                <a:ea typeface="DM Sans" pitchFamily="34" charset="-122"/>
                <a:cs typeface="DM Sans" pitchFamily="34" charset="-120"/>
              </a:rPr>
              <a:t>Live group coaching every week as you move through the V.O.I.C.E. Framework. Each session builds on the last.</a:t>
            </a:r>
            <a:endParaRPr lang="en-US" sz="1900" dirty="0"/>
          </a:p>
        </p:txBody>
      </p:sp>
      <p:sp>
        <p:nvSpPr>
          <p:cNvPr id="7" name="Shape 5"/>
          <p:cNvSpPr/>
          <p:nvPr/>
        </p:nvSpPr>
        <p:spPr>
          <a:xfrm>
            <a:off x="6370168" y="2743200"/>
            <a:ext cx="4998568" cy="2377440"/>
          </a:xfrm>
          <a:prstGeom prst="roundRect">
            <a:avLst>
              <a:gd name="adj" fmla="val 4615"/>
            </a:avLst>
          </a:prstGeom>
          <a:solidFill>
            <a:srgbClr val="FFFFFF"/>
          </a:solidFill>
          <a:ln w="12700">
            <a:solidFill>
              <a:srgbClr val="FFFFFF"/>
            </a:solidFill>
            <a:prstDash val="solid"/>
          </a:ln>
        </p:spPr>
      </p:sp>
      <p:sp>
        <p:nvSpPr>
          <p:cNvPr id="8" name="Text 6"/>
          <p:cNvSpPr txBox="1"/>
          <p:nvPr/>
        </p:nvSpPr>
        <p:spPr>
          <a:xfrm>
            <a:off x="6735928" y="3017520"/>
            <a:ext cx="4267048" cy="365760"/>
          </a:xfrm>
          <a:prstGeom prst="rect">
            <a:avLst/>
          </a:prstGeom>
          <a:noFill/>
          <a:ln/>
        </p:spPr>
        <p:txBody>
          <a:bodyPr wrap="square" lIns="0" tIns="0" rIns="0" bIns="0" rtlCol="0" anchor="t">
            <a:normAutofit/>
          </a:bodyPr>
          <a:lstStyle/>
          <a:p>
            <a:pPr algn="l" indent="0" marL="0">
              <a:lnSpc>
                <a:spcPct val="100000"/>
              </a:lnSpc>
              <a:buNone/>
            </a:pPr>
            <a:r>
              <a:rPr lang="en-US" sz="1300" b="1" spc="300" kern="0" dirty="0">
                <a:solidFill>
                  <a:srgbClr val="8AAF8A"/>
                </a:solidFill>
                <a:latin typeface="DM Sans" pitchFamily="34" charset="0"/>
                <a:ea typeface="DM Sans" pitchFamily="34" charset="-122"/>
                <a:cs typeface="DM Sans" pitchFamily="34" charset="-120"/>
              </a:rPr>
              <a:t>WHY IT MATTERS</a:t>
            </a:r>
            <a:endParaRPr lang="en-US" sz="1300" dirty="0"/>
          </a:p>
        </p:txBody>
      </p:sp>
      <p:sp>
        <p:nvSpPr>
          <p:cNvPr id="9" name="Text 7"/>
          <p:cNvSpPr txBox="1"/>
          <p:nvPr/>
        </p:nvSpPr>
        <p:spPr>
          <a:xfrm>
            <a:off x="6735928" y="3474720"/>
            <a:ext cx="4267048" cy="1463040"/>
          </a:xfrm>
          <a:prstGeom prst="rect">
            <a:avLst/>
          </a:prstGeom>
          <a:noFill/>
          <a:ln/>
        </p:spPr>
        <p:txBody>
          <a:bodyPr wrap="square" lIns="0" tIns="0" rIns="0" bIns="0" rtlCol="0" anchor="t">
            <a:normAutofit/>
          </a:bodyPr>
          <a:lstStyle/>
          <a:p>
            <a:pPr algn="l" indent="0" marL="0">
              <a:lnSpc>
                <a:spcPct val="115000"/>
              </a:lnSpc>
              <a:buNone/>
            </a:pPr>
            <a:r>
              <a:rPr lang="en-US" sz="1900" dirty="0">
                <a:solidFill>
                  <a:srgbClr val="1B2B2B"/>
                </a:solidFill>
                <a:latin typeface="DM Sans" pitchFamily="34" charset="0"/>
                <a:ea typeface="DM Sans" pitchFamily="34" charset="-122"/>
                <a:cs typeface="DM Sans" pitchFamily="34" charset="-120"/>
              </a:rPr>
              <a:t>Career strategy and identity work together, applied to your real situation in real time.</a:t>
            </a:r>
            <a:endParaRPr lang="en-US" sz="1900" dirty="0"/>
          </a:p>
        </p:txBody>
      </p:sp>
      <p:sp>
        <p:nvSpPr>
          <p:cNvPr id="10" name="Shape 8"/>
          <p:cNvSpPr/>
          <p:nvPr/>
        </p:nvSpPr>
        <p:spPr>
          <a:xfrm>
            <a:off x="822960" y="5486400"/>
            <a:ext cx="4206240" cy="548640"/>
          </a:xfrm>
          <a:prstGeom prst="roundRect">
            <a:avLst>
              <a:gd name="adj" fmla="val 50000"/>
            </a:avLst>
          </a:prstGeom>
          <a:solidFill>
            <a:srgbClr val="1E4A4A"/>
          </a:solidFill>
          <a:ln w="12700">
            <a:solidFill>
              <a:srgbClr val="1E4A4A"/>
            </a:solidFill>
            <a:prstDash val="solid"/>
          </a:ln>
        </p:spPr>
      </p:sp>
      <p:sp>
        <p:nvSpPr>
          <p:cNvPr id="11" name="Text 9"/>
          <p:cNvSpPr txBox="1"/>
          <p:nvPr/>
        </p:nvSpPr>
        <p:spPr>
          <a:xfrm>
            <a:off x="1005840" y="5486400"/>
            <a:ext cx="3840480" cy="548640"/>
          </a:xfrm>
          <a:prstGeom prst="rect">
            <a:avLst/>
          </a:prstGeom>
          <a:noFill/>
          <a:ln/>
        </p:spPr>
        <p:txBody>
          <a:bodyPr wrap="square" lIns="0" tIns="0" rIns="0" bIns="0" rtlCol="0" anchor="ctr">
            <a:normAutofit/>
          </a:bodyPr>
          <a:lstStyle/>
          <a:p>
            <a:pPr algn="l" indent="0" marL="0">
              <a:lnSpc>
                <a:spcPct val="100000"/>
              </a:lnSpc>
              <a:buNone/>
            </a:pPr>
            <a:r>
              <a:rPr lang="en-US" sz="1400" b="1" dirty="0">
                <a:solidFill>
                  <a:srgbClr val="FFFFFF"/>
                </a:solidFill>
                <a:latin typeface="DM Sans" pitchFamily="34" charset="0"/>
                <a:ea typeface="DM Sans" pitchFamily="34" charset="-122"/>
                <a:cs typeface="DM Sans" pitchFamily="34" charset="-120"/>
              </a:rPr>
              <a:t>Value: </a:t>
            </a:r>
            <a:pPr algn="l" indent="0" marL="0">
              <a:lnSpc>
                <a:spcPct val="100000"/>
              </a:lnSpc>
              <a:buNone/>
            </a:pPr>
            <a:r>
              <a:rPr lang="en-US" sz="1400" b="1" dirty="0">
                <a:solidFill>
                  <a:srgbClr val="F2B8A8"/>
                </a:solidFill>
                <a:latin typeface="DM Sans" pitchFamily="34" charset="0"/>
                <a:ea typeface="DM Sans" pitchFamily="34" charset="-122"/>
                <a:cs typeface="DM Sans" pitchFamily="34" charset="-120"/>
              </a:rPr>
              <a:t>[PLACEHOLDER: est. value]</a:t>
            </a:r>
            <a:endParaRPr lang="en-US" sz="1400" dirty="0"/>
          </a:p>
        </p:txBody>
      </p:sp>
      <p:sp>
        <p:nvSpPr>
          <p:cNvPr id="25" name="Slide Number Placeholder 0"/>
          <p:cNvSpPr>
            <a:spLocks noGrp="1"/>
          </p:cNvSpPr>
          <p:nvPr>
            <p:ph type="sldNum" sz="quarter" idx="4294967295"/>
          </p:nvPr>
        </p:nvSpPr>
        <p:spPr>
          <a:xfrm>
            <a:off x="11368735"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AA6A3"/>
                </a:solidFill>
                <a:latin typeface="DM Sans"/>
                <a:ea typeface="DM Sans"/>
                <a:cs typeface="DM Sans"/>
              </a:defRPr>
            </a:lvl1pPr>
          </a:lstStyle>
          <a:p>
            <a:pPr algn="r"/>
            <a:fld id="{F7021451-1387-4CA6-816F-3879F97B5CBC}" type="slidenum">
              <a:rPr b="0" lang="en-US"/>
              <a:t>89</a:t>
            </a:fld>
            <a:endParaRPr lang="en-US"/>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AF5EE"/>
        </a:solidFill>
      </p:bgPr>
    </p:bg>
    <p:spTree>
      <p:nvGrpSpPr>
        <p:cNvPr id="1" name=""/>
        <p:cNvGrpSpPr/>
        <p:nvPr/>
      </p:nvGrpSpPr>
      <p:grpSpPr>
        <a:xfrm>
          <a:off x="0" y="0"/>
          <a:ext cx="0" cy="0"/>
          <a:chOff x="0" y="0"/>
          <a:chExt cx="0" cy="0"/>
        </a:xfrm>
      </p:grpSpPr>
      <p:sp>
        <p:nvSpPr>
          <p:cNvPr id="2" name="Text 0"/>
          <p:cNvSpPr txBox="1"/>
          <p:nvPr/>
        </p:nvSpPr>
        <p:spPr>
          <a:xfrm>
            <a:off x="822960" y="822960"/>
            <a:ext cx="10545775" cy="365760"/>
          </a:xfrm>
          <a:prstGeom prst="rect">
            <a:avLst/>
          </a:prstGeom>
          <a:noFill/>
          <a:ln/>
        </p:spPr>
        <p:txBody>
          <a:bodyPr wrap="square" lIns="0" tIns="0" rIns="0" bIns="0" rtlCol="0" anchor="ctr">
            <a:normAutofit/>
          </a:bodyPr>
          <a:lstStyle/>
          <a:p>
            <a:pPr algn="l" indent="0" marL="0">
              <a:lnSpc>
                <a:spcPct val="100000"/>
              </a:lnSpc>
              <a:buNone/>
            </a:pPr>
            <a:r>
              <a:rPr lang="en-US" sz="1400" b="1" spc="400" kern="0" dirty="0">
                <a:solidFill>
                  <a:srgbClr val="8AAF8A"/>
                </a:solidFill>
                <a:latin typeface="DM Sans" pitchFamily="34" charset="0"/>
                <a:ea typeface="DM Sans" pitchFamily="34" charset="-122"/>
                <a:cs typeface="DM Sans" pitchFamily="34" charset="-120"/>
              </a:rPr>
              <a:t>WHAT'S INCLUDED · 2 OF 8</a:t>
            </a:r>
            <a:endParaRPr lang="en-US" sz="1400" dirty="0"/>
          </a:p>
        </p:txBody>
      </p:sp>
      <p:sp>
        <p:nvSpPr>
          <p:cNvPr id="3" name="Text 1"/>
          <p:cNvSpPr txBox="1"/>
          <p:nvPr/>
        </p:nvSpPr>
        <p:spPr>
          <a:xfrm>
            <a:off x="822960" y="1280160"/>
            <a:ext cx="10545775" cy="1188720"/>
          </a:xfrm>
          <a:prstGeom prst="rect">
            <a:avLst/>
          </a:prstGeom>
          <a:noFill/>
          <a:ln/>
        </p:spPr>
        <p:txBody>
          <a:bodyPr wrap="square" lIns="0" tIns="0" rIns="0" bIns="0" rtlCol="0" anchor="t">
            <a:normAutofit/>
          </a:bodyPr>
          <a:lstStyle/>
          <a:p>
            <a:pPr algn="l" indent="0" marL="0">
              <a:lnSpc>
                <a:spcPct val="95000"/>
              </a:lnSpc>
              <a:buNone/>
            </a:pPr>
            <a:r>
              <a:rPr lang="en-US" sz="5000" b="1" dirty="0">
                <a:solidFill>
                  <a:srgbClr val="1B2B2B"/>
                </a:solidFill>
                <a:latin typeface="Cormorant Garamond" pitchFamily="34" charset="0"/>
                <a:ea typeface="Cormorant Garamond" pitchFamily="34" charset="-122"/>
                <a:cs typeface="Cormorant Garamond" pitchFamily="34" charset="-120"/>
              </a:rPr>
              <a:t>The V.O.I.C.E. Curriculum</a:t>
            </a:r>
            <a:endParaRPr lang="en-US" sz="5000" dirty="0"/>
          </a:p>
        </p:txBody>
      </p:sp>
      <p:sp>
        <p:nvSpPr>
          <p:cNvPr id="4" name="Shape 2"/>
          <p:cNvSpPr/>
          <p:nvPr/>
        </p:nvSpPr>
        <p:spPr>
          <a:xfrm>
            <a:off x="822960" y="2743200"/>
            <a:ext cx="4998568" cy="2377440"/>
          </a:xfrm>
          <a:prstGeom prst="roundRect">
            <a:avLst>
              <a:gd name="adj" fmla="val 4615"/>
            </a:avLst>
          </a:prstGeom>
          <a:solidFill>
            <a:srgbClr val="FFFFFF"/>
          </a:solidFill>
          <a:ln w="12700">
            <a:solidFill>
              <a:srgbClr val="FFFFFF"/>
            </a:solidFill>
            <a:prstDash val="solid"/>
          </a:ln>
        </p:spPr>
      </p:sp>
      <p:sp>
        <p:nvSpPr>
          <p:cNvPr id="5" name="Text 3"/>
          <p:cNvSpPr txBox="1"/>
          <p:nvPr/>
        </p:nvSpPr>
        <p:spPr>
          <a:xfrm>
            <a:off x="1188720" y="3017520"/>
            <a:ext cx="4267048" cy="365760"/>
          </a:xfrm>
          <a:prstGeom prst="rect">
            <a:avLst/>
          </a:prstGeom>
          <a:noFill/>
          <a:ln/>
        </p:spPr>
        <p:txBody>
          <a:bodyPr wrap="square" lIns="0" tIns="0" rIns="0" bIns="0" rtlCol="0" anchor="t">
            <a:normAutofit/>
          </a:bodyPr>
          <a:lstStyle/>
          <a:p>
            <a:pPr algn="l" indent="0" marL="0">
              <a:lnSpc>
                <a:spcPct val="100000"/>
              </a:lnSpc>
              <a:buNone/>
            </a:pPr>
            <a:r>
              <a:rPr lang="en-US" sz="1300" b="1" spc="300" kern="0" dirty="0">
                <a:solidFill>
                  <a:srgbClr val="8AAF8A"/>
                </a:solidFill>
                <a:latin typeface="DM Sans" pitchFamily="34" charset="0"/>
                <a:ea typeface="DM Sans" pitchFamily="34" charset="-122"/>
                <a:cs typeface="DM Sans" pitchFamily="34" charset="-120"/>
              </a:rPr>
              <a:t>WHAT IT IS</a:t>
            </a:r>
            <a:endParaRPr lang="en-US" sz="1300" dirty="0"/>
          </a:p>
        </p:txBody>
      </p:sp>
      <p:sp>
        <p:nvSpPr>
          <p:cNvPr id="6" name="Text 4"/>
          <p:cNvSpPr txBox="1"/>
          <p:nvPr/>
        </p:nvSpPr>
        <p:spPr>
          <a:xfrm>
            <a:off x="1188720" y="3474720"/>
            <a:ext cx="4267048" cy="1463040"/>
          </a:xfrm>
          <a:prstGeom prst="rect">
            <a:avLst/>
          </a:prstGeom>
          <a:noFill/>
          <a:ln/>
        </p:spPr>
        <p:txBody>
          <a:bodyPr wrap="square" lIns="0" tIns="0" rIns="0" bIns="0" rtlCol="0" anchor="t">
            <a:normAutofit/>
          </a:bodyPr>
          <a:lstStyle/>
          <a:p>
            <a:pPr algn="l" indent="0" marL="0">
              <a:lnSpc>
                <a:spcPct val="115000"/>
              </a:lnSpc>
              <a:buNone/>
            </a:pPr>
            <a:r>
              <a:rPr lang="en-US" sz="1900" dirty="0">
                <a:solidFill>
                  <a:srgbClr val="1B2B2B"/>
                </a:solidFill>
                <a:latin typeface="DM Sans" pitchFamily="34" charset="0"/>
                <a:ea typeface="DM Sans" pitchFamily="34" charset="-122"/>
                <a:cs typeface="DM Sans" pitchFamily="34" charset="-120"/>
              </a:rPr>
              <a:t>The full five-part framework: Value, Ownership, Identity, Communication and Execution.</a:t>
            </a:r>
            <a:endParaRPr lang="en-US" sz="1900" dirty="0"/>
          </a:p>
        </p:txBody>
      </p:sp>
      <p:sp>
        <p:nvSpPr>
          <p:cNvPr id="7" name="Shape 5"/>
          <p:cNvSpPr/>
          <p:nvPr/>
        </p:nvSpPr>
        <p:spPr>
          <a:xfrm>
            <a:off x="6370168" y="2743200"/>
            <a:ext cx="4998568" cy="2377440"/>
          </a:xfrm>
          <a:prstGeom prst="roundRect">
            <a:avLst>
              <a:gd name="adj" fmla="val 4615"/>
            </a:avLst>
          </a:prstGeom>
          <a:solidFill>
            <a:srgbClr val="FFFFFF"/>
          </a:solidFill>
          <a:ln w="12700">
            <a:solidFill>
              <a:srgbClr val="FFFFFF"/>
            </a:solidFill>
            <a:prstDash val="solid"/>
          </a:ln>
        </p:spPr>
      </p:sp>
      <p:sp>
        <p:nvSpPr>
          <p:cNvPr id="8" name="Text 6"/>
          <p:cNvSpPr txBox="1"/>
          <p:nvPr/>
        </p:nvSpPr>
        <p:spPr>
          <a:xfrm>
            <a:off x="6735928" y="3017520"/>
            <a:ext cx="4267048" cy="365760"/>
          </a:xfrm>
          <a:prstGeom prst="rect">
            <a:avLst/>
          </a:prstGeom>
          <a:noFill/>
          <a:ln/>
        </p:spPr>
        <p:txBody>
          <a:bodyPr wrap="square" lIns="0" tIns="0" rIns="0" bIns="0" rtlCol="0" anchor="t">
            <a:normAutofit/>
          </a:bodyPr>
          <a:lstStyle/>
          <a:p>
            <a:pPr algn="l" indent="0" marL="0">
              <a:lnSpc>
                <a:spcPct val="100000"/>
              </a:lnSpc>
              <a:buNone/>
            </a:pPr>
            <a:r>
              <a:rPr lang="en-US" sz="1300" b="1" spc="300" kern="0" dirty="0">
                <a:solidFill>
                  <a:srgbClr val="8AAF8A"/>
                </a:solidFill>
                <a:latin typeface="DM Sans" pitchFamily="34" charset="0"/>
                <a:ea typeface="DM Sans" pitchFamily="34" charset="-122"/>
                <a:cs typeface="DM Sans" pitchFamily="34" charset="-120"/>
              </a:rPr>
              <a:t>WHY IT MATTERS</a:t>
            </a:r>
            <a:endParaRPr lang="en-US" sz="1300" dirty="0"/>
          </a:p>
        </p:txBody>
      </p:sp>
      <p:sp>
        <p:nvSpPr>
          <p:cNvPr id="9" name="Text 7"/>
          <p:cNvSpPr txBox="1"/>
          <p:nvPr/>
        </p:nvSpPr>
        <p:spPr>
          <a:xfrm>
            <a:off x="6735928" y="3474720"/>
            <a:ext cx="4267048" cy="1463040"/>
          </a:xfrm>
          <a:prstGeom prst="rect">
            <a:avLst/>
          </a:prstGeom>
          <a:noFill/>
          <a:ln/>
        </p:spPr>
        <p:txBody>
          <a:bodyPr wrap="square" lIns="0" tIns="0" rIns="0" bIns="0" rtlCol="0" anchor="t">
            <a:normAutofit/>
          </a:bodyPr>
          <a:lstStyle/>
          <a:p>
            <a:pPr algn="l" indent="0" marL="0">
              <a:lnSpc>
                <a:spcPct val="115000"/>
              </a:lnSpc>
              <a:buNone/>
            </a:pPr>
            <a:r>
              <a:rPr lang="en-US" sz="1900" dirty="0">
                <a:solidFill>
                  <a:srgbClr val="1B2B2B"/>
                </a:solidFill>
                <a:latin typeface="DM Sans" pitchFamily="34" charset="0"/>
                <a:ea typeface="DM Sans" pitchFamily="34" charset="-122"/>
                <a:cs typeface="DM Sans" pitchFamily="34" charset="-120"/>
              </a:rPr>
              <a:t>Everything you saw tonight, taught in depth, with the how-to I kept out of this masterclass.</a:t>
            </a:r>
            <a:endParaRPr lang="en-US" sz="1900" dirty="0"/>
          </a:p>
        </p:txBody>
      </p:sp>
      <p:sp>
        <p:nvSpPr>
          <p:cNvPr id="10" name="Shape 8"/>
          <p:cNvSpPr/>
          <p:nvPr/>
        </p:nvSpPr>
        <p:spPr>
          <a:xfrm>
            <a:off x="822960" y="5486400"/>
            <a:ext cx="4206240" cy="548640"/>
          </a:xfrm>
          <a:prstGeom prst="roundRect">
            <a:avLst>
              <a:gd name="adj" fmla="val 50000"/>
            </a:avLst>
          </a:prstGeom>
          <a:solidFill>
            <a:srgbClr val="1E4A4A"/>
          </a:solidFill>
          <a:ln w="12700">
            <a:solidFill>
              <a:srgbClr val="1E4A4A"/>
            </a:solidFill>
            <a:prstDash val="solid"/>
          </a:ln>
        </p:spPr>
      </p:sp>
      <p:sp>
        <p:nvSpPr>
          <p:cNvPr id="11" name="Text 9"/>
          <p:cNvSpPr txBox="1"/>
          <p:nvPr/>
        </p:nvSpPr>
        <p:spPr>
          <a:xfrm>
            <a:off x="1005840" y="5486400"/>
            <a:ext cx="3840480" cy="548640"/>
          </a:xfrm>
          <a:prstGeom prst="rect">
            <a:avLst/>
          </a:prstGeom>
          <a:noFill/>
          <a:ln/>
        </p:spPr>
        <p:txBody>
          <a:bodyPr wrap="square" lIns="0" tIns="0" rIns="0" bIns="0" rtlCol="0" anchor="ctr">
            <a:normAutofit/>
          </a:bodyPr>
          <a:lstStyle/>
          <a:p>
            <a:pPr algn="l" indent="0" marL="0">
              <a:lnSpc>
                <a:spcPct val="100000"/>
              </a:lnSpc>
              <a:buNone/>
            </a:pPr>
            <a:r>
              <a:rPr lang="en-US" sz="1400" b="1" dirty="0">
                <a:solidFill>
                  <a:srgbClr val="FFFFFF"/>
                </a:solidFill>
                <a:latin typeface="DM Sans" pitchFamily="34" charset="0"/>
                <a:ea typeface="DM Sans" pitchFamily="34" charset="-122"/>
                <a:cs typeface="DM Sans" pitchFamily="34" charset="-120"/>
              </a:rPr>
              <a:t>Value: </a:t>
            </a:r>
            <a:pPr algn="l" indent="0" marL="0">
              <a:lnSpc>
                <a:spcPct val="100000"/>
              </a:lnSpc>
              <a:buNone/>
            </a:pPr>
            <a:r>
              <a:rPr lang="en-US" sz="1400" b="1" dirty="0">
                <a:solidFill>
                  <a:srgbClr val="F2B8A8"/>
                </a:solidFill>
                <a:latin typeface="DM Sans" pitchFamily="34" charset="0"/>
                <a:ea typeface="DM Sans" pitchFamily="34" charset="-122"/>
                <a:cs typeface="DM Sans" pitchFamily="34" charset="-120"/>
              </a:rPr>
              <a:t>[PLACEHOLDER: est. value]</a:t>
            </a:r>
            <a:endParaRPr lang="en-US" sz="1400" dirty="0"/>
          </a:p>
        </p:txBody>
      </p:sp>
      <p:sp>
        <p:nvSpPr>
          <p:cNvPr id="25" name="Slide Number Placeholder 0"/>
          <p:cNvSpPr>
            <a:spLocks noGrp="1"/>
          </p:cNvSpPr>
          <p:nvPr>
            <p:ph type="sldNum" sz="quarter" idx="4294967295"/>
          </p:nvPr>
        </p:nvSpPr>
        <p:spPr>
          <a:xfrm>
            <a:off x="11368735"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AA6A3"/>
                </a:solidFill>
                <a:latin typeface="DM Sans"/>
                <a:ea typeface="DM Sans"/>
                <a:cs typeface="DM Sans"/>
              </a:defRPr>
            </a:lvl1pPr>
          </a:lstStyle>
          <a:p>
            <a:pPr algn="r"/>
            <a:fld id="{F7021451-1387-4CA6-816F-3879F97B5CBC}" type="slidenum">
              <a:rPr b="0" lang="en-US"/>
              <a:t>90</a:t>
            </a:fld>
            <a:endParaRPr lang="en-US"/>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AF5EE"/>
        </a:solidFill>
      </p:bgPr>
    </p:bg>
    <p:spTree>
      <p:nvGrpSpPr>
        <p:cNvPr id="1" name=""/>
        <p:cNvGrpSpPr/>
        <p:nvPr/>
      </p:nvGrpSpPr>
      <p:grpSpPr>
        <a:xfrm>
          <a:off x="0" y="0"/>
          <a:ext cx="0" cy="0"/>
          <a:chOff x="0" y="0"/>
          <a:chExt cx="0" cy="0"/>
        </a:xfrm>
      </p:grpSpPr>
      <p:sp>
        <p:nvSpPr>
          <p:cNvPr id="2" name="Text 0"/>
          <p:cNvSpPr txBox="1"/>
          <p:nvPr/>
        </p:nvSpPr>
        <p:spPr>
          <a:xfrm>
            <a:off x="822960" y="822960"/>
            <a:ext cx="10545775" cy="365760"/>
          </a:xfrm>
          <a:prstGeom prst="rect">
            <a:avLst/>
          </a:prstGeom>
          <a:noFill/>
          <a:ln/>
        </p:spPr>
        <p:txBody>
          <a:bodyPr wrap="square" lIns="0" tIns="0" rIns="0" bIns="0" rtlCol="0" anchor="ctr">
            <a:normAutofit/>
          </a:bodyPr>
          <a:lstStyle/>
          <a:p>
            <a:pPr algn="l" indent="0" marL="0">
              <a:lnSpc>
                <a:spcPct val="100000"/>
              </a:lnSpc>
              <a:buNone/>
            </a:pPr>
            <a:r>
              <a:rPr lang="en-US" sz="1400" b="1" spc="400" kern="0" dirty="0">
                <a:solidFill>
                  <a:srgbClr val="8AAF8A"/>
                </a:solidFill>
                <a:latin typeface="DM Sans" pitchFamily="34" charset="0"/>
                <a:ea typeface="DM Sans" pitchFamily="34" charset="-122"/>
                <a:cs typeface="DM Sans" pitchFamily="34" charset="-120"/>
              </a:rPr>
              <a:t>WHAT'S INCLUDED · 3 OF 8</a:t>
            </a:r>
            <a:endParaRPr lang="en-US" sz="1400" dirty="0"/>
          </a:p>
        </p:txBody>
      </p:sp>
      <p:sp>
        <p:nvSpPr>
          <p:cNvPr id="3" name="Text 1"/>
          <p:cNvSpPr txBox="1"/>
          <p:nvPr/>
        </p:nvSpPr>
        <p:spPr>
          <a:xfrm>
            <a:off x="822960" y="1280160"/>
            <a:ext cx="10545775" cy="1188720"/>
          </a:xfrm>
          <a:prstGeom prst="rect">
            <a:avLst/>
          </a:prstGeom>
          <a:noFill/>
          <a:ln/>
        </p:spPr>
        <p:txBody>
          <a:bodyPr wrap="square" lIns="0" tIns="0" rIns="0" bIns="0" rtlCol="0" anchor="t">
            <a:normAutofit/>
          </a:bodyPr>
          <a:lstStyle/>
          <a:p>
            <a:pPr algn="l" indent="0" marL="0">
              <a:lnSpc>
                <a:spcPct val="95000"/>
              </a:lnSpc>
              <a:buNone/>
            </a:pPr>
            <a:r>
              <a:rPr lang="en-US" sz="5000" b="1" dirty="0">
                <a:solidFill>
                  <a:srgbClr val="1B2B2B"/>
                </a:solidFill>
                <a:latin typeface="Cormorant Garamond" pitchFamily="34" charset="0"/>
                <a:ea typeface="Cormorant Garamond" pitchFamily="34" charset="-122"/>
                <a:cs typeface="Cormorant Garamond" pitchFamily="34" charset="-120"/>
              </a:rPr>
              <a:t>Hot Seat Coaching</a:t>
            </a:r>
            <a:endParaRPr lang="en-US" sz="5000" dirty="0"/>
          </a:p>
        </p:txBody>
      </p:sp>
      <p:sp>
        <p:nvSpPr>
          <p:cNvPr id="4" name="Shape 2"/>
          <p:cNvSpPr/>
          <p:nvPr/>
        </p:nvSpPr>
        <p:spPr>
          <a:xfrm>
            <a:off x="822960" y="2743200"/>
            <a:ext cx="4998568" cy="2377440"/>
          </a:xfrm>
          <a:prstGeom prst="roundRect">
            <a:avLst>
              <a:gd name="adj" fmla="val 4615"/>
            </a:avLst>
          </a:prstGeom>
          <a:solidFill>
            <a:srgbClr val="FFFFFF"/>
          </a:solidFill>
          <a:ln w="12700">
            <a:solidFill>
              <a:srgbClr val="FFFFFF"/>
            </a:solidFill>
            <a:prstDash val="solid"/>
          </a:ln>
        </p:spPr>
      </p:sp>
      <p:sp>
        <p:nvSpPr>
          <p:cNvPr id="5" name="Text 3"/>
          <p:cNvSpPr txBox="1"/>
          <p:nvPr/>
        </p:nvSpPr>
        <p:spPr>
          <a:xfrm>
            <a:off x="1188720" y="3017520"/>
            <a:ext cx="4267048" cy="365760"/>
          </a:xfrm>
          <a:prstGeom prst="rect">
            <a:avLst/>
          </a:prstGeom>
          <a:noFill/>
          <a:ln/>
        </p:spPr>
        <p:txBody>
          <a:bodyPr wrap="square" lIns="0" tIns="0" rIns="0" bIns="0" rtlCol="0" anchor="t">
            <a:normAutofit/>
          </a:bodyPr>
          <a:lstStyle/>
          <a:p>
            <a:pPr algn="l" indent="0" marL="0">
              <a:lnSpc>
                <a:spcPct val="100000"/>
              </a:lnSpc>
              <a:buNone/>
            </a:pPr>
            <a:r>
              <a:rPr lang="en-US" sz="1300" b="1" spc="300" kern="0" dirty="0">
                <a:solidFill>
                  <a:srgbClr val="8AAF8A"/>
                </a:solidFill>
                <a:latin typeface="DM Sans" pitchFamily="34" charset="0"/>
                <a:ea typeface="DM Sans" pitchFamily="34" charset="-122"/>
                <a:cs typeface="DM Sans" pitchFamily="34" charset="-120"/>
              </a:rPr>
              <a:t>WHAT IT IS</a:t>
            </a:r>
            <a:endParaRPr lang="en-US" sz="1300" dirty="0"/>
          </a:p>
        </p:txBody>
      </p:sp>
      <p:sp>
        <p:nvSpPr>
          <p:cNvPr id="6" name="Text 4"/>
          <p:cNvSpPr txBox="1"/>
          <p:nvPr/>
        </p:nvSpPr>
        <p:spPr>
          <a:xfrm>
            <a:off x="1188720" y="3474720"/>
            <a:ext cx="4267048" cy="1463040"/>
          </a:xfrm>
          <a:prstGeom prst="rect">
            <a:avLst/>
          </a:prstGeom>
          <a:noFill/>
          <a:ln/>
        </p:spPr>
        <p:txBody>
          <a:bodyPr wrap="square" lIns="0" tIns="0" rIns="0" bIns="0" rtlCol="0" anchor="t">
            <a:normAutofit/>
          </a:bodyPr>
          <a:lstStyle/>
          <a:p>
            <a:pPr algn="l" indent="0" marL="0">
              <a:lnSpc>
                <a:spcPct val="115000"/>
              </a:lnSpc>
              <a:buNone/>
            </a:pPr>
            <a:r>
              <a:rPr lang="en-US" sz="1900" dirty="0">
                <a:solidFill>
                  <a:srgbClr val="1B2B2B"/>
                </a:solidFill>
                <a:latin typeface="DM Sans" pitchFamily="34" charset="0"/>
                <a:ea typeface="DM Sans" pitchFamily="34" charset="-122"/>
                <a:cs typeface="DM Sans" pitchFamily="34" charset="-120"/>
              </a:rPr>
              <a:t>Personalized coaching on your specific career challenge, in front of a group of accomplished women.</a:t>
            </a:r>
            <a:endParaRPr lang="en-US" sz="1900" dirty="0"/>
          </a:p>
        </p:txBody>
      </p:sp>
      <p:sp>
        <p:nvSpPr>
          <p:cNvPr id="7" name="Shape 5"/>
          <p:cNvSpPr/>
          <p:nvPr/>
        </p:nvSpPr>
        <p:spPr>
          <a:xfrm>
            <a:off x="6370168" y="2743200"/>
            <a:ext cx="4998568" cy="2377440"/>
          </a:xfrm>
          <a:prstGeom prst="roundRect">
            <a:avLst>
              <a:gd name="adj" fmla="val 4615"/>
            </a:avLst>
          </a:prstGeom>
          <a:solidFill>
            <a:srgbClr val="FFFFFF"/>
          </a:solidFill>
          <a:ln w="12700">
            <a:solidFill>
              <a:srgbClr val="FFFFFF"/>
            </a:solidFill>
            <a:prstDash val="solid"/>
          </a:ln>
        </p:spPr>
      </p:sp>
      <p:sp>
        <p:nvSpPr>
          <p:cNvPr id="8" name="Text 6"/>
          <p:cNvSpPr txBox="1"/>
          <p:nvPr/>
        </p:nvSpPr>
        <p:spPr>
          <a:xfrm>
            <a:off x="6735928" y="3017520"/>
            <a:ext cx="4267048" cy="365760"/>
          </a:xfrm>
          <a:prstGeom prst="rect">
            <a:avLst/>
          </a:prstGeom>
          <a:noFill/>
          <a:ln/>
        </p:spPr>
        <p:txBody>
          <a:bodyPr wrap="square" lIns="0" tIns="0" rIns="0" bIns="0" rtlCol="0" anchor="t">
            <a:normAutofit/>
          </a:bodyPr>
          <a:lstStyle/>
          <a:p>
            <a:pPr algn="l" indent="0" marL="0">
              <a:lnSpc>
                <a:spcPct val="100000"/>
              </a:lnSpc>
              <a:buNone/>
            </a:pPr>
            <a:r>
              <a:rPr lang="en-US" sz="1300" b="1" spc="300" kern="0" dirty="0">
                <a:solidFill>
                  <a:srgbClr val="8AAF8A"/>
                </a:solidFill>
                <a:latin typeface="DM Sans" pitchFamily="34" charset="0"/>
                <a:ea typeface="DM Sans" pitchFamily="34" charset="-122"/>
                <a:cs typeface="DM Sans" pitchFamily="34" charset="-120"/>
              </a:rPr>
              <a:t>WHY IT MATTERS</a:t>
            </a:r>
            <a:endParaRPr lang="en-US" sz="1300" dirty="0"/>
          </a:p>
        </p:txBody>
      </p:sp>
      <p:sp>
        <p:nvSpPr>
          <p:cNvPr id="9" name="Text 7"/>
          <p:cNvSpPr txBox="1"/>
          <p:nvPr/>
        </p:nvSpPr>
        <p:spPr>
          <a:xfrm>
            <a:off x="6735928" y="3474720"/>
            <a:ext cx="4267048" cy="1463040"/>
          </a:xfrm>
          <a:prstGeom prst="rect">
            <a:avLst/>
          </a:prstGeom>
          <a:noFill/>
          <a:ln/>
        </p:spPr>
        <p:txBody>
          <a:bodyPr wrap="square" lIns="0" tIns="0" rIns="0" bIns="0" rtlCol="0" anchor="t">
            <a:normAutofit/>
          </a:bodyPr>
          <a:lstStyle/>
          <a:p>
            <a:pPr algn="l" indent="0" marL="0">
              <a:lnSpc>
                <a:spcPct val="115000"/>
              </a:lnSpc>
              <a:buNone/>
            </a:pPr>
            <a:r>
              <a:rPr lang="en-US" sz="1900" dirty="0">
                <a:solidFill>
                  <a:srgbClr val="1B2B2B"/>
                </a:solidFill>
                <a:latin typeface="DM Sans" pitchFamily="34" charset="0"/>
                <a:ea typeface="DM Sans" pitchFamily="34" charset="-122"/>
                <a:cs typeface="DM Sans" pitchFamily="34" charset="-120"/>
              </a:rPr>
              <a:t>Direct feedback on your situation, and you learn from every other woman's hot seat too.</a:t>
            </a:r>
            <a:endParaRPr lang="en-US" sz="1900" dirty="0"/>
          </a:p>
        </p:txBody>
      </p:sp>
      <p:sp>
        <p:nvSpPr>
          <p:cNvPr id="10" name="Shape 8"/>
          <p:cNvSpPr/>
          <p:nvPr/>
        </p:nvSpPr>
        <p:spPr>
          <a:xfrm>
            <a:off x="822960" y="5486400"/>
            <a:ext cx="4206240" cy="548640"/>
          </a:xfrm>
          <a:prstGeom prst="roundRect">
            <a:avLst>
              <a:gd name="adj" fmla="val 50000"/>
            </a:avLst>
          </a:prstGeom>
          <a:solidFill>
            <a:srgbClr val="1E4A4A"/>
          </a:solidFill>
          <a:ln w="12700">
            <a:solidFill>
              <a:srgbClr val="1E4A4A"/>
            </a:solidFill>
            <a:prstDash val="solid"/>
          </a:ln>
        </p:spPr>
      </p:sp>
      <p:sp>
        <p:nvSpPr>
          <p:cNvPr id="11" name="Text 9"/>
          <p:cNvSpPr txBox="1"/>
          <p:nvPr/>
        </p:nvSpPr>
        <p:spPr>
          <a:xfrm>
            <a:off x="1005840" y="5486400"/>
            <a:ext cx="3840480" cy="548640"/>
          </a:xfrm>
          <a:prstGeom prst="rect">
            <a:avLst/>
          </a:prstGeom>
          <a:noFill/>
          <a:ln/>
        </p:spPr>
        <p:txBody>
          <a:bodyPr wrap="square" lIns="0" tIns="0" rIns="0" bIns="0" rtlCol="0" anchor="ctr">
            <a:normAutofit/>
          </a:bodyPr>
          <a:lstStyle/>
          <a:p>
            <a:pPr algn="l" indent="0" marL="0">
              <a:lnSpc>
                <a:spcPct val="100000"/>
              </a:lnSpc>
              <a:buNone/>
            </a:pPr>
            <a:r>
              <a:rPr lang="en-US" sz="1400" b="1" dirty="0">
                <a:solidFill>
                  <a:srgbClr val="FFFFFF"/>
                </a:solidFill>
                <a:latin typeface="DM Sans" pitchFamily="34" charset="0"/>
                <a:ea typeface="DM Sans" pitchFamily="34" charset="-122"/>
                <a:cs typeface="DM Sans" pitchFamily="34" charset="-120"/>
              </a:rPr>
              <a:t>Value: </a:t>
            </a:r>
            <a:pPr algn="l" indent="0" marL="0">
              <a:lnSpc>
                <a:spcPct val="100000"/>
              </a:lnSpc>
              <a:buNone/>
            </a:pPr>
            <a:r>
              <a:rPr lang="en-US" sz="1400" b="1" dirty="0">
                <a:solidFill>
                  <a:srgbClr val="F2B8A8"/>
                </a:solidFill>
                <a:latin typeface="DM Sans" pitchFamily="34" charset="0"/>
                <a:ea typeface="DM Sans" pitchFamily="34" charset="-122"/>
                <a:cs typeface="DM Sans" pitchFamily="34" charset="-120"/>
              </a:rPr>
              <a:t>[PLACEHOLDER: est. value]</a:t>
            </a:r>
            <a:endParaRPr lang="en-US" sz="1400" dirty="0"/>
          </a:p>
        </p:txBody>
      </p:sp>
      <p:sp>
        <p:nvSpPr>
          <p:cNvPr id="25" name="Slide Number Placeholder 0"/>
          <p:cNvSpPr>
            <a:spLocks noGrp="1"/>
          </p:cNvSpPr>
          <p:nvPr>
            <p:ph type="sldNum" sz="quarter" idx="4294967295"/>
          </p:nvPr>
        </p:nvSpPr>
        <p:spPr>
          <a:xfrm>
            <a:off x="11368735"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AA6A3"/>
                </a:solidFill>
                <a:latin typeface="DM Sans"/>
                <a:ea typeface="DM Sans"/>
                <a:cs typeface="DM Sans"/>
              </a:defRPr>
            </a:lvl1pPr>
          </a:lstStyle>
          <a:p>
            <a:pPr algn="r"/>
            <a:fld id="{F7021451-1387-4CA6-816F-3879F97B5CBC}" type="slidenum">
              <a:rPr b="0" lang="en-US"/>
              <a:t>91</a:t>
            </a:fld>
            <a:endParaRPr lang="en-US"/>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AF5EE"/>
        </a:solidFill>
      </p:bgPr>
    </p:bg>
    <p:spTree>
      <p:nvGrpSpPr>
        <p:cNvPr id="1" name=""/>
        <p:cNvGrpSpPr/>
        <p:nvPr/>
      </p:nvGrpSpPr>
      <p:grpSpPr>
        <a:xfrm>
          <a:off x="0" y="0"/>
          <a:ext cx="0" cy="0"/>
          <a:chOff x="0" y="0"/>
          <a:chExt cx="0" cy="0"/>
        </a:xfrm>
      </p:grpSpPr>
      <p:sp>
        <p:nvSpPr>
          <p:cNvPr id="2" name="Text 0"/>
          <p:cNvSpPr txBox="1"/>
          <p:nvPr/>
        </p:nvSpPr>
        <p:spPr>
          <a:xfrm>
            <a:off x="822960" y="822960"/>
            <a:ext cx="10545775" cy="365760"/>
          </a:xfrm>
          <a:prstGeom prst="rect">
            <a:avLst/>
          </a:prstGeom>
          <a:noFill/>
          <a:ln/>
        </p:spPr>
        <p:txBody>
          <a:bodyPr wrap="square" lIns="0" tIns="0" rIns="0" bIns="0" rtlCol="0" anchor="ctr">
            <a:normAutofit/>
          </a:bodyPr>
          <a:lstStyle/>
          <a:p>
            <a:pPr algn="l" indent="0" marL="0">
              <a:lnSpc>
                <a:spcPct val="100000"/>
              </a:lnSpc>
              <a:buNone/>
            </a:pPr>
            <a:r>
              <a:rPr lang="en-US" sz="1400" b="1" spc="400" kern="0" dirty="0">
                <a:solidFill>
                  <a:srgbClr val="8AAF8A"/>
                </a:solidFill>
                <a:latin typeface="DM Sans" pitchFamily="34" charset="0"/>
                <a:ea typeface="DM Sans" pitchFamily="34" charset="-122"/>
                <a:cs typeface="DM Sans" pitchFamily="34" charset="-120"/>
              </a:rPr>
              <a:t>WHAT'S INCLUDED · 4 OF 8</a:t>
            </a:r>
            <a:endParaRPr lang="en-US" sz="1400" dirty="0"/>
          </a:p>
        </p:txBody>
      </p:sp>
      <p:sp>
        <p:nvSpPr>
          <p:cNvPr id="3" name="Text 1"/>
          <p:cNvSpPr txBox="1"/>
          <p:nvPr/>
        </p:nvSpPr>
        <p:spPr>
          <a:xfrm>
            <a:off x="822960" y="1280160"/>
            <a:ext cx="10545775" cy="1188720"/>
          </a:xfrm>
          <a:prstGeom prst="rect">
            <a:avLst/>
          </a:prstGeom>
          <a:noFill/>
          <a:ln/>
        </p:spPr>
        <p:txBody>
          <a:bodyPr wrap="square" lIns="0" tIns="0" rIns="0" bIns="0" rtlCol="0" anchor="t">
            <a:normAutofit/>
          </a:bodyPr>
          <a:lstStyle/>
          <a:p>
            <a:pPr algn="l" indent="0" marL="0">
              <a:lnSpc>
                <a:spcPct val="95000"/>
              </a:lnSpc>
              <a:buNone/>
            </a:pPr>
            <a:r>
              <a:rPr lang="en-US" sz="5000" b="1" dirty="0">
                <a:solidFill>
                  <a:srgbClr val="1B2B2B"/>
                </a:solidFill>
                <a:latin typeface="Cormorant Garamond" pitchFamily="34" charset="0"/>
                <a:ea typeface="Cormorant Garamond" pitchFamily="34" charset="-122"/>
                <a:cs typeface="Cormorant Garamond" pitchFamily="34" charset="-120"/>
              </a:rPr>
              <a:t>Negotiation Strategy Sessions</a:t>
            </a:r>
            <a:endParaRPr lang="en-US" sz="5000" dirty="0"/>
          </a:p>
        </p:txBody>
      </p:sp>
      <p:sp>
        <p:nvSpPr>
          <p:cNvPr id="4" name="Shape 2"/>
          <p:cNvSpPr/>
          <p:nvPr/>
        </p:nvSpPr>
        <p:spPr>
          <a:xfrm>
            <a:off x="822960" y="2743200"/>
            <a:ext cx="4998568" cy="2377440"/>
          </a:xfrm>
          <a:prstGeom prst="roundRect">
            <a:avLst>
              <a:gd name="adj" fmla="val 4615"/>
            </a:avLst>
          </a:prstGeom>
          <a:solidFill>
            <a:srgbClr val="FFFFFF"/>
          </a:solidFill>
          <a:ln w="12700">
            <a:solidFill>
              <a:srgbClr val="FFFFFF"/>
            </a:solidFill>
            <a:prstDash val="solid"/>
          </a:ln>
        </p:spPr>
      </p:sp>
      <p:sp>
        <p:nvSpPr>
          <p:cNvPr id="5" name="Text 3"/>
          <p:cNvSpPr txBox="1"/>
          <p:nvPr/>
        </p:nvSpPr>
        <p:spPr>
          <a:xfrm>
            <a:off x="1188720" y="3017520"/>
            <a:ext cx="4267048" cy="365760"/>
          </a:xfrm>
          <a:prstGeom prst="rect">
            <a:avLst/>
          </a:prstGeom>
          <a:noFill/>
          <a:ln/>
        </p:spPr>
        <p:txBody>
          <a:bodyPr wrap="square" lIns="0" tIns="0" rIns="0" bIns="0" rtlCol="0" anchor="t">
            <a:normAutofit/>
          </a:bodyPr>
          <a:lstStyle/>
          <a:p>
            <a:pPr algn="l" indent="0" marL="0">
              <a:lnSpc>
                <a:spcPct val="100000"/>
              </a:lnSpc>
              <a:buNone/>
            </a:pPr>
            <a:r>
              <a:rPr lang="en-US" sz="1300" b="1" spc="300" kern="0" dirty="0">
                <a:solidFill>
                  <a:srgbClr val="8AAF8A"/>
                </a:solidFill>
                <a:latin typeface="DM Sans" pitchFamily="34" charset="0"/>
                <a:ea typeface="DM Sans" pitchFamily="34" charset="-122"/>
                <a:cs typeface="DM Sans" pitchFamily="34" charset="-120"/>
              </a:rPr>
              <a:t>WHAT IT IS</a:t>
            </a:r>
            <a:endParaRPr lang="en-US" sz="1300" dirty="0"/>
          </a:p>
        </p:txBody>
      </p:sp>
      <p:sp>
        <p:nvSpPr>
          <p:cNvPr id="6" name="Text 4"/>
          <p:cNvSpPr txBox="1"/>
          <p:nvPr/>
        </p:nvSpPr>
        <p:spPr>
          <a:xfrm>
            <a:off x="1188720" y="3474720"/>
            <a:ext cx="4267048" cy="1463040"/>
          </a:xfrm>
          <a:prstGeom prst="rect">
            <a:avLst/>
          </a:prstGeom>
          <a:noFill/>
          <a:ln/>
        </p:spPr>
        <p:txBody>
          <a:bodyPr wrap="square" lIns="0" tIns="0" rIns="0" bIns="0" rtlCol="0" anchor="t">
            <a:normAutofit/>
          </a:bodyPr>
          <a:lstStyle/>
          <a:p>
            <a:pPr algn="l" indent="0" marL="0">
              <a:lnSpc>
                <a:spcPct val="115000"/>
              </a:lnSpc>
              <a:buNone/>
            </a:pPr>
            <a:r>
              <a:rPr lang="en-US" sz="1900" dirty="0">
                <a:solidFill>
                  <a:srgbClr val="1B2B2B"/>
                </a:solidFill>
                <a:latin typeface="DM Sans" pitchFamily="34" charset="0"/>
                <a:ea typeface="DM Sans" pitchFamily="34" charset="-122"/>
                <a:cs typeface="DM Sans" pitchFamily="34" charset="-120"/>
              </a:rPr>
              <a:t>A personalized strategy for your specific negotiation: salary, promotion, bonus, equity, flexible work, a new offer or an executive opportunity.</a:t>
            </a:r>
            <a:endParaRPr lang="en-US" sz="1900" dirty="0"/>
          </a:p>
        </p:txBody>
      </p:sp>
      <p:sp>
        <p:nvSpPr>
          <p:cNvPr id="7" name="Shape 5"/>
          <p:cNvSpPr/>
          <p:nvPr/>
        </p:nvSpPr>
        <p:spPr>
          <a:xfrm>
            <a:off x="6370168" y="2743200"/>
            <a:ext cx="4998568" cy="2377440"/>
          </a:xfrm>
          <a:prstGeom prst="roundRect">
            <a:avLst>
              <a:gd name="adj" fmla="val 4615"/>
            </a:avLst>
          </a:prstGeom>
          <a:solidFill>
            <a:srgbClr val="FFFFFF"/>
          </a:solidFill>
          <a:ln w="12700">
            <a:solidFill>
              <a:srgbClr val="FFFFFF"/>
            </a:solidFill>
            <a:prstDash val="solid"/>
          </a:ln>
        </p:spPr>
      </p:sp>
      <p:sp>
        <p:nvSpPr>
          <p:cNvPr id="8" name="Text 6"/>
          <p:cNvSpPr txBox="1"/>
          <p:nvPr/>
        </p:nvSpPr>
        <p:spPr>
          <a:xfrm>
            <a:off x="6735928" y="3017520"/>
            <a:ext cx="4267048" cy="365760"/>
          </a:xfrm>
          <a:prstGeom prst="rect">
            <a:avLst/>
          </a:prstGeom>
          <a:noFill/>
          <a:ln/>
        </p:spPr>
        <p:txBody>
          <a:bodyPr wrap="square" lIns="0" tIns="0" rIns="0" bIns="0" rtlCol="0" anchor="t">
            <a:normAutofit/>
          </a:bodyPr>
          <a:lstStyle/>
          <a:p>
            <a:pPr algn="l" indent="0" marL="0">
              <a:lnSpc>
                <a:spcPct val="100000"/>
              </a:lnSpc>
              <a:buNone/>
            </a:pPr>
            <a:r>
              <a:rPr lang="en-US" sz="1300" b="1" spc="300" kern="0" dirty="0">
                <a:solidFill>
                  <a:srgbClr val="8AAF8A"/>
                </a:solidFill>
                <a:latin typeface="DM Sans" pitchFamily="34" charset="0"/>
                <a:ea typeface="DM Sans" pitchFamily="34" charset="-122"/>
                <a:cs typeface="DM Sans" pitchFamily="34" charset="-120"/>
              </a:rPr>
              <a:t>WHY IT MATTERS</a:t>
            </a:r>
            <a:endParaRPr lang="en-US" sz="1300" dirty="0"/>
          </a:p>
        </p:txBody>
      </p:sp>
      <p:sp>
        <p:nvSpPr>
          <p:cNvPr id="9" name="Text 7"/>
          <p:cNvSpPr txBox="1"/>
          <p:nvPr/>
        </p:nvSpPr>
        <p:spPr>
          <a:xfrm>
            <a:off x="6735928" y="3474720"/>
            <a:ext cx="4267048" cy="1463040"/>
          </a:xfrm>
          <a:prstGeom prst="rect">
            <a:avLst/>
          </a:prstGeom>
          <a:noFill/>
          <a:ln/>
        </p:spPr>
        <p:txBody>
          <a:bodyPr wrap="square" lIns="0" tIns="0" rIns="0" bIns="0" rtlCol="0" anchor="t">
            <a:normAutofit/>
          </a:bodyPr>
          <a:lstStyle/>
          <a:p>
            <a:pPr algn="l" indent="0" marL="0">
              <a:lnSpc>
                <a:spcPct val="115000"/>
              </a:lnSpc>
              <a:buNone/>
            </a:pPr>
            <a:r>
              <a:rPr lang="en-US" sz="1900" dirty="0">
                <a:solidFill>
                  <a:srgbClr val="1B2B2B"/>
                </a:solidFill>
                <a:latin typeface="DM Sans" pitchFamily="34" charset="0"/>
                <a:ea typeface="DM Sans" pitchFamily="34" charset="-122"/>
                <a:cs typeface="DM Sans" pitchFamily="34" charset="-120"/>
              </a:rPr>
              <a:t>Twenty-six years of Wall Street deal-making, applied to your next conversation.</a:t>
            </a:r>
            <a:endParaRPr lang="en-US" sz="1900" dirty="0"/>
          </a:p>
        </p:txBody>
      </p:sp>
      <p:sp>
        <p:nvSpPr>
          <p:cNvPr id="10" name="Shape 8"/>
          <p:cNvSpPr/>
          <p:nvPr/>
        </p:nvSpPr>
        <p:spPr>
          <a:xfrm>
            <a:off x="822960" y="5486400"/>
            <a:ext cx="4206240" cy="548640"/>
          </a:xfrm>
          <a:prstGeom prst="roundRect">
            <a:avLst>
              <a:gd name="adj" fmla="val 50000"/>
            </a:avLst>
          </a:prstGeom>
          <a:solidFill>
            <a:srgbClr val="1E4A4A"/>
          </a:solidFill>
          <a:ln w="12700">
            <a:solidFill>
              <a:srgbClr val="1E4A4A"/>
            </a:solidFill>
            <a:prstDash val="solid"/>
          </a:ln>
        </p:spPr>
      </p:sp>
      <p:sp>
        <p:nvSpPr>
          <p:cNvPr id="11" name="Text 9"/>
          <p:cNvSpPr txBox="1"/>
          <p:nvPr/>
        </p:nvSpPr>
        <p:spPr>
          <a:xfrm>
            <a:off x="1005840" y="5486400"/>
            <a:ext cx="3840480" cy="548640"/>
          </a:xfrm>
          <a:prstGeom prst="rect">
            <a:avLst/>
          </a:prstGeom>
          <a:noFill/>
          <a:ln/>
        </p:spPr>
        <p:txBody>
          <a:bodyPr wrap="square" lIns="0" tIns="0" rIns="0" bIns="0" rtlCol="0" anchor="ctr">
            <a:normAutofit/>
          </a:bodyPr>
          <a:lstStyle/>
          <a:p>
            <a:pPr algn="l" indent="0" marL="0">
              <a:lnSpc>
                <a:spcPct val="100000"/>
              </a:lnSpc>
              <a:buNone/>
            </a:pPr>
            <a:r>
              <a:rPr lang="en-US" sz="1400" b="1" dirty="0">
                <a:solidFill>
                  <a:srgbClr val="FFFFFF"/>
                </a:solidFill>
                <a:latin typeface="DM Sans" pitchFamily="34" charset="0"/>
                <a:ea typeface="DM Sans" pitchFamily="34" charset="-122"/>
                <a:cs typeface="DM Sans" pitchFamily="34" charset="-120"/>
              </a:rPr>
              <a:t>Value: </a:t>
            </a:r>
            <a:pPr algn="l" indent="0" marL="0">
              <a:lnSpc>
                <a:spcPct val="100000"/>
              </a:lnSpc>
              <a:buNone/>
            </a:pPr>
            <a:r>
              <a:rPr lang="en-US" sz="1400" b="1" dirty="0">
                <a:solidFill>
                  <a:srgbClr val="F2B8A8"/>
                </a:solidFill>
                <a:latin typeface="DM Sans" pitchFamily="34" charset="0"/>
                <a:ea typeface="DM Sans" pitchFamily="34" charset="-122"/>
                <a:cs typeface="DM Sans" pitchFamily="34" charset="-120"/>
              </a:rPr>
              <a:t>[PLACEHOLDER: est. value]</a:t>
            </a:r>
            <a:endParaRPr lang="en-US" sz="1400" dirty="0"/>
          </a:p>
        </p:txBody>
      </p:sp>
      <p:sp>
        <p:nvSpPr>
          <p:cNvPr id="25" name="Slide Number Placeholder 0"/>
          <p:cNvSpPr>
            <a:spLocks noGrp="1"/>
          </p:cNvSpPr>
          <p:nvPr>
            <p:ph type="sldNum" sz="quarter" idx="4294967295"/>
          </p:nvPr>
        </p:nvSpPr>
        <p:spPr>
          <a:xfrm>
            <a:off x="11368735"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AA6A3"/>
                </a:solidFill>
                <a:latin typeface="DM Sans"/>
                <a:ea typeface="DM Sans"/>
                <a:cs typeface="DM Sans"/>
              </a:defRPr>
            </a:lvl1pPr>
          </a:lstStyle>
          <a:p>
            <a:pPr algn="r"/>
            <a:fld id="{F7021451-1387-4CA6-816F-3879F97B5CBC}" type="slidenum">
              <a:rPr b="0" lang="en-US"/>
              <a:t>92</a:t>
            </a:fld>
            <a:endParaRPr lang="en-US"/>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AF5EE"/>
        </a:solidFill>
      </p:bgPr>
    </p:bg>
    <p:spTree>
      <p:nvGrpSpPr>
        <p:cNvPr id="1" name=""/>
        <p:cNvGrpSpPr/>
        <p:nvPr/>
      </p:nvGrpSpPr>
      <p:grpSpPr>
        <a:xfrm>
          <a:off x="0" y="0"/>
          <a:ext cx="0" cy="0"/>
          <a:chOff x="0" y="0"/>
          <a:chExt cx="0" cy="0"/>
        </a:xfrm>
      </p:grpSpPr>
      <p:sp>
        <p:nvSpPr>
          <p:cNvPr id="2" name="Text 0"/>
          <p:cNvSpPr txBox="1"/>
          <p:nvPr/>
        </p:nvSpPr>
        <p:spPr>
          <a:xfrm>
            <a:off x="822960" y="822960"/>
            <a:ext cx="10545775" cy="365760"/>
          </a:xfrm>
          <a:prstGeom prst="rect">
            <a:avLst/>
          </a:prstGeom>
          <a:noFill/>
          <a:ln/>
        </p:spPr>
        <p:txBody>
          <a:bodyPr wrap="square" lIns="0" tIns="0" rIns="0" bIns="0" rtlCol="0" anchor="ctr">
            <a:normAutofit/>
          </a:bodyPr>
          <a:lstStyle/>
          <a:p>
            <a:pPr algn="l" indent="0" marL="0">
              <a:lnSpc>
                <a:spcPct val="100000"/>
              </a:lnSpc>
              <a:buNone/>
            </a:pPr>
            <a:r>
              <a:rPr lang="en-US" sz="1400" b="1" spc="400" kern="0" dirty="0">
                <a:solidFill>
                  <a:srgbClr val="8AAF8A"/>
                </a:solidFill>
                <a:latin typeface="DM Sans" pitchFamily="34" charset="0"/>
                <a:ea typeface="DM Sans" pitchFamily="34" charset="-122"/>
                <a:cs typeface="DM Sans" pitchFamily="34" charset="-120"/>
              </a:rPr>
              <a:t>WHAT'S INCLUDED · 5 OF 8</a:t>
            </a:r>
            <a:endParaRPr lang="en-US" sz="1400" dirty="0"/>
          </a:p>
        </p:txBody>
      </p:sp>
      <p:sp>
        <p:nvSpPr>
          <p:cNvPr id="3" name="Text 1"/>
          <p:cNvSpPr txBox="1"/>
          <p:nvPr/>
        </p:nvSpPr>
        <p:spPr>
          <a:xfrm>
            <a:off x="822960" y="1280160"/>
            <a:ext cx="10545775" cy="1188720"/>
          </a:xfrm>
          <a:prstGeom prst="rect">
            <a:avLst/>
          </a:prstGeom>
          <a:noFill/>
          <a:ln/>
        </p:spPr>
        <p:txBody>
          <a:bodyPr wrap="square" lIns="0" tIns="0" rIns="0" bIns="0" rtlCol="0" anchor="t">
            <a:normAutofit/>
          </a:bodyPr>
          <a:lstStyle/>
          <a:p>
            <a:pPr algn="l" indent="0" marL="0">
              <a:lnSpc>
                <a:spcPct val="95000"/>
              </a:lnSpc>
              <a:buNone/>
            </a:pPr>
            <a:r>
              <a:rPr lang="en-US" sz="5000" b="1" dirty="0">
                <a:solidFill>
                  <a:srgbClr val="1B2B2B"/>
                </a:solidFill>
                <a:latin typeface="Cormorant Garamond" pitchFamily="34" charset="0"/>
                <a:ea typeface="Cormorant Garamond" pitchFamily="34" charset="-122"/>
                <a:cs typeface="Cormorant Garamond" pitchFamily="34" charset="-120"/>
              </a:rPr>
              <a:t>Live Role Playing</a:t>
            </a:r>
            <a:endParaRPr lang="en-US" sz="5000" dirty="0"/>
          </a:p>
        </p:txBody>
      </p:sp>
      <p:sp>
        <p:nvSpPr>
          <p:cNvPr id="4" name="Shape 2"/>
          <p:cNvSpPr/>
          <p:nvPr/>
        </p:nvSpPr>
        <p:spPr>
          <a:xfrm>
            <a:off x="822960" y="2743200"/>
            <a:ext cx="4998568" cy="2377440"/>
          </a:xfrm>
          <a:prstGeom prst="roundRect">
            <a:avLst>
              <a:gd name="adj" fmla="val 4615"/>
            </a:avLst>
          </a:prstGeom>
          <a:solidFill>
            <a:srgbClr val="FFFFFF"/>
          </a:solidFill>
          <a:ln w="12700">
            <a:solidFill>
              <a:srgbClr val="FFFFFF"/>
            </a:solidFill>
            <a:prstDash val="solid"/>
          </a:ln>
        </p:spPr>
      </p:sp>
      <p:sp>
        <p:nvSpPr>
          <p:cNvPr id="5" name="Text 3"/>
          <p:cNvSpPr txBox="1"/>
          <p:nvPr/>
        </p:nvSpPr>
        <p:spPr>
          <a:xfrm>
            <a:off x="1188720" y="3017520"/>
            <a:ext cx="4267048" cy="365760"/>
          </a:xfrm>
          <a:prstGeom prst="rect">
            <a:avLst/>
          </a:prstGeom>
          <a:noFill/>
          <a:ln/>
        </p:spPr>
        <p:txBody>
          <a:bodyPr wrap="square" lIns="0" tIns="0" rIns="0" bIns="0" rtlCol="0" anchor="t">
            <a:normAutofit/>
          </a:bodyPr>
          <a:lstStyle/>
          <a:p>
            <a:pPr algn="l" indent="0" marL="0">
              <a:lnSpc>
                <a:spcPct val="100000"/>
              </a:lnSpc>
              <a:buNone/>
            </a:pPr>
            <a:r>
              <a:rPr lang="en-US" sz="1300" b="1" spc="300" kern="0" dirty="0">
                <a:solidFill>
                  <a:srgbClr val="8AAF8A"/>
                </a:solidFill>
                <a:latin typeface="DM Sans" pitchFamily="34" charset="0"/>
                <a:ea typeface="DM Sans" pitchFamily="34" charset="-122"/>
                <a:cs typeface="DM Sans" pitchFamily="34" charset="-120"/>
              </a:rPr>
              <a:t>WHAT IT IS</a:t>
            </a:r>
            <a:endParaRPr lang="en-US" sz="1300" dirty="0"/>
          </a:p>
        </p:txBody>
      </p:sp>
      <p:sp>
        <p:nvSpPr>
          <p:cNvPr id="6" name="Text 4"/>
          <p:cNvSpPr txBox="1"/>
          <p:nvPr/>
        </p:nvSpPr>
        <p:spPr>
          <a:xfrm>
            <a:off x="1188720" y="3474720"/>
            <a:ext cx="4267048" cy="1463040"/>
          </a:xfrm>
          <a:prstGeom prst="rect">
            <a:avLst/>
          </a:prstGeom>
          <a:noFill/>
          <a:ln/>
        </p:spPr>
        <p:txBody>
          <a:bodyPr wrap="square" lIns="0" tIns="0" rIns="0" bIns="0" rtlCol="0" anchor="t">
            <a:normAutofit/>
          </a:bodyPr>
          <a:lstStyle/>
          <a:p>
            <a:pPr algn="l" indent="0" marL="0">
              <a:lnSpc>
                <a:spcPct val="115000"/>
              </a:lnSpc>
              <a:buNone/>
            </a:pPr>
            <a:r>
              <a:rPr lang="en-US" sz="1900" dirty="0">
                <a:solidFill>
                  <a:srgbClr val="1B2B2B"/>
                </a:solidFill>
                <a:latin typeface="DM Sans" pitchFamily="34" charset="0"/>
                <a:ea typeface="DM Sans" pitchFamily="34" charset="-122"/>
                <a:cs typeface="DM Sans" pitchFamily="34" charset="-120"/>
              </a:rPr>
              <a:t>Practice your high-stakes conversations before they happen, with coaching and feedback.</a:t>
            </a:r>
            <a:endParaRPr lang="en-US" sz="1900" dirty="0"/>
          </a:p>
        </p:txBody>
      </p:sp>
      <p:sp>
        <p:nvSpPr>
          <p:cNvPr id="7" name="Shape 5"/>
          <p:cNvSpPr/>
          <p:nvPr/>
        </p:nvSpPr>
        <p:spPr>
          <a:xfrm>
            <a:off x="6370168" y="2743200"/>
            <a:ext cx="4998568" cy="2377440"/>
          </a:xfrm>
          <a:prstGeom prst="roundRect">
            <a:avLst>
              <a:gd name="adj" fmla="val 4615"/>
            </a:avLst>
          </a:prstGeom>
          <a:solidFill>
            <a:srgbClr val="FFFFFF"/>
          </a:solidFill>
          <a:ln w="12700">
            <a:solidFill>
              <a:srgbClr val="FFFFFF"/>
            </a:solidFill>
            <a:prstDash val="solid"/>
          </a:ln>
        </p:spPr>
      </p:sp>
      <p:sp>
        <p:nvSpPr>
          <p:cNvPr id="8" name="Text 6"/>
          <p:cNvSpPr txBox="1"/>
          <p:nvPr/>
        </p:nvSpPr>
        <p:spPr>
          <a:xfrm>
            <a:off x="6735928" y="3017520"/>
            <a:ext cx="4267048" cy="365760"/>
          </a:xfrm>
          <a:prstGeom prst="rect">
            <a:avLst/>
          </a:prstGeom>
          <a:noFill/>
          <a:ln/>
        </p:spPr>
        <p:txBody>
          <a:bodyPr wrap="square" lIns="0" tIns="0" rIns="0" bIns="0" rtlCol="0" anchor="t">
            <a:normAutofit/>
          </a:bodyPr>
          <a:lstStyle/>
          <a:p>
            <a:pPr algn="l" indent="0" marL="0">
              <a:lnSpc>
                <a:spcPct val="100000"/>
              </a:lnSpc>
              <a:buNone/>
            </a:pPr>
            <a:r>
              <a:rPr lang="en-US" sz="1300" b="1" spc="300" kern="0" dirty="0">
                <a:solidFill>
                  <a:srgbClr val="8AAF8A"/>
                </a:solidFill>
                <a:latin typeface="DM Sans" pitchFamily="34" charset="0"/>
                <a:ea typeface="DM Sans" pitchFamily="34" charset="-122"/>
                <a:cs typeface="DM Sans" pitchFamily="34" charset="-120"/>
              </a:rPr>
              <a:t>WHY IT MATTERS</a:t>
            </a:r>
            <a:endParaRPr lang="en-US" sz="1300" dirty="0"/>
          </a:p>
        </p:txBody>
      </p:sp>
      <p:sp>
        <p:nvSpPr>
          <p:cNvPr id="9" name="Text 7"/>
          <p:cNvSpPr txBox="1"/>
          <p:nvPr/>
        </p:nvSpPr>
        <p:spPr>
          <a:xfrm>
            <a:off x="6735928" y="3474720"/>
            <a:ext cx="4267048" cy="1463040"/>
          </a:xfrm>
          <a:prstGeom prst="rect">
            <a:avLst/>
          </a:prstGeom>
          <a:noFill/>
          <a:ln/>
        </p:spPr>
        <p:txBody>
          <a:bodyPr wrap="square" lIns="0" tIns="0" rIns="0" bIns="0" rtlCol="0" anchor="t">
            <a:normAutofit/>
          </a:bodyPr>
          <a:lstStyle/>
          <a:p>
            <a:pPr algn="l" indent="0" marL="0">
              <a:lnSpc>
                <a:spcPct val="115000"/>
              </a:lnSpc>
              <a:buNone/>
            </a:pPr>
            <a:r>
              <a:rPr lang="en-US" sz="1900" dirty="0">
                <a:solidFill>
                  <a:srgbClr val="1B2B2B"/>
                </a:solidFill>
                <a:latin typeface="DM Sans" pitchFamily="34" charset="0"/>
                <a:ea typeface="DM Sans" pitchFamily="34" charset="-122"/>
                <a:cs typeface="DM Sans" pitchFamily="34" charset="-120"/>
              </a:rPr>
              <a:t>You get to fumble here, with us, so you don't fumble in front of your boss.</a:t>
            </a:r>
            <a:endParaRPr lang="en-US" sz="1900" dirty="0"/>
          </a:p>
        </p:txBody>
      </p:sp>
      <p:sp>
        <p:nvSpPr>
          <p:cNvPr id="10" name="Shape 8"/>
          <p:cNvSpPr/>
          <p:nvPr/>
        </p:nvSpPr>
        <p:spPr>
          <a:xfrm>
            <a:off x="822960" y="5486400"/>
            <a:ext cx="4206240" cy="548640"/>
          </a:xfrm>
          <a:prstGeom prst="roundRect">
            <a:avLst>
              <a:gd name="adj" fmla="val 50000"/>
            </a:avLst>
          </a:prstGeom>
          <a:solidFill>
            <a:srgbClr val="1E4A4A"/>
          </a:solidFill>
          <a:ln w="12700">
            <a:solidFill>
              <a:srgbClr val="1E4A4A"/>
            </a:solidFill>
            <a:prstDash val="solid"/>
          </a:ln>
        </p:spPr>
      </p:sp>
      <p:sp>
        <p:nvSpPr>
          <p:cNvPr id="11" name="Text 9"/>
          <p:cNvSpPr txBox="1"/>
          <p:nvPr/>
        </p:nvSpPr>
        <p:spPr>
          <a:xfrm>
            <a:off x="1005840" y="5486400"/>
            <a:ext cx="3840480" cy="548640"/>
          </a:xfrm>
          <a:prstGeom prst="rect">
            <a:avLst/>
          </a:prstGeom>
          <a:noFill/>
          <a:ln/>
        </p:spPr>
        <p:txBody>
          <a:bodyPr wrap="square" lIns="0" tIns="0" rIns="0" bIns="0" rtlCol="0" anchor="ctr">
            <a:normAutofit/>
          </a:bodyPr>
          <a:lstStyle/>
          <a:p>
            <a:pPr algn="l" indent="0" marL="0">
              <a:lnSpc>
                <a:spcPct val="100000"/>
              </a:lnSpc>
              <a:buNone/>
            </a:pPr>
            <a:r>
              <a:rPr lang="en-US" sz="1400" b="1" dirty="0">
                <a:solidFill>
                  <a:srgbClr val="FFFFFF"/>
                </a:solidFill>
                <a:latin typeface="DM Sans" pitchFamily="34" charset="0"/>
                <a:ea typeface="DM Sans" pitchFamily="34" charset="-122"/>
                <a:cs typeface="DM Sans" pitchFamily="34" charset="-120"/>
              </a:rPr>
              <a:t>Value: </a:t>
            </a:r>
            <a:pPr algn="l" indent="0" marL="0">
              <a:lnSpc>
                <a:spcPct val="100000"/>
              </a:lnSpc>
              <a:buNone/>
            </a:pPr>
            <a:r>
              <a:rPr lang="en-US" sz="1400" b="1" dirty="0">
                <a:solidFill>
                  <a:srgbClr val="F2B8A8"/>
                </a:solidFill>
                <a:latin typeface="DM Sans" pitchFamily="34" charset="0"/>
                <a:ea typeface="DM Sans" pitchFamily="34" charset="-122"/>
                <a:cs typeface="DM Sans" pitchFamily="34" charset="-120"/>
              </a:rPr>
              <a:t>[PLACEHOLDER: est. value]</a:t>
            </a:r>
            <a:endParaRPr lang="en-US" sz="1400" dirty="0"/>
          </a:p>
        </p:txBody>
      </p:sp>
      <p:sp>
        <p:nvSpPr>
          <p:cNvPr id="25" name="Slide Number Placeholder 0"/>
          <p:cNvSpPr>
            <a:spLocks noGrp="1"/>
          </p:cNvSpPr>
          <p:nvPr>
            <p:ph type="sldNum" sz="quarter" idx="4294967295"/>
          </p:nvPr>
        </p:nvSpPr>
        <p:spPr>
          <a:xfrm>
            <a:off x="11368735"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AA6A3"/>
                </a:solidFill>
                <a:latin typeface="DM Sans"/>
                <a:ea typeface="DM Sans"/>
                <a:cs typeface="DM Sans"/>
              </a:defRPr>
            </a:lvl1pPr>
          </a:lstStyle>
          <a:p>
            <a:pPr algn="r"/>
            <a:fld id="{F7021451-1387-4CA6-816F-3879F97B5CBC}" type="slidenum">
              <a:rPr b="0" lang="en-US"/>
              <a:t>93</a:t>
            </a:fld>
            <a:endParaRPr lang="en-US"/>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AF5EE"/>
        </a:solidFill>
      </p:bgPr>
    </p:bg>
    <p:spTree>
      <p:nvGrpSpPr>
        <p:cNvPr id="1" name=""/>
        <p:cNvGrpSpPr/>
        <p:nvPr/>
      </p:nvGrpSpPr>
      <p:grpSpPr>
        <a:xfrm>
          <a:off x="0" y="0"/>
          <a:ext cx="0" cy="0"/>
          <a:chOff x="0" y="0"/>
          <a:chExt cx="0" cy="0"/>
        </a:xfrm>
      </p:grpSpPr>
      <p:sp>
        <p:nvSpPr>
          <p:cNvPr id="2" name="Text 0"/>
          <p:cNvSpPr txBox="1"/>
          <p:nvPr/>
        </p:nvSpPr>
        <p:spPr>
          <a:xfrm>
            <a:off x="822960" y="822960"/>
            <a:ext cx="10545775" cy="365760"/>
          </a:xfrm>
          <a:prstGeom prst="rect">
            <a:avLst/>
          </a:prstGeom>
          <a:noFill/>
          <a:ln/>
        </p:spPr>
        <p:txBody>
          <a:bodyPr wrap="square" lIns="0" tIns="0" rIns="0" bIns="0" rtlCol="0" anchor="ctr">
            <a:normAutofit/>
          </a:bodyPr>
          <a:lstStyle/>
          <a:p>
            <a:pPr algn="l" indent="0" marL="0">
              <a:lnSpc>
                <a:spcPct val="100000"/>
              </a:lnSpc>
              <a:buNone/>
            </a:pPr>
            <a:r>
              <a:rPr lang="en-US" sz="1400" b="1" spc="400" kern="0" dirty="0">
                <a:solidFill>
                  <a:srgbClr val="8AAF8A"/>
                </a:solidFill>
                <a:latin typeface="DM Sans" pitchFamily="34" charset="0"/>
                <a:ea typeface="DM Sans" pitchFamily="34" charset="-122"/>
                <a:cs typeface="DM Sans" pitchFamily="34" charset="-120"/>
              </a:rPr>
              <a:t>WHAT'S INCLUDED · 6 OF 8</a:t>
            </a:r>
            <a:endParaRPr lang="en-US" sz="1400" dirty="0"/>
          </a:p>
        </p:txBody>
      </p:sp>
      <p:sp>
        <p:nvSpPr>
          <p:cNvPr id="3" name="Text 1"/>
          <p:cNvSpPr txBox="1"/>
          <p:nvPr/>
        </p:nvSpPr>
        <p:spPr>
          <a:xfrm>
            <a:off x="822960" y="1280160"/>
            <a:ext cx="10545775" cy="1188720"/>
          </a:xfrm>
          <a:prstGeom prst="rect">
            <a:avLst/>
          </a:prstGeom>
          <a:noFill/>
          <a:ln/>
        </p:spPr>
        <p:txBody>
          <a:bodyPr wrap="square" lIns="0" tIns="0" rIns="0" bIns="0" rtlCol="0" anchor="t">
            <a:normAutofit/>
          </a:bodyPr>
          <a:lstStyle/>
          <a:p>
            <a:pPr algn="l" indent="0" marL="0">
              <a:lnSpc>
                <a:spcPct val="95000"/>
              </a:lnSpc>
              <a:buNone/>
            </a:pPr>
            <a:r>
              <a:rPr lang="en-US" sz="5000" b="1" dirty="0">
                <a:solidFill>
                  <a:srgbClr val="1B2B2B"/>
                </a:solidFill>
                <a:latin typeface="Cormorant Garamond" pitchFamily="34" charset="0"/>
                <a:ea typeface="Cormorant Garamond" pitchFamily="34" charset="-122"/>
                <a:cs typeface="Cormorant Garamond" pitchFamily="34" charset="-120"/>
              </a:rPr>
              <a:t>Executive Communication Coaching</a:t>
            </a:r>
            <a:endParaRPr lang="en-US" sz="5000" dirty="0"/>
          </a:p>
        </p:txBody>
      </p:sp>
      <p:sp>
        <p:nvSpPr>
          <p:cNvPr id="4" name="Shape 2"/>
          <p:cNvSpPr/>
          <p:nvPr/>
        </p:nvSpPr>
        <p:spPr>
          <a:xfrm>
            <a:off x="822960" y="2743200"/>
            <a:ext cx="4998568" cy="2377440"/>
          </a:xfrm>
          <a:prstGeom prst="roundRect">
            <a:avLst>
              <a:gd name="adj" fmla="val 4615"/>
            </a:avLst>
          </a:prstGeom>
          <a:solidFill>
            <a:srgbClr val="FFFFFF"/>
          </a:solidFill>
          <a:ln w="12700">
            <a:solidFill>
              <a:srgbClr val="FFFFFF"/>
            </a:solidFill>
            <a:prstDash val="solid"/>
          </a:ln>
        </p:spPr>
      </p:sp>
      <p:sp>
        <p:nvSpPr>
          <p:cNvPr id="5" name="Text 3"/>
          <p:cNvSpPr txBox="1"/>
          <p:nvPr/>
        </p:nvSpPr>
        <p:spPr>
          <a:xfrm>
            <a:off x="1188720" y="3017520"/>
            <a:ext cx="4267048" cy="365760"/>
          </a:xfrm>
          <a:prstGeom prst="rect">
            <a:avLst/>
          </a:prstGeom>
          <a:noFill/>
          <a:ln/>
        </p:spPr>
        <p:txBody>
          <a:bodyPr wrap="square" lIns="0" tIns="0" rIns="0" bIns="0" rtlCol="0" anchor="t">
            <a:normAutofit/>
          </a:bodyPr>
          <a:lstStyle/>
          <a:p>
            <a:pPr algn="l" indent="0" marL="0">
              <a:lnSpc>
                <a:spcPct val="100000"/>
              </a:lnSpc>
              <a:buNone/>
            </a:pPr>
            <a:r>
              <a:rPr lang="en-US" sz="1300" b="1" spc="300" kern="0" dirty="0">
                <a:solidFill>
                  <a:srgbClr val="8AAF8A"/>
                </a:solidFill>
                <a:latin typeface="DM Sans" pitchFamily="34" charset="0"/>
                <a:ea typeface="DM Sans" pitchFamily="34" charset="-122"/>
                <a:cs typeface="DM Sans" pitchFamily="34" charset="-120"/>
              </a:rPr>
              <a:t>WHAT IT IS</a:t>
            </a:r>
            <a:endParaRPr lang="en-US" sz="1300" dirty="0"/>
          </a:p>
        </p:txBody>
      </p:sp>
      <p:sp>
        <p:nvSpPr>
          <p:cNvPr id="6" name="Text 4"/>
          <p:cNvSpPr txBox="1"/>
          <p:nvPr/>
        </p:nvSpPr>
        <p:spPr>
          <a:xfrm>
            <a:off x="1188720" y="3474720"/>
            <a:ext cx="4267048" cy="1463040"/>
          </a:xfrm>
          <a:prstGeom prst="rect">
            <a:avLst/>
          </a:prstGeom>
          <a:noFill/>
          <a:ln/>
        </p:spPr>
        <p:txBody>
          <a:bodyPr wrap="square" lIns="0" tIns="0" rIns="0" bIns="0" rtlCol="0" anchor="t">
            <a:normAutofit/>
          </a:bodyPr>
          <a:lstStyle/>
          <a:p>
            <a:pPr algn="l" indent="0" marL="0">
              <a:lnSpc>
                <a:spcPct val="115000"/>
              </a:lnSpc>
              <a:buNone/>
            </a:pPr>
            <a:r>
              <a:rPr lang="en-US" sz="1900" dirty="0">
                <a:solidFill>
                  <a:srgbClr val="1B2B2B"/>
                </a:solidFill>
                <a:latin typeface="DM Sans" pitchFamily="34" charset="0"/>
                <a:ea typeface="DM Sans" pitchFamily="34" charset="-122"/>
                <a:cs typeface="DM Sans" pitchFamily="34" charset="-120"/>
              </a:rPr>
              <a:t>Communicating with authority and executive presence, influencing decision makers and navigating difficult conversations.</a:t>
            </a:r>
            <a:endParaRPr lang="en-US" sz="1900" dirty="0"/>
          </a:p>
        </p:txBody>
      </p:sp>
      <p:sp>
        <p:nvSpPr>
          <p:cNvPr id="7" name="Shape 5"/>
          <p:cNvSpPr/>
          <p:nvPr/>
        </p:nvSpPr>
        <p:spPr>
          <a:xfrm>
            <a:off x="6370168" y="2743200"/>
            <a:ext cx="4998568" cy="2377440"/>
          </a:xfrm>
          <a:prstGeom prst="roundRect">
            <a:avLst>
              <a:gd name="adj" fmla="val 4615"/>
            </a:avLst>
          </a:prstGeom>
          <a:solidFill>
            <a:srgbClr val="FFFFFF"/>
          </a:solidFill>
          <a:ln w="12700">
            <a:solidFill>
              <a:srgbClr val="FFFFFF"/>
            </a:solidFill>
            <a:prstDash val="solid"/>
          </a:ln>
        </p:spPr>
      </p:sp>
      <p:sp>
        <p:nvSpPr>
          <p:cNvPr id="8" name="Text 6"/>
          <p:cNvSpPr txBox="1"/>
          <p:nvPr/>
        </p:nvSpPr>
        <p:spPr>
          <a:xfrm>
            <a:off x="6735928" y="3017520"/>
            <a:ext cx="4267048" cy="365760"/>
          </a:xfrm>
          <a:prstGeom prst="rect">
            <a:avLst/>
          </a:prstGeom>
          <a:noFill/>
          <a:ln/>
        </p:spPr>
        <p:txBody>
          <a:bodyPr wrap="square" lIns="0" tIns="0" rIns="0" bIns="0" rtlCol="0" anchor="t">
            <a:normAutofit/>
          </a:bodyPr>
          <a:lstStyle/>
          <a:p>
            <a:pPr algn="l" indent="0" marL="0">
              <a:lnSpc>
                <a:spcPct val="100000"/>
              </a:lnSpc>
              <a:buNone/>
            </a:pPr>
            <a:r>
              <a:rPr lang="en-US" sz="1300" b="1" spc="300" kern="0" dirty="0">
                <a:solidFill>
                  <a:srgbClr val="8AAF8A"/>
                </a:solidFill>
                <a:latin typeface="DM Sans" pitchFamily="34" charset="0"/>
                <a:ea typeface="DM Sans" pitchFamily="34" charset="-122"/>
                <a:cs typeface="DM Sans" pitchFamily="34" charset="-120"/>
              </a:rPr>
              <a:t>WHY IT MATTERS</a:t>
            </a:r>
            <a:endParaRPr lang="en-US" sz="1300" dirty="0"/>
          </a:p>
        </p:txBody>
      </p:sp>
      <p:sp>
        <p:nvSpPr>
          <p:cNvPr id="9" name="Text 7"/>
          <p:cNvSpPr txBox="1"/>
          <p:nvPr/>
        </p:nvSpPr>
        <p:spPr>
          <a:xfrm>
            <a:off x="6735928" y="3474720"/>
            <a:ext cx="4267048" cy="1463040"/>
          </a:xfrm>
          <a:prstGeom prst="rect">
            <a:avLst/>
          </a:prstGeom>
          <a:noFill/>
          <a:ln/>
        </p:spPr>
        <p:txBody>
          <a:bodyPr wrap="square" lIns="0" tIns="0" rIns="0" bIns="0" rtlCol="0" anchor="t">
            <a:normAutofit/>
          </a:bodyPr>
          <a:lstStyle/>
          <a:p>
            <a:pPr algn="l" indent="0" marL="0">
              <a:lnSpc>
                <a:spcPct val="115000"/>
              </a:lnSpc>
              <a:buNone/>
            </a:pPr>
            <a:r>
              <a:rPr lang="en-US" sz="1900" dirty="0">
                <a:solidFill>
                  <a:srgbClr val="1B2B2B"/>
                </a:solidFill>
                <a:latin typeface="DM Sans" pitchFamily="34" charset="0"/>
                <a:ea typeface="DM Sans" pitchFamily="34" charset="-122"/>
                <a:cs typeface="DM Sans" pitchFamily="34" charset="-120"/>
              </a:rPr>
              <a:t>So the way you speak finally matches the level you perform at.</a:t>
            </a:r>
            <a:endParaRPr lang="en-US" sz="1900" dirty="0"/>
          </a:p>
        </p:txBody>
      </p:sp>
      <p:sp>
        <p:nvSpPr>
          <p:cNvPr id="10" name="Shape 8"/>
          <p:cNvSpPr/>
          <p:nvPr/>
        </p:nvSpPr>
        <p:spPr>
          <a:xfrm>
            <a:off x="822960" y="5486400"/>
            <a:ext cx="4206240" cy="548640"/>
          </a:xfrm>
          <a:prstGeom prst="roundRect">
            <a:avLst>
              <a:gd name="adj" fmla="val 50000"/>
            </a:avLst>
          </a:prstGeom>
          <a:solidFill>
            <a:srgbClr val="1E4A4A"/>
          </a:solidFill>
          <a:ln w="12700">
            <a:solidFill>
              <a:srgbClr val="1E4A4A"/>
            </a:solidFill>
            <a:prstDash val="solid"/>
          </a:ln>
        </p:spPr>
      </p:sp>
      <p:sp>
        <p:nvSpPr>
          <p:cNvPr id="11" name="Text 9"/>
          <p:cNvSpPr txBox="1"/>
          <p:nvPr/>
        </p:nvSpPr>
        <p:spPr>
          <a:xfrm>
            <a:off x="1005840" y="5486400"/>
            <a:ext cx="3840480" cy="548640"/>
          </a:xfrm>
          <a:prstGeom prst="rect">
            <a:avLst/>
          </a:prstGeom>
          <a:noFill/>
          <a:ln/>
        </p:spPr>
        <p:txBody>
          <a:bodyPr wrap="square" lIns="0" tIns="0" rIns="0" bIns="0" rtlCol="0" anchor="ctr">
            <a:normAutofit/>
          </a:bodyPr>
          <a:lstStyle/>
          <a:p>
            <a:pPr algn="l" indent="0" marL="0">
              <a:lnSpc>
                <a:spcPct val="100000"/>
              </a:lnSpc>
              <a:buNone/>
            </a:pPr>
            <a:r>
              <a:rPr lang="en-US" sz="1400" b="1" dirty="0">
                <a:solidFill>
                  <a:srgbClr val="FFFFFF"/>
                </a:solidFill>
                <a:latin typeface="DM Sans" pitchFamily="34" charset="0"/>
                <a:ea typeface="DM Sans" pitchFamily="34" charset="-122"/>
                <a:cs typeface="DM Sans" pitchFamily="34" charset="-120"/>
              </a:rPr>
              <a:t>Value: </a:t>
            </a:r>
            <a:pPr algn="l" indent="0" marL="0">
              <a:lnSpc>
                <a:spcPct val="100000"/>
              </a:lnSpc>
              <a:buNone/>
            </a:pPr>
            <a:r>
              <a:rPr lang="en-US" sz="1400" b="1" dirty="0">
                <a:solidFill>
                  <a:srgbClr val="F2B8A8"/>
                </a:solidFill>
                <a:latin typeface="DM Sans" pitchFamily="34" charset="0"/>
                <a:ea typeface="DM Sans" pitchFamily="34" charset="-122"/>
                <a:cs typeface="DM Sans" pitchFamily="34" charset="-120"/>
              </a:rPr>
              <a:t>[PLACEHOLDER: est. value]</a:t>
            </a:r>
            <a:endParaRPr lang="en-US" sz="1400" dirty="0"/>
          </a:p>
        </p:txBody>
      </p:sp>
      <p:sp>
        <p:nvSpPr>
          <p:cNvPr id="25" name="Slide Number Placeholder 0"/>
          <p:cNvSpPr>
            <a:spLocks noGrp="1"/>
          </p:cNvSpPr>
          <p:nvPr>
            <p:ph type="sldNum" sz="quarter" idx="4294967295"/>
          </p:nvPr>
        </p:nvSpPr>
        <p:spPr>
          <a:xfrm>
            <a:off x="11368735"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AA6A3"/>
                </a:solidFill>
                <a:latin typeface="DM Sans"/>
                <a:ea typeface="DM Sans"/>
                <a:cs typeface="DM Sans"/>
              </a:defRPr>
            </a:lvl1pPr>
          </a:lstStyle>
          <a:p>
            <a:pPr algn="r"/>
            <a:fld id="{F7021451-1387-4CA6-816F-3879F97B5CBC}" type="slidenum">
              <a:rPr b="0" lang="en-US"/>
              <a:t>94</a:t>
            </a:fld>
            <a:endParaRPr lang="en-US"/>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AF5EE"/>
        </a:solidFill>
      </p:bgPr>
    </p:bg>
    <p:spTree>
      <p:nvGrpSpPr>
        <p:cNvPr id="1" name=""/>
        <p:cNvGrpSpPr/>
        <p:nvPr/>
      </p:nvGrpSpPr>
      <p:grpSpPr>
        <a:xfrm>
          <a:off x="0" y="0"/>
          <a:ext cx="0" cy="0"/>
          <a:chOff x="0" y="0"/>
          <a:chExt cx="0" cy="0"/>
        </a:xfrm>
      </p:grpSpPr>
      <p:sp>
        <p:nvSpPr>
          <p:cNvPr id="2" name="Text 0"/>
          <p:cNvSpPr txBox="1"/>
          <p:nvPr/>
        </p:nvSpPr>
        <p:spPr>
          <a:xfrm>
            <a:off x="822960" y="822960"/>
            <a:ext cx="10545775" cy="365760"/>
          </a:xfrm>
          <a:prstGeom prst="rect">
            <a:avLst/>
          </a:prstGeom>
          <a:noFill/>
          <a:ln/>
        </p:spPr>
        <p:txBody>
          <a:bodyPr wrap="square" lIns="0" tIns="0" rIns="0" bIns="0" rtlCol="0" anchor="ctr">
            <a:normAutofit/>
          </a:bodyPr>
          <a:lstStyle/>
          <a:p>
            <a:pPr algn="l" indent="0" marL="0">
              <a:lnSpc>
                <a:spcPct val="100000"/>
              </a:lnSpc>
              <a:buNone/>
            </a:pPr>
            <a:r>
              <a:rPr lang="en-US" sz="1400" b="1" spc="400" kern="0" dirty="0">
                <a:solidFill>
                  <a:srgbClr val="8AAF8A"/>
                </a:solidFill>
                <a:latin typeface="DM Sans" pitchFamily="34" charset="0"/>
                <a:ea typeface="DM Sans" pitchFamily="34" charset="-122"/>
                <a:cs typeface="DM Sans" pitchFamily="34" charset="-120"/>
              </a:rPr>
              <a:t>WHAT'S INCLUDED · 7 OF 8</a:t>
            </a:r>
            <a:endParaRPr lang="en-US" sz="1400" dirty="0"/>
          </a:p>
        </p:txBody>
      </p:sp>
      <p:sp>
        <p:nvSpPr>
          <p:cNvPr id="3" name="Text 1"/>
          <p:cNvSpPr txBox="1"/>
          <p:nvPr/>
        </p:nvSpPr>
        <p:spPr>
          <a:xfrm>
            <a:off x="822960" y="1280160"/>
            <a:ext cx="10545775" cy="1188720"/>
          </a:xfrm>
          <a:prstGeom prst="rect">
            <a:avLst/>
          </a:prstGeom>
          <a:noFill/>
          <a:ln/>
        </p:spPr>
        <p:txBody>
          <a:bodyPr wrap="square" lIns="0" tIns="0" rIns="0" bIns="0" rtlCol="0" anchor="t">
            <a:normAutofit/>
          </a:bodyPr>
          <a:lstStyle/>
          <a:p>
            <a:pPr algn="l" indent="0" marL="0">
              <a:lnSpc>
                <a:spcPct val="95000"/>
              </a:lnSpc>
              <a:buNone/>
            </a:pPr>
            <a:r>
              <a:rPr lang="en-US" sz="5000" b="1" dirty="0">
                <a:solidFill>
                  <a:srgbClr val="1B2B2B"/>
                </a:solidFill>
                <a:latin typeface="Cormorant Garamond" pitchFamily="34" charset="0"/>
                <a:ea typeface="Cormorant Garamond" pitchFamily="34" charset="-122"/>
                <a:cs typeface="Cormorant Garamond" pitchFamily="34" charset="-120"/>
              </a:rPr>
              <a:t>Career Strategy</a:t>
            </a:r>
            <a:endParaRPr lang="en-US" sz="5000" dirty="0"/>
          </a:p>
        </p:txBody>
      </p:sp>
      <p:sp>
        <p:nvSpPr>
          <p:cNvPr id="4" name="Shape 2"/>
          <p:cNvSpPr/>
          <p:nvPr/>
        </p:nvSpPr>
        <p:spPr>
          <a:xfrm>
            <a:off x="822960" y="2743200"/>
            <a:ext cx="4998568" cy="2377440"/>
          </a:xfrm>
          <a:prstGeom prst="roundRect">
            <a:avLst>
              <a:gd name="adj" fmla="val 4615"/>
            </a:avLst>
          </a:prstGeom>
          <a:solidFill>
            <a:srgbClr val="FFFFFF"/>
          </a:solidFill>
          <a:ln w="12700">
            <a:solidFill>
              <a:srgbClr val="FFFFFF"/>
            </a:solidFill>
            <a:prstDash val="solid"/>
          </a:ln>
        </p:spPr>
      </p:sp>
      <p:sp>
        <p:nvSpPr>
          <p:cNvPr id="5" name="Text 3"/>
          <p:cNvSpPr txBox="1"/>
          <p:nvPr/>
        </p:nvSpPr>
        <p:spPr>
          <a:xfrm>
            <a:off x="1188720" y="3017520"/>
            <a:ext cx="4267048" cy="365760"/>
          </a:xfrm>
          <a:prstGeom prst="rect">
            <a:avLst/>
          </a:prstGeom>
          <a:noFill/>
          <a:ln/>
        </p:spPr>
        <p:txBody>
          <a:bodyPr wrap="square" lIns="0" tIns="0" rIns="0" bIns="0" rtlCol="0" anchor="t">
            <a:normAutofit/>
          </a:bodyPr>
          <a:lstStyle/>
          <a:p>
            <a:pPr algn="l" indent="0" marL="0">
              <a:lnSpc>
                <a:spcPct val="100000"/>
              </a:lnSpc>
              <a:buNone/>
            </a:pPr>
            <a:r>
              <a:rPr lang="en-US" sz="1300" b="1" spc="300" kern="0" dirty="0">
                <a:solidFill>
                  <a:srgbClr val="8AAF8A"/>
                </a:solidFill>
                <a:latin typeface="DM Sans" pitchFamily="34" charset="0"/>
                <a:ea typeface="DM Sans" pitchFamily="34" charset="-122"/>
                <a:cs typeface="DM Sans" pitchFamily="34" charset="-120"/>
              </a:rPr>
              <a:t>WHAT IT IS</a:t>
            </a:r>
            <a:endParaRPr lang="en-US" sz="1300" dirty="0"/>
          </a:p>
        </p:txBody>
      </p:sp>
      <p:sp>
        <p:nvSpPr>
          <p:cNvPr id="6" name="Text 4"/>
          <p:cNvSpPr txBox="1"/>
          <p:nvPr/>
        </p:nvSpPr>
        <p:spPr>
          <a:xfrm>
            <a:off x="1188720" y="3474720"/>
            <a:ext cx="4267048" cy="1463040"/>
          </a:xfrm>
          <a:prstGeom prst="rect">
            <a:avLst/>
          </a:prstGeom>
          <a:noFill/>
          <a:ln/>
        </p:spPr>
        <p:txBody>
          <a:bodyPr wrap="square" lIns="0" tIns="0" rIns="0" bIns="0" rtlCol="0" anchor="t">
            <a:normAutofit/>
          </a:bodyPr>
          <a:lstStyle/>
          <a:p>
            <a:pPr algn="l" indent="0" marL="0">
              <a:lnSpc>
                <a:spcPct val="115000"/>
              </a:lnSpc>
              <a:buNone/>
            </a:pPr>
            <a:r>
              <a:rPr lang="en-US" sz="1900" dirty="0">
                <a:solidFill>
                  <a:srgbClr val="1B2B2B"/>
                </a:solidFill>
                <a:latin typeface="DM Sans" pitchFamily="34" charset="0"/>
                <a:ea typeface="DM Sans" pitchFamily="34" charset="-122"/>
                <a:cs typeface="DM Sans" pitchFamily="34" charset="-120"/>
              </a:rPr>
              <a:t>A long-term career roadmap, beyond your next negotiation.</a:t>
            </a:r>
            <a:endParaRPr lang="en-US" sz="1900" dirty="0"/>
          </a:p>
        </p:txBody>
      </p:sp>
      <p:sp>
        <p:nvSpPr>
          <p:cNvPr id="7" name="Shape 5"/>
          <p:cNvSpPr/>
          <p:nvPr/>
        </p:nvSpPr>
        <p:spPr>
          <a:xfrm>
            <a:off x="6370168" y="2743200"/>
            <a:ext cx="4998568" cy="2377440"/>
          </a:xfrm>
          <a:prstGeom prst="roundRect">
            <a:avLst>
              <a:gd name="adj" fmla="val 4615"/>
            </a:avLst>
          </a:prstGeom>
          <a:solidFill>
            <a:srgbClr val="FFFFFF"/>
          </a:solidFill>
          <a:ln w="12700">
            <a:solidFill>
              <a:srgbClr val="FFFFFF"/>
            </a:solidFill>
            <a:prstDash val="solid"/>
          </a:ln>
        </p:spPr>
      </p:sp>
      <p:sp>
        <p:nvSpPr>
          <p:cNvPr id="8" name="Text 6"/>
          <p:cNvSpPr txBox="1"/>
          <p:nvPr/>
        </p:nvSpPr>
        <p:spPr>
          <a:xfrm>
            <a:off x="6735928" y="3017520"/>
            <a:ext cx="4267048" cy="365760"/>
          </a:xfrm>
          <a:prstGeom prst="rect">
            <a:avLst/>
          </a:prstGeom>
          <a:noFill/>
          <a:ln/>
        </p:spPr>
        <p:txBody>
          <a:bodyPr wrap="square" lIns="0" tIns="0" rIns="0" bIns="0" rtlCol="0" anchor="t">
            <a:normAutofit/>
          </a:bodyPr>
          <a:lstStyle/>
          <a:p>
            <a:pPr algn="l" indent="0" marL="0">
              <a:lnSpc>
                <a:spcPct val="100000"/>
              </a:lnSpc>
              <a:buNone/>
            </a:pPr>
            <a:r>
              <a:rPr lang="en-US" sz="1300" b="1" spc="300" kern="0" dirty="0">
                <a:solidFill>
                  <a:srgbClr val="8AAF8A"/>
                </a:solidFill>
                <a:latin typeface="DM Sans" pitchFamily="34" charset="0"/>
                <a:ea typeface="DM Sans" pitchFamily="34" charset="-122"/>
                <a:cs typeface="DM Sans" pitchFamily="34" charset="-120"/>
              </a:rPr>
              <a:t>WHY IT MATTERS</a:t>
            </a:r>
            <a:endParaRPr lang="en-US" sz="1300" dirty="0"/>
          </a:p>
        </p:txBody>
      </p:sp>
      <p:sp>
        <p:nvSpPr>
          <p:cNvPr id="9" name="Text 7"/>
          <p:cNvSpPr txBox="1"/>
          <p:nvPr/>
        </p:nvSpPr>
        <p:spPr>
          <a:xfrm>
            <a:off x="6735928" y="3474720"/>
            <a:ext cx="4267048" cy="1463040"/>
          </a:xfrm>
          <a:prstGeom prst="rect">
            <a:avLst/>
          </a:prstGeom>
          <a:noFill/>
          <a:ln/>
        </p:spPr>
        <p:txBody>
          <a:bodyPr wrap="square" lIns="0" tIns="0" rIns="0" bIns="0" rtlCol="0" anchor="t">
            <a:normAutofit/>
          </a:bodyPr>
          <a:lstStyle/>
          <a:p>
            <a:pPr algn="l" indent="0" marL="0">
              <a:lnSpc>
                <a:spcPct val="115000"/>
              </a:lnSpc>
              <a:buNone/>
            </a:pPr>
            <a:r>
              <a:rPr lang="en-US" sz="1900" dirty="0">
                <a:solidFill>
                  <a:srgbClr val="1B2B2B"/>
                </a:solidFill>
                <a:latin typeface="DM Sans" pitchFamily="34" charset="0"/>
                <a:ea typeface="DM Sans" pitchFamily="34" charset="-122"/>
                <a:cs typeface="DM Sans" pitchFamily="34" charset="-120"/>
              </a:rPr>
              <a:t>You stop reacting to review season and start owning where you're going.</a:t>
            </a:r>
            <a:endParaRPr lang="en-US" sz="1900" dirty="0"/>
          </a:p>
        </p:txBody>
      </p:sp>
      <p:sp>
        <p:nvSpPr>
          <p:cNvPr id="10" name="Shape 8"/>
          <p:cNvSpPr/>
          <p:nvPr/>
        </p:nvSpPr>
        <p:spPr>
          <a:xfrm>
            <a:off x="822960" y="5486400"/>
            <a:ext cx="4206240" cy="548640"/>
          </a:xfrm>
          <a:prstGeom prst="roundRect">
            <a:avLst>
              <a:gd name="adj" fmla="val 50000"/>
            </a:avLst>
          </a:prstGeom>
          <a:solidFill>
            <a:srgbClr val="1E4A4A"/>
          </a:solidFill>
          <a:ln w="12700">
            <a:solidFill>
              <a:srgbClr val="1E4A4A"/>
            </a:solidFill>
            <a:prstDash val="solid"/>
          </a:ln>
        </p:spPr>
      </p:sp>
      <p:sp>
        <p:nvSpPr>
          <p:cNvPr id="11" name="Text 9"/>
          <p:cNvSpPr txBox="1"/>
          <p:nvPr/>
        </p:nvSpPr>
        <p:spPr>
          <a:xfrm>
            <a:off x="1005840" y="5486400"/>
            <a:ext cx="3840480" cy="548640"/>
          </a:xfrm>
          <a:prstGeom prst="rect">
            <a:avLst/>
          </a:prstGeom>
          <a:noFill/>
          <a:ln/>
        </p:spPr>
        <p:txBody>
          <a:bodyPr wrap="square" lIns="0" tIns="0" rIns="0" bIns="0" rtlCol="0" anchor="ctr">
            <a:normAutofit/>
          </a:bodyPr>
          <a:lstStyle/>
          <a:p>
            <a:pPr algn="l" indent="0" marL="0">
              <a:lnSpc>
                <a:spcPct val="100000"/>
              </a:lnSpc>
              <a:buNone/>
            </a:pPr>
            <a:r>
              <a:rPr lang="en-US" sz="1400" b="1" dirty="0">
                <a:solidFill>
                  <a:srgbClr val="FFFFFF"/>
                </a:solidFill>
                <a:latin typeface="DM Sans" pitchFamily="34" charset="0"/>
                <a:ea typeface="DM Sans" pitchFamily="34" charset="-122"/>
                <a:cs typeface="DM Sans" pitchFamily="34" charset="-120"/>
              </a:rPr>
              <a:t>Value: </a:t>
            </a:r>
            <a:pPr algn="l" indent="0" marL="0">
              <a:lnSpc>
                <a:spcPct val="100000"/>
              </a:lnSpc>
              <a:buNone/>
            </a:pPr>
            <a:r>
              <a:rPr lang="en-US" sz="1400" b="1" dirty="0">
                <a:solidFill>
                  <a:srgbClr val="F2B8A8"/>
                </a:solidFill>
                <a:latin typeface="DM Sans" pitchFamily="34" charset="0"/>
                <a:ea typeface="DM Sans" pitchFamily="34" charset="-122"/>
                <a:cs typeface="DM Sans" pitchFamily="34" charset="-120"/>
              </a:rPr>
              <a:t>[PLACEHOLDER: est. value]</a:t>
            </a:r>
            <a:endParaRPr lang="en-US" sz="1400" dirty="0"/>
          </a:p>
        </p:txBody>
      </p:sp>
      <p:sp>
        <p:nvSpPr>
          <p:cNvPr id="25" name="Slide Number Placeholder 0"/>
          <p:cNvSpPr>
            <a:spLocks noGrp="1"/>
          </p:cNvSpPr>
          <p:nvPr>
            <p:ph type="sldNum" sz="quarter" idx="4294967295"/>
          </p:nvPr>
        </p:nvSpPr>
        <p:spPr>
          <a:xfrm>
            <a:off x="11368735"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AA6A3"/>
                </a:solidFill>
                <a:latin typeface="DM Sans"/>
                <a:ea typeface="DM Sans"/>
                <a:cs typeface="DM Sans"/>
              </a:defRPr>
            </a:lvl1pPr>
          </a:lstStyle>
          <a:p>
            <a:pPr algn="r"/>
            <a:fld id="{F7021451-1387-4CA6-816F-3879F97B5CBC}" type="slidenum">
              <a:rPr b="0" lang="en-US"/>
              <a:t>95</a:t>
            </a:fld>
            <a:endParaRPr lang="en-US"/>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FAF5EE"/>
        </a:solidFill>
      </p:bgPr>
    </p:bg>
    <p:spTree>
      <p:nvGrpSpPr>
        <p:cNvPr id="1" name=""/>
        <p:cNvGrpSpPr/>
        <p:nvPr/>
      </p:nvGrpSpPr>
      <p:grpSpPr>
        <a:xfrm>
          <a:off x="0" y="0"/>
          <a:ext cx="0" cy="0"/>
          <a:chOff x="0" y="0"/>
          <a:chExt cx="0" cy="0"/>
        </a:xfrm>
      </p:grpSpPr>
      <p:sp>
        <p:nvSpPr>
          <p:cNvPr id="2" name="Text 0"/>
          <p:cNvSpPr txBox="1"/>
          <p:nvPr/>
        </p:nvSpPr>
        <p:spPr>
          <a:xfrm>
            <a:off x="822960" y="822960"/>
            <a:ext cx="10545775" cy="365760"/>
          </a:xfrm>
          <a:prstGeom prst="rect">
            <a:avLst/>
          </a:prstGeom>
          <a:noFill/>
          <a:ln/>
        </p:spPr>
        <p:txBody>
          <a:bodyPr wrap="square" lIns="0" tIns="0" rIns="0" bIns="0" rtlCol="0" anchor="ctr">
            <a:normAutofit/>
          </a:bodyPr>
          <a:lstStyle/>
          <a:p>
            <a:pPr algn="l" indent="0" marL="0">
              <a:lnSpc>
                <a:spcPct val="100000"/>
              </a:lnSpc>
              <a:buNone/>
            </a:pPr>
            <a:r>
              <a:rPr lang="en-US" sz="1400" b="1" spc="400" kern="0" dirty="0">
                <a:solidFill>
                  <a:srgbClr val="8AAF8A"/>
                </a:solidFill>
                <a:latin typeface="DM Sans" pitchFamily="34" charset="0"/>
                <a:ea typeface="DM Sans" pitchFamily="34" charset="-122"/>
                <a:cs typeface="DM Sans" pitchFamily="34" charset="-120"/>
              </a:rPr>
              <a:t>WHAT'S INCLUDED · 8 OF 8</a:t>
            </a:r>
            <a:endParaRPr lang="en-US" sz="1400" dirty="0"/>
          </a:p>
        </p:txBody>
      </p:sp>
      <p:sp>
        <p:nvSpPr>
          <p:cNvPr id="3" name="Text 1"/>
          <p:cNvSpPr txBox="1"/>
          <p:nvPr/>
        </p:nvSpPr>
        <p:spPr>
          <a:xfrm>
            <a:off x="822960" y="1280160"/>
            <a:ext cx="10545775" cy="1188720"/>
          </a:xfrm>
          <a:prstGeom prst="rect">
            <a:avLst/>
          </a:prstGeom>
          <a:noFill/>
          <a:ln/>
        </p:spPr>
        <p:txBody>
          <a:bodyPr wrap="square" lIns="0" tIns="0" rIns="0" bIns="0" rtlCol="0" anchor="t">
            <a:normAutofit/>
          </a:bodyPr>
          <a:lstStyle/>
          <a:p>
            <a:pPr algn="l" indent="0" marL="0">
              <a:lnSpc>
                <a:spcPct val="95000"/>
              </a:lnSpc>
              <a:buNone/>
            </a:pPr>
            <a:r>
              <a:rPr lang="en-US" sz="5000" b="1" dirty="0">
                <a:solidFill>
                  <a:srgbClr val="1B2B2B"/>
                </a:solidFill>
                <a:latin typeface="Cormorant Garamond" pitchFamily="34" charset="0"/>
                <a:ea typeface="Cormorant Garamond" pitchFamily="34" charset="-122"/>
                <a:cs typeface="Cormorant Garamond" pitchFamily="34" charset="-120"/>
              </a:rPr>
              <a:t>Private Community</a:t>
            </a:r>
            <a:endParaRPr lang="en-US" sz="5000" dirty="0"/>
          </a:p>
        </p:txBody>
      </p:sp>
      <p:sp>
        <p:nvSpPr>
          <p:cNvPr id="4" name="Shape 2"/>
          <p:cNvSpPr/>
          <p:nvPr/>
        </p:nvSpPr>
        <p:spPr>
          <a:xfrm>
            <a:off x="822960" y="2743200"/>
            <a:ext cx="4998568" cy="2377440"/>
          </a:xfrm>
          <a:prstGeom prst="roundRect">
            <a:avLst>
              <a:gd name="adj" fmla="val 4615"/>
            </a:avLst>
          </a:prstGeom>
          <a:solidFill>
            <a:srgbClr val="FFFFFF"/>
          </a:solidFill>
          <a:ln w="12700">
            <a:solidFill>
              <a:srgbClr val="FFFFFF"/>
            </a:solidFill>
            <a:prstDash val="solid"/>
          </a:ln>
        </p:spPr>
      </p:sp>
      <p:sp>
        <p:nvSpPr>
          <p:cNvPr id="5" name="Text 3"/>
          <p:cNvSpPr txBox="1"/>
          <p:nvPr/>
        </p:nvSpPr>
        <p:spPr>
          <a:xfrm>
            <a:off x="1188720" y="3017520"/>
            <a:ext cx="4267048" cy="365760"/>
          </a:xfrm>
          <a:prstGeom prst="rect">
            <a:avLst/>
          </a:prstGeom>
          <a:noFill/>
          <a:ln/>
        </p:spPr>
        <p:txBody>
          <a:bodyPr wrap="square" lIns="0" tIns="0" rIns="0" bIns="0" rtlCol="0" anchor="t">
            <a:normAutofit/>
          </a:bodyPr>
          <a:lstStyle/>
          <a:p>
            <a:pPr algn="l" indent="0" marL="0">
              <a:lnSpc>
                <a:spcPct val="100000"/>
              </a:lnSpc>
              <a:buNone/>
            </a:pPr>
            <a:r>
              <a:rPr lang="en-US" sz="1300" b="1" spc="300" kern="0" dirty="0">
                <a:solidFill>
                  <a:srgbClr val="8AAF8A"/>
                </a:solidFill>
                <a:latin typeface="DM Sans" pitchFamily="34" charset="0"/>
                <a:ea typeface="DM Sans" pitchFamily="34" charset="-122"/>
                <a:cs typeface="DM Sans" pitchFamily="34" charset="-120"/>
              </a:rPr>
              <a:t>WHAT IT IS</a:t>
            </a:r>
            <a:endParaRPr lang="en-US" sz="1300" dirty="0"/>
          </a:p>
        </p:txBody>
      </p:sp>
      <p:sp>
        <p:nvSpPr>
          <p:cNvPr id="6" name="Text 4"/>
          <p:cNvSpPr txBox="1"/>
          <p:nvPr/>
        </p:nvSpPr>
        <p:spPr>
          <a:xfrm>
            <a:off x="1188720" y="3474720"/>
            <a:ext cx="4267048" cy="1463040"/>
          </a:xfrm>
          <a:prstGeom prst="rect">
            <a:avLst/>
          </a:prstGeom>
          <a:noFill/>
          <a:ln/>
        </p:spPr>
        <p:txBody>
          <a:bodyPr wrap="square" lIns="0" tIns="0" rIns="0" bIns="0" rtlCol="0" anchor="t">
            <a:normAutofit/>
          </a:bodyPr>
          <a:lstStyle/>
          <a:p>
            <a:pPr algn="l" indent="0" marL="0">
              <a:lnSpc>
                <a:spcPct val="115000"/>
              </a:lnSpc>
              <a:buNone/>
            </a:pPr>
            <a:r>
              <a:rPr lang="en-US" sz="1900" dirty="0">
                <a:solidFill>
                  <a:srgbClr val="1B2B2B"/>
                </a:solidFill>
                <a:latin typeface="DM Sans" pitchFamily="34" charset="0"/>
                <a:ea typeface="DM Sans" pitchFamily="34" charset="-122"/>
                <a:cs typeface="DM Sans" pitchFamily="34" charset="-120"/>
              </a:rPr>
              <a:t>A community of ambitious professional women sharing wins, practicing courageous conversations and holding each other accountable.</a:t>
            </a:r>
            <a:endParaRPr lang="en-US" sz="1900" dirty="0"/>
          </a:p>
        </p:txBody>
      </p:sp>
      <p:sp>
        <p:nvSpPr>
          <p:cNvPr id="7" name="Shape 5"/>
          <p:cNvSpPr/>
          <p:nvPr/>
        </p:nvSpPr>
        <p:spPr>
          <a:xfrm>
            <a:off x="6370168" y="2743200"/>
            <a:ext cx="4998568" cy="2377440"/>
          </a:xfrm>
          <a:prstGeom prst="roundRect">
            <a:avLst>
              <a:gd name="adj" fmla="val 4615"/>
            </a:avLst>
          </a:prstGeom>
          <a:solidFill>
            <a:srgbClr val="FFFFFF"/>
          </a:solidFill>
          <a:ln w="12700">
            <a:solidFill>
              <a:srgbClr val="FFFFFF"/>
            </a:solidFill>
            <a:prstDash val="solid"/>
          </a:ln>
        </p:spPr>
      </p:sp>
      <p:sp>
        <p:nvSpPr>
          <p:cNvPr id="8" name="Text 6"/>
          <p:cNvSpPr txBox="1"/>
          <p:nvPr/>
        </p:nvSpPr>
        <p:spPr>
          <a:xfrm>
            <a:off x="6735928" y="3017520"/>
            <a:ext cx="4267048" cy="365760"/>
          </a:xfrm>
          <a:prstGeom prst="rect">
            <a:avLst/>
          </a:prstGeom>
          <a:noFill/>
          <a:ln/>
        </p:spPr>
        <p:txBody>
          <a:bodyPr wrap="square" lIns="0" tIns="0" rIns="0" bIns="0" rtlCol="0" anchor="t">
            <a:normAutofit/>
          </a:bodyPr>
          <a:lstStyle/>
          <a:p>
            <a:pPr algn="l" indent="0" marL="0">
              <a:lnSpc>
                <a:spcPct val="100000"/>
              </a:lnSpc>
              <a:buNone/>
            </a:pPr>
            <a:r>
              <a:rPr lang="en-US" sz="1300" b="1" spc="300" kern="0" dirty="0">
                <a:solidFill>
                  <a:srgbClr val="8AAF8A"/>
                </a:solidFill>
                <a:latin typeface="DM Sans" pitchFamily="34" charset="0"/>
                <a:ea typeface="DM Sans" pitchFamily="34" charset="-122"/>
                <a:cs typeface="DM Sans" pitchFamily="34" charset="-120"/>
              </a:rPr>
              <a:t>WHY IT MATTERS</a:t>
            </a:r>
            <a:endParaRPr lang="en-US" sz="1300" dirty="0"/>
          </a:p>
        </p:txBody>
      </p:sp>
      <p:sp>
        <p:nvSpPr>
          <p:cNvPr id="9" name="Text 7"/>
          <p:cNvSpPr txBox="1"/>
          <p:nvPr/>
        </p:nvSpPr>
        <p:spPr>
          <a:xfrm>
            <a:off x="6735928" y="3474720"/>
            <a:ext cx="4267048" cy="1463040"/>
          </a:xfrm>
          <a:prstGeom prst="rect">
            <a:avLst/>
          </a:prstGeom>
          <a:noFill/>
          <a:ln/>
        </p:spPr>
        <p:txBody>
          <a:bodyPr wrap="square" lIns="0" tIns="0" rIns="0" bIns="0" rtlCol="0" anchor="t">
            <a:normAutofit/>
          </a:bodyPr>
          <a:lstStyle/>
          <a:p>
            <a:pPr algn="l" indent="0" marL="0">
              <a:lnSpc>
                <a:spcPct val="115000"/>
              </a:lnSpc>
              <a:buNone/>
            </a:pPr>
            <a:r>
              <a:rPr lang="en-US" sz="1900" dirty="0">
                <a:solidFill>
                  <a:srgbClr val="1B2B2B"/>
                </a:solidFill>
                <a:latin typeface="DM Sans" pitchFamily="34" charset="0"/>
                <a:ea typeface="DM Sans" pitchFamily="34" charset="-122"/>
                <a:cs typeface="DM Sans" pitchFamily="34" charset="-120"/>
              </a:rPr>
              <a:t>You stop doing this alone. For a lot of women, that's the part that changes everything.</a:t>
            </a:r>
            <a:endParaRPr lang="en-US" sz="1900" dirty="0"/>
          </a:p>
        </p:txBody>
      </p:sp>
      <p:sp>
        <p:nvSpPr>
          <p:cNvPr id="10" name="Shape 8"/>
          <p:cNvSpPr/>
          <p:nvPr/>
        </p:nvSpPr>
        <p:spPr>
          <a:xfrm>
            <a:off x="822960" y="5486400"/>
            <a:ext cx="4206240" cy="548640"/>
          </a:xfrm>
          <a:prstGeom prst="roundRect">
            <a:avLst>
              <a:gd name="adj" fmla="val 50000"/>
            </a:avLst>
          </a:prstGeom>
          <a:solidFill>
            <a:srgbClr val="1E4A4A"/>
          </a:solidFill>
          <a:ln w="12700">
            <a:solidFill>
              <a:srgbClr val="1E4A4A"/>
            </a:solidFill>
            <a:prstDash val="solid"/>
          </a:ln>
        </p:spPr>
      </p:sp>
      <p:sp>
        <p:nvSpPr>
          <p:cNvPr id="11" name="Text 9"/>
          <p:cNvSpPr txBox="1"/>
          <p:nvPr/>
        </p:nvSpPr>
        <p:spPr>
          <a:xfrm>
            <a:off x="1005840" y="5486400"/>
            <a:ext cx="3840480" cy="548640"/>
          </a:xfrm>
          <a:prstGeom prst="rect">
            <a:avLst/>
          </a:prstGeom>
          <a:noFill/>
          <a:ln/>
        </p:spPr>
        <p:txBody>
          <a:bodyPr wrap="square" lIns="0" tIns="0" rIns="0" bIns="0" rtlCol="0" anchor="ctr">
            <a:normAutofit/>
          </a:bodyPr>
          <a:lstStyle/>
          <a:p>
            <a:pPr algn="l" indent="0" marL="0">
              <a:lnSpc>
                <a:spcPct val="100000"/>
              </a:lnSpc>
              <a:buNone/>
            </a:pPr>
            <a:r>
              <a:rPr lang="en-US" sz="1400" b="1" dirty="0">
                <a:solidFill>
                  <a:srgbClr val="FFFFFF"/>
                </a:solidFill>
                <a:latin typeface="DM Sans" pitchFamily="34" charset="0"/>
                <a:ea typeface="DM Sans" pitchFamily="34" charset="-122"/>
                <a:cs typeface="DM Sans" pitchFamily="34" charset="-120"/>
              </a:rPr>
              <a:t>Value: </a:t>
            </a:r>
            <a:pPr algn="l" indent="0" marL="0">
              <a:lnSpc>
                <a:spcPct val="100000"/>
              </a:lnSpc>
              <a:buNone/>
            </a:pPr>
            <a:r>
              <a:rPr lang="en-US" sz="1400" b="1" dirty="0">
                <a:solidFill>
                  <a:srgbClr val="F2B8A8"/>
                </a:solidFill>
                <a:latin typeface="DM Sans" pitchFamily="34" charset="0"/>
                <a:ea typeface="DM Sans" pitchFamily="34" charset="-122"/>
                <a:cs typeface="DM Sans" pitchFamily="34" charset="-120"/>
              </a:rPr>
              <a:t>[PLACEHOLDER: est. value]</a:t>
            </a:r>
            <a:endParaRPr lang="en-US" sz="1400" dirty="0"/>
          </a:p>
        </p:txBody>
      </p:sp>
      <p:sp>
        <p:nvSpPr>
          <p:cNvPr id="25" name="Slide Number Placeholder 0"/>
          <p:cNvSpPr>
            <a:spLocks noGrp="1"/>
          </p:cNvSpPr>
          <p:nvPr>
            <p:ph type="sldNum" sz="quarter" idx="4294967295"/>
          </p:nvPr>
        </p:nvSpPr>
        <p:spPr>
          <a:xfrm>
            <a:off x="11368735"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AA6A3"/>
                </a:solidFill>
                <a:latin typeface="DM Sans"/>
                <a:ea typeface="DM Sans"/>
                <a:cs typeface="DM Sans"/>
              </a:defRPr>
            </a:lvl1pPr>
          </a:lstStyle>
          <a:p>
            <a:pPr algn="r"/>
            <a:fld id="{F7021451-1387-4CA6-816F-3879F97B5CBC}" type="slidenum">
              <a:rPr b="0" lang="en-US"/>
              <a:t>96</a:t>
            </a:fld>
            <a:endParaRPr lang="en-US"/>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AF5EE"/>
        </a:solidFill>
      </p:bgPr>
    </p:bg>
    <p:spTree>
      <p:nvGrpSpPr>
        <p:cNvPr id="1" name=""/>
        <p:cNvGrpSpPr/>
        <p:nvPr/>
      </p:nvGrpSpPr>
      <p:grpSpPr>
        <a:xfrm>
          <a:off x="0" y="0"/>
          <a:ext cx="0" cy="0"/>
          <a:chOff x="0" y="0"/>
          <a:chExt cx="0" cy="0"/>
        </a:xfrm>
      </p:grpSpPr>
      <p:sp>
        <p:nvSpPr>
          <p:cNvPr id="2" name="Text 0"/>
          <p:cNvSpPr txBox="1"/>
          <p:nvPr/>
        </p:nvSpPr>
        <p:spPr>
          <a:xfrm>
            <a:off x="822960" y="822960"/>
            <a:ext cx="10545775" cy="365760"/>
          </a:xfrm>
          <a:prstGeom prst="rect">
            <a:avLst/>
          </a:prstGeom>
          <a:noFill/>
          <a:ln/>
        </p:spPr>
        <p:txBody>
          <a:bodyPr wrap="square" lIns="0" tIns="0" rIns="0" bIns="0" rtlCol="0" anchor="ctr">
            <a:normAutofit/>
          </a:bodyPr>
          <a:lstStyle/>
          <a:p>
            <a:pPr algn="l" indent="0" marL="0">
              <a:lnSpc>
                <a:spcPct val="100000"/>
              </a:lnSpc>
              <a:buNone/>
            </a:pPr>
            <a:r>
              <a:rPr lang="en-US" sz="1400" b="1" spc="400" kern="0" dirty="0">
                <a:solidFill>
                  <a:srgbClr val="8AAF8A"/>
                </a:solidFill>
                <a:latin typeface="DM Sans" pitchFamily="34" charset="0"/>
                <a:ea typeface="DM Sans" pitchFamily="34" charset="-122"/>
                <a:cs typeface="DM Sans" pitchFamily="34" charset="-120"/>
              </a:rPr>
              <a:t>BONUS</a:t>
            </a:r>
            <a:endParaRPr lang="en-US" sz="1400" dirty="0"/>
          </a:p>
        </p:txBody>
      </p:sp>
      <p:sp>
        <p:nvSpPr>
          <p:cNvPr id="3" name="Text 1"/>
          <p:cNvSpPr txBox="1"/>
          <p:nvPr/>
        </p:nvSpPr>
        <p:spPr>
          <a:xfrm>
            <a:off x="822960" y="1280160"/>
            <a:ext cx="10545775" cy="1188720"/>
          </a:xfrm>
          <a:prstGeom prst="rect">
            <a:avLst/>
          </a:prstGeom>
          <a:noFill/>
          <a:ln/>
        </p:spPr>
        <p:txBody>
          <a:bodyPr wrap="square" lIns="0" tIns="0" rIns="0" bIns="0" rtlCol="0" anchor="t">
            <a:normAutofit/>
          </a:bodyPr>
          <a:lstStyle/>
          <a:p>
            <a:pPr algn="l" indent="0" marL="0">
              <a:lnSpc>
                <a:spcPct val="95000"/>
              </a:lnSpc>
              <a:buNone/>
            </a:pPr>
            <a:r>
              <a:rPr lang="en-US" sz="2300" b="1" dirty="0">
                <a:solidFill>
                  <a:srgbClr val="B85042"/>
                </a:solidFill>
                <a:latin typeface="DM Sans" pitchFamily="34" charset="0"/>
                <a:ea typeface="DM Sans" pitchFamily="34" charset="-122"/>
                <a:cs typeface="DM Sans" pitchFamily="34" charset="-120"/>
              </a:rPr>
              <a:t>[PLACEHOLDER: Bonus]</a:t>
            </a:r>
            <a:endParaRPr lang="en-US" sz="2300" dirty="0"/>
          </a:p>
        </p:txBody>
      </p:sp>
      <p:sp>
        <p:nvSpPr>
          <p:cNvPr id="4" name="Shape 2"/>
          <p:cNvSpPr/>
          <p:nvPr/>
        </p:nvSpPr>
        <p:spPr>
          <a:xfrm>
            <a:off x="822960" y="2743200"/>
            <a:ext cx="4998568" cy="2377440"/>
          </a:xfrm>
          <a:prstGeom prst="roundRect">
            <a:avLst>
              <a:gd name="adj" fmla="val 4615"/>
            </a:avLst>
          </a:prstGeom>
          <a:solidFill>
            <a:srgbClr val="FFFFFF"/>
          </a:solidFill>
          <a:ln w="12700">
            <a:solidFill>
              <a:srgbClr val="FFFFFF"/>
            </a:solidFill>
            <a:prstDash val="solid"/>
          </a:ln>
        </p:spPr>
      </p:sp>
      <p:sp>
        <p:nvSpPr>
          <p:cNvPr id="5" name="Text 3"/>
          <p:cNvSpPr txBox="1"/>
          <p:nvPr/>
        </p:nvSpPr>
        <p:spPr>
          <a:xfrm>
            <a:off x="1188720" y="3017520"/>
            <a:ext cx="4267048" cy="365760"/>
          </a:xfrm>
          <a:prstGeom prst="rect">
            <a:avLst/>
          </a:prstGeom>
          <a:noFill/>
          <a:ln/>
        </p:spPr>
        <p:txBody>
          <a:bodyPr wrap="square" lIns="0" tIns="0" rIns="0" bIns="0" rtlCol="0" anchor="t">
            <a:normAutofit/>
          </a:bodyPr>
          <a:lstStyle/>
          <a:p>
            <a:pPr algn="l" indent="0" marL="0">
              <a:lnSpc>
                <a:spcPct val="100000"/>
              </a:lnSpc>
              <a:buNone/>
            </a:pPr>
            <a:r>
              <a:rPr lang="en-US" sz="1300" b="1" spc="300" kern="0" dirty="0">
                <a:solidFill>
                  <a:srgbClr val="8AAF8A"/>
                </a:solidFill>
                <a:latin typeface="DM Sans" pitchFamily="34" charset="0"/>
                <a:ea typeface="DM Sans" pitchFamily="34" charset="-122"/>
                <a:cs typeface="DM Sans" pitchFamily="34" charset="-120"/>
              </a:rPr>
              <a:t>WHAT IT IS</a:t>
            </a:r>
            <a:endParaRPr lang="en-US" sz="1300" dirty="0"/>
          </a:p>
        </p:txBody>
      </p:sp>
      <p:sp>
        <p:nvSpPr>
          <p:cNvPr id="6" name="Text 4"/>
          <p:cNvSpPr txBox="1"/>
          <p:nvPr/>
        </p:nvSpPr>
        <p:spPr>
          <a:xfrm>
            <a:off x="1188720" y="3474720"/>
            <a:ext cx="4267048" cy="1463040"/>
          </a:xfrm>
          <a:prstGeom prst="rect">
            <a:avLst/>
          </a:prstGeom>
          <a:noFill/>
          <a:ln/>
        </p:spPr>
        <p:txBody>
          <a:bodyPr wrap="square" lIns="0" tIns="0" rIns="0" bIns="0" rtlCol="0" anchor="t">
            <a:normAutofit/>
          </a:bodyPr>
          <a:lstStyle/>
          <a:p>
            <a:pPr algn="l" indent="0" marL="0">
              <a:lnSpc>
                <a:spcPct val="115000"/>
              </a:lnSpc>
              <a:buNone/>
            </a:pPr>
            <a:r>
              <a:rPr lang="en-US" sz="1600" b="1" dirty="0">
                <a:solidFill>
                  <a:srgbClr val="B85042"/>
                </a:solidFill>
                <a:latin typeface="DM Sans" pitchFamily="34" charset="0"/>
                <a:ea typeface="DM Sans" pitchFamily="34" charset="-122"/>
                <a:cs typeface="DM Sans" pitchFamily="34" charset="-120"/>
              </a:rPr>
              <a:t>[PLACEHOLDER: bonus name and description. Intake Q30 is blank. Possible fit: The Courage to Ask Blueprint, if Tamara wants to include it.]</a:t>
            </a:r>
            <a:endParaRPr lang="en-US" sz="1600" dirty="0"/>
          </a:p>
        </p:txBody>
      </p:sp>
      <p:sp>
        <p:nvSpPr>
          <p:cNvPr id="7" name="Shape 5"/>
          <p:cNvSpPr/>
          <p:nvPr/>
        </p:nvSpPr>
        <p:spPr>
          <a:xfrm>
            <a:off x="6370168" y="2743200"/>
            <a:ext cx="4998568" cy="2377440"/>
          </a:xfrm>
          <a:prstGeom prst="roundRect">
            <a:avLst>
              <a:gd name="adj" fmla="val 4615"/>
            </a:avLst>
          </a:prstGeom>
          <a:solidFill>
            <a:srgbClr val="FFFFFF"/>
          </a:solidFill>
          <a:ln w="12700">
            <a:solidFill>
              <a:srgbClr val="FFFFFF"/>
            </a:solidFill>
            <a:prstDash val="solid"/>
          </a:ln>
        </p:spPr>
      </p:sp>
      <p:sp>
        <p:nvSpPr>
          <p:cNvPr id="8" name="Text 6"/>
          <p:cNvSpPr txBox="1"/>
          <p:nvPr/>
        </p:nvSpPr>
        <p:spPr>
          <a:xfrm>
            <a:off x="6735928" y="3017520"/>
            <a:ext cx="4267048" cy="365760"/>
          </a:xfrm>
          <a:prstGeom prst="rect">
            <a:avLst/>
          </a:prstGeom>
          <a:noFill/>
          <a:ln/>
        </p:spPr>
        <p:txBody>
          <a:bodyPr wrap="square" lIns="0" tIns="0" rIns="0" bIns="0" rtlCol="0" anchor="t">
            <a:normAutofit/>
          </a:bodyPr>
          <a:lstStyle/>
          <a:p>
            <a:pPr algn="l" indent="0" marL="0">
              <a:lnSpc>
                <a:spcPct val="100000"/>
              </a:lnSpc>
              <a:buNone/>
            </a:pPr>
            <a:r>
              <a:rPr lang="en-US" sz="1300" b="1" spc="300" kern="0" dirty="0">
                <a:solidFill>
                  <a:srgbClr val="8AAF8A"/>
                </a:solidFill>
                <a:latin typeface="DM Sans" pitchFamily="34" charset="0"/>
                <a:ea typeface="DM Sans" pitchFamily="34" charset="-122"/>
                <a:cs typeface="DM Sans" pitchFamily="34" charset="-120"/>
              </a:rPr>
              <a:t>WHY IT MATTERS</a:t>
            </a:r>
            <a:endParaRPr lang="en-US" sz="1300" dirty="0"/>
          </a:p>
        </p:txBody>
      </p:sp>
      <p:sp>
        <p:nvSpPr>
          <p:cNvPr id="9" name="Text 7"/>
          <p:cNvSpPr txBox="1"/>
          <p:nvPr/>
        </p:nvSpPr>
        <p:spPr>
          <a:xfrm>
            <a:off x="6735928" y="3474720"/>
            <a:ext cx="4267048" cy="1463040"/>
          </a:xfrm>
          <a:prstGeom prst="rect">
            <a:avLst/>
          </a:prstGeom>
          <a:noFill/>
          <a:ln/>
        </p:spPr>
        <p:txBody>
          <a:bodyPr wrap="square" lIns="0" tIns="0" rIns="0" bIns="0" rtlCol="0" anchor="t">
            <a:normAutofit/>
          </a:bodyPr>
          <a:lstStyle/>
          <a:p>
            <a:pPr algn="l" indent="0" marL="0">
              <a:lnSpc>
                <a:spcPct val="115000"/>
              </a:lnSpc>
              <a:buNone/>
            </a:pPr>
            <a:r>
              <a:rPr lang="en-US" sz="1600" b="1" dirty="0">
                <a:solidFill>
                  <a:srgbClr val="B85042"/>
                </a:solidFill>
                <a:latin typeface="DM Sans" pitchFamily="34" charset="0"/>
                <a:ea typeface="DM Sans" pitchFamily="34" charset="-122"/>
                <a:cs typeface="DM Sans" pitchFamily="34" charset="-120"/>
              </a:rPr>
              <a:t>[PLACEHOLDER]</a:t>
            </a:r>
            <a:endParaRPr lang="en-US" sz="1600" dirty="0"/>
          </a:p>
        </p:txBody>
      </p:sp>
      <p:sp>
        <p:nvSpPr>
          <p:cNvPr id="10" name="Shape 8"/>
          <p:cNvSpPr/>
          <p:nvPr/>
        </p:nvSpPr>
        <p:spPr>
          <a:xfrm>
            <a:off x="822960" y="5486400"/>
            <a:ext cx="4206240" cy="548640"/>
          </a:xfrm>
          <a:prstGeom prst="roundRect">
            <a:avLst>
              <a:gd name="adj" fmla="val 50000"/>
            </a:avLst>
          </a:prstGeom>
          <a:solidFill>
            <a:srgbClr val="1E4A4A"/>
          </a:solidFill>
          <a:ln w="12700">
            <a:solidFill>
              <a:srgbClr val="1E4A4A"/>
            </a:solidFill>
            <a:prstDash val="solid"/>
          </a:ln>
        </p:spPr>
      </p:sp>
      <p:sp>
        <p:nvSpPr>
          <p:cNvPr id="11" name="Text 9"/>
          <p:cNvSpPr txBox="1"/>
          <p:nvPr/>
        </p:nvSpPr>
        <p:spPr>
          <a:xfrm>
            <a:off x="1005840" y="5486400"/>
            <a:ext cx="3840480" cy="548640"/>
          </a:xfrm>
          <a:prstGeom prst="rect">
            <a:avLst/>
          </a:prstGeom>
          <a:noFill/>
          <a:ln/>
        </p:spPr>
        <p:txBody>
          <a:bodyPr wrap="square" lIns="0" tIns="0" rIns="0" bIns="0" rtlCol="0" anchor="ctr">
            <a:normAutofit/>
          </a:bodyPr>
          <a:lstStyle/>
          <a:p>
            <a:pPr algn="l" indent="0" marL="0">
              <a:lnSpc>
                <a:spcPct val="100000"/>
              </a:lnSpc>
              <a:buNone/>
            </a:pPr>
            <a:r>
              <a:rPr lang="en-US" sz="1400" b="1" dirty="0">
                <a:solidFill>
                  <a:srgbClr val="FFFFFF"/>
                </a:solidFill>
                <a:latin typeface="DM Sans" pitchFamily="34" charset="0"/>
                <a:ea typeface="DM Sans" pitchFamily="34" charset="-122"/>
                <a:cs typeface="DM Sans" pitchFamily="34" charset="-120"/>
              </a:rPr>
              <a:t>Value: </a:t>
            </a:r>
            <a:pPr algn="l" indent="0" marL="0">
              <a:lnSpc>
                <a:spcPct val="100000"/>
              </a:lnSpc>
              <a:buNone/>
            </a:pPr>
            <a:r>
              <a:rPr lang="en-US" sz="1400" b="1" dirty="0">
                <a:solidFill>
                  <a:srgbClr val="F2B8A8"/>
                </a:solidFill>
                <a:latin typeface="DM Sans" pitchFamily="34" charset="0"/>
                <a:ea typeface="DM Sans" pitchFamily="34" charset="-122"/>
                <a:cs typeface="DM Sans" pitchFamily="34" charset="-120"/>
              </a:rPr>
              <a:t>[PLACEHOLDER: est. value]</a:t>
            </a:r>
            <a:endParaRPr lang="en-US" sz="1400" dirty="0"/>
          </a:p>
        </p:txBody>
      </p:sp>
      <p:sp>
        <p:nvSpPr>
          <p:cNvPr id="25" name="Slide Number Placeholder 0"/>
          <p:cNvSpPr>
            <a:spLocks noGrp="1"/>
          </p:cNvSpPr>
          <p:nvPr>
            <p:ph type="sldNum" sz="quarter" idx="4294967295"/>
          </p:nvPr>
        </p:nvSpPr>
        <p:spPr>
          <a:xfrm>
            <a:off x="11368735"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AA6A3"/>
                </a:solidFill>
                <a:latin typeface="DM Sans"/>
                <a:ea typeface="DM Sans"/>
                <a:cs typeface="DM Sans"/>
              </a:defRPr>
            </a:lvl1pPr>
          </a:lstStyle>
          <a:p>
            <a:pPr algn="r"/>
            <a:fld id="{F7021451-1387-4CA6-816F-3879F97B5CBC}" type="slidenum">
              <a:rPr b="0" lang="en-US"/>
              <a:t>97</a:t>
            </a:fld>
            <a:endParaRPr lang="en-US"/>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1E4A4A"/>
        </a:solidFill>
      </p:bgPr>
    </p:bg>
    <p:spTree>
      <p:nvGrpSpPr>
        <p:cNvPr id="1" name=""/>
        <p:cNvGrpSpPr/>
        <p:nvPr/>
      </p:nvGrpSpPr>
      <p:grpSpPr>
        <a:xfrm>
          <a:off x="0" y="0"/>
          <a:ext cx="0" cy="0"/>
          <a:chOff x="0" y="0"/>
          <a:chExt cx="0" cy="0"/>
        </a:xfrm>
      </p:grpSpPr>
      <p:sp>
        <p:nvSpPr>
          <p:cNvPr id="2" name="Text 0"/>
          <p:cNvSpPr txBox="1"/>
          <p:nvPr/>
        </p:nvSpPr>
        <p:spPr>
          <a:xfrm>
            <a:off x="822960" y="731520"/>
            <a:ext cx="10545775" cy="365760"/>
          </a:xfrm>
          <a:prstGeom prst="rect">
            <a:avLst/>
          </a:prstGeom>
          <a:noFill/>
          <a:ln/>
        </p:spPr>
        <p:txBody>
          <a:bodyPr wrap="square" lIns="0" tIns="0" rIns="0" bIns="0" rtlCol="0" anchor="ctr">
            <a:normAutofit/>
          </a:bodyPr>
          <a:lstStyle/>
          <a:p>
            <a:pPr algn="l" indent="0" marL="0">
              <a:lnSpc>
                <a:spcPct val="100000"/>
              </a:lnSpc>
              <a:buNone/>
            </a:pPr>
            <a:r>
              <a:rPr lang="en-US" sz="1400" b="1" spc="400" kern="0" dirty="0">
                <a:solidFill>
                  <a:srgbClr val="8AAF8A"/>
                </a:solidFill>
                <a:latin typeface="DM Sans" pitchFamily="34" charset="0"/>
                <a:ea typeface="DM Sans" pitchFamily="34" charset="-122"/>
                <a:cs typeface="DM Sans" pitchFamily="34" charset="-120"/>
              </a:rPr>
              <a:t>EVERYTHING YOU GET</a:t>
            </a:r>
            <a:endParaRPr lang="en-US" sz="1400" dirty="0"/>
          </a:p>
        </p:txBody>
      </p:sp>
      <p:sp>
        <p:nvSpPr>
          <p:cNvPr id="3" name="Shape 1"/>
          <p:cNvSpPr/>
          <p:nvPr/>
        </p:nvSpPr>
        <p:spPr>
          <a:xfrm>
            <a:off x="822960" y="1417320"/>
            <a:ext cx="457200" cy="457200"/>
          </a:xfrm>
          <a:prstGeom prst="ellipse">
            <a:avLst/>
          </a:prstGeom>
          <a:solidFill>
            <a:srgbClr val="8AAF8A"/>
          </a:solidFill>
          <a:ln w="12700">
            <a:solidFill>
              <a:srgbClr val="8AAF8A"/>
            </a:solidFill>
            <a:prstDash val="solid"/>
          </a:ln>
        </p:spPr>
      </p:sp>
      <p:sp>
        <p:nvSpPr>
          <p:cNvPr id="4" name="Text 2"/>
          <p:cNvSpPr txBox="1"/>
          <p:nvPr/>
        </p:nvSpPr>
        <p:spPr>
          <a:xfrm>
            <a:off x="822960" y="1417320"/>
            <a:ext cx="457200" cy="457200"/>
          </a:xfrm>
          <a:prstGeom prst="rect">
            <a:avLst/>
          </a:prstGeom>
          <a:noFill/>
          <a:ln/>
        </p:spPr>
        <p:txBody>
          <a:bodyPr wrap="square" lIns="0" tIns="0" rIns="0" bIns="0" rtlCol="0" anchor="ctr">
            <a:normAutofit/>
          </a:bodyPr>
          <a:lstStyle/>
          <a:p>
            <a:pPr algn="ctr" indent="0" marL="0">
              <a:lnSpc>
                <a:spcPct val="100000"/>
              </a:lnSpc>
              <a:buNone/>
            </a:pPr>
            <a:r>
              <a:rPr lang="en-US" sz="1600" b="1" dirty="0">
                <a:solidFill>
                  <a:srgbClr val="1E4A4A"/>
                </a:solidFill>
                <a:latin typeface="Cormorant Garamond" pitchFamily="34" charset="0"/>
                <a:ea typeface="Cormorant Garamond" pitchFamily="34" charset="-122"/>
                <a:cs typeface="Cormorant Garamond" pitchFamily="34" charset="-120"/>
              </a:rPr>
              <a:t>✓</a:t>
            </a:r>
            <a:endParaRPr lang="en-US" sz="1600" dirty="0"/>
          </a:p>
        </p:txBody>
      </p:sp>
      <p:sp>
        <p:nvSpPr>
          <p:cNvPr id="5" name="Text 3"/>
          <p:cNvSpPr txBox="1"/>
          <p:nvPr/>
        </p:nvSpPr>
        <p:spPr>
          <a:xfrm>
            <a:off x="1508760" y="1325880"/>
            <a:ext cx="4754880" cy="640080"/>
          </a:xfrm>
          <a:prstGeom prst="rect">
            <a:avLst/>
          </a:prstGeom>
          <a:noFill/>
          <a:ln/>
        </p:spPr>
        <p:txBody>
          <a:bodyPr wrap="square" lIns="0" tIns="0" rIns="0" bIns="0" rtlCol="0" anchor="ctr">
            <a:normAutofit/>
          </a:bodyPr>
          <a:lstStyle/>
          <a:p>
            <a:pPr algn="l" indent="0" marL="0">
              <a:lnSpc>
                <a:spcPct val="100000"/>
              </a:lnSpc>
              <a:buNone/>
            </a:pPr>
            <a:r>
              <a:rPr lang="en-US" sz="1800" dirty="0">
                <a:solidFill>
                  <a:srgbClr val="FFFFFF"/>
                </a:solidFill>
                <a:latin typeface="DM Sans" pitchFamily="34" charset="0"/>
                <a:ea typeface="DM Sans" pitchFamily="34" charset="-122"/>
                <a:cs typeface="DM Sans" pitchFamily="34" charset="-120"/>
              </a:rPr>
              <a:t>Weekly Live Executive Coaching</a:t>
            </a:r>
            <a:endParaRPr lang="en-US" sz="1800" dirty="0"/>
          </a:p>
        </p:txBody>
      </p:sp>
      <p:sp>
        <p:nvSpPr>
          <p:cNvPr id="6" name="Shape 4"/>
          <p:cNvSpPr/>
          <p:nvPr/>
        </p:nvSpPr>
        <p:spPr>
          <a:xfrm>
            <a:off x="822960" y="2194560"/>
            <a:ext cx="457200" cy="457200"/>
          </a:xfrm>
          <a:prstGeom prst="ellipse">
            <a:avLst/>
          </a:prstGeom>
          <a:solidFill>
            <a:srgbClr val="8AAF8A"/>
          </a:solidFill>
          <a:ln w="12700">
            <a:solidFill>
              <a:srgbClr val="8AAF8A"/>
            </a:solidFill>
            <a:prstDash val="solid"/>
          </a:ln>
        </p:spPr>
      </p:sp>
      <p:sp>
        <p:nvSpPr>
          <p:cNvPr id="7" name="Text 5"/>
          <p:cNvSpPr txBox="1"/>
          <p:nvPr/>
        </p:nvSpPr>
        <p:spPr>
          <a:xfrm>
            <a:off x="822960" y="2194560"/>
            <a:ext cx="457200" cy="457200"/>
          </a:xfrm>
          <a:prstGeom prst="rect">
            <a:avLst/>
          </a:prstGeom>
          <a:noFill/>
          <a:ln/>
        </p:spPr>
        <p:txBody>
          <a:bodyPr wrap="square" lIns="0" tIns="0" rIns="0" bIns="0" rtlCol="0" anchor="ctr">
            <a:normAutofit/>
          </a:bodyPr>
          <a:lstStyle/>
          <a:p>
            <a:pPr algn="ctr" indent="0" marL="0">
              <a:lnSpc>
                <a:spcPct val="100000"/>
              </a:lnSpc>
              <a:buNone/>
            </a:pPr>
            <a:r>
              <a:rPr lang="en-US" sz="1600" b="1" dirty="0">
                <a:solidFill>
                  <a:srgbClr val="1E4A4A"/>
                </a:solidFill>
                <a:latin typeface="Cormorant Garamond" pitchFamily="34" charset="0"/>
                <a:ea typeface="Cormorant Garamond" pitchFamily="34" charset="-122"/>
                <a:cs typeface="Cormorant Garamond" pitchFamily="34" charset="-120"/>
              </a:rPr>
              <a:t>✓</a:t>
            </a:r>
            <a:endParaRPr lang="en-US" sz="1600" dirty="0"/>
          </a:p>
        </p:txBody>
      </p:sp>
      <p:sp>
        <p:nvSpPr>
          <p:cNvPr id="8" name="Text 6"/>
          <p:cNvSpPr txBox="1"/>
          <p:nvPr/>
        </p:nvSpPr>
        <p:spPr>
          <a:xfrm>
            <a:off x="1508760" y="2103120"/>
            <a:ext cx="4754880" cy="640080"/>
          </a:xfrm>
          <a:prstGeom prst="rect">
            <a:avLst/>
          </a:prstGeom>
          <a:noFill/>
          <a:ln/>
        </p:spPr>
        <p:txBody>
          <a:bodyPr wrap="square" lIns="0" tIns="0" rIns="0" bIns="0" rtlCol="0" anchor="ctr">
            <a:normAutofit/>
          </a:bodyPr>
          <a:lstStyle/>
          <a:p>
            <a:pPr algn="l" indent="0" marL="0">
              <a:lnSpc>
                <a:spcPct val="100000"/>
              </a:lnSpc>
              <a:buNone/>
            </a:pPr>
            <a:r>
              <a:rPr lang="en-US" sz="1800" dirty="0">
                <a:solidFill>
                  <a:srgbClr val="FFFFFF"/>
                </a:solidFill>
                <a:latin typeface="DM Sans" pitchFamily="34" charset="0"/>
                <a:ea typeface="DM Sans" pitchFamily="34" charset="-122"/>
                <a:cs typeface="DM Sans" pitchFamily="34" charset="-120"/>
              </a:rPr>
              <a:t>The V.O.I.C.E. Curriculum</a:t>
            </a:r>
            <a:endParaRPr lang="en-US" sz="1800" dirty="0"/>
          </a:p>
        </p:txBody>
      </p:sp>
      <p:sp>
        <p:nvSpPr>
          <p:cNvPr id="9" name="Shape 7"/>
          <p:cNvSpPr/>
          <p:nvPr/>
        </p:nvSpPr>
        <p:spPr>
          <a:xfrm>
            <a:off x="822960" y="2971800"/>
            <a:ext cx="457200" cy="457200"/>
          </a:xfrm>
          <a:prstGeom prst="ellipse">
            <a:avLst/>
          </a:prstGeom>
          <a:solidFill>
            <a:srgbClr val="8AAF8A"/>
          </a:solidFill>
          <a:ln w="12700">
            <a:solidFill>
              <a:srgbClr val="8AAF8A"/>
            </a:solidFill>
            <a:prstDash val="solid"/>
          </a:ln>
        </p:spPr>
      </p:sp>
      <p:sp>
        <p:nvSpPr>
          <p:cNvPr id="10" name="Text 8"/>
          <p:cNvSpPr txBox="1"/>
          <p:nvPr/>
        </p:nvSpPr>
        <p:spPr>
          <a:xfrm>
            <a:off x="822960" y="2971800"/>
            <a:ext cx="457200" cy="457200"/>
          </a:xfrm>
          <a:prstGeom prst="rect">
            <a:avLst/>
          </a:prstGeom>
          <a:noFill/>
          <a:ln/>
        </p:spPr>
        <p:txBody>
          <a:bodyPr wrap="square" lIns="0" tIns="0" rIns="0" bIns="0" rtlCol="0" anchor="ctr">
            <a:normAutofit/>
          </a:bodyPr>
          <a:lstStyle/>
          <a:p>
            <a:pPr algn="ctr" indent="0" marL="0">
              <a:lnSpc>
                <a:spcPct val="100000"/>
              </a:lnSpc>
              <a:buNone/>
            </a:pPr>
            <a:r>
              <a:rPr lang="en-US" sz="1600" b="1" dirty="0">
                <a:solidFill>
                  <a:srgbClr val="1E4A4A"/>
                </a:solidFill>
                <a:latin typeface="Cormorant Garamond" pitchFamily="34" charset="0"/>
                <a:ea typeface="Cormorant Garamond" pitchFamily="34" charset="-122"/>
                <a:cs typeface="Cormorant Garamond" pitchFamily="34" charset="-120"/>
              </a:rPr>
              <a:t>✓</a:t>
            </a:r>
            <a:endParaRPr lang="en-US" sz="1600" dirty="0"/>
          </a:p>
        </p:txBody>
      </p:sp>
      <p:sp>
        <p:nvSpPr>
          <p:cNvPr id="11" name="Text 9"/>
          <p:cNvSpPr txBox="1"/>
          <p:nvPr/>
        </p:nvSpPr>
        <p:spPr>
          <a:xfrm>
            <a:off x="1508760" y="2880360"/>
            <a:ext cx="4754880" cy="640080"/>
          </a:xfrm>
          <a:prstGeom prst="rect">
            <a:avLst/>
          </a:prstGeom>
          <a:noFill/>
          <a:ln/>
        </p:spPr>
        <p:txBody>
          <a:bodyPr wrap="square" lIns="0" tIns="0" rIns="0" bIns="0" rtlCol="0" anchor="ctr">
            <a:normAutofit/>
          </a:bodyPr>
          <a:lstStyle/>
          <a:p>
            <a:pPr algn="l" indent="0" marL="0">
              <a:lnSpc>
                <a:spcPct val="100000"/>
              </a:lnSpc>
              <a:buNone/>
            </a:pPr>
            <a:r>
              <a:rPr lang="en-US" sz="1800" dirty="0">
                <a:solidFill>
                  <a:srgbClr val="FFFFFF"/>
                </a:solidFill>
                <a:latin typeface="DM Sans" pitchFamily="34" charset="0"/>
                <a:ea typeface="DM Sans" pitchFamily="34" charset="-122"/>
                <a:cs typeface="DM Sans" pitchFamily="34" charset="-120"/>
              </a:rPr>
              <a:t>Hot Seat Coaching</a:t>
            </a:r>
            <a:endParaRPr lang="en-US" sz="1800" dirty="0"/>
          </a:p>
        </p:txBody>
      </p:sp>
      <p:sp>
        <p:nvSpPr>
          <p:cNvPr id="12" name="Shape 10"/>
          <p:cNvSpPr/>
          <p:nvPr/>
        </p:nvSpPr>
        <p:spPr>
          <a:xfrm>
            <a:off x="822960" y="3749040"/>
            <a:ext cx="457200" cy="457200"/>
          </a:xfrm>
          <a:prstGeom prst="ellipse">
            <a:avLst/>
          </a:prstGeom>
          <a:solidFill>
            <a:srgbClr val="8AAF8A"/>
          </a:solidFill>
          <a:ln w="12700">
            <a:solidFill>
              <a:srgbClr val="8AAF8A"/>
            </a:solidFill>
            <a:prstDash val="solid"/>
          </a:ln>
        </p:spPr>
      </p:sp>
      <p:sp>
        <p:nvSpPr>
          <p:cNvPr id="13" name="Text 11"/>
          <p:cNvSpPr txBox="1"/>
          <p:nvPr/>
        </p:nvSpPr>
        <p:spPr>
          <a:xfrm>
            <a:off x="822960" y="3749040"/>
            <a:ext cx="457200" cy="457200"/>
          </a:xfrm>
          <a:prstGeom prst="rect">
            <a:avLst/>
          </a:prstGeom>
          <a:noFill/>
          <a:ln/>
        </p:spPr>
        <p:txBody>
          <a:bodyPr wrap="square" lIns="0" tIns="0" rIns="0" bIns="0" rtlCol="0" anchor="ctr">
            <a:normAutofit/>
          </a:bodyPr>
          <a:lstStyle/>
          <a:p>
            <a:pPr algn="ctr" indent="0" marL="0">
              <a:lnSpc>
                <a:spcPct val="100000"/>
              </a:lnSpc>
              <a:buNone/>
            </a:pPr>
            <a:r>
              <a:rPr lang="en-US" sz="1600" b="1" dirty="0">
                <a:solidFill>
                  <a:srgbClr val="1E4A4A"/>
                </a:solidFill>
                <a:latin typeface="Cormorant Garamond" pitchFamily="34" charset="0"/>
                <a:ea typeface="Cormorant Garamond" pitchFamily="34" charset="-122"/>
                <a:cs typeface="Cormorant Garamond" pitchFamily="34" charset="-120"/>
              </a:rPr>
              <a:t>✓</a:t>
            </a:r>
            <a:endParaRPr lang="en-US" sz="1600" dirty="0"/>
          </a:p>
        </p:txBody>
      </p:sp>
      <p:sp>
        <p:nvSpPr>
          <p:cNvPr id="14" name="Text 12"/>
          <p:cNvSpPr txBox="1"/>
          <p:nvPr/>
        </p:nvSpPr>
        <p:spPr>
          <a:xfrm>
            <a:off x="1508760" y="3657600"/>
            <a:ext cx="4754880" cy="640080"/>
          </a:xfrm>
          <a:prstGeom prst="rect">
            <a:avLst/>
          </a:prstGeom>
          <a:noFill/>
          <a:ln/>
        </p:spPr>
        <p:txBody>
          <a:bodyPr wrap="square" lIns="0" tIns="0" rIns="0" bIns="0" rtlCol="0" anchor="ctr">
            <a:normAutofit/>
          </a:bodyPr>
          <a:lstStyle/>
          <a:p>
            <a:pPr algn="l" indent="0" marL="0">
              <a:lnSpc>
                <a:spcPct val="100000"/>
              </a:lnSpc>
              <a:buNone/>
            </a:pPr>
            <a:r>
              <a:rPr lang="en-US" sz="1800" dirty="0">
                <a:solidFill>
                  <a:srgbClr val="FFFFFF"/>
                </a:solidFill>
                <a:latin typeface="DM Sans" pitchFamily="34" charset="0"/>
                <a:ea typeface="DM Sans" pitchFamily="34" charset="-122"/>
                <a:cs typeface="DM Sans" pitchFamily="34" charset="-120"/>
              </a:rPr>
              <a:t>Negotiation Strategy Sessions</a:t>
            </a:r>
            <a:endParaRPr lang="en-US" sz="1800" dirty="0"/>
          </a:p>
        </p:txBody>
      </p:sp>
      <p:sp>
        <p:nvSpPr>
          <p:cNvPr id="15" name="Shape 13"/>
          <p:cNvSpPr/>
          <p:nvPr/>
        </p:nvSpPr>
        <p:spPr>
          <a:xfrm>
            <a:off x="822960" y="4526280"/>
            <a:ext cx="457200" cy="457200"/>
          </a:xfrm>
          <a:prstGeom prst="ellipse">
            <a:avLst/>
          </a:prstGeom>
          <a:solidFill>
            <a:srgbClr val="8AAF8A"/>
          </a:solidFill>
          <a:ln w="12700">
            <a:solidFill>
              <a:srgbClr val="8AAF8A"/>
            </a:solidFill>
            <a:prstDash val="solid"/>
          </a:ln>
        </p:spPr>
      </p:sp>
      <p:sp>
        <p:nvSpPr>
          <p:cNvPr id="16" name="Text 14"/>
          <p:cNvSpPr txBox="1"/>
          <p:nvPr/>
        </p:nvSpPr>
        <p:spPr>
          <a:xfrm>
            <a:off x="822960" y="4526280"/>
            <a:ext cx="457200" cy="457200"/>
          </a:xfrm>
          <a:prstGeom prst="rect">
            <a:avLst/>
          </a:prstGeom>
          <a:noFill/>
          <a:ln/>
        </p:spPr>
        <p:txBody>
          <a:bodyPr wrap="square" lIns="0" tIns="0" rIns="0" bIns="0" rtlCol="0" anchor="ctr">
            <a:normAutofit/>
          </a:bodyPr>
          <a:lstStyle/>
          <a:p>
            <a:pPr algn="ctr" indent="0" marL="0">
              <a:lnSpc>
                <a:spcPct val="100000"/>
              </a:lnSpc>
              <a:buNone/>
            </a:pPr>
            <a:r>
              <a:rPr lang="en-US" sz="1600" b="1" dirty="0">
                <a:solidFill>
                  <a:srgbClr val="1E4A4A"/>
                </a:solidFill>
                <a:latin typeface="Cormorant Garamond" pitchFamily="34" charset="0"/>
                <a:ea typeface="Cormorant Garamond" pitchFamily="34" charset="-122"/>
                <a:cs typeface="Cormorant Garamond" pitchFamily="34" charset="-120"/>
              </a:rPr>
              <a:t>✓</a:t>
            </a:r>
            <a:endParaRPr lang="en-US" sz="1600" dirty="0"/>
          </a:p>
        </p:txBody>
      </p:sp>
      <p:sp>
        <p:nvSpPr>
          <p:cNvPr id="17" name="Text 15"/>
          <p:cNvSpPr txBox="1"/>
          <p:nvPr/>
        </p:nvSpPr>
        <p:spPr>
          <a:xfrm>
            <a:off x="1508760" y="4434840"/>
            <a:ext cx="4754880" cy="640080"/>
          </a:xfrm>
          <a:prstGeom prst="rect">
            <a:avLst/>
          </a:prstGeom>
          <a:noFill/>
          <a:ln/>
        </p:spPr>
        <p:txBody>
          <a:bodyPr wrap="square" lIns="0" tIns="0" rIns="0" bIns="0" rtlCol="0" anchor="ctr">
            <a:normAutofit/>
          </a:bodyPr>
          <a:lstStyle/>
          <a:p>
            <a:pPr algn="l" indent="0" marL="0">
              <a:lnSpc>
                <a:spcPct val="100000"/>
              </a:lnSpc>
              <a:buNone/>
            </a:pPr>
            <a:r>
              <a:rPr lang="en-US" sz="1800" dirty="0">
                <a:solidFill>
                  <a:srgbClr val="FFFFFF"/>
                </a:solidFill>
                <a:latin typeface="DM Sans" pitchFamily="34" charset="0"/>
                <a:ea typeface="DM Sans" pitchFamily="34" charset="-122"/>
                <a:cs typeface="DM Sans" pitchFamily="34" charset="-120"/>
              </a:rPr>
              <a:t>Live Role Playing</a:t>
            </a:r>
            <a:endParaRPr lang="en-US" sz="1800" dirty="0"/>
          </a:p>
        </p:txBody>
      </p:sp>
      <p:sp>
        <p:nvSpPr>
          <p:cNvPr id="18" name="Shape 16"/>
          <p:cNvSpPr/>
          <p:nvPr/>
        </p:nvSpPr>
        <p:spPr>
          <a:xfrm>
            <a:off x="6400800" y="1417320"/>
            <a:ext cx="457200" cy="457200"/>
          </a:xfrm>
          <a:prstGeom prst="ellipse">
            <a:avLst/>
          </a:prstGeom>
          <a:solidFill>
            <a:srgbClr val="8AAF8A"/>
          </a:solidFill>
          <a:ln w="12700">
            <a:solidFill>
              <a:srgbClr val="8AAF8A"/>
            </a:solidFill>
            <a:prstDash val="solid"/>
          </a:ln>
        </p:spPr>
      </p:sp>
      <p:sp>
        <p:nvSpPr>
          <p:cNvPr id="19" name="Text 17"/>
          <p:cNvSpPr txBox="1"/>
          <p:nvPr/>
        </p:nvSpPr>
        <p:spPr>
          <a:xfrm>
            <a:off x="6400800" y="1417320"/>
            <a:ext cx="457200" cy="457200"/>
          </a:xfrm>
          <a:prstGeom prst="rect">
            <a:avLst/>
          </a:prstGeom>
          <a:noFill/>
          <a:ln/>
        </p:spPr>
        <p:txBody>
          <a:bodyPr wrap="square" lIns="0" tIns="0" rIns="0" bIns="0" rtlCol="0" anchor="ctr">
            <a:normAutofit/>
          </a:bodyPr>
          <a:lstStyle/>
          <a:p>
            <a:pPr algn="ctr" indent="0" marL="0">
              <a:lnSpc>
                <a:spcPct val="100000"/>
              </a:lnSpc>
              <a:buNone/>
            </a:pPr>
            <a:r>
              <a:rPr lang="en-US" sz="1600" b="1" dirty="0">
                <a:solidFill>
                  <a:srgbClr val="1E4A4A"/>
                </a:solidFill>
                <a:latin typeface="Cormorant Garamond" pitchFamily="34" charset="0"/>
                <a:ea typeface="Cormorant Garamond" pitchFamily="34" charset="-122"/>
                <a:cs typeface="Cormorant Garamond" pitchFamily="34" charset="-120"/>
              </a:rPr>
              <a:t>✓</a:t>
            </a:r>
            <a:endParaRPr lang="en-US" sz="1600" dirty="0"/>
          </a:p>
        </p:txBody>
      </p:sp>
      <p:sp>
        <p:nvSpPr>
          <p:cNvPr id="20" name="Text 18"/>
          <p:cNvSpPr txBox="1"/>
          <p:nvPr/>
        </p:nvSpPr>
        <p:spPr>
          <a:xfrm>
            <a:off x="7086600" y="1325880"/>
            <a:ext cx="4754880" cy="640080"/>
          </a:xfrm>
          <a:prstGeom prst="rect">
            <a:avLst/>
          </a:prstGeom>
          <a:noFill/>
          <a:ln/>
        </p:spPr>
        <p:txBody>
          <a:bodyPr wrap="square" lIns="0" tIns="0" rIns="0" bIns="0" rtlCol="0" anchor="ctr">
            <a:normAutofit/>
          </a:bodyPr>
          <a:lstStyle/>
          <a:p>
            <a:pPr algn="l" indent="0" marL="0">
              <a:lnSpc>
                <a:spcPct val="100000"/>
              </a:lnSpc>
              <a:buNone/>
            </a:pPr>
            <a:r>
              <a:rPr lang="en-US" sz="1800" dirty="0">
                <a:solidFill>
                  <a:srgbClr val="FFFFFF"/>
                </a:solidFill>
                <a:latin typeface="DM Sans" pitchFamily="34" charset="0"/>
                <a:ea typeface="DM Sans" pitchFamily="34" charset="-122"/>
                <a:cs typeface="DM Sans" pitchFamily="34" charset="-120"/>
              </a:rPr>
              <a:t>Executive Communication Coaching</a:t>
            </a:r>
            <a:endParaRPr lang="en-US" sz="1800" dirty="0"/>
          </a:p>
        </p:txBody>
      </p:sp>
      <p:sp>
        <p:nvSpPr>
          <p:cNvPr id="21" name="Shape 19"/>
          <p:cNvSpPr/>
          <p:nvPr/>
        </p:nvSpPr>
        <p:spPr>
          <a:xfrm>
            <a:off x="6400800" y="2194560"/>
            <a:ext cx="457200" cy="457200"/>
          </a:xfrm>
          <a:prstGeom prst="ellipse">
            <a:avLst/>
          </a:prstGeom>
          <a:solidFill>
            <a:srgbClr val="8AAF8A"/>
          </a:solidFill>
          <a:ln w="12700">
            <a:solidFill>
              <a:srgbClr val="8AAF8A"/>
            </a:solidFill>
            <a:prstDash val="solid"/>
          </a:ln>
        </p:spPr>
      </p:sp>
      <p:sp>
        <p:nvSpPr>
          <p:cNvPr id="22" name="Text 20"/>
          <p:cNvSpPr txBox="1"/>
          <p:nvPr/>
        </p:nvSpPr>
        <p:spPr>
          <a:xfrm>
            <a:off x="6400800" y="2194560"/>
            <a:ext cx="457200" cy="457200"/>
          </a:xfrm>
          <a:prstGeom prst="rect">
            <a:avLst/>
          </a:prstGeom>
          <a:noFill/>
          <a:ln/>
        </p:spPr>
        <p:txBody>
          <a:bodyPr wrap="square" lIns="0" tIns="0" rIns="0" bIns="0" rtlCol="0" anchor="ctr">
            <a:normAutofit/>
          </a:bodyPr>
          <a:lstStyle/>
          <a:p>
            <a:pPr algn="ctr" indent="0" marL="0">
              <a:lnSpc>
                <a:spcPct val="100000"/>
              </a:lnSpc>
              <a:buNone/>
            </a:pPr>
            <a:r>
              <a:rPr lang="en-US" sz="1600" b="1" dirty="0">
                <a:solidFill>
                  <a:srgbClr val="1E4A4A"/>
                </a:solidFill>
                <a:latin typeface="Cormorant Garamond" pitchFamily="34" charset="0"/>
                <a:ea typeface="Cormorant Garamond" pitchFamily="34" charset="-122"/>
                <a:cs typeface="Cormorant Garamond" pitchFamily="34" charset="-120"/>
              </a:rPr>
              <a:t>✓</a:t>
            </a:r>
            <a:endParaRPr lang="en-US" sz="1600" dirty="0"/>
          </a:p>
        </p:txBody>
      </p:sp>
      <p:sp>
        <p:nvSpPr>
          <p:cNvPr id="23" name="Text 21"/>
          <p:cNvSpPr txBox="1"/>
          <p:nvPr/>
        </p:nvSpPr>
        <p:spPr>
          <a:xfrm>
            <a:off x="7086600" y="2103120"/>
            <a:ext cx="4754880" cy="640080"/>
          </a:xfrm>
          <a:prstGeom prst="rect">
            <a:avLst/>
          </a:prstGeom>
          <a:noFill/>
          <a:ln/>
        </p:spPr>
        <p:txBody>
          <a:bodyPr wrap="square" lIns="0" tIns="0" rIns="0" bIns="0" rtlCol="0" anchor="ctr">
            <a:normAutofit/>
          </a:bodyPr>
          <a:lstStyle/>
          <a:p>
            <a:pPr algn="l" indent="0" marL="0">
              <a:lnSpc>
                <a:spcPct val="100000"/>
              </a:lnSpc>
              <a:buNone/>
            </a:pPr>
            <a:r>
              <a:rPr lang="en-US" sz="1800" dirty="0">
                <a:solidFill>
                  <a:srgbClr val="FFFFFF"/>
                </a:solidFill>
                <a:latin typeface="DM Sans" pitchFamily="34" charset="0"/>
                <a:ea typeface="DM Sans" pitchFamily="34" charset="-122"/>
                <a:cs typeface="DM Sans" pitchFamily="34" charset="-120"/>
              </a:rPr>
              <a:t>Career Strategy</a:t>
            </a:r>
            <a:endParaRPr lang="en-US" sz="1800" dirty="0"/>
          </a:p>
        </p:txBody>
      </p:sp>
      <p:sp>
        <p:nvSpPr>
          <p:cNvPr id="24" name="Shape 22"/>
          <p:cNvSpPr/>
          <p:nvPr/>
        </p:nvSpPr>
        <p:spPr>
          <a:xfrm>
            <a:off x="6400800" y="2971800"/>
            <a:ext cx="457200" cy="457200"/>
          </a:xfrm>
          <a:prstGeom prst="ellipse">
            <a:avLst/>
          </a:prstGeom>
          <a:solidFill>
            <a:srgbClr val="8AAF8A"/>
          </a:solidFill>
          <a:ln w="12700">
            <a:solidFill>
              <a:srgbClr val="8AAF8A"/>
            </a:solidFill>
            <a:prstDash val="solid"/>
          </a:ln>
        </p:spPr>
      </p:sp>
      <p:sp>
        <p:nvSpPr>
          <p:cNvPr id="25" name="Text 23"/>
          <p:cNvSpPr txBox="1"/>
          <p:nvPr/>
        </p:nvSpPr>
        <p:spPr>
          <a:xfrm>
            <a:off x="6400800" y="2971800"/>
            <a:ext cx="457200" cy="457200"/>
          </a:xfrm>
          <a:prstGeom prst="rect">
            <a:avLst/>
          </a:prstGeom>
          <a:noFill/>
          <a:ln/>
        </p:spPr>
        <p:txBody>
          <a:bodyPr wrap="square" lIns="0" tIns="0" rIns="0" bIns="0" rtlCol="0" anchor="ctr">
            <a:normAutofit/>
          </a:bodyPr>
          <a:lstStyle/>
          <a:p>
            <a:pPr algn="ctr" indent="0" marL="0">
              <a:lnSpc>
                <a:spcPct val="100000"/>
              </a:lnSpc>
              <a:buNone/>
            </a:pPr>
            <a:r>
              <a:rPr lang="en-US" sz="1600" b="1" dirty="0">
                <a:solidFill>
                  <a:srgbClr val="1E4A4A"/>
                </a:solidFill>
                <a:latin typeface="Cormorant Garamond" pitchFamily="34" charset="0"/>
                <a:ea typeface="Cormorant Garamond" pitchFamily="34" charset="-122"/>
                <a:cs typeface="Cormorant Garamond" pitchFamily="34" charset="-120"/>
              </a:rPr>
              <a:t>✓</a:t>
            </a:r>
            <a:endParaRPr lang="en-US" sz="1600" dirty="0"/>
          </a:p>
        </p:txBody>
      </p:sp>
      <p:sp>
        <p:nvSpPr>
          <p:cNvPr id="26" name="Text 24"/>
          <p:cNvSpPr txBox="1"/>
          <p:nvPr/>
        </p:nvSpPr>
        <p:spPr>
          <a:xfrm>
            <a:off x="7086600" y="2880360"/>
            <a:ext cx="4754880" cy="640080"/>
          </a:xfrm>
          <a:prstGeom prst="rect">
            <a:avLst/>
          </a:prstGeom>
          <a:noFill/>
          <a:ln/>
        </p:spPr>
        <p:txBody>
          <a:bodyPr wrap="square" lIns="0" tIns="0" rIns="0" bIns="0" rtlCol="0" anchor="ctr">
            <a:normAutofit/>
          </a:bodyPr>
          <a:lstStyle/>
          <a:p>
            <a:pPr algn="l" indent="0" marL="0">
              <a:lnSpc>
                <a:spcPct val="100000"/>
              </a:lnSpc>
              <a:buNone/>
            </a:pPr>
            <a:r>
              <a:rPr lang="en-US" sz="1800" dirty="0">
                <a:solidFill>
                  <a:srgbClr val="FFFFFF"/>
                </a:solidFill>
                <a:latin typeface="DM Sans" pitchFamily="34" charset="0"/>
                <a:ea typeface="DM Sans" pitchFamily="34" charset="-122"/>
                <a:cs typeface="DM Sans" pitchFamily="34" charset="-120"/>
              </a:rPr>
              <a:t>Private Community</a:t>
            </a:r>
            <a:endParaRPr lang="en-US" sz="1800" dirty="0"/>
          </a:p>
        </p:txBody>
      </p:sp>
      <p:sp>
        <p:nvSpPr>
          <p:cNvPr id="27" name="Shape 25"/>
          <p:cNvSpPr/>
          <p:nvPr/>
        </p:nvSpPr>
        <p:spPr>
          <a:xfrm>
            <a:off x="6400800" y="3749040"/>
            <a:ext cx="457200" cy="457200"/>
          </a:xfrm>
          <a:prstGeom prst="ellipse">
            <a:avLst/>
          </a:prstGeom>
          <a:solidFill>
            <a:srgbClr val="8AAF8A"/>
          </a:solidFill>
          <a:ln w="12700">
            <a:solidFill>
              <a:srgbClr val="8AAF8A"/>
            </a:solidFill>
            <a:prstDash val="solid"/>
          </a:ln>
        </p:spPr>
      </p:sp>
      <p:sp>
        <p:nvSpPr>
          <p:cNvPr id="28" name="Text 26"/>
          <p:cNvSpPr txBox="1"/>
          <p:nvPr/>
        </p:nvSpPr>
        <p:spPr>
          <a:xfrm>
            <a:off x="6400800" y="3749040"/>
            <a:ext cx="457200" cy="457200"/>
          </a:xfrm>
          <a:prstGeom prst="rect">
            <a:avLst/>
          </a:prstGeom>
          <a:noFill/>
          <a:ln/>
        </p:spPr>
        <p:txBody>
          <a:bodyPr wrap="square" lIns="0" tIns="0" rIns="0" bIns="0" rtlCol="0" anchor="ctr">
            <a:normAutofit/>
          </a:bodyPr>
          <a:lstStyle/>
          <a:p>
            <a:pPr algn="ctr" indent="0" marL="0">
              <a:lnSpc>
                <a:spcPct val="100000"/>
              </a:lnSpc>
              <a:buNone/>
            </a:pPr>
            <a:r>
              <a:rPr lang="en-US" sz="1600" b="1" dirty="0">
                <a:solidFill>
                  <a:srgbClr val="1E4A4A"/>
                </a:solidFill>
                <a:latin typeface="Cormorant Garamond" pitchFamily="34" charset="0"/>
                <a:ea typeface="Cormorant Garamond" pitchFamily="34" charset="-122"/>
                <a:cs typeface="Cormorant Garamond" pitchFamily="34" charset="-120"/>
              </a:rPr>
              <a:t>✓</a:t>
            </a:r>
            <a:endParaRPr lang="en-US" sz="1600" dirty="0"/>
          </a:p>
        </p:txBody>
      </p:sp>
      <p:sp>
        <p:nvSpPr>
          <p:cNvPr id="29" name="Text 27"/>
          <p:cNvSpPr txBox="1"/>
          <p:nvPr/>
        </p:nvSpPr>
        <p:spPr>
          <a:xfrm>
            <a:off x="7086600" y="3657600"/>
            <a:ext cx="4754880" cy="640080"/>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F2B8A8"/>
                </a:solidFill>
                <a:latin typeface="DM Sans" pitchFamily="34" charset="0"/>
                <a:ea typeface="DM Sans" pitchFamily="34" charset="-122"/>
                <a:cs typeface="DM Sans" pitchFamily="34" charset="-120"/>
              </a:rPr>
              <a:t>[PLACEHOLDER: Bonus]</a:t>
            </a:r>
            <a:endParaRPr lang="en-US" sz="1600" dirty="0"/>
          </a:p>
        </p:txBody>
      </p:sp>
      <p:sp>
        <p:nvSpPr>
          <p:cNvPr id="30" name="Shape 28"/>
          <p:cNvSpPr/>
          <p:nvPr/>
        </p:nvSpPr>
        <p:spPr>
          <a:xfrm>
            <a:off x="822960" y="5577840"/>
            <a:ext cx="5486400" cy="731520"/>
          </a:xfrm>
          <a:prstGeom prst="roundRect">
            <a:avLst>
              <a:gd name="adj" fmla="val 15000"/>
            </a:avLst>
          </a:prstGeom>
          <a:solidFill>
            <a:srgbClr val="E1F5EE"/>
          </a:solidFill>
          <a:ln w="12700">
            <a:solidFill>
              <a:srgbClr val="E1F5EE"/>
            </a:solidFill>
            <a:prstDash val="solid"/>
          </a:ln>
        </p:spPr>
      </p:sp>
      <p:sp>
        <p:nvSpPr>
          <p:cNvPr id="31" name="Text 29"/>
          <p:cNvSpPr txBox="1"/>
          <p:nvPr/>
        </p:nvSpPr>
        <p:spPr>
          <a:xfrm>
            <a:off x="1097280" y="5577840"/>
            <a:ext cx="5120640" cy="731520"/>
          </a:xfrm>
          <a:prstGeom prst="rect">
            <a:avLst/>
          </a:prstGeom>
          <a:noFill/>
          <a:ln/>
        </p:spPr>
        <p:txBody>
          <a:bodyPr wrap="square" lIns="0" tIns="0" rIns="0" bIns="0" rtlCol="0" anchor="ctr">
            <a:normAutofit/>
          </a:bodyPr>
          <a:lstStyle/>
          <a:p>
            <a:pPr algn="l" indent="0" marL="0">
              <a:lnSpc>
                <a:spcPct val="100000"/>
              </a:lnSpc>
              <a:buNone/>
            </a:pPr>
            <a:r>
              <a:rPr lang="en-US" sz="2400" b="1" dirty="0">
                <a:solidFill>
                  <a:srgbClr val="1E4A4A"/>
                </a:solidFill>
                <a:latin typeface="Cormorant Garamond" pitchFamily="34" charset="0"/>
                <a:ea typeface="Cormorant Garamond" pitchFamily="34" charset="-122"/>
                <a:cs typeface="Cormorant Garamond" pitchFamily="34" charset="-120"/>
              </a:rPr>
              <a:t>Total value: </a:t>
            </a:r>
            <a:pPr algn="l" indent="0" marL="0">
              <a:lnSpc>
                <a:spcPct val="100000"/>
              </a:lnSpc>
              <a:buNone/>
            </a:pPr>
            <a:r>
              <a:rPr lang="en-US" sz="1600" b="1" dirty="0">
                <a:solidFill>
                  <a:srgbClr val="B85042"/>
                </a:solidFill>
                <a:latin typeface="DM Sans" pitchFamily="34" charset="0"/>
                <a:ea typeface="DM Sans" pitchFamily="34" charset="-122"/>
                <a:cs typeface="DM Sans" pitchFamily="34" charset="-120"/>
              </a:rPr>
              <a:t>[PLACEHOLDER]</a:t>
            </a:r>
            <a:endParaRPr lang="en-US" sz="2400" dirty="0"/>
          </a:p>
        </p:txBody>
      </p:sp>
      <p:sp>
        <p:nvSpPr>
          <p:cNvPr id="25" name="Slide Number Placeholder 0"/>
          <p:cNvSpPr>
            <a:spLocks noGrp="1"/>
          </p:cNvSpPr>
          <p:nvPr>
            <p:ph type="sldNum" sz="quarter" idx="4294967295"/>
          </p:nvPr>
        </p:nvSpPr>
        <p:spPr>
          <a:xfrm>
            <a:off x="11368735"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AAF8A"/>
                </a:solidFill>
                <a:latin typeface="DM Sans"/>
                <a:ea typeface="DM Sans"/>
                <a:cs typeface="DM Sans"/>
              </a:defRPr>
            </a:lvl1pPr>
          </a:lstStyle>
          <a:p>
            <a:pPr algn="r"/>
            <a:fld id="{F7021451-1387-4CA6-816F-3879F97B5CBC}" type="slidenum">
              <a:rPr b="0" lang="en-US"/>
              <a:t>98</a:t>
            </a:fld>
            <a:endParaRPr lang="en-US"/>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AF5EE"/>
        </a:solidFill>
      </p:bgPr>
    </p:bg>
    <p:spTree>
      <p:nvGrpSpPr>
        <p:cNvPr id="1" name=""/>
        <p:cNvGrpSpPr/>
        <p:nvPr/>
      </p:nvGrpSpPr>
      <p:grpSpPr>
        <a:xfrm>
          <a:off x="0" y="0"/>
          <a:ext cx="0" cy="0"/>
          <a:chOff x="0" y="0"/>
          <a:chExt cx="0" cy="0"/>
        </a:xfrm>
      </p:grpSpPr>
      <p:sp>
        <p:nvSpPr>
          <p:cNvPr id="2" name="Text 0"/>
          <p:cNvSpPr txBox="1"/>
          <p:nvPr/>
        </p:nvSpPr>
        <p:spPr>
          <a:xfrm>
            <a:off x="822960" y="1005840"/>
            <a:ext cx="10545775" cy="365760"/>
          </a:xfrm>
          <a:prstGeom prst="rect">
            <a:avLst/>
          </a:prstGeom>
          <a:noFill/>
          <a:ln/>
        </p:spPr>
        <p:txBody>
          <a:bodyPr wrap="square" lIns="0" tIns="0" rIns="0" bIns="0" rtlCol="0" anchor="ctr">
            <a:normAutofit/>
          </a:bodyPr>
          <a:lstStyle/>
          <a:p>
            <a:pPr algn="l" indent="0" marL="0">
              <a:lnSpc>
                <a:spcPct val="100000"/>
              </a:lnSpc>
              <a:buNone/>
            </a:pPr>
            <a:r>
              <a:rPr lang="en-US" sz="1400" b="1" spc="400" kern="0" dirty="0">
                <a:solidFill>
                  <a:srgbClr val="8AAF8A"/>
                </a:solidFill>
                <a:latin typeface="DM Sans" pitchFamily="34" charset="0"/>
                <a:ea typeface="DM Sans" pitchFamily="34" charset="-122"/>
                <a:cs typeface="DM Sans" pitchFamily="34" charset="-120"/>
              </a:rPr>
              <a:t>YOUR INVESTMENT</a:t>
            </a:r>
            <a:endParaRPr lang="en-US" sz="1400" dirty="0"/>
          </a:p>
        </p:txBody>
      </p:sp>
      <p:sp>
        <p:nvSpPr>
          <p:cNvPr id="3" name="Text 1"/>
          <p:cNvSpPr txBox="1"/>
          <p:nvPr/>
        </p:nvSpPr>
        <p:spPr>
          <a:xfrm>
            <a:off x="822960" y="1463040"/>
            <a:ext cx="10545775" cy="2286000"/>
          </a:xfrm>
          <a:prstGeom prst="rect">
            <a:avLst/>
          </a:prstGeom>
          <a:noFill/>
          <a:ln/>
        </p:spPr>
        <p:txBody>
          <a:bodyPr wrap="square" lIns="0" tIns="0" rIns="0" bIns="0" rtlCol="0" anchor="ctr">
            <a:normAutofit/>
          </a:bodyPr>
          <a:lstStyle/>
          <a:p>
            <a:pPr algn="l" indent="0" marL="0">
              <a:lnSpc>
                <a:spcPct val="100000"/>
              </a:lnSpc>
              <a:buNone/>
            </a:pPr>
            <a:r>
              <a:rPr lang="en-US" sz="3200" b="1" dirty="0">
                <a:solidFill>
                  <a:srgbClr val="B85042"/>
                </a:solidFill>
                <a:latin typeface="DM Sans" pitchFamily="34" charset="0"/>
                <a:ea typeface="DM Sans" pitchFamily="34" charset="-122"/>
                <a:cs typeface="DM Sans" pitchFamily="34" charset="-120"/>
              </a:rPr>
              <a:t>[PLACEHOLDER: price]</a:t>
            </a:r>
            <a:endParaRPr lang="en-US" sz="3200" dirty="0"/>
          </a:p>
        </p:txBody>
      </p:sp>
      <p:sp>
        <p:nvSpPr>
          <p:cNvPr id="4" name="Text 2"/>
          <p:cNvSpPr txBox="1"/>
          <p:nvPr/>
        </p:nvSpPr>
        <p:spPr>
          <a:xfrm>
            <a:off x="822960" y="3977640"/>
            <a:ext cx="9448495" cy="1280160"/>
          </a:xfrm>
          <a:prstGeom prst="rect">
            <a:avLst/>
          </a:prstGeom>
          <a:noFill/>
          <a:ln/>
        </p:spPr>
        <p:txBody>
          <a:bodyPr wrap="square" lIns="0" tIns="0" rIns="0" bIns="0" rtlCol="0" anchor="t">
            <a:normAutofit/>
          </a:bodyPr>
          <a:lstStyle/>
          <a:p>
            <a:pPr algn="l" indent="0" marL="0">
              <a:lnSpc>
                <a:spcPct val="115000"/>
              </a:lnSpc>
              <a:buNone/>
            </a:pPr>
            <a:r>
              <a:rPr lang="en-US" sz="2600" dirty="0">
                <a:solidFill>
                  <a:srgbClr val="1B2B2B"/>
                </a:solidFill>
                <a:latin typeface="DM Sans" pitchFamily="34" charset="0"/>
                <a:ea typeface="DM Sans" pitchFamily="34" charset="-122"/>
                <a:cs typeface="DM Sans" pitchFamily="34" charset="-120"/>
              </a:rPr>
              <a:t>One successful negotiation can return many times this investment. And you keep the skills for the rest of your career.</a:t>
            </a:r>
            <a:endParaRPr lang="en-US" sz="2600" dirty="0"/>
          </a:p>
        </p:txBody>
      </p:sp>
      <p:sp>
        <p:nvSpPr>
          <p:cNvPr id="25" name="Slide Number Placeholder 0"/>
          <p:cNvSpPr>
            <a:spLocks noGrp="1"/>
          </p:cNvSpPr>
          <p:nvPr>
            <p:ph type="sldNum" sz="quarter" idx="4294967295"/>
          </p:nvPr>
        </p:nvSpPr>
        <p:spPr>
          <a:xfrm>
            <a:off x="11368735"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AA6A3"/>
                </a:solidFill>
                <a:latin typeface="DM Sans"/>
                <a:ea typeface="DM Sans"/>
                <a:cs typeface="DM Sans"/>
              </a:defRPr>
            </a:lvl1pPr>
          </a:lstStyle>
          <a:p>
            <a:pPr algn="r"/>
            <a:fld id="{F7021451-1387-4CA6-816F-3879F97B5CBC}" type="slidenum">
              <a:rPr b="0" lang="en-US"/>
              <a:t>99</a:t>
            </a:fld>
            <a:endParaRPr lang="en-US"/>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AF5EE"/>
        </a:solidFill>
      </p:bgPr>
    </p:bg>
    <p:spTree>
      <p:nvGrpSpPr>
        <p:cNvPr id="1" name=""/>
        <p:cNvGrpSpPr/>
        <p:nvPr/>
      </p:nvGrpSpPr>
      <p:grpSpPr>
        <a:xfrm>
          <a:off x="0" y="0"/>
          <a:ext cx="0" cy="0"/>
          <a:chOff x="0" y="0"/>
          <a:chExt cx="0" cy="0"/>
        </a:xfrm>
      </p:grpSpPr>
      <p:sp>
        <p:nvSpPr>
          <p:cNvPr id="2" name="Text 0"/>
          <p:cNvSpPr txBox="1"/>
          <p:nvPr/>
        </p:nvSpPr>
        <p:spPr>
          <a:xfrm>
            <a:off x="822960" y="1188720"/>
            <a:ext cx="10545775" cy="365760"/>
          </a:xfrm>
          <a:prstGeom prst="rect">
            <a:avLst/>
          </a:prstGeom>
          <a:noFill/>
          <a:ln/>
        </p:spPr>
        <p:txBody>
          <a:bodyPr wrap="square" lIns="0" tIns="0" rIns="0" bIns="0" rtlCol="0" anchor="ctr">
            <a:normAutofit/>
          </a:bodyPr>
          <a:lstStyle/>
          <a:p>
            <a:pPr algn="l" indent="0" marL="0">
              <a:lnSpc>
                <a:spcPct val="100000"/>
              </a:lnSpc>
              <a:buNone/>
            </a:pPr>
            <a:r>
              <a:rPr lang="en-US" sz="1400" b="1" spc="400" kern="0" dirty="0">
                <a:solidFill>
                  <a:srgbClr val="8AAF8A"/>
                </a:solidFill>
                <a:latin typeface="DM Sans" pitchFamily="34" charset="0"/>
                <a:ea typeface="DM Sans" pitchFamily="34" charset="-122"/>
                <a:cs typeface="DM Sans" pitchFamily="34" charset="-120"/>
              </a:rPr>
              <a:t>WHAT I CAN'T PROMISE</a:t>
            </a:r>
            <a:endParaRPr lang="en-US" sz="1400" dirty="0"/>
          </a:p>
        </p:txBody>
      </p:sp>
      <p:sp>
        <p:nvSpPr>
          <p:cNvPr id="3" name="Text 1"/>
          <p:cNvSpPr txBox="1"/>
          <p:nvPr/>
        </p:nvSpPr>
        <p:spPr>
          <a:xfrm>
            <a:off x="822960" y="1691640"/>
            <a:ext cx="10180015" cy="2651760"/>
          </a:xfrm>
          <a:prstGeom prst="rect">
            <a:avLst/>
          </a:prstGeom>
          <a:noFill/>
          <a:ln/>
        </p:spPr>
        <p:txBody>
          <a:bodyPr wrap="square" lIns="0" tIns="0" rIns="0" bIns="0" rtlCol="0" anchor="t">
            <a:normAutofit/>
          </a:bodyPr>
          <a:lstStyle/>
          <a:p>
            <a:pPr algn="l" indent="0" marL="0">
              <a:lnSpc>
                <a:spcPct val="95000"/>
              </a:lnSpc>
              <a:buNone/>
            </a:pPr>
            <a:r>
              <a:rPr lang="en-US" sz="3700" b="1" dirty="0">
                <a:solidFill>
                  <a:srgbClr val="1B2B2B"/>
                </a:solidFill>
                <a:latin typeface="Cormorant Garamond" pitchFamily="34" charset="0"/>
                <a:ea typeface="Cormorant Garamond" pitchFamily="34" charset="-122"/>
                <a:cs typeface="Cormorant Garamond" pitchFamily="34" charset="-120"/>
              </a:rPr>
              <a:t>I can't guarantee how another person </a:t>
            </a:r>
            <a:pPr algn="l" indent="0" marL="0">
              <a:lnSpc>
                <a:spcPct val="95000"/>
              </a:lnSpc>
              <a:buNone/>
            </a:pPr>
            <a:r>
              <a:rPr lang="en-US" sz="3700" b="1" dirty="0">
                <a:solidFill>
                  <a:srgbClr val="1B2B2B"/>
                </a:solidFill>
                <a:highlight>
                  <a:srgbClr val="CFE3CF"/>
                </a:highlight>
                <a:latin typeface="Cormorant Garamond" pitchFamily="34" charset="0"/>
                <a:ea typeface="Cormorant Garamond" pitchFamily="34" charset="-122"/>
                <a:cs typeface="Cormorant Garamond" pitchFamily="34" charset="-120"/>
              </a:rPr>
              <a:t>or organization will respond.</a:t>
            </a:r>
            <a:endParaRPr lang="en-US" sz="3700" dirty="0"/>
          </a:p>
        </p:txBody>
      </p:sp>
      <p:sp>
        <p:nvSpPr>
          <p:cNvPr id="4" name="Text 2"/>
          <p:cNvSpPr txBox="1"/>
          <p:nvPr/>
        </p:nvSpPr>
        <p:spPr>
          <a:xfrm>
            <a:off x="822960" y="4572000"/>
            <a:ext cx="9265615" cy="1463040"/>
          </a:xfrm>
          <a:prstGeom prst="rect">
            <a:avLst/>
          </a:prstGeom>
          <a:noFill/>
          <a:ln/>
        </p:spPr>
        <p:txBody>
          <a:bodyPr wrap="square" lIns="0" tIns="0" rIns="0" bIns="0" rtlCol="0" anchor="t">
            <a:normAutofit/>
          </a:bodyPr>
          <a:lstStyle/>
          <a:p>
            <a:pPr algn="l" indent="0" marL="0">
              <a:lnSpc>
                <a:spcPct val="115000"/>
              </a:lnSpc>
              <a:buNone/>
            </a:pPr>
            <a:r>
              <a:rPr lang="en-US" sz="2200" dirty="0">
                <a:solidFill>
                  <a:srgbClr val="5E6B68"/>
                </a:solidFill>
                <a:latin typeface="DM Sans" pitchFamily="34" charset="0"/>
                <a:ea typeface="DM Sans" pitchFamily="34" charset="-122"/>
                <a:cs typeface="DM Sans" pitchFamily="34" charset="-120"/>
              </a:rPr>
              <a:t>Anyone who tells you otherwise is selling you something.</a:t>
            </a:r>
            <a:endParaRPr lang="en-US" sz="2200" dirty="0"/>
          </a:p>
        </p:txBody>
      </p:sp>
      <p:sp>
        <p:nvSpPr>
          <p:cNvPr id="25" name="Slide Number Placeholder 0"/>
          <p:cNvSpPr>
            <a:spLocks noGrp="1"/>
          </p:cNvSpPr>
          <p:nvPr>
            <p:ph type="sldNum" sz="quarter" idx="4294967295"/>
          </p:nvPr>
        </p:nvSpPr>
        <p:spPr>
          <a:xfrm>
            <a:off x="11368735"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AA6A3"/>
                </a:solidFill>
                <a:latin typeface="DM Sans"/>
                <a:ea typeface="DM Sans"/>
                <a:cs typeface="DM Sans"/>
              </a:defRPr>
            </a:lvl1pPr>
          </a:lstStyle>
          <a:p>
            <a:pPr algn="r"/>
            <a:fld id="{F7021451-1387-4CA6-816F-3879F97B5CBC}" type="slidenum">
              <a:rPr b="0" lang="en-US"/>
              <a:t>100</a:t>
            </a:fld>
            <a:endParaRPr lang="en-US"/>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1E4A4A"/>
        </a:solidFill>
      </p:bgPr>
    </p:bg>
    <p:spTree>
      <p:nvGrpSpPr>
        <p:cNvPr id="1" name=""/>
        <p:cNvGrpSpPr/>
        <p:nvPr/>
      </p:nvGrpSpPr>
      <p:grpSpPr>
        <a:xfrm>
          <a:off x="0" y="0"/>
          <a:ext cx="0" cy="0"/>
          <a:chOff x="0" y="0"/>
          <a:chExt cx="0" cy="0"/>
        </a:xfrm>
      </p:grpSpPr>
      <p:sp>
        <p:nvSpPr>
          <p:cNvPr id="2" name="Text 0"/>
          <p:cNvSpPr txBox="1"/>
          <p:nvPr/>
        </p:nvSpPr>
        <p:spPr>
          <a:xfrm>
            <a:off x="1097280" y="1097280"/>
            <a:ext cx="9997135" cy="2926080"/>
          </a:xfrm>
          <a:prstGeom prst="rect">
            <a:avLst/>
          </a:prstGeom>
          <a:noFill/>
          <a:ln/>
        </p:spPr>
        <p:txBody>
          <a:bodyPr wrap="square" lIns="0" tIns="0" rIns="0" bIns="0" rtlCol="0" anchor="b">
            <a:normAutofit/>
          </a:bodyPr>
          <a:lstStyle/>
          <a:p>
            <a:pPr algn="ctr" indent="0" marL="0">
              <a:lnSpc>
                <a:spcPct val="95000"/>
              </a:lnSpc>
              <a:buNone/>
            </a:pPr>
            <a:r>
              <a:rPr lang="en-US" sz="4800" b="1" dirty="0">
                <a:solidFill>
                  <a:srgbClr val="FFFFFF"/>
                </a:solidFill>
                <a:latin typeface="Cormorant Garamond" pitchFamily="34" charset="0"/>
                <a:ea typeface="Cormorant Garamond" pitchFamily="34" charset="-122"/>
                <a:cs typeface="Cormorant Garamond" pitchFamily="34" charset="-120"/>
              </a:rPr>
              <a:t>What I </a:t>
            </a:r>
            <a:pPr algn="ctr" indent="0" marL="0">
              <a:lnSpc>
                <a:spcPct val="95000"/>
              </a:lnSpc>
              <a:buNone/>
            </a:pPr>
            <a:r>
              <a:rPr lang="en-US" sz="4800" b="1" dirty="0">
                <a:solidFill>
                  <a:srgbClr val="B7D3B7"/>
                </a:solidFill>
                <a:latin typeface="Cormorant Garamond" pitchFamily="34" charset="0"/>
                <a:ea typeface="Cormorant Garamond" pitchFamily="34" charset="-122"/>
                <a:cs typeface="Cormorant Garamond" pitchFamily="34" charset="-120"/>
              </a:rPr>
              <a:t>can</a:t>
            </a:r>
            <a:pPr algn="ctr" indent="0" marL="0">
              <a:lnSpc>
                <a:spcPct val="95000"/>
              </a:lnSpc>
              <a:buNone/>
            </a:pPr>
            <a:r>
              <a:rPr lang="en-US" sz="4800" b="1" dirty="0">
                <a:solidFill>
                  <a:srgbClr val="FFFFFF"/>
                </a:solidFill>
                <a:latin typeface="Cormorant Garamond" pitchFamily="34" charset="0"/>
                <a:ea typeface="Cormorant Garamond" pitchFamily="34" charset="-122"/>
                <a:cs typeface="Cormorant Garamond" pitchFamily="34" charset="-120"/>
              </a:rPr>
              <a:t> promise you</a:t>
            </a:r>
            <a:endParaRPr lang="en-US" sz="4800" dirty="0"/>
          </a:p>
        </p:txBody>
      </p:sp>
      <p:sp>
        <p:nvSpPr>
          <p:cNvPr id="3" name="Text 1"/>
          <p:cNvSpPr txBox="1"/>
          <p:nvPr/>
        </p:nvSpPr>
        <p:spPr>
          <a:xfrm>
            <a:off x="1645920" y="4297680"/>
            <a:ext cx="8899855" cy="1463040"/>
          </a:xfrm>
          <a:prstGeom prst="rect">
            <a:avLst/>
          </a:prstGeom>
          <a:noFill/>
          <a:ln/>
        </p:spPr>
        <p:txBody>
          <a:bodyPr wrap="square" lIns="0" tIns="0" rIns="0" bIns="0" rtlCol="0" anchor="t">
            <a:normAutofit/>
          </a:bodyPr>
          <a:lstStyle/>
          <a:p>
            <a:pPr algn="ctr" indent="0" marL="0">
              <a:lnSpc>
                <a:spcPct val="115000"/>
              </a:lnSpc>
              <a:buNone/>
            </a:pPr>
            <a:r>
              <a:rPr lang="en-US" sz="2000" dirty="0">
                <a:solidFill>
                  <a:srgbClr val="E1F5EE"/>
                </a:solidFill>
                <a:latin typeface="DM Sans" pitchFamily="34" charset="0"/>
                <a:ea typeface="DM Sans" pitchFamily="34" charset="-122"/>
                <a:cs typeface="DM Sans" pitchFamily="34" charset="-120"/>
              </a:rPr>
              <a:t>You will leave this experience thinking differently, communicating differently and showing up differently than when you arrived.</a:t>
            </a:r>
            <a:endParaRPr lang="en-US" sz="2000" dirty="0"/>
          </a:p>
        </p:txBody>
      </p:sp>
      <p:sp>
        <p:nvSpPr>
          <p:cNvPr id="25" name="Slide Number Placeholder 0"/>
          <p:cNvSpPr>
            <a:spLocks noGrp="1"/>
          </p:cNvSpPr>
          <p:nvPr>
            <p:ph type="sldNum" sz="quarter" idx="4294967295"/>
          </p:nvPr>
        </p:nvSpPr>
        <p:spPr>
          <a:xfrm>
            <a:off x="11368735"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AAF8A"/>
                </a:solidFill>
                <a:latin typeface="DM Sans"/>
                <a:ea typeface="DM Sans"/>
                <a:cs typeface="DM Sans"/>
              </a:defRPr>
            </a:lvl1pPr>
          </a:lstStyle>
          <a:p>
            <a:pPr algn="r"/>
            <a:fld id="{F7021451-1387-4CA6-816F-3879F97B5CBC}" type="slidenum">
              <a:rPr b="0" lang="en-US"/>
              <a:t>101</a:t>
            </a:fld>
            <a:endParaRPr lang="en-US"/>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FAF5EE"/>
        </a:solidFill>
      </p:bgPr>
    </p:bg>
    <p:spTree>
      <p:nvGrpSpPr>
        <p:cNvPr id="1" name=""/>
        <p:cNvGrpSpPr/>
        <p:nvPr/>
      </p:nvGrpSpPr>
      <p:grpSpPr>
        <a:xfrm>
          <a:off x="0" y="0"/>
          <a:ext cx="0" cy="0"/>
          <a:chOff x="0" y="0"/>
          <a:chExt cx="0" cy="0"/>
        </a:xfrm>
      </p:grpSpPr>
      <p:sp>
        <p:nvSpPr>
          <p:cNvPr id="2" name="Text 0"/>
          <p:cNvSpPr txBox="1"/>
          <p:nvPr/>
        </p:nvSpPr>
        <p:spPr>
          <a:xfrm>
            <a:off x="822960" y="1188720"/>
            <a:ext cx="10545775" cy="365760"/>
          </a:xfrm>
          <a:prstGeom prst="rect">
            <a:avLst/>
          </a:prstGeom>
          <a:noFill/>
          <a:ln/>
        </p:spPr>
        <p:txBody>
          <a:bodyPr wrap="square" lIns="0" tIns="0" rIns="0" bIns="0" rtlCol="0" anchor="ctr">
            <a:normAutofit/>
          </a:bodyPr>
          <a:lstStyle/>
          <a:p>
            <a:pPr algn="l" indent="0" marL="0">
              <a:lnSpc>
                <a:spcPct val="100000"/>
              </a:lnSpc>
              <a:buNone/>
            </a:pPr>
            <a:r>
              <a:rPr lang="en-US" sz="1400" b="1" spc="400" kern="0" dirty="0">
                <a:solidFill>
                  <a:srgbClr val="8AAF8A"/>
                </a:solidFill>
                <a:latin typeface="DM Sans" pitchFamily="34" charset="0"/>
                <a:ea typeface="DM Sans" pitchFamily="34" charset="-122"/>
                <a:cs typeface="DM Sans" pitchFamily="34" charset="-120"/>
              </a:rPr>
              <a:t>MY COMMITMENT</a:t>
            </a:r>
            <a:endParaRPr lang="en-US" sz="1400" dirty="0"/>
          </a:p>
        </p:txBody>
      </p:sp>
      <p:sp>
        <p:nvSpPr>
          <p:cNvPr id="3" name="Text 1"/>
          <p:cNvSpPr txBox="1"/>
          <p:nvPr/>
        </p:nvSpPr>
        <p:spPr>
          <a:xfrm>
            <a:off x="822960" y="1691640"/>
            <a:ext cx="10180015" cy="2651760"/>
          </a:xfrm>
          <a:prstGeom prst="rect">
            <a:avLst/>
          </a:prstGeom>
          <a:noFill/>
          <a:ln/>
        </p:spPr>
        <p:txBody>
          <a:bodyPr wrap="square" lIns="0" tIns="0" rIns="0" bIns="0" rtlCol="0" anchor="t">
            <a:normAutofit/>
          </a:bodyPr>
          <a:lstStyle/>
          <a:p>
            <a:pPr algn="l" indent="0" marL="0">
              <a:lnSpc>
                <a:spcPct val="95000"/>
              </a:lnSpc>
              <a:buNone/>
            </a:pPr>
            <a:r>
              <a:rPr lang="en-US" sz="4300" b="1" dirty="0">
                <a:solidFill>
                  <a:srgbClr val="1B2B2B"/>
                </a:solidFill>
                <a:latin typeface="Cormorant Garamond" pitchFamily="34" charset="0"/>
                <a:ea typeface="Cormorant Garamond" pitchFamily="34" charset="-122"/>
                <a:cs typeface="Cormorant Garamond" pitchFamily="34" charset="-120"/>
              </a:rPr>
              <a:t>Transformation is something </a:t>
            </a:r>
            <a:pPr algn="l" indent="0" marL="0">
              <a:lnSpc>
                <a:spcPct val="95000"/>
              </a:lnSpc>
              <a:buNone/>
            </a:pPr>
            <a:r>
              <a:rPr lang="en-US" sz="4300" b="1" dirty="0">
                <a:solidFill>
                  <a:srgbClr val="1B2B2B"/>
                </a:solidFill>
                <a:highlight>
                  <a:srgbClr val="CFE3CF"/>
                </a:highlight>
                <a:latin typeface="Cormorant Garamond" pitchFamily="34" charset="0"/>
                <a:ea typeface="Cormorant Garamond" pitchFamily="34" charset="-122"/>
                <a:cs typeface="Cormorant Garamond" pitchFamily="34" charset="-120"/>
              </a:rPr>
              <a:t>we create together.</a:t>
            </a:r>
            <a:endParaRPr lang="en-US" sz="4300" dirty="0"/>
          </a:p>
        </p:txBody>
      </p:sp>
      <p:sp>
        <p:nvSpPr>
          <p:cNvPr id="4" name="Text 2"/>
          <p:cNvSpPr txBox="1"/>
          <p:nvPr/>
        </p:nvSpPr>
        <p:spPr>
          <a:xfrm>
            <a:off x="822960" y="4572000"/>
            <a:ext cx="9265615" cy="1463040"/>
          </a:xfrm>
          <a:prstGeom prst="rect">
            <a:avLst/>
          </a:prstGeom>
          <a:noFill/>
          <a:ln/>
        </p:spPr>
        <p:txBody>
          <a:bodyPr wrap="square" lIns="0" tIns="0" rIns="0" bIns="0" rtlCol="0" anchor="t">
            <a:normAutofit/>
          </a:bodyPr>
          <a:lstStyle/>
          <a:p>
            <a:pPr algn="l" indent="0" marL="0">
              <a:lnSpc>
                <a:spcPct val="115000"/>
              </a:lnSpc>
              <a:buNone/>
            </a:pPr>
            <a:r>
              <a:rPr lang="en-US" sz="2200" dirty="0">
                <a:solidFill>
                  <a:srgbClr val="5E6B68"/>
                </a:solidFill>
                <a:latin typeface="DM Sans" pitchFamily="34" charset="0"/>
                <a:ea typeface="DM Sans" pitchFamily="34" charset="-122"/>
                <a:cs typeface="DM Sans" pitchFamily="34" charset="-120"/>
              </a:rPr>
              <a:t>If you show up, do the work, participate in the coaching and fully engage, I'll be there every step of the way to challenge you and support you.</a:t>
            </a:r>
            <a:endParaRPr lang="en-US" sz="2200" dirty="0"/>
          </a:p>
        </p:txBody>
      </p:sp>
      <p:sp>
        <p:nvSpPr>
          <p:cNvPr id="25" name="Slide Number Placeholder 0"/>
          <p:cNvSpPr>
            <a:spLocks noGrp="1"/>
          </p:cNvSpPr>
          <p:nvPr>
            <p:ph type="sldNum" sz="quarter" idx="4294967295"/>
          </p:nvPr>
        </p:nvSpPr>
        <p:spPr>
          <a:xfrm>
            <a:off x="11368735"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AA6A3"/>
                </a:solidFill>
                <a:latin typeface="DM Sans"/>
                <a:ea typeface="DM Sans"/>
                <a:cs typeface="DM Sans"/>
              </a:defRPr>
            </a:lvl1pPr>
          </a:lstStyle>
          <a:p>
            <a:pPr algn="r"/>
            <a:fld id="{F7021451-1387-4CA6-816F-3879F97B5CBC}" type="slidenum">
              <a:rPr b="0" lang="en-US"/>
              <a:t>102</a:t>
            </a:fld>
            <a:endParaRPr lang="en-US"/>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solidFill>
          <a:srgbClr val="FAF5EE"/>
        </a:solidFill>
      </p:bgPr>
    </p:bg>
    <p:spTree>
      <p:nvGrpSpPr>
        <p:cNvPr id="1" name=""/>
        <p:cNvGrpSpPr/>
        <p:nvPr/>
      </p:nvGrpSpPr>
      <p:grpSpPr>
        <a:xfrm>
          <a:off x="0" y="0"/>
          <a:ext cx="0" cy="0"/>
          <a:chOff x="0" y="0"/>
          <a:chExt cx="0" cy="0"/>
        </a:xfrm>
      </p:grpSpPr>
      <p:sp>
        <p:nvSpPr>
          <p:cNvPr id="2" name="Text 0"/>
          <p:cNvSpPr txBox="1"/>
          <p:nvPr/>
        </p:nvSpPr>
        <p:spPr>
          <a:xfrm>
            <a:off x="822960" y="1005840"/>
            <a:ext cx="10545775" cy="365760"/>
          </a:xfrm>
          <a:prstGeom prst="rect">
            <a:avLst/>
          </a:prstGeom>
          <a:noFill/>
          <a:ln/>
        </p:spPr>
        <p:txBody>
          <a:bodyPr wrap="square" lIns="0" tIns="0" rIns="0" bIns="0" rtlCol="0" anchor="ctr">
            <a:normAutofit/>
          </a:bodyPr>
          <a:lstStyle/>
          <a:p>
            <a:pPr algn="l" indent="0" marL="0">
              <a:lnSpc>
                <a:spcPct val="100000"/>
              </a:lnSpc>
              <a:buNone/>
            </a:pPr>
            <a:r>
              <a:rPr lang="en-US" sz="1400" b="1" spc="400" kern="0" dirty="0">
                <a:solidFill>
                  <a:srgbClr val="8AAF8A"/>
                </a:solidFill>
                <a:latin typeface="DM Sans" pitchFamily="34" charset="0"/>
                <a:ea typeface="DM Sans" pitchFamily="34" charset="-122"/>
                <a:cs typeface="DM Sans" pitchFamily="34" charset="-120"/>
              </a:rPr>
              <a:t>THE COHORT IS INTENTIONALLY SMALL</a:t>
            </a:r>
            <a:endParaRPr lang="en-US" sz="1400" dirty="0"/>
          </a:p>
        </p:txBody>
      </p:sp>
      <p:sp>
        <p:nvSpPr>
          <p:cNvPr id="3" name="Text 1"/>
          <p:cNvSpPr txBox="1"/>
          <p:nvPr/>
        </p:nvSpPr>
        <p:spPr>
          <a:xfrm>
            <a:off x="822960" y="1463040"/>
            <a:ext cx="10545775" cy="2286000"/>
          </a:xfrm>
          <a:prstGeom prst="rect">
            <a:avLst/>
          </a:prstGeom>
          <a:noFill/>
          <a:ln/>
        </p:spPr>
        <p:txBody>
          <a:bodyPr wrap="square" lIns="0" tIns="0" rIns="0" bIns="0" rtlCol="0" anchor="ctr">
            <a:normAutofit/>
          </a:bodyPr>
          <a:lstStyle/>
          <a:p>
            <a:pPr algn="l" indent="0" marL="0">
              <a:lnSpc>
                <a:spcPct val="100000"/>
              </a:lnSpc>
              <a:buNone/>
            </a:pPr>
            <a:r>
              <a:rPr lang="en-US" sz="3200" b="1" dirty="0">
                <a:solidFill>
                  <a:srgbClr val="B85042"/>
                </a:solidFill>
                <a:latin typeface="DM Sans" pitchFamily="34" charset="0"/>
                <a:ea typeface="DM Sans" pitchFamily="34" charset="-122"/>
                <a:cs typeface="DM Sans" pitchFamily="34" charset="-120"/>
              </a:rPr>
              <a:t>[PLACEHOLDER: # seats]</a:t>
            </a:r>
            <a:endParaRPr lang="en-US" sz="3200" dirty="0"/>
          </a:p>
        </p:txBody>
      </p:sp>
      <p:sp>
        <p:nvSpPr>
          <p:cNvPr id="4" name="Text 2"/>
          <p:cNvSpPr txBox="1"/>
          <p:nvPr/>
        </p:nvSpPr>
        <p:spPr>
          <a:xfrm>
            <a:off x="822960" y="3977640"/>
            <a:ext cx="9448495" cy="1280160"/>
          </a:xfrm>
          <a:prstGeom prst="rect">
            <a:avLst/>
          </a:prstGeom>
          <a:noFill/>
          <a:ln/>
        </p:spPr>
        <p:txBody>
          <a:bodyPr wrap="square" lIns="0" tIns="0" rIns="0" bIns="0" rtlCol="0" anchor="t">
            <a:normAutofit/>
          </a:bodyPr>
          <a:lstStyle/>
          <a:p>
            <a:pPr algn="l" indent="0" marL="0">
              <a:lnSpc>
                <a:spcPct val="115000"/>
              </a:lnSpc>
              <a:buNone/>
            </a:pPr>
            <a:r>
              <a:rPr lang="en-US" sz="2600" dirty="0">
                <a:solidFill>
                  <a:srgbClr val="1B2B2B"/>
                </a:solidFill>
                <a:latin typeface="DM Sans" pitchFamily="34" charset="0"/>
                <a:ea typeface="DM Sans" pitchFamily="34" charset="-122"/>
                <a:cs typeface="DM Sans" pitchFamily="34" charset="-120"/>
              </a:rPr>
              <a:t>So I can personally coach every woman in the room. Once the seats are filled, enrollment closes.</a:t>
            </a:r>
            <a:endParaRPr lang="en-US" sz="2600" dirty="0"/>
          </a:p>
        </p:txBody>
      </p:sp>
      <p:sp>
        <p:nvSpPr>
          <p:cNvPr id="25" name="Slide Number Placeholder 0"/>
          <p:cNvSpPr>
            <a:spLocks noGrp="1"/>
          </p:cNvSpPr>
          <p:nvPr>
            <p:ph type="sldNum" sz="quarter" idx="4294967295"/>
          </p:nvPr>
        </p:nvSpPr>
        <p:spPr>
          <a:xfrm>
            <a:off x="11368735"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AA6A3"/>
                </a:solidFill>
                <a:latin typeface="DM Sans"/>
                <a:ea typeface="DM Sans"/>
                <a:cs typeface="DM Sans"/>
              </a:defRPr>
            </a:lvl1pPr>
          </a:lstStyle>
          <a:p>
            <a:pPr algn="r"/>
            <a:fld id="{F7021451-1387-4CA6-816F-3879F97B5CBC}" type="slidenum">
              <a:rPr b="0" lang="en-US"/>
              <a:t>103</a:t>
            </a:fld>
            <a:endParaRPr lang="en-US"/>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bg>
      <p:bgPr>
        <a:solidFill>
          <a:srgbClr val="FAF5EE"/>
        </a:solidFill>
      </p:bgPr>
    </p:bg>
    <p:spTree>
      <p:nvGrpSpPr>
        <p:cNvPr id="1" name=""/>
        <p:cNvGrpSpPr/>
        <p:nvPr/>
      </p:nvGrpSpPr>
      <p:grpSpPr>
        <a:xfrm>
          <a:off x="0" y="0"/>
          <a:ext cx="0" cy="0"/>
          <a:chOff x="0" y="0"/>
          <a:chExt cx="0" cy="0"/>
        </a:xfrm>
      </p:grpSpPr>
      <p:sp>
        <p:nvSpPr>
          <p:cNvPr id="2" name="Text 0"/>
          <p:cNvSpPr txBox="1"/>
          <p:nvPr/>
        </p:nvSpPr>
        <p:spPr>
          <a:xfrm>
            <a:off x="822960" y="1005840"/>
            <a:ext cx="10545775" cy="365760"/>
          </a:xfrm>
          <a:prstGeom prst="rect">
            <a:avLst/>
          </a:prstGeom>
          <a:noFill/>
          <a:ln/>
        </p:spPr>
        <p:txBody>
          <a:bodyPr wrap="square" lIns="0" tIns="0" rIns="0" bIns="0" rtlCol="0" anchor="ctr">
            <a:normAutofit/>
          </a:bodyPr>
          <a:lstStyle/>
          <a:p>
            <a:pPr algn="l" indent="0" marL="0">
              <a:lnSpc>
                <a:spcPct val="100000"/>
              </a:lnSpc>
              <a:buNone/>
            </a:pPr>
            <a:r>
              <a:rPr lang="en-US" sz="1400" b="1" spc="400" kern="0" dirty="0">
                <a:solidFill>
                  <a:srgbClr val="8AAF8A"/>
                </a:solidFill>
                <a:latin typeface="DM Sans" pitchFamily="34" charset="0"/>
                <a:ea typeface="DM Sans" pitchFamily="34" charset="-122"/>
                <a:cs typeface="DM Sans" pitchFamily="34" charset="-120"/>
              </a:rPr>
              <a:t>THE NEXT COHORT BEGINS</a:t>
            </a:r>
            <a:endParaRPr lang="en-US" sz="1400" dirty="0"/>
          </a:p>
        </p:txBody>
      </p:sp>
      <p:sp>
        <p:nvSpPr>
          <p:cNvPr id="3" name="Text 1"/>
          <p:cNvSpPr txBox="1"/>
          <p:nvPr/>
        </p:nvSpPr>
        <p:spPr>
          <a:xfrm>
            <a:off x="822960" y="1463040"/>
            <a:ext cx="10545775" cy="2286000"/>
          </a:xfrm>
          <a:prstGeom prst="rect">
            <a:avLst/>
          </a:prstGeom>
          <a:noFill/>
          <a:ln/>
        </p:spPr>
        <p:txBody>
          <a:bodyPr wrap="square" lIns="0" tIns="0" rIns="0" bIns="0" rtlCol="0" anchor="ctr">
            <a:normAutofit/>
          </a:bodyPr>
          <a:lstStyle/>
          <a:p>
            <a:pPr algn="l" indent="0" marL="0">
              <a:lnSpc>
                <a:spcPct val="100000"/>
              </a:lnSpc>
              <a:buNone/>
            </a:pPr>
            <a:r>
              <a:rPr lang="en-US" sz="3200" b="1" dirty="0">
                <a:solidFill>
                  <a:srgbClr val="B85042"/>
                </a:solidFill>
                <a:latin typeface="DM Sans" pitchFamily="34" charset="0"/>
                <a:ea typeface="DM Sans" pitchFamily="34" charset="-122"/>
                <a:cs typeface="DM Sans" pitchFamily="34" charset="-120"/>
              </a:rPr>
              <a:t>[PLACEHOLDER: start date]</a:t>
            </a:r>
            <a:endParaRPr lang="en-US" sz="3200" dirty="0"/>
          </a:p>
        </p:txBody>
      </p:sp>
      <p:sp>
        <p:nvSpPr>
          <p:cNvPr id="4" name="Text 2"/>
          <p:cNvSpPr txBox="1"/>
          <p:nvPr/>
        </p:nvSpPr>
        <p:spPr>
          <a:xfrm>
            <a:off x="822960" y="3977640"/>
            <a:ext cx="9448495" cy="1280160"/>
          </a:xfrm>
          <a:prstGeom prst="rect">
            <a:avLst/>
          </a:prstGeom>
          <a:noFill/>
          <a:ln/>
        </p:spPr>
        <p:txBody>
          <a:bodyPr wrap="square" lIns="0" tIns="0" rIns="0" bIns="0" rtlCol="0" anchor="t">
            <a:normAutofit/>
          </a:bodyPr>
          <a:lstStyle/>
          <a:p>
            <a:pPr algn="l" indent="0" marL="0">
              <a:lnSpc>
                <a:spcPct val="115000"/>
              </a:lnSpc>
              <a:buNone/>
            </a:pPr>
            <a:r>
              <a:rPr lang="en-US" sz="2600" dirty="0">
                <a:solidFill>
                  <a:srgbClr val="1B2B2B"/>
                </a:solidFill>
                <a:latin typeface="DM Sans" pitchFamily="34" charset="0"/>
                <a:ea typeface="DM Sans" pitchFamily="34" charset="-122"/>
                <a:cs typeface="DM Sans" pitchFamily="34" charset="-120"/>
              </a:rPr>
              <a:t>Applications are reviewed in the order they come in.</a:t>
            </a:r>
            <a:endParaRPr lang="en-US" sz="2600" dirty="0"/>
          </a:p>
        </p:txBody>
      </p:sp>
      <p:sp>
        <p:nvSpPr>
          <p:cNvPr id="25" name="Slide Number Placeholder 0"/>
          <p:cNvSpPr>
            <a:spLocks noGrp="1"/>
          </p:cNvSpPr>
          <p:nvPr>
            <p:ph type="sldNum" sz="quarter" idx="4294967295"/>
          </p:nvPr>
        </p:nvSpPr>
        <p:spPr>
          <a:xfrm>
            <a:off x="11368735"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AA6A3"/>
                </a:solidFill>
                <a:latin typeface="DM Sans"/>
                <a:ea typeface="DM Sans"/>
                <a:cs typeface="DM Sans"/>
              </a:defRPr>
            </a:lvl1pPr>
          </a:lstStyle>
          <a:p>
            <a:pPr algn="r"/>
            <a:fld id="{F7021451-1387-4CA6-816F-3879F97B5CBC}" type="slidenum">
              <a:rPr b="0" lang="en-US"/>
              <a:t>104</a:t>
            </a:fld>
            <a:endParaRPr lang="en-US"/>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bg>
      <p:bgPr>
        <a:solidFill>
          <a:srgbClr val="FAF5EE"/>
        </a:solidFill>
      </p:bgPr>
    </p:bg>
    <p:spTree>
      <p:nvGrpSpPr>
        <p:cNvPr id="1" name=""/>
        <p:cNvGrpSpPr/>
        <p:nvPr/>
      </p:nvGrpSpPr>
      <p:grpSpPr>
        <a:xfrm>
          <a:off x="0" y="0"/>
          <a:ext cx="0" cy="0"/>
          <a:chOff x="0" y="0"/>
          <a:chExt cx="0" cy="0"/>
        </a:xfrm>
      </p:grpSpPr>
      <p:sp>
        <p:nvSpPr>
          <p:cNvPr id="2" name="Text 0"/>
          <p:cNvSpPr txBox="1"/>
          <p:nvPr/>
        </p:nvSpPr>
        <p:spPr>
          <a:xfrm>
            <a:off x="822960" y="731520"/>
            <a:ext cx="10545775" cy="365760"/>
          </a:xfrm>
          <a:prstGeom prst="rect">
            <a:avLst/>
          </a:prstGeom>
          <a:noFill/>
          <a:ln/>
        </p:spPr>
        <p:txBody>
          <a:bodyPr wrap="square" lIns="0" tIns="0" rIns="0" bIns="0" rtlCol="0" anchor="ctr">
            <a:normAutofit/>
          </a:bodyPr>
          <a:lstStyle/>
          <a:p>
            <a:pPr algn="l" indent="0" marL="0">
              <a:lnSpc>
                <a:spcPct val="100000"/>
              </a:lnSpc>
              <a:buNone/>
            </a:pPr>
            <a:r>
              <a:rPr lang="en-US" sz="1400" b="1" spc="400" kern="0" dirty="0">
                <a:solidFill>
                  <a:srgbClr val="8AAF8A"/>
                </a:solidFill>
                <a:latin typeface="DM Sans" pitchFamily="34" charset="0"/>
                <a:ea typeface="DM Sans" pitchFamily="34" charset="-122"/>
                <a:cs typeface="DM Sans" pitchFamily="34" charset="-120"/>
              </a:rPr>
              <a:t>WAITING IS THE MOST EXPENSIVE CHOICE</a:t>
            </a:r>
            <a:endParaRPr lang="en-US" sz="1400" dirty="0"/>
          </a:p>
        </p:txBody>
      </p:sp>
      <p:sp>
        <p:nvSpPr>
          <p:cNvPr id="3" name="Shape 1"/>
          <p:cNvSpPr/>
          <p:nvPr/>
        </p:nvSpPr>
        <p:spPr>
          <a:xfrm>
            <a:off x="868680" y="1755648"/>
            <a:ext cx="237744" cy="237744"/>
          </a:xfrm>
          <a:prstGeom prst="ellipse">
            <a:avLst/>
          </a:prstGeom>
          <a:solidFill>
            <a:srgbClr val="8AAF8A"/>
          </a:solidFill>
          <a:ln w="12700">
            <a:solidFill>
              <a:srgbClr val="8AAF8A"/>
            </a:solidFill>
            <a:prstDash val="solid"/>
          </a:ln>
        </p:spPr>
      </p:sp>
      <p:sp>
        <p:nvSpPr>
          <p:cNvPr id="4" name="Text 2"/>
          <p:cNvSpPr txBox="1"/>
          <p:nvPr/>
        </p:nvSpPr>
        <p:spPr>
          <a:xfrm>
            <a:off x="1463040" y="1508760"/>
            <a:ext cx="9875520" cy="731520"/>
          </a:xfrm>
          <a:prstGeom prst="rect">
            <a:avLst/>
          </a:prstGeom>
          <a:noFill/>
          <a:ln/>
        </p:spPr>
        <p:txBody>
          <a:bodyPr wrap="square" lIns="0" tIns="0" rIns="0" bIns="0" rtlCol="0" anchor="ctr">
            <a:normAutofit/>
          </a:bodyPr>
          <a:lstStyle/>
          <a:p>
            <a:pPr algn="l" indent="0" marL="0">
              <a:lnSpc>
                <a:spcPct val="100000"/>
              </a:lnSpc>
              <a:buNone/>
            </a:pPr>
            <a:r>
              <a:rPr lang="en-US" sz="3000" b="1" dirty="0">
                <a:solidFill>
                  <a:srgbClr val="1B2B2B"/>
                </a:solidFill>
                <a:latin typeface="Cormorant Garamond" pitchFamily="34" charset="0"/>
                <a:ea typeface="Cormorant Garamond" pitchFamily="34" charset="-122"/>
                <a:cs typeface="Cormorant Garamond" pitchFamily="34" charset="-120"/>
              </a:rPr>
              <a:t>Every future raise built on a lower base</a:t>
            </a:r>
            <a:endParaRPr lang="en-US" sz="3000" dirty="0"/>
          </a:p>
        </p:txBody>
      </p:sp>
      <p:sp>
        <p:nvSpPr>
          <p:cNvPr id="5" name="Shape 3"/>
          <p:cNvSpPr/>
          <p:nvPr/>
        </p:nvSpPr>
        <p:spPr>
          <a:xfrm>
            <a:off x="868680" y="2852928"/>
            <a:ext cx="237744" cy="237744"/>
          </a:xfrm>
          <a:prstGeom prst="ellipse">
            <a:avLst/>
          </a:prstGeom>
          <a:solidFill>
            <a:srgbClr val="8AAF8A"/>
          </a:solidFill>
          <a:ln w="12700">
            <a:solidFill>
              <a:srgbClr val="8AAF8A"/>
            </a:solidFill>
            <a:prstDash val="solid"/>
          </a:ln>
        </p:spPr>
      </p:sp>
      <p:sp>
        <p:nvSpPr>
          <p:cNvPr id="6" name="Text 4"/>
          <p:cNvSpPr txBox="1"/>
          <p:nvPr/>
        </p:nvSpPr>
        <p:spPr>
          <a:xfrm>
            <a:off x="1463040" y="2606040"/>
            <a:ext cx="9875520" cy="731520"/>
          </a:xfrm>
          <a:prstGeom prst="rect">
            <a:avLst/>
          </a:prstGeom>
          <a:noFill/>
          <a:ln/>
        </p:spPr>
        <p:txBody>
          <a:bodyPr wrap="square" lIns="0" tIns="0" rIns="0" bIns="0" rtlCol="0" anchor="ctr">
            <a:normAutofit/>
          </a:bodyPr>
          <a:lstStyle/>
          <a:p>
            <a:pPr algn="l" indent="0" marL="0">
              <a:lnSpc>
                <a:spcPct val="100000"/>
              </a:lnSpc>
              <a:buNone/>
            </a:pPr>
            <a:r>
              <a:rPr lang="en-US" sz="3000" b="1" dirty="0">
                <a:solidFill>
                  <a:srgbClr val="1B2B2B"/>
                </a:solidFill>
                <a:latin typeface="Cormorant Garamond" pitchFamily="34" charset="0"/>
                <a:ea typeface="Cormorant Garamond" pitchFamily="34" charset="-122"/>
                <a:cs typeface="Cormorant Garamond" pitchFamily="34" charset="-120"/>
              </a:rPr>
              <a:t>Bonuses and retirement contributions calculated from it</a:t>
            </a:r>
            <a:endParaRPr lang="en-US" sz="3000" dirty="0"/>
          </a:p>
        </p:txBody>
      </p:sp>
      <p:sp>
        <p:nvSpPr>
          <p:cNvPr id="7" name="Shape 5"/>
          <p:cNvSpPr/>
          <p:nvPr/>
        </p:nvSpPr>
        <p:spPr>
          <a:xfrm>
            <a:off x="868680" y="3950208"/>
            <a:ext cx="237744" cy="237744"/>
          </a:xfrm>
          <a:prstGeom prst="ellipse">
            <a:avLst/>
          </a:prstGeom>
          <a:solidFill>
            <a:srgbClr val="8AAF8A"/>
          </a:solidFill>
          <a:ln w="12700">
            <a:solidFill>
              <a:srgbClr val="8AAF8A"/>
            </a:solidFill>
            <a:prstDash val="solid"/>
          </a:ln>
        </p:spPr>
      </p:sp>
      <p:sp>
        <p:nvSpPr>
          <p:cNvPr id="8" name="Text 6"/>
          <p:cNvSpPr txBox="1"/>
          <p:nvPr/>
        </p:nvSpPr>
        <p:spPr>
          <a:xfrm>
            <a:off x="1463040" y="3703320"/>
            <a:ext cx="9875520" cy="731520"/>
          </a:xfrm>
          <a:prstGeom prst="rect">
            <a:avLst/>
          </a:prstGeom>
          <a:noFill/>
          <a:ln/>
        </p:spPr>
        <p:txBody>
          <a:bodyPr wrap="square" lIns="0" tIns="0" rIns="0" bIns="0" rtlCol="0" anchor="ctr">
            <a:normAutofit/>
          </a:bodyPr>
          <a:lstStyle/>
          <a:p>
            <a:pPr algn="l" indent="0" marL="0">
              <a:lnSpc>
                <a:spcPct val="100000"/>
              </a:lnSpc>
              <a:buNone/>
            </a:pPr>
            <a:r>
              <a:rPr lang="en-US" sz="3000" b="1" dirty="0">
                <a:solidFill>
                  <a:srgbClr val="1B2B2B"/>
                </a:solidFill>
                <a:latin typeface="Cormorant Garamond" pitchFamily="34" charset="0"/>
                <a:ea typeface="Cormorant Garamond" pitchFamily="34" charset="-122"/>
                <a:cs typeface="Cormorant Garamond" pitchFamily="34" charset="-120"/>
              </a:rPr>
              <a:t>Another year of saying nothing, and getting better at it</a:t>
            </a:r>
            <a:endParaRPr lang="en-US" sz="3000" dirty="0"/>
          </a:p>
        </p:txBody>
      </p:sp>
      <p:sp>
        <p:nvSpPr>
          <p:cNvPr id="9" name="Shape 7"/>
          <p:cNvSpPr/>
          <p:nvPr/>
        </p:nvSpPr>
        <p:spPr>
          <a:xfrm>
            <a:off x="868680" y="5047488"/>
            <a:ext cx="237744" cy="237744"/>
          </a:xfrm>
          <a:prstGeom prst="ellipse">
            <a:avLst/>
          </a:prstGeom>
          <a:solidFill>
            <a:srgbClr val="8AAF8A"/>
          </a:solidFill>
          <a:ln w="12700">
            <a:solidFill>
              <a:srgbClr val="8AAF8A"/>
            </a:solidFill>
            <a:prstDash val="solid"/>
          </a:ln>
        </p:spPr>
      </p:sp>
      <p:sp>
        <p:nvSpPr>
          <p:cNvPr id="10" name="Text 8"/>
          <p:cNvSpPr txBox="1"/>
          <p:nvPr/>
        </p:nvSpPr>
        <p:spPr>
          <a:xfrm>
            <a:off x="1463040" y="4800600"/>
            <a:ext cx="9875520" cy="731520"/>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B85042"/>
                </a:solidFill>
                <a:latin typeface="DM Sans" pitchFamily="34" charset="0"/>
                <a:ea typeface="DM Sans" pitchFamily="34" charset="-122"/>
                <a:cs typeface="DM Sans" pitchFamily="34" charset="-120"/>
              </a:rPr>
              <a:t>[PLACEHOLDER: future cohorts priced higher, if still true]</a:t>
            </a:r>
            <a:endParaRPr lang="en-US" sz="1600" dirty="0"/>
          </a:p>
        </p:txBody>
      </p:sp>
      <p:sp>
        <p:nvSpPr>
          <p:cNvPr id="25" name="Slide Number Placeholder 0"/>
          <p:cNvSpPr>
            <a:spLocks noGrp="1"/>
          </p:cNvSpPr>
          <p:nvPr>
            <p:ph type="sldNum" sz="quarter" idx="4294967295"/>
          </p:nvPr>
        </p:nvSpPr>
        <p:spPr>
          <a:xfrm>
            <a:off x="11368735"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AA6A3"/>
                </a:solidFill>
                <a:latin typeface="DM Sans"/>
                <a:ea typeface="DM Sans"/>
                <a:cs typeface="DM Sans"/>
              </a:defRPr>
            </a:lvl1pPr>
          </a:lstStyle>
          <a:p>
            <a:pPr algn="r"/>
            <a:fld id="{F7021451-1387-4CA6-816F-3879F97B5CBC}" type="slidenum">
              <a:rPr b="0" lang="en-US"/>
              <a:t>105</a:t>
            </a:fld>
            <a:endParaRPr lang="en-US"/>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bg>
      <p:bgPr>
        <a:solidFill>
          <a:srgbClr val="1E4A4A"/>
        </a:solidFill>
      </p:bgPr>
    </p:bg>
    <p:spTree>
      <p:nvGrpSpPr>
        <p:cNvPr id="1" name=""/>
        <p:cNvGrpSpPr/>
        <p:nvPr/>
      </p:nvGrpSpPr>
      <p:grpSpPr>
        <a:xfrm>
          <a:off x="0" y="0"/>
          <a:ext cx="0" cy="0"/>
          <a:chOff x="0" y="0"/>
          <a:chExt cx="0" cy="0"/>
        </a:xfrm>
      </p:grpSpPr>
      <p:sp>
        <p:nvSpPr>
          <p:cNvPr id="2" name="Text 0"/>
          <p:cNvSpPr txBox="1"/>
          <p:nvPr/>
        </p:nvSpPr>
        <p:spPr>
          <a:xfrm>
            <a:off x="914400" y="2011680"/>
            <a:ext cx="10362895" cy="411480"/>
          </a:xfrm>
          <a:prstGeom prst="rect">
            <a:avLst/>
          </a:prstGeom>
          <a:noFill/>
          <a:ln/>
        </p:spPr>
        <p:txBody>
          <a:bodyPr wrap="square" lIns="0" tIns="0" rIns="0" bIns="0" rtlCol="0" anchor="ctr">
            <a:normAutofit/>
          </a:bodyPr>
          <a:lstStyle/>
          <a:p>
            <a:pPr algn="ctr" indent="0" marL="0">
              <a:lnSpc>
                <a:spcPct val="100000"/>
              </a:lnSpc>
              <a:buNone/>
            </a:pPr>
            <a:r>
              <a:rPr lang="en-US" sz="1600" b="1" spc="500" kern="0" dirty="0">
                <a:solidFill>
                  <a:srgbClr val="8AAF8A"/>
                </a:solidFill>
                <a:latin typeface="DM Sans" pitchFamily="34" charset="0"/>
                <a:ea typeface="DM Sans" pitchFamily="34" charset="-122"/>
                <a:cs typeface="DM Sans" pitchFamily="34" charset="-120"/>
              </a:rPr>
              <a:t>YOUR QUESTIONS</a:t>
            </a:r>
            <a:endParaRPr lang="en-US" sz="1600" dirty="0"/>
          </a:p>
        </p:txBody>
      </p:sp>
      <p:sp>
        <p:nvSpPr>
          <p:cNvPr id="3" name="Text 1"/>
          <p:cNvSpPr txBox="1"/>
          <p:nvPr/>
        </p:nvSpPr>
        <p:spPr>
          <a:xfrm>
            <a:off x="914400" y="2560320"/>
            <a:ext cx="10362895" cy="1554480"/>
          </a:xfrm>
          <a:prstGeom prst="rect">
            <a:avLst/>
          </a:prstGeom>
          <a:noFill/>
          <a:ln/>
        </p:spPr>
        <p:txBody>
          <a:bodyPr wrap="square" lIns="0" tIns="0" rIns="0" bIns="0" rtlCol="0" anchor="t">
            <a:normAutofit/>
          </a:bodyPr>
          <a:lstStyle/>
          <a:p>
            <a:pPr algn="ctr" indent="0" marL="0">
              <a:lnSpc>
                <a:spcPct val="95000"/>
              </a:lnSpc>
              <a:buNone/>
            </a:pPr>
            <a:r>
              <a:rPr lang="en-US" sz="5400" b="1" dirty="0">
                <a:solidFill>
                  <a:srgbClr val="FFFFFF"/>
                </a:solidFill>
                <a:latin typeface="Cormorant Garamond" pitchFamily="34" charset="0"/>
                <a:ea typeface="Cormorant Garamond" pitchFamily="34" charset="-122"/>
                <a:cs typeface="Cormorant Garamond" pitchFamily="34" charset="-120"/>
              </a:rPr>
              <a:t>You Might Be Wondering</a:t>
            </a:r>
            <a:endParaRPr lang="en-US" sz="5400" dirty="0"/>
          </a:p>
        </p:txBody>
      </p:sp>
      <p:sp>
        <p:nvSpPr>
          <p:cNvPr id="25" name="Slide Number Placeholder 0"/>
          <p:cNvSpPr>
            <a:spLocks noGrp="1"/>
          </p:cNvSpPr>
          <p:nvPr>
            <p:ph type="sldNum" sz="quarter" idx="4294967295"/>
          </p:nvPr>
        </p:nvSpPr>
        <p:spPr>
          <a:xfrm>
            <a:off x="11368735"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AAF8A"/>
                </a:solidFill>
                <a:latin typeface="DM Sans"/>
                <a:ea typeface="DM Sans"/>
                <a:cs typeface="DM Sans"/>
              </a:defRPr>
            </a:lvl1pPr>
          </a:lstStyle>
          <a:p>
            <a:pPr algn="r"/>
            <a:fld id="{F7021451-1387-4CA6-816F-3879F97B5CBC}" type="slidenum">
              <a:rPr b="0" lang="en-US"/>
              <a:t>106</a:t>
            </a:fld>
            <a:endParaRPr lang="en-US"/>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22960" y="1005840"/>
            <a:ext cx="10545775" cy="365760"/>
          </a:xfrm>
          <a:prstGeom prst="rect">
            <a:avLst/>
          </a:prstGeom>
          <a:noFill/>
          <a:ln/>
        </p:spPr>
        <p:txBody>
          <a:bodyPr wrap="square" lIns="0" tIns="0" rIns="0" bIns="0" rtlCol="0" anchor="ctr">
            <a:normAutofit/>
          </a:bodyPr>
          <a:lstStyle/>
          <a:p>
            <a:pPr algn="l" indent="0" marL="0">
              <a:lnSpc>
                <a:spcPct val="100000"/>
              </a:lnSpc>
              <a:buNone/>
            </a:pPr>
            <a:r>
              <a:rPr lang="en-US" sz="1400" b="1" spc="400" kern="0" dirty="0">
                <a:solidFill>
                  <a:srgbClr val="8AAF8A"/>
                </a:solidFill>
                <a:latin typeface="DM Sans" pitchFamily="34" charset="0"/>
                <a:ea typeface="DM Sans" pitchFamily="34" charset="-122"/>
                <a:cs typeface="DM Sans" pitchFamily="34" charset="-120"/>
              </a:rPr>
              <a:t>YOU MIGHT BE WONDERING</a:t>
            </a:r>
            <a:endParaRPr lang="en-US" sz="1400" dirty="0"/>
          </a:p>
        </p:txBody>
      </p:sp>
      <p:sp>
        <p:nvSpPr>
          <p:cNvPr id="3" name="Text 1"/>
          <p:cNvSpPr txBox="1"/>
          <p:nvPr/>
        </p:nvSpPr>
        <p:spPr>
          <a:xfrm>
            <a:off x="822960" y="1508760"/>
            <a:ext cx="10180015" cy="2377440"/>
          </a:xfrm>
          <a:prstGeom prst="rect">
            <a:avLst/>
          </a:prstGeom>
          <a:noFill/>
          <a:ln/>
        </p:spPr>
        <p:txBody>
          <a:bodyPr wrap="square" lIns="0" tIns="0" rIns="0" bIns="0" rtlCol="0" anchor="t">
            <a:normAutofit/>
          </a:bodyPr>
          <a:lstStyle/>
          <a:p>
            <a:pPr algn="l" indent="0" marL="0">
              <a:lnSpc>
                <a:spcPct val="95000"/>
              </a:lnSpc>
              <a:buNone/>
            </a:pPr>
            <a:r>
              <a:rPr lang="en-US" sz="4600" b="1" i="1" dirty="0">
                <a:solidFill>
                  <a:srgbClr val="1B2B2B"/>
                </a:solidFill>
                <a:latin typeface="Cormorant Garamond" pitchFamily="34" charset="0"/>
                <a:ea typeface="Cormorant Garamond" pitchFamily="34" charset="-122"/>
                <a:cs typeface="Cormorant Garamond" pitchFamily="34" charset="-120"/>
              </a:rPr>
              <a:t>"My industry is different."</a:t>
            </a:r>
            <a:endParaRPr lang="en-US" sz="4600" dirty="0"/>
          </a:p>
        </p:txBody>
      </p:sp>
      <p:sp>
        <p:nvSpPr>
          <p:cNvPr id="4" name="Shape 2"/>
          <p:cNvSpPr/>
          <p:nvPr/>
        </p:nvSpPr>
        <p:spPr>
          <a:xfrm>
            <a:off x="822960" y="4160520"/>
            <a:ext cx="10545775" cy="1737360"/>
          </a:xfrm>
          <a:prstGeom prst="roundRect">
            <a:avLst>
              <a:gd name="adj" fmla="val 6316"/>
            </a:avLst>
          </a:prstGeom>
          <a:solidFill>
            <a:srgbClr val="E1F5EE"/>
          </a:solidFill>
          <a:ln w="12700">
            <a:solidFill>
              <a:srgbClr val="E1F5EE"/>
            </a:solidFill>
            <a:prstDash val="solid"/>
          </a:ln>
        </p:spPr>
      </p:sp>
      <p:sp>
        <p:nvSpPr>
          <p:cNvPr id="5" name="Text 3"/>
          <p:cNvSpPr txBox="1"/>
          <p:nvPr/>
        </p:nvSpPr>
        <p:spPr>
          <a:xfrm>
            <a:off x="1188720" y="4160520"/>
            <a:ext cx="9814255" cy="1737360"/>
          </a:xfrm>
          <a:prstGeom prst="rect">
            <a:avLst/>
          </a:prstGeom>
          <a:noFill/>
          <a:ln/>
        </p:spPr>
        <p:txBody>
          <a:bodyPr wrap="square" lIns="0" tIns="0" rIns="0" bIns="0" rtlCol="0" anchor="ctr">
            <a:normAutofit/>
          </a:bodyPr>
          <a:lstStyle/>
          <a:p>
            <a:pPr algn="l" indent="0" marL="0">
              <a:lnSpc>
                <a:spcPct val="115000"/>
              </a:lnSpc>
              <a:buNone/>
            </a:pPr>
            <a:r>
              <a:rPr lang="en-US" sz="2200" dirty="0">
                <a:solidFill>
                  <a:srgbClr val="1E4A4A"/>
                </a:solidFill>
                <a:latin typeface="DM Sans" pitchFamily="34" charset="0"/>
                <a:ea typeface="DM Sans" pitchFamily="34" charset="-122"/>
                <a:cs typeface="DM Sans" pitchFamily="34" charset="-120"/>
              </a:rPr>
              <a:t>Your industry sets the numbers. Knowing your value and advocating for yourself works in all of them.</a:t>
            </a:r>
            <a:endParaRPr lang="en-US" sz="2200" dirty="0"/>
          </a:p>
        </p:txBody>
      </p:sp>
      <p:sp>
        <p:nvSpPr>
          <p:cNvPr id="25" name="Slide Number Placeholder 0"/>
          <p:cNvSpPr>
            <a:spLocks noGrp="1"/>
          </p:cNvSpPr>
          <p:nvPr>
            <p:ph type="sldNum" sz="quarter" idx="4294967295"/>
          </p:nvPr>
        </p:nvSpPr>
        <p:spPr>
          <a:xfrm>
            <a:off x="11368735"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AA6A3"/>
                </a:solidFill>
                <a:latin typeface="DM Sans"/>
                <a:ea typeface="DM Sans"/>
                <a:cs typeface="DM Sans"/>
              </a:defRPr>
            </a:lvl1pPr>
          </a:lstStyle>
          <a:p>
            <a:pPr algn="r"/>
            <a:fld id="{F7021451-1387-4CA6-816F-3879F97B5CBC}" type="slidenum">
              <a:rPr b="0" lang="en-US"/>
              <a:t>107</a:t>
            </a:fld>
            <a:endParaRPr lang="en-US"/>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22960" y="1005840"/>
            <a:ext cx="10545775" cy="365760"/>
          </a:xfrm>
          <a:prstGeom prst="rect">
            <a:avLst/>
          </a:prstGeom>
          <a:noFill/>
          <a:ln/>
        </p:spPr>
        <p:txBody>
          <a:bodyPr wrap="square" lIns="0" tIns="0" rIns="0" bIns="0" rtlCol="0" anchor="ctr">
            <a:normAutofit/>
          </a:bodyPr>
          <a:lstStyle/>
          <a:p>
            <a:pPr algn="l" indent="0" marL="0">
              <a:lnSpc>
                <a:spcPct val="100000"/>
              </a:lnSpc>
              <a:buNone/>
            </a:pPr>
            <a:r>
              <a:rPr lang="en-US" sz="1400" b="1" spc="400" kern="0" dirty="0">
                <a:solidFill>
                  <a:srgbClr val="8AAF8A"/>
                </a:solidFill>
                <a:latin typeface="DM Sans" pitchFamily="34" charset="0"/>
                <a:ea typeface="DM Sans" pitchFamily="34" charset="-122"/>
                <a:cs typeface="DM Sans" pitchFamily="34" charset="-120"/>
              </a:rPr>
              <a:t>YOU MIGHT BE WONDERING</a:t>
            </a:r>
            <a:endParaRPr lang="en-US" sz="1400" dirty="0"/>
          </a:p>
        </p:txBody>
      </p:sp>
      <p:sp>
        <p:nvSpPr>
          <p:cNvPr id="3" name="Text 1"/>
          <p:cNvSpPr txBox="1"/>
          <p:nvPr/>
        </p:nvSpPr>
        <p:spPr>
          <a:xfrm>
            <a:off x="822960" y="1508760"/>
            <a:ext cx="10180015" cy="2377440"/>
          </a:xfrm>
          <a:prstGeom prst="rect">
            <a:avLst/>
          </a:prstGeom>
          <a:noFill/>
          <a:ln/>
        </p:spPr>
        <p:txBody>
          <a:bodyPr wrap="square" lIns="0" tIns="0" rIns="0" bIns="0" rtlCol="0" anchor="t">
            <a:normAutofit/>
          </a:bodyPr>
          <a:lstStyle/>
          <a:p>
            <a:pPr algn="l" indent="0" marL="0">
              <a:lnSpc>
                <a:spcPct val="95000"/>
              </a:lnSpc>
              <a:buNone/>
            </a:pPr>
            <a:r>
              <a:rPr lang="en-US" sz="4000" b="1" i="1" dirty="0">
                <a:solidFill>
                  <a:srgbClr val="1B2B2B"/>
                </a:solidFill>
                <a:latin typeface="Cormorant Garamond" pitchFamily="34" charset="0"/>
                <a:ea typeface="Cormorant Garamond" pitchFamily="34" charset="-122"/>
                <a:cs typeface="Cormorant Garamond" pitchFamily="34" charset="-120"/>
              </a:rPr>
              <a:t>"I'm not good at negotiating, and I hate asking for favors."</a:t>
            </a:r>
            <a:endParaRPr lang="en-US" sz="4000" dirty="0"/>
          </a:p>
        </p:txBody>
      </p:sp>
      <p:sp>
        <p:nvSpPr>
          <p:cNvPr id="4" name="Shape 2"/>
          <p:cNvSpPr/>
          <p:nvPr/>
        </p:nvSpPr>
        <p:spPr>
          <a:xfrm>
            <a:off x="822960" y="4160520"/>
            <a:ext cx="10545775" cy="1737360"/>
          </a:xfrm>
          <a:prstGeom prst="roundRect">
            <a:avLst>
              <a:gd name="adj" fmla="val 6316"/>
            </a:avLst>
          </a:prstGeom>
          <a:solidFill>
            <a:srgbClr val="E1F5EE"/>
          </a:solidFill>
          <a:ln w="12700">
            <a:solidFill>
              <a:srgbClr val="E1F5EE"/>
            </a:solidFill>
            <a:prstDash val="solid"/>
          </a:ln>
        </p:spPr>
      </p:sp>
      <p:sp>
        <p:nvSpPr>
          <p:cNvPr id="5" name="Text 3"/>
          <p:cNvSpPr txBox="1"/>
          <p:nvPr/>
        </p:nvSpPr>
        <p:spPr>
          <a:xfrm>
            <a:off x="1188720" y="4160520"/>
            <a:ext cx="9814255" cy="1737360"/>
          </a:xfrm>
          <a:prstGeom prst="rect">
            <a:avLst/>
          </a:prstGeom>
          <a:noFill/>
          <a:ln/>
        </p:spPr>
        <p:txBody>
          <a:bodyPr wrap="square" lIns="0" tIns="0" rIns="0" bIns="0" rtlCol="0" anchor="ctr">
            <a:normAutofit/>
          </a:bodyPr>
          <a:lstStyle/>
          <a:p>
            <a:pPr algn="l" indent="0" marL="0">
              <a:lnSpc>
                <a:spcPct val="115000"/>
              </a:lnSpc>
              <a:buNone/>
            </a:pPr>
            <a:r>
              <a:rPr lang="en-US" sz="2200" dirty="0">
                <a:solidFill>
                  <a:srgbClr val="1E4A4A"/>
                </a:solidFill>
                <a:latin typeface="DM Sans" pitchFamily="34" charset="0"/>
                <a:ea typeface="DM Sans" pitchFamily="34" charset="-122"/>
                <a:cs typeface="DM Sans" pitchFamily="34" charset="-120"/>
              </a:rPr>
              <a:t>What you're having is a business conversation about value. Replacing you is expensive, and your company knows it.</a:t>
            </a:r>
            <a:endParaRPr lang="en-US" sz="2200" dirty="0"/>
          </a:p>
        </p:txBody>
      </p:sp>
      <p:sp>
        <p:nvSpPr>
          <p:cNvPr id="25" name="Slide Number Placeholder 0"/>
          <p:cNvSpPr>
            <a:spLocks noGrp="1"/>
          </p:cNvSpPr>
          <p:nvPr>
            <p:ph type="sldNum" sz="quarter" idx="4294967295"/>
          </p:nvPr>
        </p:nvSpPr>
        <p:spPr>
          <a:xfrm>
            <a:off x="11368735"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AA6A3"/>
                </a:solidFill>
                <a:latin typeface="DM Sans"/>
                <a:ea typeface="DM Sans"/>
                <a:cs typeface="DM Sans"/>
              </a:defRPr>
            </a:lvl1pPr>
          </a:lstStyle>
          <a:p>
            <a:pPr algn="r"/>
            <a:fld id="{F7021451-1387-4CA6-816F-3879F97B5CBC}" type="slidenum">
              <a:rPr b="0" lang="en-US"/>
              <a:t>108</a:t>
            </a:fld>
            <a:endParaRPr lang="en-US"/>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22960" y="1005840"/>
            <a:ext cx="10545775" cy="365760"/>
          </a:xfrm>
          <a:prstGeom prst="rect">
            <a:avLst/>
          </a:prstGeom>
          <a:noFill/>
          <a:ln/>
        </p:spPr>
        <p:txBody>
          <a:bodyPr wrap="square" lIns="0" tIns="0" rIns="0" bIns="0" rtlCol="0" anchor="ctr">
            <a:normAutofit/>
          </a:bodyPr>
          <a:lstStyle/>
          <a:p>
            <a:pPr algn="l" indent="0" marL="0">
              <a:lnSpc>
                <a:spcPct val="100000"/>
              </a:lnSpc>
              <a:buNone/>
            </a:pPr>
            <a:r>
              <a:rPr lang="en-US" sz="1400" b="1" spc="400" kern="0" dirty="0">
                <a:solidFill>
                  <a:srgbClr val="8AAF8A"/>
                </a:solidFill>
                <a:latin typeface="DM Sans" pitchFamily="34" charset="0"/>
                <a:ea typeface="DM Sans" pitchFamily="34" charset="-122"/>
                <a:cs typeface="DM Sans" pitchFamily="34" charset="-120"/>
              </a:rPr>
              <a:t>YOU MIGHT BE WONDERING</a:t>
            </a:r>
            <a:endParaRPr lang="en-US" sz="1400" dirty="0"/>
          </a:p>
        </p:txBody>
      </p:sp>
      <p:sp>
        <p:nvSpPr>
          <p:cNvPr id="3" name="Text 1"/>
          <p:cNvSpPr txBox="1"/>
          <p:nvPr/>
        </p:nvSpPr>
        <p:spPr>
          <a:xfrm>
            <a:off x="822960" y="1508760"/>
            <a:ext cx="10180015" cy="2377440"/>
          </a:xfrm>
          <a:prstGeom prst="rect">
            <a:avLst/>
          </a:prstGeom>
          <a:noFill/>
          <a:ln/>
        </p:spPr>
        <p:txBody>
          <a:bodyPr wrap="square" lIns="0" tIns="0" rIns="0" bIns="0" rtlCol="0" anchor="t">
            <a:normAutofit/>
          </a:bodyPr>
          <a:lstStyle/>
          <a:p>
            <a:pPr algn="l" indent="0" marL="0">
              <a:lnSpc>
                <a:spcPct val="95000"/>
              </a:lnSpc>
              <a:buNone/>
            </a:pPr>
            <a:r>
              <a:rPr lang="en-US" sz="4600" b="1" i="1" dirty="0">
                <a:solidFill>
                  <a:srgbClr val="1B2B2B"/>
                </a:solidFill>
                <a:latin typeface="Cormorant Garamond" pitchFamily="34" charset="0"/>
                <a:ea typeface="Cormorant Garamond" pitchFamily="34" charset="-122"/>
                <a:cs typeface="Cormorant Garamond" pitchFamily="34" charset="-120"/>
              </a:rPr>
              <a:t>"I don't have time."</a:t>
            </a:r>
            <a:endParaRPr lang="en-US" sz="4600" dirty="0"/>
          </a:p>
        </p:txBody>
      </p:sp>
      <p:sp>
        <p:nvSpPr>
          <p:cNvPr id="4" name="Shape 2"/>
          <p:cNvSpPr/>
          <p:nvPr/>
        </p:nvSpPr>
        <p:spPr>
          <a:xfrm>
            <a:off x="822960" y="4160520"/>
            <a:ext cx="10545775" cy="1737360"/>
          </a:xfrm>
          <a:prstGeom prst="roundRect">
            <a:avLst>
              <a:gd name="adj" fmla="val 6316"/>
            </a:avLst>
          </a:prstGeom>
          <a:solidFill>
            <a:srgbClr val="E1F5EE"/>
          </a:solidFill>
          <a:ln w="12700">
            <a:solidFill>
              <a:srgbClr val="E1F5EE"/>
            </a:solidFill>
            <a:prstDash val="solid"/>
          </a:ln>
        </p:spPr>
      </p:sp>
      <p:sp>
        <p:nvSpPr>
          <p:cNvPr id="5" name="Text 3"/>
          <p:cNvSpPr txBox="1"/>
          <p:nvPr/>
        </p:nvSpPr>
        <p:spPr>
          <a:xfrm>
            <a:off x="1188720" y="4160520"/>
            <a:ext cx="9814255" cy="1737360"/>
          </a:xfrm>
          <a:prstGeom prst="rect">
            <a:avLst/>
          </a:prstGeom>
          <a:noFill/>
          <a:ln/>
        </p:spPr>
        <p:txBody>
          <a:bodyPr wrap="square" lIns="0" tIns="0" rIns="0" bIns="0" rtlCol="0" anchor="ctr">
            <a:normAutofit/>
          </a:bodyPr>
          <a:lstStyle/>
          <a:p>
            <a:pPr algn="l" indent="0" marL="0">
              <a:lnSpc>
                <a:spcPct val="115000"/>
              </a:lnSpc>
              <a:buNone/>
            </a:pPr>
            <a:r>
              <a:rPr lang="en-US" sz="2200" dirty="0">
                <a:solidFill>
                  <a:srgbClr val="1E4A4A"/>
                </a:solidFill>
                <a:latin typeface="DM Sans" pitchFamily="34" charset="0"/>
                <a:ea typeface="DM Sans" pitchFamily="34" charset="-122"/>
                <a:cs typeface="DM Sans" pitchFamily="34" charset="-120"/>
              </a:rPr>
              <a:t>Staying where you are costs more than eight weeks ever will. One courageous conversation can change a career.</a:t>
            </a:r>
            <a:endParaRPr lang="en-US" sz="2200" dirty="0"/>
          </a:p>
        </p:txBody>
      </p:sp>
      <p:sp>
        <p:nvSpPr>
          <p:cNvPr id="25" name="Slide Number Placeholder 0"/>
          <p:cNvSpPr>
            <a:spLocks noGrp="1"/>
          </p:cNvSpPr>
          <p:nvPr>
            <p:ph type="sldNum" sz="quarter" idx="4294967295"/>
          </p:nvPr>
        </p:nvSpPr>
        <p:spPr>
          <a:xfrm>
            <a:off x="11368735"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AA6A3"/>
                </a:solidFill>
                <a:latin typeface="DM Sans"/>
                <a:ea typeface="DM Sans"/>
                <a:cs typeface="DM Sans"/>
              </a:defRPr>
            </a:lvl1pPr>
          </a:lstStyle>
          <a:p>
            <a:pPr algn="r"/>
            <a:fld id="{F7021451-1387-4CA6-816F-3879F97B5CBC}" type="slidenum">
              <a:rPr b="0" lang="en-US"/>
              <a:t>109</a:t>
            </a:fld>
            <a:endParaRPr lang="en-US"/>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22960" y="1005840"/>
            <a:ext cx="10545775" cy="365760"/>
          </a:xfrm>
          <a:prstGeom prst="rect">
            <a:avLst/>
          </a:prstGeom>
          <a:noFill/>
          <a:ln/>
        </p:spPr>
        <p:txBody>
          <a:bodyPr wrap="square" lIns="0" tIns="0" rIns="0" bIns="0" rtlCol="0" anchor="ctr">
            <a:normAutofit/>
          </a:bodyPr>
          <a:lstStyle/>
          <a:p>
            <a:pPr algn="l" indent="0" marL="0">
              <a:lnSpc>
                <a:spcPct val="100000"/>
              </a:lnSpc>
              <a:buNone/>
            </a:pPr>
            <a:r>
              <a:rPr lang="en-US" sz="1400" b="1" spc="400" kern="0" dirty="0">
                <a:solidFill>
                  <a:srgbClr val="8AAF8A"/>
                </a:solidFill>
                <a:latin typeface="DM Sans" pitchFamily="34" charset="0"/>
                <a:ea typeface="DM Sans" pitchFamily="34" charset="-122"/>
                <a:cs typeface="DM Sans" pitchFamily="34" charset="-120"/>
              </a:rPr>
              <a:t>YOU MIGHT BE WONDERING</a:t>
            </a:r>
            <a:endParaRPr lang="en-US" sz="1400" dirty="0"/>
          </a:p>
        </p:txBody>
      </p:sp>
      <p:sp>
        <p:nvSpPr>
          <p:cNvPr id="3" name="Text 1"/>
          <p:cNvSpPr txBox="1"/>
          <p:nvPr/>
        </p:nvSpPr>
        <p:spPr>
          <a:xfrm>
            <a:off x="822960" y="1508760"/>
            <a:ext cx="10180015" cy="2377440"/>
          </a:xfrm>
          <a:prstGeom prst="rect">
            <a:avLst/>
          </a:prstGeom>
          <a:noFill/>
          <a:ln/>
        </p:spPr>
        <p:txBody>
          <a:bodyPr wrap="square" lIns="0" tIns="0" rIns="0" bIns="0" rtlCol="0" anchor="t">
            <a:normAutofit/>
          </a:bodyPr>
          <a:lstStyle/>
          <a:p>
            <a:pPr algn="l" indent="0" marL="0">
              <a:lnSpc>
                <a:spcPct val="95000"/>
              </a:lnSpc>
              <a:buNone/>
            </a:pPr>
            <a:r>
              <a:rPr lang="en-US" sz="3400" b="1" i="1" dirty="0">
                <a:solidFill>
                  <a:srgbClr val="1B2B2B"/>
                </a:solidFill>
                <a:latin typeface="Cormorant Garamond" pitchFamily="34" charset="0"/>
                <a:ea typeface="Cormorant Garamond" pitchFamily="34" charset="-122"/>
                <a:cs typeface="Cormorant Garamond" pitchFamily="34" charset="-120"/>
              </a:rPr>
              <a:t>"What if they say no? I don't want to damage the relationship with my boss."</a:t>
            </a:r>
            <a:endParaRPr lang="en-US" sz="3400" dirty="0"/>
          </a:p>
        </p:txBody>
      </p:sp>
      <p:sp>
        <p:nvSpPr>
          <p:cNvPr id="4" name="Shape 2"/>
          <p:cNvSpPr/>
          <p:nvPr/>
        </p:nvSpPr>
        <p:spPr>
          <a:xfrm>
            <a:off x="822960" y="4160520"/>
            <a:ext cx="10545775" cy="1737360"/>
          </a:xfrm>
          <a:prstGeom prst="roundRect">
            <a:avLst>
              <a:gd name="adj" fmla="val 6316"/>
            </a:avLst>
          </a:prstGeom>
          <a:solidFill>
            <a:srgbClr val="E1F5EE"/>
          </a:solidFill>
          <a:ln w="12700">
            <a:solidFill>
              <a:srgbClr val="E1F5EE"/>
            </a:solidFill>
            <a:prstDash val="solid"/>
          </a:ln>
        </p:spPr>
      </p:sp>
      <p:sp>
        <p:nvSpPr>
          <p:cNvPr id="5" name="Text 3"/>
          <p:cNvSpPr txBox="1"/>
          <p:nvPr/>
        </p:nvSpPr>
        <p:spPr>
          <a:xfrm>
            <a:off x="1188720" y="4160520"/>
            <a:ext cx="9814255" cy="1737360"/>
          </a:xfrm>
          <a:prstGeom prst="rect">
            <a:avLst/>
          </a:prstGeom>
          <a:noFill/>
          <a:ln/>
        </p:spPr>
        <p:txBody>
          <a:bodyPr wrap="square" lIns="0" tIns="0" rIns="0" bIns="0" rtlCol="0" anchor="ctr">
            <a:normAutofit/>
          </a:bodyPr>
          <a:lstStyle/>
          <a:p>
            <a:pPr algn="l" indent="0" marL="0">
              <a:lnSpc>
                <a:spcPct val="115000"/>
              </a:lnSpc>
              <a:buNone/>
            </a:pPr>
            <a:r>
              <a:rPr lang="en-US" sz="2200" dirty="0">
                <a:solidFill>
                  <a:srgbClr val="1E4A4A"/>
                </a:solidFill>
                <a:latin typeface="DM Sans" pitchFamily="34" charset="0"/>
                <a:ea typeface="DM Sans" pitchFamily="34" charset="-122"/>
                <a:cs typeface="DM Sans" pitchFamily="34" charset="-120"/>
              </a:rPr>
              <a:t>A well-prepared, professional conversation shouldn't damage a healthy relationship. A no is information.</a:t>
            </a:r>
            <a:endParaRPr lang="en-US" sz="2200" dirty="0"/>
          </a:p>
        </p:txBody>
      </p:sp>
      <p:sp>
        <p:nvSpPr>
          <p:cNvPr id="25" name="Slide Number Placeholder 0"/>
          <p:cNvSpPr>
            <a:spLocks noGrp="1"/>
          </p:cNvSpPr>
          <p:nvPr>
            <p:ph type="sldNum" sz="quarter" idx="4294967295"/>
          </p:nvPr>
        </p:nvSpPr>
        <p:spPr>
          <a:xfrm>
            <a:off x="11368735"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AA6A3"/>
                </a:solidFill>
                <a:latin typeface="DM Sans"/>
                <a:ea typeface="DM Sans"/>
                <a:cs typeface="DM Sans"/>
              </a:defRPr>
            </a:lvl1pPr>
          </a:lstStyle>
          <a:p>
            <a:pPr algn="r"/>
            <a:fld id="{F7021451-1387-4CA6-816F-3879F97B5CBC}" type="slidenum">
              <a:rPr b="0" lang="en-US"/>
              <a:t>110</a:t>
            </a:fld>
            <a:endParaRPr lang="en-US"/>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22960" y="1005840"/>
            <a:ext cx="10545775" cy="365760"/>
          </a:xfrm>
          <a:prstGeom prst="rect">
            <a:avLst/>
          </a:prstGeom>
          <a:noFill/>
          <a:ln/>
        </p:spPr>
        <p:txBody>
          <a:bodyPr wrap="square" lIns="0" tIns="0" rIns="0" bIns="0" rtlCol="0" anchor="ctr">
            <a:normAutofit/>
          </a:bodyPr>
          <a:lstStyle/>
          <a:p>
            <a:pPr algn="l" indent="0" marL="0">
              <a:lnSpc>
                <a:spcPct val="100000"/>
              </a:lnSpc>
              <a:buNone/>
            </a:pPr>
            <a:r>
              <a:rPr lang="en-US" sz="1400" b="1" spc="400" kern="0" dirty="0">
                <a:solidFill>
                  <a:srgbClr val="8AAF8A"/>
                </a:solidFill>
                <a:latin typeface="DM Sans" pitchFamily="34" charset="0"/>
                <a:ea typeface="DM Sans" pitchFamily="34" charset="-122"/>
                <a:cs typeface="DM Sans" pitchFamily="34" charset="-120"/>
              </a:rPr>
              <a:t>YOU MIGHT BE WONDERING</a:t>
            </a:r>
            <a:endParaRPr lang="en-US" sz="1400" dirty="0"/>
          </a:p>
        </p:txBody>
      </p:sp>
      <p:sp>
        <p:nvSpPr>
          <p:cNvPr id="3" name="Text 1"/>
          <p:cNvSpPr txBox="1"/>
          <p:nvPr/>
        </p:nvSpPr>
        <p:spPr>
          <a:xfrm>
            <a:off x="822960" y="1508760"/>
            <a:ext cx="10180015" cy="2377440"/>
          </a:xfrm>
          <a:prstGeom prst="rect">
            <a:avLst/>
          </a:prstGeom>
          <a:noFill/>
          <a:ln/>
        </p:spPr>
        <p:txBody>
          <a:bodyPr wrap="square" lIns="0" tIns="0" rIns="0" bIns="0" rtlCol="0" anchor="t">
            <a:normAutofit/>
          </a:bodyPr>
          <a:lstStyle/>
          <a:p>
            <a:pPr algn="l" indent="0" marL="0">
              <a:lnSpc>
                <a:spcPct val="95000"/>
              </a:lnSpc>
              <a:buNone/>
            </a:pPr>
            <a:r>
              <a:rPr lang="en-US" sz="4000" b="1" i="1" dirty="0">
                <a:solidFill>
                  <a:srgbClr val="1B2B2B"/>
                </a:solidFill>
                <a:latin typeface="Cormorant Garamond" pitchFamily="34" charset="0"/>
                <a:ea typeface="Cormorant Garamond" pitchFamily="34" charset="-122"/>
                <a:cs typeface="Cormorant Garamond" pitchFamily="34" charset="-120"/>
              </a:rPr>
              <a:t>"Is it really worth the investment?"</a:t>
            </a:r>
            <a:endParaRPr lang="en-US" sz="4000" dirty="0"/>
          </a:p>
        </p:txBody>
      </p:sp>
      <p:sp>
        <p:nvSpPr>
          <p:cNvPr id="4" name="Shape 2"/>
          <p:cNvSpPr/>
          <p:nvPr/>
        </p:nvSpPr>
        <p:spPr>
          <a:xfrm>
            <a:off x="822960" y="4160520"/>
            <a:ext cx="10545775" cy="1737360"/>
          </a:xfrm>
          <a:prstGeom prst="roundRect">
            <a:avLst>
              <a:gd name="adj" fmla="val 6316"/>
            </a:avLst>
          </a:prstGeom>
          <a:solidFill>
            <a:srgbClr val="E1F5EE"/>
          </a:solidFill>
          <a:ln w="12700">
            <a:solidFill>
              <a:srgbClr val="E1F5EE"/>
            </a:solidFill>
            <a:prstDash val="solid"/>
          </a:ln>
        </p:spPr>
      </p:sp>
      <p:sp>
        <p:nvSpPr>
          <p:cNvPr id="5" name="Text 3"/>
          <p:cNvSpPr txBox="1"/>
          <p:nvPr/>
        </p:nvSpPr>
        <p:spPr>
          <a:xfrm>
            <a:off x="1188720" y="4160520"/>
            <a:ext cx="9814255" cy="1737360"/>
          </a:xfrm>
          <a:prstGeom prst="rect">
            <a:avLst/>
          </a:prstGeom>
          <a:noFill/>
          <a:ln/>
        </p:spPr>
        <p:txBody>
          <a:bodyPr wrap="square" lIns="0" tIns="0" rIns="0" bIns="0" rtlCol="0" anchor="ctr">
            <a:normAutofit/>
          </a:bodyPr>
          <a:lstStyle/>
          <a:p>
            <a:pPr algn="l" indent="0" marL="0">
              <a:lnSpc>
                <a:spcPct val="115000"/>
              </a:lnSpc>
              <a:buNone/>
            </a:pPr>
            <a:r>
              <a:rPr lang="en-US" sz="2200" dirty="0">
                <a:solidFill>
                  <a:srgbClr val="1E4A4A"/>
                </a:solidFill>
                <a:latin typeface="DM Sans" pitchFamily="34" charset="0"/>
                <a:ea typeface="DM Sans" pitchFamily="34" charset="-122"/>
                <a:cs typeface="DM Sans" pitchFamily="34" charset="-120"/>
              </a:rPr>
              <a:t>Do the math on one negotiation. Then remember you'll have many more.</a:t>
            </a:r>
            <a:endParaRPr lang="en-US" sz="2200" dirty="0"/>
          </a:p>
        </p:txBody>
      </p:sp>
      <p:sp>
        <p:nvSpPr>
          <p:cNvPr id="25" name="Slide Number Placeholder 0"/>
          <p:cNvSpPr>
            <a:spLocks noGrp="1"/>
          </p:cNvSpPr>
          <p:nvPr>
            <p:ph type="sldNum" sz="quarter" idx="4294967295"/>
          </p:nvPr>
        </p:nvSpPr>
        <p:spPr>
          <a:xfrm>
            <a:off x="11368735"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AA6A3"/>
                </a:solidFill>
                <a:latin typeface="DM Sans"/>
                <a:ea typeface="DM Sans"/>
                <a:cs typeface="DM Sans"/>
              </a:defRPr>
            </a:lvl1pPr>
          </a:lstStyle>
          <a:p>
            <a:pPr algn="r"/>
            <a:fld id="{F7021451-1387-4CA6-816F-3879F97B5CBC}" type="slidenum">
              <a:rPr b="0" lang="en-US"/>
              <a:t>111</a:t>
            </a:fld>
            <a:endParaRPr lang="en-US"/>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22960" y="1005840"/>
            <a:ext cx="10545775" cy="365760"/>
          </a:xfrm>
          <a:prstGeom prst="rect">
            <a:avLst/>
          </a:prstGeom>
          <a:noFill/>
          <a:ln/>
        </p:spPr>
        <p:txBody>
          <a:bodyPr wrap="square" lIns="0" tIns="0" rIns="0" bIns="0" rtlCol="0" anchor="ctr">
            <a:normAutofit/>
          </a:bodyPr>
          <a:lstStyle/>
          <a:p>
            <a:pPr algn="l" indent="0" marL="0">
              <a:lnSpc>
                <a:spcPct val="100000"/>
              </a:lnSpc>
              <a:buNone/>
            </a:pPr>
            <a:r>
              <a:rPr lang="en-US" sz="1400" b="1" spc="400" kern="0" dirty="0">
                <a:solidFill>
                  <a:srgbClr val="8AAF8A"/>
                </a:solidFill>
                <a:latin typeface="DM Sans" pitchFamily="34" charset="0"/>
                <a:ea typeface="DM Sans" pitchFamily="34" charset="-122"/>
                <a:cs typeface="DM Sans" pitchFamily="34" charset="-120"/>
              </a:rPr>
              <a:t>YOU MIGHT BE WONDERING</a:t>
            </a:r>
            <a:endParaRPr lang="en-US" sz="1400" dirty="0"/>
          </a:p>
        </p:txBody>
      </p:sp>
      <p:sp>
        <p:nvSpPr>
          <p:cNvPr id="3" name="Text 1"/>
          <p:cNvSpPr txBox="1"/>
          <p:nvPr/>
        </p:nvSpPr>
        <p:spPr>
          <a:xfrm>
            <a:off x="822960" y="1508760"/>
            <a:ext cx="10180015" cy="2377440"/>
          </a:xfrm>
          <a:prstGeom prst="rect">
            <a:avLst/>
          </a:prstGeom>
          <a:noFill/>
          <a:ln/>
        </p:spPr>
        <p:txBody>
          <a:bodyPr wrap="square" lIns="0" tIns="0" rIns="0" bIns="0" rtlCol="0" anchor="t">
            <a:normAutofit/>
          </a:bodyPr>
          <a:lstStyle/>
          <a:p>
            <a:pPr algn="l" indent="0" marL="0">
              <a:lnSpc>
                <a:spcPct val="95000"/>
              </a:lnSpc>
              <a:buNone/>
            </a:pPr>
            <a:r>
              <a:rPr lang="en-US" sz="4000" b="1" i="1" dirty="0">
                <a:solidFill>
                  <a:srgbClr val="1B2B2B"/>
                </a:solidFill>
                <a:latin typeface="Cormorant Garamond" pitchFamily="34" charset="0"/>
                <a:ea typeface="Cormorant Garamond" pitchFamily="34" charset="-122"/>
                <a:cs typeface="Cormorant Garamond" pitchFamily="34" charset="-120"/>
              </a:rPr>
              <a:t>"Will the inner-work stuff really help my career?"</a:t>
            </a:r>
            <a:endParaRPr lang="en-US" sz="4000" dirty="0"/>
          </a:p>
        </p:txBody>
      </p:sp>
      <p:sp>
        <p:nvSpPr>
          <p:cNvPr id="4" name="Shape 2"/>
          <p:cNvSpPr/>
          <p:nvPr/>
        </p:nvSpPr>
        <p:spPr>
          <a:xfrm>
            <a:off x="822960" y="4160520"/>
            <a:ext cx="10545775" cy="1737360"/>
          </a:xfrm>
          <a:prstGeom prst="roundRect">
            <a:avLst>
              <a:gd name="adj" fmla="val 6316"/>
            </a:avLst>
          </a:prstGeom>
          <a:solidFill>
            <a:srgbClr val="E1F5EE"/>
          </a:solidFill>
          <a:ln w="12700">
            <a:solidFill>
              <a:srgbClr val="E1F5EE"/>
            </a:solidFill>
            <a:prstDash val="solid"/>
          </a:ln>
        </p:spPr>
      </p:sp>
      <p:sp>
        <p:nvSpPr>
          <p:cNvPr id="5" name="Text 3"/>
          <p:cNvSpPr txBox="1"/>
          <p:nvPr/>
        </p:nvSpPr>
        <p:spPr>
          <a:xfrm>
            <a:off x="1188720" y="4160520"/>
            <a:ext cx="9814255" cy="1737360"/>
          </a:xfrm>
          <a:prstGeom prst="rect">
            <a:avLst/>
          </a:prstGeom>
          <a:noFill/>
          <a:ln/>
        </p:spPr>
        <p:txBody>
          <a:bodyPr wrap="square" lIns="0" tIns="0" rIns="0" bIns="0" rtlCol="0" anchor="ctr">
            <a:normAutofit/>
          </a:bodyPr>
          <a:lstStyle/>
          <a:p>
            <a:pPr algn="l" indent="0" marL="0">
              <a:lnSpc>
                <a:spcPct val="115000"/>
              </a:lnSpc>
              <a:buNone/>
            </a:pPr>
            <a:r>
              <a:rPr lang="en-US" sz="2200" dirty="0">
                <a:solidFill>
                  <a:srgbClr val="1E4A4A"/>
                </a:solidFill>
                <a:latin typeface="DM Sans" pitchFamily="34" charset="0"/>
                <a:ea typeface="DM Sans" pitchFamily="34" charset="-122"/>
                <a:cs typeface="DM Sans" pitchFamily="34" charset="-120"/>
              </a:rPr>
              <a:t>Identity drives how you communicate, advocate and lead. Shelly, Nina and Erica's raises came from that shift.</a:t>
            </a:r>
            <a:endParaRPr lang="en-US" sz="2200" dirty="0"/>
          </a:p>
        </p:txBody>
      </p:sp>
      <p:sp>
        <p:nvSpPr>
          <p:cNvPr id="25" name="Slide Number Placeholder 0"/>
          <p:cNvSpPr>
            <a:spLocks noGrp="1"/>
          </p:cNvSpPr>
          <p:nvPr>
            <p:ph type="sldNum" sz="quarter" idx="4294967295"/>
          </p:nvPr>
        </p:nvSpPr>
        <p:spPr>
          <a:xfrm>
            <a:off x="11368735"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AA6A3"/>
                </a:solidFill>
                <a:latin typeface="DM Sans"/>
                <a:ea typeface="DM Sans"/>
                <a:cs typeface="DM Sans"/>
              </a:defRPr>
            </a:lvl1pPr>
          </a:lstStyle>
          <a:p>
            <a:pPr algn="r"/>
            <a:fld id="{F7021451-1387-4CA6-816F-3879F97B5CBC}" type="slidenum">
              <a:rPr b="0" lang="en-US"/>
              <a:t>112</a:t>
            </a:fld>
            <a:endParaRPr lang="en-US"/>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22960" y="1005840"/>
            <a:ext cx="10545775" cy="365760"/>
          </a:xfrm>
          <a:prstGeom prst="rect">
            <a:avLst/>
          </a:prstGeom>
          <a:noFill/>
          <a:ln/>
        </p:spPr>
        <p:txBody>
          <a:bodyPr wrap="square" lIns="0" tIns="0" rIns="0" bIns="0" rtlCol="0" anchor="ctr">
            <a:normAutofit/>
          </a:bodyPr>
          <a:lstStyle/>
          <a:p>
            <a:pPr algn="l" indent="0" marL="0">
              <a:lnSpc>
                <a:spcPct val="100000"/>
              </a:lnSpc>
              <a:buNone/>
            </a:pPr>
            <a:r>
              <a:rPr lang="en-US" sz="1400" b="1" spc="400" kern="0" dirty="0">
                <a:solidFill>
                  <a:srgbClr val="8AAF8A"/>
                </a:solidFill>
                <a:latin typeface="DM Sans" pitchFamily="34" charset="0"/>
                <a:ea typeface="DM Sans" pitchFamily="34" charset="-122"/>
                <a:cs typeface="DM Sans" pitchFamily="34" charset="-120"/>
              </a:rPr>
              <a:t>YOU MIGHT BE WONDERING</a:t>
            </a:r>
            <a:endParaRPr lang="en-US" sz="1400" dirty="0"/>
          </a:p>
        </p:txBody>
      </p:sp>
      <p:sp>
        <p:nvSpPr>
          <p:cNvPr id="3" name="Text 1"/>
          <p:cNvSpPr txBox="1"/>
          <p:nvPr/>
        </p:nvSpPr>
        <p:spPr>
          <a:xfrm>
            <a:off x="822960" y="1508760"/>
            <a:ext cx="10180015" cy="2377440"/>
          </a:xfrm>
          <a:prstGeom prst="rect">
            <a:avLst/>
          </a:prstGeom>
          <a:noFill/>
          <a:ln/>
        </p:spPr>
        <p:txBody>
          <a:bodyPr wrap="square" lIns="0" tIns="0" rIns="0" bIns="0" rtlCol="0" anchor="t">
            <a:normAutofit/>
          </a:bodyPr>
          <a:lstStyle/>
          <a:p>
            <a:pPr algn="l" indent="0" marL="0">
              <a:lnSpc>
                <a:spcPct val="95000"/>
              </a:lnSpc>
              <a:buNone/>
            </a:pPr>
            <a:r>
              <a:rPr lang="en-US" sz="3400" b="1" i="1" dirty="0">
                <a:solidFill>
                  <a:srgbClr val="1B2B2B"/>
                </a:solidFill>
                <a:latin typeface="Cormorant Garamond" pitchFamily="34" charset="0"/>
                <a:ea typeface="Cormorant Garamond" pitchFamily="34" charset="-122"/>
                <a:cs typeface="Cormorant Garamond" pitchFamily="34" charset="-120"/>
              </a:rPr>
              <a:t>"What if I get found out? What if I'm not as good as they think?"</a:t>
            </a:r>
            <a:endParaRPr lang="en-US" sz="3400" dirty="0"/>
          </a:p>
        </p:txBody>
      </p:sp>
      <p:sp>
        <p:nvSpPr>
          <p:cNvPr id="4" name="Shape 2"/>
          <p:cNvSpPr/>
          <p:nvPr/>
        </p:nvSpPr>
        <p:spPr>
          <a:xfrm>
            <a:off x="822960" y="4160520"/>
            <a:ext cx="10545775" cy="1737360"/>
          </a:xfrm>
          <a:prstGeom prst="roundRect">
            <a:avLst>
              <a:gd name="adj" fmla="val 6316"/>
            </a:avLst>
          </a:prstGeom>
          <a:solidFill>
            <a:srgbClr val="E1F5EE"/>
          </a:solidFill>
          <a:ln w="12700">
            <a:solidFill>
              <a:srgbClr val="E1F5EE"/>
            </a:solidFill>
            <a:prstDash val="solid"/>
          </a:ln>
        </p:spPr>
      </p:sp>
      <p:sp>
        <p:nvSpPr>
          <p:cNvPr id="5" name="Text 3"/>
          <p:cNvSpPr txBox="1"/>
          <p:nvPr/>
        </p:nvSpPr>
        <p:spPr>
          <a:xfrm>
            <a:off x="1188720" y="4160520"/>
            <a:ext cx="9814255" cy="1737360"/>
          </a:xfrm>
          <a:prstGeom prst="rect">
            <a:avLst/>
          </a:prstGeom>
          <a:noFill/>
          <a:ln/>
        </p:spPr>
        <p:txBody>
          <a:bodyPr wrap="square" lIns="0" tIns="0" rIns="0" bIns="0" rtlCol="0" anchor="ctr">
            <a:normAutofit/>
          </a:bodyPr>
          <a:lstStyle/>
          <a:p>
            <a:pPr algn="l" indent="0" marL="0">
              <a:lnSpc>
                <a:spcPct val="115000"/>
              </a:lnSpc>
              <a:buNone/>
            </a:pPr>
            <a:r>
              <a:rPr lang="en-US" sz="2200" dirty="0">
                <a:solidFill>
                  <a:srgbClr val="1E4A4A"/>
                </a:solidFill>
                <a:latin typeface="DM Sans" pitchFamily="34" charset="0"/>
                <a:ea typeface="DM Sans" pitchFamily="34" charset="-122"/>
                <a:cs typeface="DM Sans" pitchFamily="34" charset="-120"/>
              </a:rPr>
              <a:t>Almost every high achiever I've worked with has felt this, including me. Your results are real.</a:t>
            </a:r>
            <a:endParaRPr lang="en-US" sz="2200" dirty="0"/>
          </a:p>
        </p:txBody>
      </p:sp>
      <p:sp>
        <p:nvSpPr>
          <p:cNvPr id="25" name="Slide Number Placeholder 0"/>
          <p:cNvSpPr>
            <a:spLocks noGrp="1"/>
          </p:cNvSpPr>
          <p:nvPr>
            <p:ph type="sldNum" sz="quarter" idx="4294967295"/>
          </p:nvPr>
        </p:nvSpPr>
        <p:spPr>
          <a:xfrm>
            <a:off x="11368735"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AA6A3"/>
                </a:solidFill>
                <a:latin typeface="DM Sans"/>
                <a:ea typeface="DM Sans"/>
                <a:cs typeface="DM Sans"/>
              </a:defRPr>
            </a:lvl1pPr>
          </a:lstStyle>
          <a:p>
            <a:pPr algn="r"/>
            <a:fld id="{F7021451-1387-4CA6-816F-3879F97B5CBC}" type="slidenum">
              <a:rPr b="0" lang="en-US"/>
              <a:t>113</a:t>
            </a:fld>
            <a:endParaRPr lang="en-US"/>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bg>
      <p:bgPr>
        <a:solidFill>
          <a:srgbClr val="FAF5EE"/>
        </a:solidFill>
      </p:bgPr>
    </p:bg>
    <p:spTree>
      <p:nvGrpSpPr>
        <p:cNvPr id="1" name=""/>
        <p:cNvGrpSpPr/>
        <p:nvPr/>
      </p:nvGrpSpPr>
      <p:grpSpPr>
        <a:xfrm>
          <a:off x="0" y="0"/>
          <a:ext cx="0" cy="0"/>
          <a:chOff x="0" y="0"/>
          <a:chExt cx="0" cy="0"/>
        </a:xfrm>
      </p:grpSpPr>
      <p:sp>
        <p:nvSpPr>
          <p:cNvPr id="2" name="Text 0"/>
          <p:cNvSpPr txBox="1"/>
          <p:nvPr/>
        </p:nvSpPr>
        <p:spPr>
          <a:xfrm>
            <a:off x="822960" y="731520"/>
            <a:ext cx="10545775" cy="365760"/>
          </a:xfrm>
          <a:prstGeom prst="rect">
            <a:avLst/>
          </a:prstGeom>
          <a:noFill/>
          <a:ln/>
        </p:spPr>
        <p:txBody>
          <a:bodyPr wrap="square" lIns="0" tIns="0" rIns="0" bIns="0" rtlCol="0" anchor="ctr">
            <a:normAutofit/>
          </a:bodyPr>
          <a:lstStyle/>
          <a:p>
            <a:pPr algn="l" indent="0" marL="0">
              <a:lnSpc>
                <a:spcPct val="100000"/>
              </a:lnSpc>
              <a:buNone/>
            </a:pPr>
            <a:r>
              <a:rPr lang="en-US" sz="1400" b="1" spc="400" kern="0" dirty="0">
                <a:solidFill>
                  <a:srgbClr val="8AAF8A"/>
                </a:solidFill>
                <a:latin typeface="DM Sans" pitchFamily="34" charset="0"/>
                <a:ea typeface="DM Sans" pitchFamily="34" charset="-122"/>
                <a:cs typeface="DM Sans" pitchFamily="34" charset="-120"/>
              </a:rPr>
              <a:t>HERE'S EVERYTHING WE COVERED</a:t>
            </a:r>
            <a:endParaRPr lang="en-US" sz="1400" dirty="0"/>
          </a:p>
        </p:txBody>
      </p:sp>
      <p:sp>
        <p:nvSpPr>
          <p:cNvPr id="3" name="Shape 1"/>
          <p:cNvSpPr/>
          <p:nvPr/>
        </p:nvSpPr>
        <p:spPr>
          <a:xfrm>
            <a:off x="822960" y="1417320"/>
            <a:ext cx="457200" cy="457200"/>
          </a:xfrm>
          <a:prstGeom prst="ellipse">
            <a:avLst/>
          </a:prstGeom>
          <a:solidFill>
            <a:srgbClr val="1E4A4A"/>
          </a:solidFill>
          <a:ln w="12700">
            <a:solidFill>
              <a:srgbClr val="1E4A4A"/>
            </a:solidFill>
            <a:prstDash val="solid"/>
          </a:ln>
        </p:spPr>
      </p:sp>
      <p:sp>
        <p:nvSpPr>
          <p:cNvPr id="4" name="Text 2"/>
          <p:cNvSpPr txBox="1"/>
          <p:nvPr/>
        </p:nvSpPr>
        <p:spPr>
          <a:xfrm>
            <a:off x="822960" y="1417320"/>
            <a:ext cx="457200" cy="457200"/>
          </a:xfrm>
          <a:prstGeom prst="rect">
            <a:avLst/>
          </a:prstGeom>
          <a:noFill/>
          <a:ln/>
        </p:spPr>
        <p:txBody>
          <a:bodyPr wrap="square" lIns="0" tIns="0" rIns="0" bIns="0" rtlCol="0" anchor="ctr">
            <a:normAutofit/>
          </a:bodyPr>
          <a:lstStyle/>
          <a:p>
            <a:pPr algn="ctr" indent="0" marL="0">
              <a:lnSpc>
                <a:spcPct val="100000"/>
              </a:lnSpc>
              <a:buNone/>
            </a:pPr>
            <a:r>
              <a:rPr lang="en-US" sz="1600" b="1" dirty="0">
                <a:solidFill>
                  <a:srgbClr val="FFFFFF"/>
                </a:solidFill>
                <a:latin typeface="Cormorant Garamond" pitchFamily="34" charset="0"/>
                <a:ea typeface="Cormorant Garamond" pitchFamily="34" charset="-122"/>
                <a:cs typeface="Cormorant Garamond" pitchFamily="34" charset="-120"/>
              </a:rPr>
              <a:t>✓</a:t>
            </a:r>
            <a:endParaRPr lang="en-US" sz="1600" dirty="0"/>
          </a:p>
        </p:txBody>
      </p:sp>
      <p:sp>
        <p:nvSpPr>
          <p:cNvPr id="5" name="Text 3"/>
          <p:cNvSpPr txBox="1"/>
          <p:nvPr/>
        </p:nvSpPr>
        <p:spPr>
          <a:xfrm>
            <a:off x="1508760" y="1325880"/>
            <a:ext cx="10241280" cy="640080"/>
          </a:xfrm>
          <a:prstGeom prst="rect">
            <a:avLst/>
          </a:prstGeom>
          <a:noFill/>
          <a:ln/>
        </p:spPr>
        <p:txBody>
          <a:bodyPr wrap="square" lIns="0" tIns="0" rIns="0" bIns="0" rtlCol="0" anchor="ctr">
            <a:normAutofit/>
          </a:bodyPr>
          <a:lstStyle/>
          <a:p>
            <a:pPr algn="l" indent="0" marL="0">
              <a:lnSpc>
                <a:spcPct val="100000"/>
              </a:lnSpc>
              <a:buNone/>
            </a:pPr>
            <a:r>
              <a:rPr lang="en-US" sz="2200" b="1" dirty="0">
                <a:solidFill>
                  <a:srgbClr val="1B2B2B"/>
                </a:solidFill>
                <a:latin typeface="DM Sans" pitchFamily="34" charset="0"/>
                <a:ea typeface="DM Sans" pitchFamily="34" charset="-122"/>
                <a:cs typeface="DM Sans" pitchFamily="34" charset="-120"/>
              </a:rPr>
              <a:t>You don't have a negotiation problem. You have an identity problem.</a:t>
            </a:r>
            <a:endParaRPr lang="en-US" sz="2200" dirty="0"/>
          </a:p>
        </p:txBody>
      </p:sp>
      <p:sp>
        <p:nvSpPr>
          <p:cNvPr id="6" name="Shape 4"/>
          <p:cNvSpPr/>
          <p:nvPr/>
        </p:nvSpPr>
        <p:spPr>
          <a:xfrm>
            <a:off x="822960" y="2331720"/>
            <a:ext cx="457200" cy="457200"/>
          </a:xfrm>
          <a:prstGeom prst="ellipse">
            <a:avLst/>
          </a:prstGeom>
          <a:solidFill>
            <a:srgbClr val="1E4A4A"/>
          </a:solidFill>
          <a:ln w="12700">
            <a:solidFill>
              <a:srgbClr val="1E4A4A"/>
            </a:solidFill>
            <a:prstDash val="solid"/>
          </a:ln>
        </p:spPr>
      </p:sp>
      <p:sp>
        <p:nvSpPr>
          <p:cNvPr id="7" name="Text 5"/>
          <p:cNvSpPr txBox="1"/>
          <p:nvPr/>
        </p:nvSpPr>
        <p:spPr>
          <a:xfrm>
            <a:off x="822960" y="2331720"/>
            <a:ext cx="457200" cy="457200"/>
          </a:xfrm>
          <a:prstGeom prst="rect">
            <a:avLst/>
          </a:prstGeom>
          <a:noFill/>
          <a:ln/>
        </p:spPr>
        <p:txBody>
          <a:bodyPr wrap="square" lIns="0" tIns="0" rIns="0" bIns="0" rtlCol="0" anchor="ctr">
            <a:normAutofit/>
          </a:bodyPr>
          <a:lstStyle/>
          <a:p>
            <a:pPr algn="ctr" indent="0" marL="0">
              <a:lnSpc>
                <a:spcPct val="100000"/>
              </a:lnSpc>
              <a:buNone/>
            </a:pPr>
            <a:r>
              <a:rPr lang="en-US" sz="1600" b="1" dirty="0">
                <a:solidFill>
                  <a:srgbClr val="FFFFFF"/>
                </a:solidFill>
                <a:latin typeface="Cormorant Garamond" pitchFamily="34" charset="0"/>
                <a:ea typeface="Cormorant Garamond" pitchFamily="34" charset="-122"/>
                <a:cs typeface="Cormorant Garamond" pitchFamily="34" charset="-120"/>
              </a:rPr>
              <a:t>✓</a:t>
            </a:r>
            <a:endParaRPr lang="en-US" sz="1600" dirty="0"/>
          </a:p>
        </p:txBody>
      </p:sp>
      <p:sp>
        <p:nvSpPr>
          <p:cNvPr id="8" name="Text 6"/>
          <p:cNvSpPr txBox="1"/>
          <p:nvPr/>
        </p:nvSpPr>
        <p:spPr>
          <a:xfrm>
            <a:off x="1508760" y="2240280"/>
            <a:ext cx="10241280" cy="640080"/>
          </a:xfrm>
          <a:prstGeom prst="rect">
            <a:avLst/>
          </a:prstGeom>
          <a:noFill/>
          <a:ln/>
        </p:spPr>
        <p:txBody>
          <a:bodyPr wrap="square" lIns="0" tIns="0" rIns="0" bIns="0" rtlCol="0" anchor="ctr">
            <a:normAutofit/>
          </a:bodyPr>
          <a:lstStyle/>
          <a:p>
            <a:pPr algn="l" indent="0" marL="0">
              <a:lnSpc>
                <a:spcPct val="100000"/>
              </a:lnSpc>
              <a:buNone/>
            </a:pPr>
            <a:r>
              <a:rPr lang="en-US" sz="2200" b="1" dirty="0">
                <a:solidFill>
                  <a:srgbClr val="1B2B2B"/>
                </a:solidFill>
                <a:latin typeface="DM Sans" pitchFamily="34" charset="0"/>
                <a:ea typeface="DM Sans" pitchFamily="34" charset="-122"/>
                <a:cs typeface="DM Sans" pitchFamily="34" charset="-120"/>
              </a:rPr>
              <a:t>The five myths that keep smart women underpaid</a:t>
            </a:r>
            <a:endParaRPr lang="en-US" sz="2200" dirty="0"/>
          </a:p>
        </p:txBody>
      </p:sp>
      <p:sp>
        <p:nvSpPr>
          <p:cNvPr id="9" name="Shape 7"/>
          <p:cNvSpPr/>
          <p:nvPr/>
        </p:nvSpPr>
        <p:spPr>
          <a:xfrm>
            <a:off x="822960" y="3246120"/>
            <a:ext cx="457200" cy="457200"/>
          </a:xfrm>
          <a:prstGeom prst="ellipse">
            <a:avLst/>
          </a:prstGeom>
          <a:solidFill>
            <a:srgbClr val="1E4A4A"/>
          </a:solidFill>
          <a:ln w="12700">
            <a:solidFill>
              <a:srgbClr val="1E4A4A"/>
            </a:solidFill>
            <a:prstDash val="solid"/>
          </a:ln>
        </p:spPr>
      </p:sp>
      <p:sp>
        <p:nvSpPr>
          <p:cNvPr id="10" name="Text 8"/>
          <p:cNvSpPr txBox="1"/>
          <p:nvPr/>
        </p:nvSpPr>
        <p:spPr>
          <a:xfrm>
            <a:off x="822960" y="3246120"/>
            <a:ext cx="457200" cy="457200"/>
          </a:xfrm>
          <a:prstGeom prst="rect">
            <a:avLst/>
          </a:prstGeom>
          <a:noFill/>
          <a:ln/>
        </p:spPr>
        <p:txBody>
          <a:bodyPr wrap="square" lIns="0" tIns="0" rIns="0" bIns="0" rtlCol="0" anchor="ctr">
            <a:normAutofit/>
          </a:bodyPr>
          <a:lstStyle/>
          <a:p>
            <a:pPr algn="ctr" indent="0" marL="0">
              <a:lnSpc>
                <a:spcPct val="100000"/>
              </a:lnSpc>
              <a:buNone/>
            </a:pPr>
            <a:r>
              <a:rPr lang="en-US" sz="1600" b="1" dirty="0">
                <a:solidFill>
                  <a:srgbClr val="FFFFFF"/>
                </a:solidFill>
                <a:latin typeface="Cormorant Garamond" pitchFamily="34" charset="0"/>
                <a:ea typeface="Cormorant Garamond" pitchFamily="34" charset="-122"/>
                <a:cs typeface="Cormorant Garamond" pitchFamily="34" charset="-120"/>
              </a:rPr>
              <a:t>✓</a:t>
            </a:r>
            <a:endParaRPr lang="en-US" sz="1600" dirty="0"/>
          </a:p>
        </p:txBody>
      </p:sp>
      <p:sp>
        <p:nvSpPr>
          <p:cNvPr id="11" name="Text 9"/>
          <p:cNvSpPr txBox="1"/>
          <p:nvPr/>
        </p:nvSpPr>
        <p:spPr>
          <a:xfrm>
            <a:off x="1508760" y="3154680"/>
            <a:ext cx="10241280" cy="640080"/>
          </a:xfrm>
          <a:prstGeom prst="rect">
            <a:avLst/>
          </a:prstGeom>
          <a:noFill/>
          <a:ln/>
        </p:spPr>
        <p:txBody>
          <a:bodyPr wrap="square" lIns="0" tIns="0" rIns="0" bIns="0" rtlCol="0" anchor="ctr">
            <a:normAutofit/>
          </a:bodyPr>
          <a:lstStyle/>
          <a:p>
            <a:pPr algn="l" indent="0" marL="0">
              <a:lnSpc>
                <a:spcPct val="100000"/>
              </a:lnSpc>
              <a:buNone/>
            </a:pPr>
            <a:r>
              <a:rPr lang="en-US" sz="2200" b="1" dirty="0">
                <a:solidFill>
                  <a:srgbClr val="1B2B2B"/>
                </a:solidFill>
                <a:latin typeface="DM Sans" pitchFamily="34" charset="0"/>
                <a:ea typeface="DM Sans" pitchFamily="34" charset="-122"/>
                <a:cs typeface="DM Sans" pitchFamily="34" charset="-120"/>
              </a:rPr>
              <a:t>Why the cost of waiting compounds, financially and emotionally</a:t>
            </a:r>
            <a:endParaRPr lang="en-US" sz="2200" dirty="0"/>
          </a:p>
        </p:txBody>
      </p:sp>
      <p:sp>
        <p:nvSpPr>
          <p:cNvPr id="12" name="Shape 10"/>
          <p:cNvSpPr/>
          <p:nvPr/>
        </p:nvSpPr>
        <p:spPr>
          <a:xfrm>
            <a:off x="822960" y="4160520"/>
            <a:ext cx="457200" cy="457200"/>
          </a:xfrm>
          <a:prstGeom prst="ellipse">
            <a:avLst/>
          </a:prstGeom>
          <a:solidFill>
            <a:srgbClr val="1E4A4A"/>
          </a:solidFill>
          <a:ln w="12700">
            <a:solidFill>
              <a:srgbClr val="1E4A4A"/>
            </a:solidFill>
            <a:prstDash val="solid"/>
          </a:ln>
        </p:spPr>
      </p:sp>
      <p:sp>
        <p:nvSpPr>
          <p:cNvPr id="13" name="Text 11"/>
          <p:cNvSpPr txBox="1"/>
          <p:nvPr/>
        </p:nvSpPr>
        <p:spPr>
          <a:xfrm>
            <a:off x="822960" y="4160520"/>
            <a:ext cx="457200" cy="457200"/>
          </a:xfrm>
          <a:prstGeom prst="rect">
            <a:avLst/>
          </a:prstGeom>
          <a:noFill/>
          <a:ln/>
        </p:spPr>
        <p:txBody>
          <a:bodyPr wrap="square" lIns="0" tIns="0" rIns="0" bIns="0" rtlCol="0" anchor="ctr">
            <a:normAutofit/>
          </a:bodyPr>
          <a:lstStyle/>
          <a:p>
            <a:pPr algn="ctr" indent="0" marL="0">
              <a:lnSpc>
                <a:spcPct val="100000"/>
              </a:lnSpc>
              <a:buNone/>
            </a:pPr>
            <a:r>
              <a:rPr lang="en-US" sz="1600" b="1" dirty="0">
                <a:solidFill>
                  <a:srgbClr val="FFFFFF"/>
                </a:solidFill>
                <a:latin typeface="Cormorant Garamond" pitchFamily="34" charset="0"/>
                <a:ea typeface="Cormorant Garamond" pitchFamily="34" charset="-122"/>
                <a:cs typeface="Cormorant Garamond" pitchFamily="34" charset="-120"/>
              </a:rPr>
              <a:t>✓</a:t>
            </a:r>
            <a:endParaRPr lang="en-US" sz="1600" dirty="0"/>
          </a:p>
        </p:txBody>
      </p:sp>
      <p:sp>
        <p:nvSpPr>
          <p:cNvPr id="14" name="Text 12"/>
          <p:cNvSpPr txBox="1"/>
          <p:nvPr/>
        </p:nvSpPr>
        <p:spPr>
          <a:xfrm>
            <a:off x="1508760" y="4069080"/>
            <a:ext cx="10241280" cy="640080"/>
          </a:xfrm>
          <a:prstGeom prst="rect">
            <a:avLst/>
          </a:prstGeom>
          <a:noFill/>
          <a:ln/>
        </p:spPr>
        <p:txBody>
          <a:bodyPr wrap="square" lIns="0" tIns="0" rIns="0" bIns="0" rtlCol="0" anchor="ctr">
            <a:normAutofit/>
          </a:bodyPr>
          <a:lstStyle/>
          <a:p>
            <a:pPr algn="l" indent="0" marL="0">
              <a:lnSpc>
                <a:spcPct val="100000"/>
              </a:lnSpc>
              <a:buNone/>
            </a:pPr>
            <a:r>
              <a:rPr lang="en-US" sz="2200" b="1" dirty="0">
                <a:solidFill>
                  <a:srgbClr val="1B2B2B"/>
                </a:solidFill>
                <a:latin typeface="DM Sans" pitchFamily="34" charset="0"/>
                <a:ea typeface="DM Sans" pitchFamily="34" charset="-122"/>
                <a:cs typeface="DM Sans" pitchFamily="34" charset="-120"/>
              </a:rPr>
              <a:t>The V.O.I.C.E. Framework: Value, Ownership, Identity, Communication, Execution</a:t>
            </a:r>
            <a:endParaRPr lang="en-US" sz="2200" dirty="0"/>
          </a:p>
        </p:txBody>
      </p:sp>
      <p:sp>
        <p:nvSpPr>
          <p:cNvPr id="15" name="Shape 13"/>
          <p:cNvSpPr/>
          <p:nvPr/>
        </p:nvSpPr>
        <p:spPr>
          <a:xfrm>
            <a:off x="822960" y="5074920"/>
            <a:ext cx="457200" cy="457200"/>
          </a:xfrm>
          <a:prstGeom prst="ellipse">
            <a:avLst/>
          </a:prstGeom>
          <a:solidFill>
            <a:srgbClr val="1E4A4A"/>
          </a:solidFill>
          <a:ln w="12700">
            <a:solidFill>
              <a:srgbClr val="1E4A4A"/>
            </a:solidFill>
            <a:prstDash val="solid"/>
          </a:ln>
        </p:spPr>
      </p:sp>
      <p:sp>
        <p:nvSpPr>
          <p:cNvPr id="16" name="Text 14"/>
          <p:cNvSpPr txBox="1"/>
          <p:nvPr/>
        </p:nvSpPr>
        <p:spPr>
          <a:xfrm>
            <a:off x="822960" y="5074920"/>
            <a:ext cx="457200" cy="457200"/>
          </a:xfrm>
          <a:prstGeom prst="rect">
            <a:avLst/>
          </a:prstGeom>
          <a:noFill/>
          <a:ln/>
        </p:spPr>
        <p:txBody>
          <a:bodyPr wrap="square" lIns="0" tIns="0" rIns="0" bIns="0" rtlCol="0" anchor="ctr">
            <a:normAutofit/>
          </a:bodyPr>
          <a:lstStyle/>
          <a:p>
            <a:pPr algn="ctr" indent="0" marL="0">
              <a:lnSpc>
                <a:spcPct val="100000"/>
              </a:lnSpc>
              <a:buNone/>
            </a:pPr>
            <a:r>
              <a:rPr lang="en-US" sz="1600" b="1" dirty="0">
                <a:solidFill>
                  <a:srgbClr val="FFFFFF"/>
                </a:solidFill>
                <a:latin typeface="Cormorant Garamond" pitchFamily="34" charset="0"/>
                <a:ea typeface="Cormorant Garamond" pitchFamily="34" charset="-122"/>
                <a:cs typeface="Cormorant Garamond" pitchFamily="34" charset="-120"/>
              </a:rPr>
              <a:t>✓</a:t>
            </a:r>
            <a:endParaRPr lang="en-US" sz="1600" dirty="0"/>
          </a:p>
        </p:txBody>
      </p:sp>
      <p:sp>
        <p:nvSpPr>
          <p:cNvPr id="17" name="Text 15"/>
          <p:cNvSpPr txBox="1"/>
          <p:nvPr/>
        </p:nvSpPr>
        <p:spPr>
          <a:xfrm>
            <a:off x="1508760" y="4983480"/>
            <a:ext cx="10241280" cy="640080"/>
          </a:xfrm>
          <a:prstGeom prst="rect">
            <a:avLst/>
          </a:prstGeom>
          <a:noFill/>
          <a:ln/>
        </p:spPr>
        <p:txBody>
          <a:bodyPr wrap="square" lIns="0" tIns="0" rIns="0" bIns="0" rtlCol="0" anchor="ctr">
            <a:normAutofit/>
          </a:bodyPr>
          <a:lstStyle/>
          <a:p>
            <a:pPr algn="l" indent="0" marL="0">
              <a:lnSpc>
                <a:spcPct val="100000"/>
              </a:lnSpc>
              <a:buNone/>
            </a:pPr>
            <a:r>
              <a:rPr lang="en-US" sz="2200" b="1" dirty="0">
                <a:solidFill>
                  <a:srgbClr val="1B2B2B"/>
                </a:solidFill>
                <a:latin typeface="DM Sans" pitchFamily="34" charset="0"/>
                <a:ea typeface="DM Sans" pitchFamily="34" charset="-122"/>
                <a:cs typeface="DM Sans" pitchFamily="34" charset="-120"/>
              </a:rPr>
              <a:t>How Shelly, Nina and Erica closed the gap</a:t>
            </a:r>
            <a:endParaRPr lang="en-US" sz="2200" dirty="0"/>
          </a:p>
        </p:txBody>
      </p:sp>
      <p:sp>
        <p:nvSpPr>
          <p:cNvPr id="25" name="Slide Number Placeholder 0"/>
          <p:cNvSpPr>
            <a:spLocks noGrp="1"/>
          </p:cNvSpPr>
          <p:nvPr>
            <p:ph type="sldNum" sz="quarter" idx="4294967295"/>
          </p:nvPr>
        </p:nvSpPr>
        <p:spPr>
          <a:xfrm>
            <a:off x="11368735"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AA6A3"/>
                </a:solidFill>
                <a:latin typeface="DM Sans"/>
                <a:ea typeface="DM Sans"/>
                <a:cs typeface="DM Sans"/>
              </a:defRPr>
            </a:lvl1pPr>
          </a:lstStyle>
          <a:p>
            <a:pPr algn="r"/>
            <a:fld id="{F7021451-1387-4CA6-816F-3879F97B5CBC}" type="slidenum">
              <a:rPr b="0" lang="en-US"/>
              <a:t>114</a:t>
            </a:fld>
            <a:endParaRPr lang="en-US"/>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bg>
      <p:bgPr>
        <a:solidFill>
          <a:srgbClr val="1E4A4A"/>
        </a:solidFill>
      </p:bgPr>
    </p:bg>
    <p:spTree>
      <p:nvGrpSpPr>
        <p:cNvPr id="1" name=""/>
        <p:cNvGrpSpPr/>
        <p:nvPr/>
      </p:nvGrpSpPr>
      <p:grpSpPr>
        <a:xfrm>
          <a:off x="0" y="0"/>
          <a:ext cx="0" cy="0"/>
          <a:chOff x="0" y="0"/>
          <a:chExt cx="0" cy="0"/>
        </a:xfrm>
      </p:grpSpPr>
      <p:sp>
        <p:nvSpPr>
          <p:cNvPr id="2" name="Text 0"/>
          <p:cNvSpPr txBox="1"/>
          <p:nvPr/>
        </p:nvSpPr>
        <p:spPr>
          <a:xfrm>
            <a:off x="822960" y="1188720"/>
            <a:ext cx="10545775" cy="365760"/>
          </a:xfrm>
          <a:prstGeom prst="rect">
            <a:avLst/>
          </a:prstGeom>
          <a:noFill/>
          <a:ln/>
        </p:spPr>
        <p:txBody>
          <a:bodyPr wrap="square" lIns="0" tIns="0" rIns="0" bIns="0" rtlCol="0" anchor="ctr">
            <a:normAutofit/>
          </a:bodyPr>
          <a:lstStyle/>
          <a:p>
            <a:pPr algn="l" indent="0" marL="0">
              <a:lnSpc>
                <a:spcPct val="100000"/>
              </a:lnSpc>
              <a:buNone/>
            </a:pPr>
            <a:r>
              <a:rPr lang="en-US" sz="1400" b="1" spc="400" kern="0" dirty="0">
                <a:solidFill>
                  <a:srgbClr val="8AAF8A"/>
                </a:solidFill>
                <a:latin typeface="DM Sans" pitchFamily="34" charset="0"/>
                <a:ea typeface="DM Sans" pitchFamily="34" charset="-122"/>
                <a:cs typeface="DM Sans" pitchFamily="34" charset="-120"/>
              </a:rPr>
              <a:t>THE QUESTION</a:t>
            </a:r>
            <a:endParaRPr lang="en-US" sz="1400" dirty="0"/>
          </a:p>
        </p:txBody>
      </p:sp>
      <p:sp>
        <p:nvSpPr>
          <p:cNvPr id="3" name="Text 1"/>
          <p:cNvSpPr txBox="1"/>
          <p:nvPr/>
        </p:nvSpPr>
        <p:spPr>
          <a:xfrm>
            <a:off x="822960" y="1691640"/>
            <a:ext cx="10180015" cy="2651760"/>
          </a:xfrm>
          <a:prstGeom prst="rect">
            <a:avLst/>
          </a:prstGeom>
          <a:noFill/>
          <a:ln/>
        </p:spPr>
        <p:txBody>
          <a:bodyPr wrap="square" lIns="0" tIns="0" rIns="0" bIns="0" rtlCol="0" anchor="t">
            <a:normAutofit/>
          </a:bodyPr>
          <a:lstStyle/>
          <a:p>
            <a:pPr algn="l" indent="0" marL="0">
              <a:lnSpc>
                <a:spcPct val="95000"/>
              </a:lnSpc>
              <a:buNone/>
            </a:pPr>
            <a:r>
              <a:rPr lang="en-US" sz="3700" b="1" dirty="0">
                <a:solidFill>
                  <a:srgbClr val="FFFFFF"/>
                </a:solidFill>
                <a:latin typeface="Cormorant Garamond" pitchFamily="34" charset="0"/>
                <a:ea typeface="Cormorant Garamond" pitchFamily="34" charset="-122"/>
                <a:cs typeface="Cormorant Garamond" pitchFamily="34" charset="-120"/>
              </a:rPr>
              <a:t>You already have the capability. </a:t>
            </a:r>
            <a:pPr algn="l" indent="0" marL="0">
              <a:lnSpc>
                <a:spcPct val="95000"/>
              </a:lnSpc>
              <a:buNone/>
            </a:pPr>
            <a:r>
              <a:rPr lang="en-US" sz="3700" b="1" dirty="0">
                <a:solidFill>
                  <a:srgbClr val="B7D3B7"/>
                </a:solidFill>
                <a:latin typeface="Cormorant Garamond" pitchFamily="34" charset="0"/>
                <a:ea typeface="Cormorant Garamond" pitchFamily="34" charset="-122"/>
                <a:cs typeface="Cormorant Garamond" pitchFamily="34" charset="-120"/>
              </a:rPr>
              <a:t>The open question is who walks into the room.</a:t>
            </a:r>
            <a:endParaRPr lang="en-US" sz="3700" dirty="0"/>
          </a:p>
        </p:txBody>
      </p:sp>
      <p:sp>
        <p:nvSpPr>
          <p:cNvPr id="25" name="Slide Number Placeholder 0"/>
          <p:cNvSpPr>
            <a:spLocks noGrp="1"/>
          </p:cNvSpPr>
          <p:nvPr>
            <p:ph type="sldNum" sz="quarter" idx="4294967295"/>
          </p:nvPr>
        </p:nvSpPr>
        <p:spPr>
          <a:xfrm>
            <a:off x="11368735"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AAF8A"/>
                </a:solidFill>
                <a:latin typeface="DM Sans"/>
                <a:ea typeface="DM Sans"/>
                <a:cs typeface="DM Sans"/>
              </a:defRPr>
            </a:lvl1pPr>
          </a:lstStyle>
          <a:p>
            <a:pPr algn="r"/>
            <a:fld id="{F7021451-1387-4CA6-816F-3879F97B5CBC}" type="slidenum">
              <a:rPr b="0" lang="en-US"/>
              <a:t>115</a:t>
            </a:fld>
            <a:endParaRPr lang="en-US"/>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22960" y="731520"/>
            <a:ext cx="10545775" cy="365760"/>
          </a:xfrm>
          <a:prstGeom prst="rect">
            <a:avLst/>
          </a:prstGeom>
          <a:noFill/>
          <a:ln/>
        </p:spPr>
        <p:txBody>
          <a:bodyPr wrap="square" lIns="0" tIns="0" rIns="0" bIns="0" rtlCol="0" anchor="ctr">
            <a:normAutofit/>
          </a:bodyPr>
          <a:lstStyle/>
          <a:p>
            <a:pPr algn="l" indent="0" marL="0">
              <a:lnSpc>
                <a:spcPct val="100000"/>
              </a:lnSpc>
              <a:buNone/>
            </a:pPr>
            <a:r>
              <a:rPr lang="en-US" sz="1400" b="1" spc="400" kern="0" dirty="0">
                <a:solidFill>
                  <a:srgbClr val="8AAF8A"/>
                </a:solidFill>
                <a:latin typeface="DM Sans" pitchFamily="34" charset="0"/>
                <a:ea typeface="DM Sans" pitchFamily="34" charset="-122"/>
                <a:cs typeface="DM Sans" pitchFamily="34" charset="-120"/>
              </a:rPr>
              <a:t>YOU HAVE TWO OPTIONS</a:t>
            </a:r>
            <a:endParaRPr lang="en-US" sz="1400" dirty="0"/>
          </a:p>
        </p:txBody>
      </p:sp>
      <p:sp>
        <p:nvSpPr>
          <p:cNvPr id="3" name="Shape 1"/>
          <p:cNvSpPr/>
          <p:nvPr/>
        </p:nvSpPr>
        <p:spPr>
          <a:xfrm>
            <a:off x="822960" y="1371600"/>
            <a:ext cx="5044288" cy="4663440"/>
          </a:xfrm>
          <a:prstGeom prst="roundRect">
            <a:avLst>
              <a:gd name="adj" fmla="val 2353"/>
            </a:avLst>
          </a:prstGeom>
          <a:solidFill>
            <a:srgbClr val="EFEAE2"/>
          </a:solidFill>
          <a:ln w="12700">
            <a:solidFill>
              <a:srgbClr val="EFEAE2"/>
            </a:solidFill>
            <a:prstDash val="solid"/>
          </a:ln>
        </p:spPr>
      </p:sp>
      <p:sp>
        <p:nvSpPr>
          <p:cNvPr id="4" name="Text 2"/>
          <p:cNvSpPr txBox="1"/>
          <p:nvPr/>
        </p:nvSpPr>
        <p:spPr>
          <a:xfrm>
            <a:off x="1280160" y="1828800"/>
            <a:ext cx="4129888" cy="365760"/>
          </a:xfrm>
          <a:prstGeom prst="rect">
            <a:avLst/>
          </a:prstGeom>
          <a:noFill/>
          <a:ln/>
        </p:spPr>
        <p:txBody>
          <a:bodyPr wrap="square" lIns="0" tIns="0" rIns="0" bIns="0" rtlCol="0" anchor="t">
            <a:normAutofit/>
          </a:bodyPr>
          <a:lstStyle/>
          <a:p>
            <a:pPr algn="l" indent="0" marL="0">
              <a:lnSpc>
                <a:spcPct val="100000"/>
              </a:lnSpc>
              <a:buNone/>
            </a:pPr>
            <a:r>
              <a:rPr lang="en-US" sz="1300" b="1" spc="300" kern="0" dirty="0">
                <a:solidFill>
                  <a:srgbClr val="5E6B68"/>
                </a:solidFill>
                <a:latin typeface="DM Sans" pitchFamily="34" charset="0"/>
                <a:ea typeface="DM Sans" pitchFamily="34" charset="-122"/>
                <a:cs typeface="DM Sans" pitchFamily="34" charset="-120"/>
              </a:rPr>
              <a:t>OPTION 1</a:t>
            </a:r>
            <a:endParaRPr lang="en-US" sz="1300" dirty="0"/>
          </a:p>
        </p:txBody>
      </p:sp>
      <p:sp>
        <p:nvSpPr>
          <p:cNvPr id="5" name="Text 3"/>
          <p:cNvSpPr txBox="1"/>
          <p:nvPr/>
        </p:nvSpPr>
        <p:spPr>
          <a:xfrm>
            <a:off x="1280160" y="2377440"/>
            <a:ext cx="4129888" cy="1737360"/>
          </a:xfrm>
          <a:prstGeom prst="rect">
            <a:avLst/>
          </a:prstGeom>
          <a:noFill/>
          <a:ln/>
        </p:spPr>
        <p:txBody>
          <a:bodyPr wrap="square" lIns="0" tIns="0" rIns="0" bIns="0" rtlCol="0" anchor="t">
            <a:normAutofit/>
          </a:bodyPr>
          <a:lstStyle/>
          <a:p>
            <a:pPr algn="l" indent="0" marL="0">
              <a:lnSpc>
                <a:spcPct val="100000"/>
              </a:lnSpc>
              <a:buNone/>
            </a:pPr>
            <a:r>
              <a:rPr lang="en-US" sz="3800" b="1" dirty="0">
                <a:solidFill>
                  <a:srgbClr val="1B2B2B"/>
                </a:solidFill>
                <a:latin typeface="Cormorant Garamond" pitchFamily="34" charset="0"/>
                <a:ea typeface="Cormorant Garamond" pitchFamily="34" charset="-122"/>
                <a:cs typeface="Cormorant Garamond" pitchFamily="34" charset="-120"/>
              </a:rPr>
              <a:t>Keep going alone</a:t>
            </a:r>
            <a:endParaRPr lang="en-US" sz="3800" dirty="0"/>
          </a:p>
        </p:txBody>
      </p:sp>
      <p:sp>
        <p:nvSpPr>
          <p:cNvPr id="6" name="Text 4"/>
          <p:cNvSpPr txBox="1"/>
          <p:nvPr/>
        </p:nvSpPr>
        <p:spPr>
          <a:xfrm>
            <a:off x="1280160" y="4297680"/>
            <a:ext cx="4129888" cy="1371600"/>
          </a:xfrm>
          <a:prstGeom prst="rect">
            <a:avLst/>
          </a:prstGeom>
          <a:noFill/>
          <a:ln/>
        </p:spPr>
        <p:txBody>
          <a:bodyPr wrap="square" lIns="0" tIns="0" rIns="0" bIns="0" rtlCol="0" anchor="t">
            <a:normAutofit/>
          </a:bodyPr>
          <a:lstStyle/>
          <a:p>
            <a:pPr algn="l" indent="0" marL="0">
              <a:lnSpc>
                <a:spcPct val="115000"/>
              </a:lnSpc>
              <a:buNone/>
            </a:pPr>
            <a:r>
              <a:rPr lang="en-US" sz="1900" dirty="0">
                <a:solidFill>
                  <a:srgbClr val="1B2B2B"/>
                </a:solidFill>
                <a:latin typeface="DM Sans" pitchFamily="34" charset="0"/>
                <a:ea typeface="DM Sans" pitchFamily="34" charset="-122"/>
                <a:cs typeface="DM Sans" pitchFamily="34" charset="-120"/>
              </a:rPr>
              <a:t>Keep the same plan and wait another year to be noticed.</a:t>
            </a:r>
            <a:endParaRPr lang="en-US" sz="1900" dirty="0"/>
          </a:p>
        </p:txBody>
      </p:sp>
      <p:sp>
        <p:nvSpPr>
          <p:cNvPr id="7" name="Shape 5"/>
          <p:cNvSpPr/>
          <p:nvPr/>
        </p:nvSpPr>
        <p:spPr>
          <a:xfrm>
            <a:off x="6324448" y="1371600"/>
            <a:ext cx="5044288" cy="4663440"/>
          </a:xfrm>
          <a:prstGeom prst="roundRect">
            <a:avLst>
              <a:gd name="adj" fmla="val 2353"/>
            </a:avLst>
          </a:prstGeom>
          <a:solidFill>
            <a:srgbClr val="1E4A4A"/>
          </a:solidFill>
          <a:ln w="12700">
            <a:solidFill>
              <a:srgbClr val="1E4A4A"/>
            </a:solidFill>
            <a:prstDash val="solid"/>
          </a:ln>
        </p:spPr>
      </p:sp>
      <p:sp>
        <p:nvSpPr>
          <p:cNvPr id="8" name="Text 6"/>
          <p:cNvSpPr txBox="1"/>
          <p:nvPr/>
        </p:nvSpPr>
        <p:spPr>
          <a:xfrm>
            <a:off x="6781648" y="1828800"/>
            <a:ext cx="4129888" cy="365760"/>
          </a:xfrm>
          <a:prstGeom prst="rect">
            <a:avLst/>
          </a:prstGeom>
          <a:noFill/>
          <a:ln/>
        </p:spPr>
        <p:txBody>
          <a:bodyPr wrap="square" lIns="0" tIns="0" rIns="0" bIns="0" rtlCol="0" anchor="t">
            <a:normAutofit/>
          </a:bodyPr>
          <a:lstStyle/>
          <a:p>
            <a:pPr algn="l" indent="0" marL="0">
              <a:lnSpc>
                <a:spcPct val="100000"/>
              </a:lnSpc>
              <a:buNone/>
            </a:pPr>
            <a:r>
              <a:rPr lang="en-US" sz="1300" b="1" spc="300" kern="0" dirty="0">
                <a:solidFill>
                  <a:srgbClr val="B7D3B7"/>
                </a:solidFill>
                <a:latin typeface="DM Sans" pitchFamily="34" charset="0"/>
                <a:ea typeface="DM Sans" pitchFamily="34" charset="-122"/>
                <a:cs typeface="DM Sans" pitchFamily="34" charset="-120"/>
              </a:rPr>
              <a:t>OPTION 2</a:t>
            </a:r>
            <a:endParaRPr lang="en-US" sz="1300" dirty="0"/>
          </a:p>
        </p:txBody>
      </p:sp>
      <p:sp>
        <p:nvSpPr>
          <p:cNvPr id="9" name="Text 7"/>
          <p:cNvSpPr txBox="1"/>
          <p:nvPr/>
        </p:nvSpPr>
        <p:spPr>
          <a:xfrm>
            <a:off x="6781648" y="2377440"/>
            <a:ext cx="4129888" cy="1737360"/>
          </a:xfrm>
          <a:prstGeom prst="rect">
            <a:avLst/>
          </a:prstGeom>
          <a:noFill/>
          <a:ln/>
        </p:spPr>
        <p:txBody>
          <a:bodyPr wrap="square" lIns="0" tIns="0" rIns="0" bIns="0" rtlCol="0" anchor="t">
            <a:normAutofit/>
          </a:bodyPr>
          <a:lstStyle/>
          <a:p>
            <a:pPr algn="l" indent="0" marL="0">
              <a:lnSpc>
                <a:spcPct val="100000"/>
              </a:lnSpc>
              <a:buNone/>
            </a:pPr>
            <a:r>
              <a:rPr lang="en-US" sz="3300" b="1" dirty="0">
                <a:solidFill>
                  <a:srgbClr val="FFFFFF"/>
                </a:solidFill>
                <a:latin typeface="Cormorant Garamond" pitchFamily="34" charset="0"/>
                <a:ea typeface="Cormorant Garamond" pitchFamily="34" charset="-122"/>
                <a:cs typeface="Cormorant Garamond" pitchFamily="34" charset="-120"/>
              </a:rPr>
              <a:t>Apply for the Amplify Your V.O.I.C.E. Experience</a:t>
            </a:r>
            <a:endParaRPr lang="en-US" sz="3300" dirty="0"/>
          </a:p>
        </p:txBody>
      </p:sp>
      <p:sp>
        <p:nvSpPr>
          <p:cNvPr id="10" name="Text 8"/>
          <p:cNvSpPr txBox="1"/>
          <p:nvPr/>
        </p:nvSpPr>
        <p:spPr>
          <a:xfrm>
            <a:off x="6781648" y="4297680"/>
            <a:ext cx="4129888" cy="1371600"/>
          </a:xfrm>
          <a:prstGeom prst="rect">
            <a:avLst/>
          </a:prstGeom>
          <a:noFill/>
          <a:ln/>
        </p:spPr>
        <p:txBody>
          <a:bodyPr wrap="square" lIns="0" tIns="0" rIns="0" bIns="0" rtlCol="0" anchor="t">
            <a:normAutofit/>
          </a:bodyPr>
          <a:lstStyle/>
          <a:p>
            <a:pPr algn="l" indent="0" marL="0">
              <a:lnSpc>
                <a:spcPct val="115000"/>
              </a:lnSpc>
              <a:buNone/>
            </a:pPr>
            <a:r>
              <a:rPr lang="en-US" sz="1900" dirty="0">
                <a:solidFill>
                  <a:srgbClr val="FFFFFF"/>
                </a:solidFill>
                <a:latin typeface="DM Sans" pitchFamily="34" charset="0"/>
                <a:ea typeface="DM Sans" pitchFamily="34" charset="-122"/>
                <a:cs typeface="DM Sans" pitchFamily="34" charset="-120"/>
              </a:rPr>
              <a:t>Close the gap with me and a small group of women who get it.</a:t>
            </a:r>
            <a:endParaRPr lang="en-US" sz="1900" dirty="0"/>
          </a:p>
        </p:txBody>
      </p:sp>
      <p:sp>
        <p:nvSpPr>
          <p:cNvPr id="25" name="Slide Number Placeholder 0"/>
          <p:cNvSpPr>
            <a:spLocks noGrp="1"/>
          </p:cNvSpPr>
          <p:nvPr>
            <p:ph type="sldNum" sz="quarter" idx="4294967295"/>
          </p:nvPr>
        </p:nvSpPr>
        <p:spPr>
          <a:xfrm>
            <a:off x="11368735"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AA6A3"/>
                </a:solidFill>
                <a:latin typeface="DM Sans"/>
                <a:ea typeface="DM Sans"/>
                <a:cs typeface="DM Sans"/>
              </a:defRPr>
            </a:lvl1pPr>
          </a:lstStyle>
          <a:p>
            <a:pPr algn="r"/>
            <a:fld id="{F7021451-1387-4CA6-816F-3879F97B5CBC}" type="slidenum">
              <a:rPr b="0" lang="en-US"/>
              <a:t>116</a:t>
            </a:fld>
            <a:endParaRPr lang="en-US"/>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22960" y="731520"/>
            <a:ext cx="10545775" cy="365760"/>
          </a:xfrm>
          <a:prstGeom prst="rect">
            <a:avLst/>
          </a:prstGeom>
          <a:noFill/>
          <a:ln/>
        </p:spPr>
        <p:txBody>
          <a:bodyPr wrap="square" lIns="0" tIns="0" rIns="0" bIns="0" rtlCol="0" anchor="ctr">
            <a:normAutofit/>
          </a:bodyPr>
          <a:lstStyle/>
          <a:p>
            <a:pPr algn="l" indent="0" marL="0">
              <a:lnSpc>
                <a:spcPct val="100000"/>
              </a:lnSpc>
              <a:buNone/>
            </a:pPr>
            <a:r>
              <a:rPr lang="en-US" sz="1400" b="1" spc="400" kern="0" dirty="0">
                <a:solidFill>
                  <a:srgbClr val="8AAF8A"/>
                </a:solidFill>
                <a:latin typeface="DM Sans" pitchFamily="34" charset="0"/>
                <a:ea typeface="DM Sans" pitchFamily="34" charset="-122"/>
                <a:cs typeface="DM Sans" pitchFamily="34" charset="-120"/>
              </a:rPr>
              <a:t>ON YOUR APPLICATION CALL, WE'LL</a:t>
            </a:r>
            <a:endParaRPr lang="en-US" sz="1400" dirty="0"/>
          </a:p>
        </p:txBody>
      </p:sp>
      <p:sp>
        <p:nvSpPr>
          <p:cNvPr id="3" name="Shape 1"/>
          <p:cNvSpPr/>
          <p:nvPr/>
        </p:nvSpPr>
        <p:spPr>
          <a:xfrm>
            <a:off x="822960" y="1417320"/>
            <a:ext cx="457200" cy="457200"/>
          </a:xfrm>
          <a:prstGeom prst="ellipse">
            <a:avLst/>
          </a:prstGeom>
          <a:solidFill>
            <a:srgbClr val="1E4A4A"/>
          </a:solidFill>
          <a:ln w="12700">
            <a:solidFill>
              <a:srgbClr val="1E4A4A"/>
            </a:solidFill>
            <a:prstDash val="solid"/>
          </a:ln>
        </p:spPr>
      </p:sp>
      <p:sp>
        <p:nvSpPr>
          <p:cNvPr id="4" name="Text 2"/>
          <p:cNvSpPr txBox="1"/>
          <p:nvPr/>
        </p:nvSpPr>
        <p:spPr>
          <a:xfrm>
            <a:off x="822960" y="1417320"/>
            <a:ext cx="457200" cy="457200"/>
          </a:xfrm>
          <a:prstGeom prst="rect">
            <a:avLst/>
          </a:prstGeom>
          <a:noFill/>
          <a:ln/>
        </p:spPr>
        <p:txBody>
          <a:bodyPr wrap="square" lIns="0" tIns="0" rIns="0" bIns="0" rtlCol="0" anchor="ctr">
            <a:normAutofit/>
          </a:bodyPr>
          <a:lstStyle/>
          <a:p>
            <a:pPr algn="ctr" indent="0" marL="0">
              <a:lnSpc>
                <a:spcPct val="100000"/>
              </a:lnSpc>
              <a:buNone/>
            </a:pPr>
            <a:r>
              <a:rPr lang="en-US" sz="1600" b="1" dirty="0">
                <a:solidFill>
                  <a:srgbClr val="FFFFFF"/>
                </a:solidFill>
                <a:latin typeface="Cormorant Garamond" pitchFamily="34" charset="0"/>
                <a:ea typeface="Cormorant Garamond" pitchFamily="34" charset="-122"/>
                <a:cs typeface="Cormorant Garamond" pitchFamily="34" charset="-120"/>
              </a:rPr>
              <a:t>✓</a:t>
            </a:r>
            <a:endParaRPr lang="en-US" sz="1600" dirty="0"/>
          </a:p>
        </p:txBody>
      </p:sp>
      <p:sp>
        <p:nvSpPr>
          <p:cNvPr id="5" name="Text 3"/>
          <p:cNvSpPr txBox="1"/>
          <p:nvPr/>
        </p:nvSpPr>
        <p:spPr>
          <a:xfrm>
            <a:off x="1508760" y="1325880"/>
            <a:ext cx="10241280" cy="640080"/>
          </a:xfrm>
          <a:prstGeom prst="rect">
            <a:avLst/>
          </a:prstGeom>
          <a:noFill/>
          <a:ln/>
        </p:spPr>
        <p:txBody>
          <a:bodyPr wrap="square" lIns="0" tIns="0" rIns="0" bIns="0" rtlCol="0" anchor="ctr">
            <a:normAutofit/>
          </a:bodyPr>
          <a:lstStyle/>
          <a:p>
            <a:pPr algn="l" indent="0" marL="0">
              <a:lnSpc>
                <a:spcPct val="100000"/>
              </a:lnSpc>
              <a:buNone/>
            </a:pPr>
            <a:r>
              <a:rPr lang="en-US" sz="2200" b="1" dirty="0">
                <a:solidFill>
                  <a:srgbClr val="1B2B2B"/>
                </a:solidFill>
                <a:latin typeface="DM Sans" pitchFamily="34" charset="0"/>
                <a:ea typeface="DM Sans" pitchFamily="34" charset="-122"/>
                <a:cs typeface="DM Sans" pitchFamily="34" charset="-120"/>
              </a:rPr>
              <a:t>Look at where you are in your career</a:t>
            </a:r>
            <a:endParaRPr lang="en-US" sz="2200" dirty="0"/>
          </a:p>
        </p:txBody>
      </p:sp>
      <p:sp>
        <p:nvSpPr>
          <p:cNvPr id="6" name="Shape 4"/>
          <p:cNvSpPr/>
          <p:nvPr/>
        </p:nvSpPr>
        <p:spPr>
          <a:xfrm>
            <a:off x="822960" y="2331720"/>
            <a:ext cx="457200" cy="457200"/>
          </a:xfrm>
          <a:prstGeom prst="ellipse">
            <a:avLst/>
          </a:prstGeom>
          <a:solidFill>
            <a:srgbClr val="1E4A4A"/>
          </a:solidFill>
          <a:ln w="12700">
            <a:solidFill>
              <a:srgbClr val="1E4A4A"/>
            </a:solidFill>
            <a:prstDash val="solid"/>
          </a:ln>
        </p:spPr>
      </p:sp>
      <p:sp>
        <p:nvSpPr>
          <p:cNvPr id="7" name="Text 5"/>
          <p:cNvSpPr txBox="1"/>
          <p:nvPr/>
        </p:nvSpPr>
        <p:spPr>
          <a:xfrm>
            <a:off x="822960" y="2331720"/>
            <a:ext cx="457200" cy="457200"/>
          </a:xfrm>
          <a:prstGeom prst="rect">
            <a:avLst/>
          </a:prstGeom>
          <a:noFill/>
          <a:ln/>
        </p:spPr>
        <p:txBody>
          <a:bodyPr wrap="square" lIns="0" tIns="0" rIns="0" bIns="0" rtlCol="0" anchor="ctr">
            <a:normAutofit/>
          </a:bodyPr>
          <a:lstStyle/>
          <a:p>
            <a:pPr algn="ctr" indent="0" marL="0">
              <a:lnSpc>
                <a:spcPct val="100000"/>
              </a:lnSpc>
              <a:buNone/>
            </a:pPr>
            <a:r>
              <a:rPr lang="en-US" sz="1600" b="1" dirty="0">
                <a:solidFill>
                  <a:srgbClr val="FFFFFF"/>
                </a:solidFill>
                <a:latin typeface="Cormorant Garamond" pitchFamily="34" charset="0"/>
                <a:ea typeface="Cormorant Garamond" pitchFamily="34" charset="-122"/>
                <a:cs typeface="Cormorant Garamond" pitchFamily="34" charset="-120"/>
              </a:rPr>
              <a:t>✓</a:t>
            </a:r>
            <a:endParaRPr lang="en-US" sz="1600" dirty="0"/>
          </a:p>
        </p:txBody>
      </p:sp>
      <p:sp>
        <p:nvSpPr>
          <p:cNvPr id="8" name="Text 6"/>
          <p:cNvSpPr txBox="1"/>
          <p:nvPr/>
        </p:nvSpPr>
        <p:spPr>
          <a:xfrm>
            <a:off x="1508760" y="2240280"/>
            <a:ext cx="10241280" cy="640080"/>
          </a:xfrm>
          <a:prstGeom prst="rect">
            <a:avLst/>
          </a:prstGeom>
          <a:noFill/>
          <a:ln/>
        </p:spPr>
        <p:txBody>
          <a:bodyPr wrap="square" lIns="0" tIns="0" rIns="0" bIns="0" rtlCol="0" anchor="ctr">
            <a:normAutofit/>
          </a:bodyPr>
          <a:lstStyle/>
          <a:p>
            <a:pPr algn="l" indent="0" marL="0">
              <a:lnSpc>
                <a:spcPct val="100000"/>
              </a:lnSpc>
              <a:buNone/>
            </a:pPr>
            <a:r>
              <a:rPr lang="en-US" sz="2200" b="1" dirty="0">
                <a:solidFill>
                  <a:srgbClr val="1B2B2B"/>
                </a:solidFill>
                <a:latin typeface="DM Sans" pitchFamily="34" charset="0"/>
                <a:ea typeface="DM Sans" pitchFamily="34" charset="-122"/>
                <a:cs typeface="DM Sans" pitchFamily="34" charset="-120"/>
              </a:rPr>
              <a:t>Talk about what's keeping you stuck</a:t>
            </a:r>
            <a:endParaRPr lang="en-US" sz="2200" dirty="0"/>
          </a:p>
        </p:txBody>
      </p:sp>
      <p:sp>
        <p:nvSpPr>
          <p:cNvPr id="9" name="Shape 7"/>
          <p:cNvSpPr/>
          <p:nvPr/>
        </p:nvSpPr>
        <p:spPr>
          <a:xfrm>
            <a:off x="822960" y="3246120"/>
            <a:ext cx="457200" cy="457200"/>
          </a:xfrm>
          <a:prstGeom prst="ellipse">
            <a:avLst/>
          </a:prstGeom>
          <a:solidFill>
            <a:srgbClr val="1E4A4A"/>
          </a:solidFill>
          <a:ln w="12700">
            <a:solidFill>
              <a:srgbClr val="1E4A4A"/>
            </a:solidFill>
            <a:prstDash val="solid"/>
          </a:ln>
        </p:spPr>
      </p:sp>
      <p:sp>
        <p:nvSpPr>
          <p:cNvPr id="10" name="Text 8"/>
          <p:cNvSpPr txBox="1"/>
          <p:nvPr/>
        </p:nvSpPr>
        <p:spPr>
          <a:xfrm>
            <a:off x="822960" y="3246120"/>
            <a:ext cx="457200" cy="457200"/>
          </a:xfrm>
          <a:prstGeom prst="rect">
            <a:avLst/>
          </a:prstGeom>
          <a:noFill/>
          <a:ln/>
        </p:spPr>
        <p:txBody>
          <a:bodyPr wrap="square" lIns="0" tIns="0" rIns="0" bIns="0" rtlCol="0" anchor="ctr">
            <a:normAutofit/>
          </a:bodyPr>
          <a:lstStyle/>
          <a:p>
            <a:pPr algn="ctr" indent="0" marL="0">
              <a:lnSpc>
                <a:spcPct val="100000"/>
              </a:lnSpc>
              <a:buNone/>
            </a:pPr>
            <a:r>
              <a:rPr lang="en-US" sz="1600" b="1" dirty="0">
                <a:solidFill>
                  <a:srgbClr val="FFFFFF"/>
                </a:solidFill>
                <a:latin typeface="Cormorant Garamond" pitchFamily="34" charset="0"/>
                <a:ea typeface="Cormorant Garamond" pitchFamily="34" charset="-122"/>
                <a:cs typeface="Cormorant Garamond" pitchFamily="34" charset="-120"/>
              </a:rPr>
              <a:t>✓</a:t>
            </a:r>
            <a:endParaRPr lang="en-US" sz="1600" dirty="0"/>
          </a:p>
        </p:txBody>
      </p:sp>
      <p:sp>
        <p:nvSpPr>
          <p:cNvPr id="11" name="Text 9"/>
          <p:cNvSpPr txBox="1"/>
          <p:nvPr/>
        </p:nvSpPr>
        <p:spPr>
          <a:xfrm>
            <a:off x="1508760" y="3154680"/>
            <a:ext cx="10241280" cy="640080"/>
          </a:xfrm>
          <a:prstGeom prst="rect">
            <a:avLst/>
          </a:prstGeom>
          <a:noFill/>
          <a:ln/>
        </p:spPr>
        <p:txBody>
          <a:bodyPr wrap="square" lIns="0" tIns="0" rIns="0" bIns="0" rtlCol="0" anchor="ctr">
            <a:normAutofit/>
          </a:bodyPr>
          <a:lstStyle/>
          <a:p>
            <a:pPr algn="l" indent="0" marL="0">
              <a:lnSpc>
                <a:spcPct val="100000"/>
              </a:lnSpc>
              <a:buNone/>
            </a:pPr>
            <a:r>
              <a:rPr lang="en-US" sz="2200" b="1" dirty="0">
                <a:solidFill>
                  <a:srgbClr val="1B2B2B"/>
                </a:solidFill>
                <a:latin typeface="DM Sans" pitchFamily="34" charset="0"/>
                <a:ea typeface="DM Sans" pitchFamily="34" charset="-122"/>
                <a:cs typeface="DM Sans" pitchFamily="34" charset="-120"/>
              </a:rPr>
              <a:t>Get clear on what you want next</a:t>
            </a:r>
            <a:endParaRPr lang="en-US" sz="2200" dirty="0"/>
          </a:p>
        </p:txBody>
      </p:sp>
      <p:sp>
        <p:nvSpPr>
          <p:cNvPr id="12" name="Shape 10"/>
          <p:cNvSpPr/>
          <p:nvPr/>
        </p:nvSpPr>
        <p:spPr>
          <a:xfrm>
            <a:off x="822960" y="4160520"/>
            <a:ext cx="457200" cy="457200"/>
          </a:xfrm>
          <a:prstGeom prst="ellipse">
            <a:avLst/>
          </a:prstGeom>
          <a:solidFill>
            <a:srgbClr val="1E4A4A"/>
          </a:solidFill>
          <a:ln w="12700">
            <a:solidFill>
              <a:srgbClr val="1E4A4A"/>
            </a:solidFill>
            <a:prstDash val="solid"/>
          </a:ln>
        </p:spPr>
      </p:sp>
      <p:sp>
        <p:nvSpPr>
          <p:cNvPr id="13" name="Text 11"/>
          <p:cNvSpPr txBox="1"/>
          <p:nvPr/>
        </p:nvSpPr>
        <p:spPr>
          <a:xfrm>
            <a:off x="822960" y="4160520"/>
            <a:ext cx="457200" cy="457200"/>
          </a:xfrm>
          <a:prstGeom prst="rect">
            <a:avLst/>
          </a:prstGeom>
          <a:noFill/>
          <a:ln/>
        </p:spPr>
        <p:txBody>
          <a:bodyPr wrap="square" lIns="0" tIns="0" rIns="0" bIns="0" rtlCol="0" anchor="ctr">
            <a:normAutofit/>
          </a:bodyPr>
          <a:lstStyle/>
          <a:p>
            <a:pPr algn="ctr" indent="0" marL="0">
              <a:lnSpc>
                <a:spcPct val="100000"/>
              </a:lnSpc>
              <a:buNone/>
            </a:pPr>
            <a:r>
              <a:rPr lang="en-US" sz="1600" b="1" dirty="0">
                <a:solidFill>
                  <a:srgbClr val="FFFFFF"/>
                </a:solidFill>
                <a:latin typeface="Cormorant Garamond" pitchFamily="34" charset="0"/>
                <a:ea typeface="Cormorant Garamond" pitchFamily="34" charset="-122"/>
                <a:cs typeface="Cormorant Garamond" pitchFamily="34" charset="-120"/>
              </a:rPr>
              <a:t>✓</a:t>
            </a:r>
            <a:endParaRPr lang="en-US" sz="1600" dirty="0"/>
          </a:p>
        </p:txBody>
      </p:sp>
      <p:sp>
        <p:nvSpPr>
          <p:cNvPr id="14" name="Text 12"/>
          <p:cNvSpPr txBox="1"/>
          <p:nvPr/>
        </p:nvSpPr>
        <p:spPr>
          <a:xfrm>
            <a:off x="1508760" y="4069080"/>
            <a:ext cx="10241280" cy="640080"/>
          </a:xfrm>
          <a:prstGeom prst="rect">
            <a:avLst/>
          </a:prstGeom>
          <a:noFill/>
          <a:ln/>
        </p:spPr>
        <p:txBody>
          <a:bodyPr wrap="square" lIns="0" tIns="0" rIns="0" bIns="0" rtlCol="0" anchor="ctr">
            <a:normAutofit/>
          </a:bodyPr>
          <a:lstStyle/>
          <a:p>
            <a:pPr algn="l" indent="0" marL="0">
              <a:lnSpc>
                <a:spcPct val="100000"/>
              </a:lnSpc>
              <a:buNone/>
            </a:pPr>
            <a:r>
              <a:rPr lang="en-US" sz="2200" b="1" dirty="0">
                <a:solidFill>
                  <a:srgbClr val="1B2B2B"/>
                </a:solidFill>
                <a:latin typeface="DM Sans" pitchFamily="34" charset="0"/>
                <a:ea typeface="DM Sans" pitchFamily="34" charset="-122"/>
                <a:cs typeface="DM Sans" pitchFamily="34" charset="-120"/>
              </a:rPr>
              <a:t>See if the program is the right fit, for both of us</a:t>
            </a:r>
            <a:endParaRPr lang="en-US" sz="2200" dirty="0"/>
          </a:p>
        </p:txBody>
      </p:sp>
      <p:sp>
        <p:nvSpPr>
          <p:cNvPr id="25" name="Slide Number Placeholder 0"/>
          <p:cNvSpPr>
            <a:spLocks noGrp="1"/>
          </p:cNvSpPr>
          <p:nvPr>
            <p:ph type="sldNum" sz="quarter" idx="4294967295"/>
          </p:nvPr>
        </p:nvSpPr>
        <p:spPr>
          <a:xfrm>
            <a:off x="11368735"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AA6A3"/>
                </a:solidFill>
                <a:latin typeface="DM Sans"/>
                <a:ea typeface="DM Sans"/>
                <a:cs typeface="DM Sans"/>
              </a:defRPr>
            </a:lvl1pPr>
          </a:lstStyle>
          <a:p>
            <a:pPr algn="r"/>
            <a:fld id="{F7021451-1387-4CA6-816F-3879F97B5CBC}" type="slidenum">
              <a:rPr b="0" lang="en-US"/>
              <a:t>117</a:t>
            </a:fld>
            <a:endParaRPr lang="en-US"/>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bg>
      <p:bgPr>
        <a:solidFill>
          <a:srgbClr val="1E4A4A"/>
        </a:solidFill>
      </p:bgPr>
    </p:bg>
    <p:spTree>
      <p:nvGrpSpPr>
        <p:cNvPr id="1" name=""/>
        <p:cNvGrpSpPr/>
        <p:nvPr/>
      </p:nvGrpSpPr>
      <p:grpSpPr>
        <a:xfrm>
          <a:off x="0" y="0"/>
          <a:ext cx="0" cy="0"/>
          <a:chOff x="0" y="0"/>
          <a:chExt cx="0" cy="0"/>
        </a:xfrm>
      </p:grpSpPr>
      <p:sp>
        <p:nvSpPr>
          <p:cNvPr id="2" name="Text 0"/>
          <p:cNvSpPr txBox="1"/>
          <p:nvPr/>
        </p:nvSpPr>
        <p:spPr>
          <a:xfrm>
            <a:off x="822960" y="731520"/>
            <a:ext cx="10545775" cy="365760"/>
          </a:xfrm>
          <a:prstGeom prst="rect">
            <a:avLst/>
          </a:prstGeom>
          <a:noFill/>
          <a:ln/>
        </p:spPr>
        <p:txBody>
          <a:bodyPr wrap="square" lIns="0" tIns="0" rIns="0" bIns="0" rtlCol="0" anchor="ctr">
            <a:normAutofit/>
          </a:bodyPr>
          <a:lstStyle/>
          <a:p>
            <a:pPr algn="l" indent="0" marL="0">
              <a:lnSpc>
                <a:spcPct val="100000"/>
              </a:lnSpc>
              <a:buNone/>
            </a:pPr>
            <a:r>
              <a:rPr lang="en-US" sz="1400" b="1" spc="400" kern="0" dirty="0">
                <a:solidFill>
                  <a:srgbClr val="8AAF8A"/>
                </a:solidFill>
                <a:latin typeface="DM Sans" pitchFamily="34" charset="0"/>
                <a:ea typeface="DM Sans" pitchFamily="34" charset="-122"/>
                <a:cs typeface="DM Sans" pitchFamily="34" charset="-120"/>
              </a:rPr>
              <a:t>HOW TO APPLY</a:t>
            </a:r>
            <a:endParaRPr lang="en-US" sz="1400" dirty="0"/>
          </a:p>
        </p:txBody>
      </p:sp>
      <p:sp>
        <p:nvSpPr>
          <p:cNvPr id="3" name="Shape 1"/>
          <p:cNvSpPr/>
          <p:nvPr/>
        </p:nvSpPr>
        <p:spPr>
          <a:xfrm>
            <a:off x="822960" y="1371600"/>
            <a:ext cx="548640" cy="548640"/>
          </a:xfrm>
          <a:prstGeom prst="ellipse">
            <a:avLst/>
          </a:prstGeom>
          <a:solidFill>
            <a:srgbClr val="8AAF8A"/>
          </a:solidFill>
          <a:ln w="12700">
            <a:solidFill>
              <a:srgbClr val="8AAF8A"/>
            </a:solidFill>
            <a:prstDash val="solid"/>
          </a:ln>
        </p:spPr>
      </p:sp>
      <p:sp>
        <p:nvSpPr>
          <p:cNvPr id="4" name="Text 2"/>
          <p:cNvSpPr txBox="1"/>
          <p:nvPr/>
        </p:nvSpPr>
        <p:spPr>
          <a:xfrm>
            <a:off x="822960" y="1371600"/>
            <a:ext cx="548640" cy="548640"/>
          </a:xfrm>
          <a:prstGeom prst="rect">
            <a:avLst/>
          </a:prstGeom>
          <a:noFill/>
          <a:ln/>
        </p:spPr>
        <p:txBody>
          <a:bodyPr wrap="square" lIns="0" tIns="0" rIns="0" bIns="0" rtlCol="0" anchor="ctr">
            <a:normAutofit/>
          </a:bodyPr>
          <a:lstStyle/>
          <a:p>
            <a:pPr algn="ctr" indent="0" marL="0">
              <a:lnSpc>
                <a:spcPct val="100000"/>
              </a:lnSpc>
              <a:buNone/>
            </a:pPr>
            <a:r>
              <a:rPr lang="en-US" sz="2000" b="1" dirty="0">
                <a:solidFill>
                  <a:srgbClr val="1E4A4A"/>
                </a:solidFill>
                <a:latin typeface="Cormorant Garamond" pitchFamily="34" charset="0"/>
                <a:ea typeface="Cormorant Garamond" pitchFamily="34" charset="-122"/>
                <a:cs typeface="Cormorant Garamond" pitchFamily="34" charset="-120"/>
              </a:rPr>
              <a:t>1</a:t>
            </a:r>
            <a:endParaRPr lang="en-US" sz="2000" dirty="0"/>
          </a:p>
        </p:txBody>
      </p:sp>
      <p:sp>
        <p:nvSpPr>
          <p:cNvPr id="5" name="Text 3"/>
          <p:cNvSpPr txBox="1"/>
          <p:nvPr/>
        </p:nvSpPr>
        <p:spPr>
          <a:xfrm>
            <a:off x="1691640" y="1325880"/>
            <a:ext cx="9601200" cy="640080"/>
          </a:xfrm>
          <a:prstGeom prst="rect">
            <a:avLst/>
          </a:prstGeom>
          <a:noFill/>
          <a:ln/>
        </p:spPr>
        <p:txBody>
          <a:bodyPr wrap="square" lIns="0" tIns="0" rIns="0" bIns="0" rtlCol="0" anchor="ctr">
            <a:normAutofit/>
          </a:bodyPr>
          <a:lstStyle/>
          <a:p>
            <a:pPr algn="l" indent="0" marL="0">
              <a:lnSpc>
                <a:spcPct val="100000"/>
              </a:lnSpc>
              <a:buNone/>
            </a:pPr>
            <a:r>
              <a:rPr lang="en-US" sz="3000" b="1" dirty="0">
                <a:solidFill>
                  <a:srgbClr val="FFFFFF"/>
                </a:solidFill>
                <a:latin typeface="Cormorant Garamond" pitchFamily="34" charset="0"/>
                <a:ea typeface="Cormorant Garamond" pitchFamily="34" charset="-122"/>
                <a:cs typeface="Cormorant Garamond" pitchFamily="34" charset="-120"/>
              </a:rPr>
              <a:t>Go to </a:t>
            </a:r>
            <a:pPr algn="l" indent="0" marL="0">
              <a:lnSpc>
                <a:spcPct val="100000"/>
              </a:lnSpc>
              <a:buNone/>
            </a:pPr>
            <a:r>
              <a:rPr lang="en-US" sz="1600" b="1" dirty="0">
                <a:solidFill>
                  <a:srgbClr val="F2B8A8"/>
                </a:solidFill>
                <a:latin typeface="DM Sans" pitchFamily="34" charset="0"/>
                <a:ea typeface="DM Sans" pitchFamily="34" charset="-122"/>
                <a:cs typeface="DM Sans" pitchFamily="34" charset="-120"/>
              </a:rPr>
              <a:t>[PLACEHOLDER: application URL]</a:t>
            </a:r>
            <a:endParaRPr lang="en-US" sz="3000" dirty="0"/>
          </a:p>
        </p:txBody>
      </p:sp>
      <p:sp>
        <p:nvSpPr>
          <p:cNvPr id="6" name="Shape 4"/>
          <p:cNvSpPr/>
          <p:nvPr/>
        </p:nvSpPr>
        <p:spPr>
          <a:xfrm>
            <a:off x="822960" y="2286000"/>
            <a:ext cx="548640" cy="548640"/>
          </a:xfrm>
          <a:prstGeom prst="ellipse">
            <a:avLst/>
          </a:prstGeom>
          <a:solidFill>
            <a:srgbClr val="8AAF8A"/>
          </a:solidFill>
          <a:ln w="12700">
            <a:solidFill>
              <a:srgbClr val="8AAF8A"/>
            </a:solidFill>
            <a:prstDash val="solid"/>
          </a:ln>
        </p:spPr>
      </p:sp>
      <p:sp>
        <p:nvSpPr>
          <p:cNvPr id="7" name="Text 5"/>
          <p:cNvSpPr txBox="1"/>
          <p:nvPr/>
        </p:nvSpPr>
        <p:spPr>
          <a:xfrm>
            <a:off x="822960" y="2286000"/>
            <a:ext cx="548640" cy="548640"/>
          </a:xfrm>
          <a:prstGeom prst="rect">
            <a:avLst/>
          </a:prstGeom>
          <a:noFill/>
          <a:ln/>
        </p:spPr>
        <p:txBody>
          <a:bodyPr wrap="square" lIns="0" tIns="0" rIns="0" bIns="0" rtlCol="0" anchor="ctr">
            <a:normAutofit/>
          </a:bodyPr>
          <a:lstStyle/>
          <a:p>
            <a:pPr algn="ctr" indent="0" marL="0">
              <a:lnSpc>
                <a:spcPct val="100000"/>
              </a:lnSpc>
              <a:buNone/>
            </a:pPr>
            <a:r>
              <a:rPr lang="en-US" sz="2000" b="1" dirty="0">
                <a:solidFill>
                  <a:srgbClr val="1E4A4A"/>
                </a:solidFill>
                <a:latin typeface="Cormorant Garamond" pitchFamily="34" charset="0"/>
                <a:ea typeface="Cormorant Garamond" pitchFamily="34" charset="-122"/>
                <a:cs typeface="Cormorant Garamond" pitchFamily="34" charset="-120"/>
              </a:rPr>
              <a:t>2</a:t>
            </a:r>
            <a:endParaRPr lang="en-US" sz="2000" dirty="0"/>
          </a:p>
        </p:txBody>
      </p:sp>
      <p:sp>
        <p:nvSpPr>
          <p:cNvPr id="8" name="Text 6"/>
          <p:cNvSpPr txBox="1"/>
          <p:nvPr/>
        </p:nvSpPr>
        <p:spPr>
          <a:xfrm>
            <a:off x="1691640" y="2240280"/>
            <a:ext cx="9601200" cy="640080"/>
          </a:xfrm>
          <a:prstGeom prst="rect">
            <a:avLst/>
          </a:prstGeom>
          <a:noFill/>
          <a:ln/>
        </p:spPr>
        <p:txBody>
          <a:bodyPr wrap="square" lIns="0" tIns="0" rIns="0" bIns="0" rtlCol="0" anchor="ctr">
            <a:normAutofit/>
          </a:bodyPr>
          <a:lstStyle/>
          <a:p>
            <a:pPr algn="l" indent="0" marL="0">
              <a:lnSpc>
                <a:spcPct val="100000"/>
              </a:lnSpc>
              <a:buNone/>
            </a:pPr>
            <a:r>
              <a:rPr lang="en-US" sz="3000" b="1" dirty="0">
                <a:solidFill>
                  <a:srgbClr val="FFFFFF"/>
                </a:solidFill>
                <a:latin typeface="Cormorant Garamond" pitchFamily="34" charset="0"/>
                <a:ea typeface="Cormorant Garamond" pitchFamily="34" charset="-122"/>
                <a:cs typeface="Cormorant Garamond" pitchFamily="34" charset="-120"/>
              </a:rPr>
              <a:t>Answer a few short questions about your career</a:t>
            </a:r>
            <a:endParaRPr lang="en-US" sz="3000" dirty="0"/>
          </a:p>
        </p:txBody>
      </p:sp>
      <p:sp>
        <p:nvSpPr>
          <p:cNvPr id="9" name="Shape 7"/>
          <p:cNvSpPr/>
          <p:nvPr/>
        </p:nvSpPr>
        <p:spPr>
          <a:xfrm>
            <a:off x="822960" y="3200400"/>
            <a:ext cx="548640" cy="548640"/>
          </a:xfrm>
          <a:prstGeom prst="ellipse">
            <a:avLst/>
          </a:prstGeom>
          <a:solidFill>
            <a:srgbClr val="8AAF8A"/>
          </a:solidFill>
          <a:ln w="12700">
            <a:solidFill>
              <a:srgbClr val="8AAF8A"/>
            </a:solidFill>
            <a:prstDash val="solid"/>
          </a:ln>
        </p:spPr>
      </p:sp>
      <p:sp>
        <p:nvSpPr>
          <p:cNvPr id="10" name="Text 8"/>
          <p:cNvSpPr txBox="1"/>
          <p:nvPr/>
        </p:nvSpPr>
        <p:spPr>
          <a:xfrm>
            <a:off x="822960" y="3200400"/>
            <a:ext cx="548640" cy="548640"/>
          </a:xfrm>
          <a:prstGeom prst="rect">
            <a:avLst/>
          </a:prstGeom>
          <a:noFill/>
          <a:ln/>
        </p:spPr>
        <p:txBody>
          <a:bodyPr wrap="square" lIns="0" tIns="0" rIns="0" bIns="0" rtlCol="0" anchor="ctr">
            <a:normAutofit/>
          </a:bodyPr>
          <a:lstStyle/>
          <a:p>
            <a:pPr algn="ctr" indent="0" marL="0">
              <a:lnSpc>
                <a:spcPct val="100000"/>
              </a:lnSpc>
              <a:buNone/>
            </a:pPr>
            <a:r>
              <a:rPr lang="en-US" sz="2000" b="1" dirty="0">
                <a:solidFill>
                  <a:srgbClr val="1E4A4A"/>
                </a:solidFill>
                <a:latin typeface="Cormorant Garamond" pitchFamily="34" charset="0"/>
                <a:ea typeface="Cormorant Garamond" pitchFamily="34" charset="-122"/>
                <a:cs typeface="Cormorant Garamond" pitchFamily="34" charset="-120"/>
              </a:rPr>
              <a:t>3</a:t>
            </a:r>
            <a:endParaRPr lang="en-US" sz="2000" dirty="0"/>
          </a:p>
        </p:txBody>
      </p:sp>
      <p:sp>
        <p:nvSpPr>
          <p:cNvPr id="11" name="Text 9"/>
          <p:cNvSpPr txBox="1"/>
          <p:nvPr/>
        </p:nvSpPr>
        <p:spPr>
          <a:xfrm>
            <a:off x="1691640" y="3154680"/>
            <a:ext cx="9601200" cy="640080"/>
          </a:xfrm>
          <a:prstGeom prst="rect">
            <a:avLst/>
          </a:prstGeom>
          <a:noFill/>
          <a:ln/>
        </p:spPr>
        <p:txBody>
          <a:bodyPr wrap="square" lIns="0" tIns="0" rIns="0" bIns="0" rtlCol="0" anchor="ctr">
            <a:normAutofit/>
          </a:bodyPr>
          <a:lstStyle/>
          <a:p>
            <a:pPr algn="l" indent="0" marL="0">
              <a:lnSpc>
                <a:spcPct val="100000"/>
              </a:lnSpc>
              <a:buNone/>
            </a:pPr>
            <a:r>
              <a:rPr lang="en-US" sz="3000" b="1" dirty="0">
                <a:solidFill>
                  <a:srgbClr val="FFFFFF"/>
                </a:solidFill>
                <a:latin typeface="Cormorant Garamond" pitchFamily="34" charset="0"/>
                <a:ea typeface="Cormorant Garamond" pitchFamily="34" charset="-122"/>
                <a:cs typeface="Cormorant Garamond" pitchFamily="34" charset="-120"/>
              </a:rPr>
              <a:t>I review every application personally</a:t>
            </a:r>
            <a:endParaRPr lang="en-US" sz="3000" dirty="0"/>
          </a:p>
        </p:txBody>
      </p:sp>
      <p:sp>
        <p:nvSpPr>
          <p:cNvPr id="12" name="Shape 10"/>
          <p:cNvSpPr/>
          <p:nvPr/>
        </p:nvSpPr>
        <p:spPr>
          <a:xfrm>
            <a:off x="822960" y="4114800"/>
            <a:ext cx="548640" cy="548640"/>
          </a:xfrm>
          <a:prstGeom prst="ellipse">
            <a:avLst/>
          </a:prstGeom>
          <a:solidFill>
            <a:srgbClr val="8AAF8A"/>
          </a:solidFill>
          <a:ln w="12700">
            <a:solidFill>
              <a:srgbClr val="8AAF8A"/>
            </a:solidFill>
            <a:prstDash val="solid"/>
          </a:ln>
        </p:spPr>
      </p:sp>
      <p:sp>
        <p:nvSpPr>
          <p:cNvPr id="13" name="Text 11"/>
          <p:cNvSpPr txBox="1"/>
          <p:nvPr/>
        </p:nvSpPr>
        <p:spPr>
          <a:xfrm>
            <a:off x="822960" y="4114800"/>
            <a:ext cx="548640" cy="548640"/>
          </a:xfrm>
          <a:prstGeom prst="rect">
            <a:avLst/>
          </a:prstGeom>
          <a:noFill/>
          <a:ln/>
        </p:spPr>
        <p:txBody>
          <a:bodyPr wrap="square" lIns="0" tIns="0" rIns="0" bIns="0" rtlCol="0" anchor="ctr">
            <a:normAutofit/>
          </a:bodyPr>
          <a:lstStyle/>
          <a:p>
            <a:pPr algn="ctr" indent="0" marL="0">
              <a:lnSpc>
                <a:spcPct val="100000"/>
              </a:lnSpc>
              <a:buNone/>
            </a:pPr>
            <a:r>
              <a:rPr lang="en-US" sz="2000" b="1" dirty="0">
                <a:solidFill>
                  <a:srgbClr val="1E4A4A"/>
                </a:solidFill>
                <a:latin typeface="Cormorant Garamond" pitchFamily="34" charset="0"/>
                <a:ea typeface="Cormorant Garamond" pitchFamily="34" charset="-122"/>
                <a:cs typeface="Cormorant Garamond" pitchFamily="34" charset="-120"/>
              </a:rPr>
              <a:t>4</a:t>
            </a:r>
            <a:endParaRPr lang="en-US" sz="2000" dirty="0"/>
          </a:p>
        </p:txBody>
      </p:sp>
      <p:sp>
        <p:nvSpPr>
          <p:cNvPr id="14" name="Text 12"/>
          <p:cNvSpPr txBox="1"/>
          <p:nvPr/>
        </p:nvSpPr>
        <p:spPr>
          <a:xfrm>
            <a:off x="1691640" y="4069080"/>
            <a:ext cx="9601200" cy="640080"/>
          </a:xfrm>
          <a:prstGeom prst="rect">
            <a:avLst/>
          </a:prstGeom>
          <a:noFill/>
          <a:ln/>
        </p:spPr>
        <p:txBody>
          <a:bodyPr wrap="square" lIns="0" tIns="0" rIns="0" bIns="0" rtlCol="0" anchor="ctr">
            <a:normAutofit/>
          </a:bodyPr>
          <a:lstStyle/>
          <a:p>
            <a:pPr algn="l" indent="0" marL="0">
              <a:lnSpc>
                <a:spcPct val="100000"/>
              </a:lnSpc>
              <a:buNone/>
            </a:pPr>
            <a:r>
              <a:rPr lang="en-US" sz="3000" b="1" dirty="0">
                <a:solidFill>
                  <a:srgbClr val="FFFFFF"/>
                </a:solidFill>
                <a:latin typeface="Cormorant Garamond" pitchFamily="34" charset="0"/>
                <a:ea typeface="Cormorant Garamond" pitchFamily="34" charset="-122"/>
                <a:cs typeface="Cormorant Garamond" pitchFamily="34" charset="-120"/>
              </a:rPr>
              <a:t>If it's a fit, we'll invite you to a conversation</a:t>
            </a:r>
            <a:endParaRPr lang="en-US" sz="3000" dirty="0"/>
          </a:p>
        </p:txBody>
      </p:sp>
      <p:sp>
        <p:nvSpPr>
          <p:cNvPr id="15" name="Shape 13"/>
          <p:cNvSpPr/>
          <p:nvPr/>
        </p:nvSpPr>
        <p:spPr>
          <a:xfrm>
            <a:off x="822960" y="5303520"/>
            <a:ext cx="10545775" cy="731520"/>
          </a:xfrm>
          <a:prstGeom prst="roundRect">
            <a:avLst>
              <a:gd name="adj" fmla="val 15000"/>
            </a:avLst>
          </a:prstGeom>
          <a:solidFill>
            <a:srgbClr val="E1F5EE"/>
          </a:solidFill>
          <a:ln w="12700">
            <a:solidFill>
              <a:srgbClr val="E1F5EE"/>
            </a:solidFill>
            <a:prstDash val="solid"/>
          </a:ln>
        </p:spPr>
      </p:sp>
      <p:sp>
        <p:nvSpPr>
          <p:cNvPr id="16" name="Text 14"/>
          <p:cNvSpPr txBox="1"/>
          <p:nvPr/>
        </p:nvSpPr>
        <p:spPr>
          <a:xfrm>
            <a:off x="1097280" y="5303520"/>
            <a:ext cx="9997135" cy="731520"/>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B85042"/>
                </a:solidFill>
                <a:latin typeface="DM Sans" pitchFamily="34" charset="0"/>
                <a:ea typeface="DM Sans" pitchFamily="34" charset="-122"/>
                <a:cs typeface="DM Sans" pitchFamily="34" charset="-120"/>
              </a:rPr>
              <a:t>[PLACEHOLDER: application URL]</a:t>
            </a:r>
            <a:pPr algn="l" indent="0" marL="0">
              <a:lnSpc>
                <a:spcPct val="100000"/>
              </a:lnSpc>
              <a:buNone/>
            </a:pPr>
            <a:r>
              <a:rPr lang="en-US" sz="1800" b="1" dirty="0">
                <a:solidFill>
                  <a:srgbClr val="1E4A4A"/>
                </a:solidFill>
                <a:latin typeface="DM Sans" pitchFamily="34" charset="0"/>
                <a:ea typeface="DM Sans" pitchFamily="34" charset="-122"/>
                <a:cs typeface="DM Sans" pitchFamily="34" charset="-120"/>
              </a:rPr>
              <a:t> · Next cohort: </a:t>
            </a:r>
            <a:pPr algn="l" indent="0" marL="0">
              <a:lnSpc>
                <a:spcPct val="100000"/>
              </a:lnSpc>
              <a:buNone/>
            </a:pPr>
            <a:r>
              <a:rPr lang="en-US" sz="1600" b="1" dirty="0">
                <a:solidFill>
                  <a:srgbClr val="B85042"/>
                </a:solidFill>
                <a:latin typeface="DM Sans" pitchFamily="34" charset="0"/>
                <a:ea typeface="DM Sans" pitchFamily="34" charset="-122"/>
                <a:cs typeface="DM Sans" pitchFamily="34" charset="-120"/>
              </a:rPr>
              <a:t>[PLACEHOLDER: start date]</a:t>
            </a:r>
            <a:endParaRPr lang="en-US" sz="1600" dirty="0"/>
          </a:p>
        </p:txBody>
      </p:sp>
      <p:sp>
        <p:nvSpPr>
          <p:cNvPr id="25" name="Slide Number Placeholder 0"/>
          <p:cNvSpPr>
            <a:spLocks noGrp="1"/>
          </p:cNvSpPr>
          <p:nvPr>
            <p:ph type="sldNum" sz="quarter" idx="4294967295"/>
          </p:nvPr>
        </p:nvSpPr>
        <p:spPr>
          <a:xfrm>
            <a:off x="11368735"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AAF8A"/>
                </a:solidFill>
                <a:latin typeface="DM Sans"/>
                <a:ea typeface="DM Sans"/>
                <a:cs typeface="DM Sans"/>
              </a:defRPr>
            </a:lvl1pPr>
          </a:lstStyle>
          <a:p>
            <a:pPr algn="r"/>
            <a:fld id="{F7021451-1387-4CA6-816F-3879F97B5CBC}" type="slidenum">
              <a:rPr b="0" lang="en-US"/>
              <a:t>118</a:t>
            </a:fld>
            <a:endParaRPr lang="en-US"/>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bg>
      <p:bgPr>
        <a:solidFill>
          <a:srgbClr val="1E4A4A"/>
        </a:solidFill>
      </p:bgPr>
    </p:bg>
    <p:spTree>
      <p:nvGrpSpPr>
        <p:cNvPr id="1" name=""/>
        <p:cNvGrpSpPr/>
        <p:nvPr/>
      </p:nvGrpSpPr>
      <p:grpSpPr>
        <a:xfrm>
          <a:off x="0" y="0"/>
          <a:ext cx="0" cy="0"/>
          <a:chOff x="0" y="0"/>
          <a:chExt cx="0" cy="0"/>
        </a:xfrm>
      </p:grpSpPr>
      <p:sp>
        <p:nvSpPr>
          <p:cNvPr id="2" name="Text 0"/>
          <p:cNvSpPr txBox="1"/>
          <p:nvPr/>
        </p:nvSpPr>
        <p:spPr>
          <a:xfrm>
            <a:off x="1097280" y="1097280"/>
            <a:ext cx="9997135" cy="2926080"/>
          </a:xfrm>
          <a:prstGeom prst="rect">
            <a:avLst/>
          </a:prstGeom>
          <a:noFill/>
          <a:ln/>
        </p:spPr>
        <p:txBody>
          <a:bodyPr wrap="square" lIns="0" tIns="0" rIns="0" bIns="0" rtlCol="0" anchor="b">
            <a:normAutofit/>
          </a:bodyPr>
          <a:lstStyle/>
          <a:p>
            <a:pPr algn="ctr" indent="0" marL="0">
              <a:lnSpc>
                <a:spcPct val="95000"/>
              </a:lnSpc>
              <a:buNone/>
            </a:pPr>
            <a:r>
              <a:rPr lang="en-US" sz="4100" b="1" dirty="0">
                <a:solidFill>
                  <a:srgbClr val="FFFFFF"/>
                </a:solidFill>
                <a:latin typeface="Cormorant Garamond" pitchFamily="34" charset="0"/>
                <a:ea typeface="Cormorant Garamond" pitchFamily="34" charset="-122"/>
                <a:cs typeface="Cormorant Garamond" pitchFamily="34" charset="-120"/>
              </a:rPr>
              <a:t>When is it going to be </a:t>
            </a:r>
            <a:pPr algn="ctr" indent="0" marL="0">
              <a:lnSpc>
                <a:spcPct val="95000"/>
              </a:lnSpc>
              <a:buNone/>
            </a:pPr>
            <a:r>
              <a:rPr lang="en-US" sz="4100" b="1" dirty="0">
                <a:solidFill>
                  <a:srgbClr val="B7D3B7"/>
                </a:solidFill>
                <a:latin typeface="Cormorant Garamond" pitchFamily="34" charset="0"/>
                <a:ea typeface="Cormorant Garamond" pitchFamily="34" charset="-122"/>
                <a:cs typeface="Cormorant Garamond" pitchFamily="34" charset="-120"/>
              </a:rPr>
              <a:t>your turn?</a:t>
            </a:r>
            <a:endParaRPr lang="en-US" sz="4100" dirty="0"/>
          </a:p>
        </p:txBody>
      </p:sp>
      <p:sp>
        <p:nvSpPr>
          <p:cNvPr id="3" name="Text 1"/>
          <p:cNvSpPr txBox="1"/>
          <p:nvPr/>
        </p:nvSpPr>
        <p:spPr>
          <a:xfrm>
            <a:off x="1645920" y="4297680"/>
            <a:ext cx="8899855" cy="1463040"/>
          </a:xfrm>
          <a:prstGeom prst="rect">
            <a:avLst/>
          </a:prstGeom>
          <a:noFill/>
          <a:ln/>
        </p:spPr>
        <p:txBody>
          <a:bodyPr wrap="square" lIns="0" tIns="0" rIns="0" bIns="0" rtlCol="0" anchor="t">
            <a:normAutofit/>
          </a:bodyPr>
          <a:lstStyle/>
          <a:p>
            <a:pPr algn="ctr" indent="0" marL="0">
              <a:lnSpc>
                <a:spcPct val="115000"/>
              </a:lnSpc>
              <a:buNone/>
            </a:pPr>
            <a:r>
              <a:rPr lang="en-US" sz="2000" dirty="0">
                <a:solidFill>
                  <a:srgbClr val="E1F5EE"/>
                </a:solidFill>
                <a:latin typeface="DM Sans" pitchFamily="34" charset="0"/>
                <a:ea typeface="DM Sans" pitchFamily="34" charset="-122"/>
                <a:cs typeface="DM Sans" pitchFamily="34" charset="-120"/>
              </a:rPr>
              <a:t>I'm rooting for you.  ·  Tamara Lashchyk  ·  tamaralashchyk.com</a:t>
            </a:r>
            <a:endParaRPr lang="en-US" sz="2000" dirty="0"/>
          </a:p>
        </p:txBody>
      </p:sp>
      <p:sp>
        <p:nvSpPr>
          <p:cNvPr id="25" name="Slide Number Placeholder 0"/>
          <p:cNvSpPr>
            <a:spLocks noGrp="1"/>
          </p:cNvSpPr>
          <p:nvPr>
            <p:ph type="sldNum" sz="quarter" idx="4294967295"/>
          </p:nvPr>
        </p:nvSpPr>
        <p:spPr>
          <a:xfrm>
            <a:off x="11368735"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AAF8A"/>
                </a:solidFill>
                <a:latin typeface="DM Sans"/>
                <a:ea typeface="DM Sans"/>
                <a:cs typeface="DM Sans"/>
              </a:defRPr>
            </a:lvl1pPr>
          </a:lstStyle>
          <a:p>
            <a:pPr algn="r"/>
            <a:fld id="{F7021451-1387-4CA6-816F-3879F97B5CBC}" type="slidenum">
              <a:rPr b="0" lang="en-US"/>
              <a:t>119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119</Slides>
  <Notes>119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119</vt:i4>
      </vt:variant>
    </vt:vector>
  </HeadingPairs>
  <TitlesOfParts>
    <vt:vector size="1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Done Waiting Your Turn: Tamara Lashchyk Masterclass</dc:title>
  <dc:subject>PptxGenJS Presentation</dc:subject>
  <dc:creator>Beacon Media</dc:creator>
  <cp:lastModifiedBy>Beacon Media</cp:lastModifiedBy>
  <cp:revision>1</cp:revision>
  <dcterms:created xsi:type="dcterms:W3CDTF">2026-09-23T20:54:22Z</dcterms:created>
  <dcterms:modified xsi:type="dcterms:W3CDTF">2026-09-23T20:54:22Z</dcterms:modified>
</cp:coreProperties>
</file>