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Lst>
  <p:notesMasterIdLst>
    <p:notesMasterId r:id="rId1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notesMaster" Target="notesMasters/notesMaster1.xml"/><Relationship Id="rId115" Type="http://schemas.openxmlformats.org/officeDocument/2006/relationships/presProps" Target="presProps.xml"/><Relationship Id="rId116" Type="http://schemas.openxmlformats.org/officeDocument/2006/relationships/viewProps" Target="viewProps.xml"/><Relationship Id="rId117" Type="http://schemas.openxmlformats.org/officeDocument/2006/relationships/theme" Target="theme/theme1.xml"/><Relationship Id="rId1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HOOK]
Welcome in. I'm Tamara, and I'm really glad you're here. Grab a coffee or a glass of wine, whatever time it is where you are. Over the next hour I'm going to tell you why you're still waiting for your turn, and I promise the reason is not the one you've been told. Stay to the end, because the last part is where it all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HOOK · BUILD 1/3]
Let me paint a picture, and tell me if this sounds familiar. It's 6 AM. You're at the gym, finally doing something for yourself, and your boss calls. He's got a call with Asia and he doesn't have the numbers. So you jump on. You save his bacon. Then you go shower and head into the office like nothing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HOOK · BUILD 2/3]
Nine o'clock team meeting. You put an idea on the table. Crickets. Then Office Bro rolls in late looking like the cat dragged him in, coffee in one hand, bagel in the other. He chews for a while and then lobs out your idea, basically, only dumber. And the room lights up. And you're sitting there thinking, you have got to be kidding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HOOK · BUILD 3/3]
You finally get home around 8:30. Uber Eats shows up and they forgot your side salad. You don't call. You say nothing. Same as you said nothing when that guy jumped into your cab this morning. Another long day, and still no promotion, no raise, no recognition. If any part of that landed a little too close to home, you're in the right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HOOK]
So here's what I want you to sit with tonight. Pause. You don't have a negotiation problem. You have an identity problem. I know. You came here thinking I'd hand you a better script. Stay with me, because by the end of this hour I think you'll see your whole career a little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HOOK]
So, the promise for tonight. You've grown. Your skills, your judgment, your results have all grown. But the way you see yourself hasn't kept pace, and the people across the table can feel it. When you close that gap, you stop asking for permission. You start commanding your worth, and the raises and promotions follow.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I'M COVERING TODAY]
Quick roadmap so you know where we're going. First, why the harder-you-work plan quit on you. Then the real cost of waiting. After that I'll walk you through my V.O.I.C.E. Framework. You'll meet three women who went through it, and at the end I'll tell you how to work with me if you want to. Fair warning, I'm going to be straight with you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I'M COVERING TODAY]
One favor. A lot of what I'm going to say won't sound like normal career advice. You got where you are by being tough and rational and never letting them see you sweat. I get it, I lived that for 26 years. For the next hour, just loosen the grip a little. You can always go back to being tough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DISCLAIMER]
Quick legal bit. The results I'll share are real, but everyone's situation is different and nobody can promise you a number. Okay,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AUTHORITY · BUILD 1/5]
Fair question. Why should you listen to me? I spent 26 years on Wall Street. I negotiated deals where the numbers had a lot of zeros on them, and I led global talent initiatives, which means I sat on the other side of the table deciding who got paid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AUTHORITY · BUILD 2/5]
J.P. Morgan. Merrill Lynch, which became Bank of America. Deutsche Bank. I know how these places decide compensation because I was in the rooms where it got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AUTHORITY · BUILD 3/5]
And by the end of it, I was the highest-paid person in my U.S. division. Man or woman. I want you to hear that, because it didn't start that way. I'll tell you how it started in a minute. It was ugly.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AUTHORITY · BUILD 4/5]
I wrote a book called Lose the Gum. It's a survival guide for women on Wall Street, Main Street and every street in between. Yes, the title comes from a real story. Buy me a drink sometime and I'll tell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AUTHORITY · BUILD 5/5]
I received the Women of Wall Street Award for helping advance women's careers in financial services, and a Special Congressional Recognition. I'm proud of both. But none of it is the most useful thing I learned, and that's what I actually want to talk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AUTHORITY]
Most people who teach negotiation studied it. Maybe they're academics, maybe they read the books. I did it, for 26 years. And then I did something most bankers would call insane. I walked away and spent five years on the inside work. The combination of those two things is what I bring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Let me go back. I grew up in a house with no savings. We weren't poor, exactly. But there was nothing in the bank, the credit cards were maxed, and there were nights the lights went off because the bill didn't get paid. If you're wondering where my relationship with money started, it started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When I was 18, my mother died suddenly. Soon after, my father declared bankruptcy. So I put myself through college. I walked out with more than 50 thousand dollars of student debt, which is north of 100 thousand today. And I graduated into a recession.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Two internships on Wall Street and nobody was hiring. So I bagged groceries at the Acme. Honestly, best education I ever got. But I didn't let go of Wall Street. There was money to be made there and I wanted a piece of it. I sent J.P. Morgan hundreds of résumés. Hundreds. Eventually they said yes, probably just to make me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My career took off. People inside the firm and across the industry knew who I was. And I was underpaid. There is nothing more demoralizing than working that hard and not being recognized. I remember sitting in my aunt's bedroom, crying, completely wiped out. And she asked me one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She said, why don't you ask for a raise? And I said, we don't do that. She snapped right back. Men do it all the time, and they do it behind closed doors, which is why you never hear about it. And then the line I still hear in my head: if you want to play with the big boys, you'd better learn to ask for what you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So the next day I asked for a meeting with my boss. And I blew it. I was nervous, I fumbled, I asked for way too little. Did I get a raise? Yes. Did I walk out looking like a mature, skilled professional? Absolutely not. I looked like a rookie. That meeting started a lifelong obsession with negotiation, and especially with the psychology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Fast forward 26 years. I'm at the top of my game. And I get fired by my boss, two days before she retires. A classic Wall Street F.U. That's not how I wanted my story to end. I started a coaching business, and the first year made good money. But something was off, and I couldn't shake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When the title goes, you find out how much of you was the title. I had to look at myself in a dust-free mirror. So I spent five years in Costa Rica and India stripping it all away, titles and business cards included. What I found underneath was something no bonus ever gave me: a real sense of who I 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That five years changed how I think about success. I believe success without fulfillment is failure. I believe your life will rarely go past the identity you've accepted for yourself. And I believe your greatest asset isn't in your portfolio. It's in the mirror. Hold on to that, because everything else tonight builds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Raise your hand if you've said this. I'll just keep working hard and my work will speak for itself. Yeah. Me too. That's the plan most of us were handed. Work hard, be the good corporate citizen, wait for review season, and trust that someone is keeping score. Let me ask you something. How's that plan working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This is where most smart women go wrong, through no fault of their own. They decide it's a skills problem. So they buy the book, they watch the YouTube video, they memorize a line. And nothing changes, because the words were fine all along. The gap between what you can do and who you believe you are was still sitting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 BUILD 1/3]
Let me make this concrete. The old way, you wait for the annual review and let someone else tell you what you're worth. The new way, you already know. Before anyone says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 BUILD 2/3]
Old way: hoping. Hoping is not a career strategy. New way: your value is so clear, nobody in the building can pretend they didn't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 BUILD 3/3]
And the old way, you ask around. What would you do? What would your friend do? Lovely people, wrong question. The new way, you become the woman who can make that call herself.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I watched this for 26 years from the other side of the table. Someone walks in with a great script, and I could usually tell within a few seconds whether they believed a word of it. People buy the woman before they buy the words. That's why the scripts you've already tried didn't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Day to day, it looks something like this. You shrink your wins. Oh, it was a team effort. You hesitate. You over-explain, which in a negotiation reads as doubt. And you put off the hard conversation until it's unavoidable, or until it's too late. Sound familiar? You don't have to raise your hand for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The part people don't expect is how far it travels. The mechanic who pads the bill, the landscaper, sometimes your own family taking you for granted. That's how I know we're dealing with identity. A skills problem would stay at the office, whereas this one follows you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Okay. I'm a finance person, so let's talk numbers for a minute. And then let's talk about the cost that doesn't show up on a pay stub.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More than 60 percent of women have never negotiated their salary. Never. Not once. If you're in that group, no judgment. I was almost in that group myself. But you should know you're leaving money on the table that somebody else is picking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 BUILD 1/3]
The math goes like this. Your salary this year is the foundation. Every percentage raise from here on gets calculated off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 BUILD 2/3]
Your bonus is a percentage of it. Your retirement match is a percentage of it. And when you go interview somewhere new, what's the first thing they ask? What are you making now. So a low number doesn't just sit there. It follows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 BUILD 3/3]
Compound that over a 30-year career, the same way interest compounds, and waiting just one more year can cost you hundreds of thousands of dollars. I spent my career watching compounding make people rich. It works just as hard against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But honestly, the money is not what worries me most. Every time you say nothing, you're rehearsing. You're getting better at being the woman who says nothing. From the outside your life looks great. On the inside you can't figure out why it doesn't feel like enough. That gets heavier every year you don't interrupt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Now here's why this matters right now and not in five years. AI is changing the rules. Being the smartest person in the room, the one with all the answers, is becoming less valuable by the month. I could be wrong about how fast, but I'd bet my bonus on the direction. The machine has answers. What it doesn't have is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Judgment. Influence. Relationships. Standing up for your ideas and leading people. Those are human. The people who thrive over the next decade are the ones who know what makes them unique and how to get paid for it. And you can't do that until you actually know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So yes, the stakes are going up. The good news is that the thing that matters most now is the thing I'm about to show you how we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So how do you actually close the gap between who you are and who you're showing up as? I spent years figuring that out, first on Wall Street and then on the inside. I put everything into one framework. Let me show it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It's called the V.O.I.C.E. Framework. Value. Ownership. Identity. Communication. Execution. Five parts, and the order matters. I'm going to walk you through what each one is and why it matters. The detailed how-to is what we do inside the program, together. Tonight is about seeing the whole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One thing before we go through it. Negotiation is how we put this into practice, and a raise is one way you can measure it. But the destination is you seeing yourself differently. When that shifts, the negotiation gets a whole lot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V is for Value. And the headline here is simple. You have to see your value before you can ask anyone else to see it. Most of the women I work with are terrible at this. Brilliant at their jobs. Terrible at seeing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belief we break first: you've learned to equate hard work with value. Long hours, weekends, saving your boss's bacon at 6 AM. I'm sorry to tell you, companies pay for value. Nobody on a comp committee ever said, well, she seemed really tired.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Your value can be measured, and it's almost always bigger than you think. When you walk into a room without having done that math, you're asking your boss to do it for you, and I promise they'll come out lower than you would. Inside the program we get very specific about how to quantify it. Tonight I just want you to question the equation you've been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outcome of this piece: she knows what she's worth, and she can say it out loud without flinching.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O is for Ownership. If you want a bigger job, make your job bigger. That one's straight from my Wall Street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belief here is that someone is watching and keeping score. When is it going to be my turn? I hear that constantly. The hard truth? Nobody is coming. You are the CEO of your career, and right now the CEO is waiting in the lobby.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Waiting to be chosen feels safe, but it's still a strategy, and it's a bad one. The women who move up take ownership of where they're going. They create the opportunity instead of applying for it. Men figured this out a long time ago, behind closed doors, just like my aunt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outcome: she stops waiting to be picked, and starts picking herself.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I is for Identity. This is the heart of it, and it's the piece you won't find in any negotiation book. Become the woman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Most women think confidence comes after the promotion. I'll feel it once I get there. It works the other way around. Your career will rarely go further than the identity you've accepted for yourself. You have to become her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So why does negotiating feel so awful? Because underneath the raise, you're quietly asking the world to confirm that you're enough. And a lot of that comes from old stuff. For me it was a house with no savings and the lights getting shut off. You have your own version. We look at those beliefs in the program and replace the ones that are running your life. Tonight, just notice that they're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outcome. She stops wondering whether she deserves more. She just expects it. And people can feel the difference the second she walks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C is Communication. Make your value impossible to ignore.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Everyone wants the perfect sentence. And look, words matter, I'm not going to pretend otherwise. But people respond to authority and presence far more than they respond to phrasing. When your identity shifts, your communication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When your communication catches up with your capability, people take you seriously. That's what you told me you want, right? I want people to take me seriously. This is where that happens. And it has to feel like you, not like some guy's playbook. We work on this live, together, in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outcome: what she says and how she says it finally matches what she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And E, Execution. Courage in action. Because ideas without action are just hopes and dreams.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belief is, I'll do it when I feel ready. What I've seen over and over is this. The confidence comes after you do the scary thing. Almost never before. If you wait to feel ready, you'll be waiting at your retirement party.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This is where it all becomes real. You practice the hard conversations before they count, with me and with other women who get it. You get feedback until your communication matches your capability. And then you go do it for real, with people in your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outcome: she has the kind of confidence you only get by actually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So put it together. She knows her value. She chooses herself. She expects more. Her communication matches her capability. And she acts, even when it's uncomfortable. That's the woman who commands her worth.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I built it this way on purpose. Most negotiation programs start and end at communication. Here's what to say. And if you've tried that and it didn't stick, now you know why. We work on the woman saying the words, so the words actually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Let's make this interactive. Which one hit you hardest? Type the letter in the chat. V, O, I, C or E. [Read a few answers out loud and react.] In my experience most people say I. That's usually the one that stings.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Enough theory. Let me introduce you to three women. Different fields, very different salaries. What they had in common was the gap we've been talking about all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Shelly was a highly accomplished executive. She knew she was underpaid. And like so many of you, she thought her work should speak for itself. Negotiating made her skin crawl.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 BUILD 1/2]
We worked on her strategy, sure. But mostly we worked on how she saw herself and the value she brought. Once she saw it, she could say it. Her compensation went from 225 thousand to 435 thousand.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 BUILD 2/2]
And honestly, the number isn't the part I'm proudest of. Shelly stopped waiting for permission. She makes every career decision from ownership now, not fear. That shift is what she gets to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Nina did great work. Consistently. And she kept getting passed over for the big opportunities. I don't understand why I keep getting overlooked. That was Nina.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 BUILD 1/2]
She learned to clearly lay out the business impact she was creating, and she stopped shrinking her wins. Her comp went from 185 to 215 thousand, and she's now positioned for executive leadership.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 BUILD 2/2]
The real change for Nina? She stopped seeing herself as someone hoping to be noticed. She started acting like the leader she already was. The title is catching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Erica's story is a little different, and I include it on purpose. She was earlier in her career, and she had no idea what she was worth.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 BUILD 1/2]
Once she understood what the market was willing to pay, and she had the nerve to ask for it, she went from 28 thousand to 80 thousand. Nearly triple.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 BUILD 2/2]
And the shift underneath it: she stopped asking whether she deserved more. She started expecting to be paid for the value she creates. Which, if you remember, is exactly the Identity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Three different women, three different numbers. The raise is how we measure it. What they actually walked away with is a different way of seeing themselves, and they get to take that into every room for the rest of their careers.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So if any of that sounds interesting, let me tell you how we can work together. It's called the Amplify Your V.O.I.C.E. Experience. Eight weeks, a small group, and a lot of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I want to be clear about who this is for. It's for ambitious women who know they can play a bigger game and are ready to do real work. If you want a résumé review or a script library, there are cheaper places to get one, and I'll happily save you the time. This isn't for tire-kickers.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1/8]
Every week we meet live. Each session builds on the last one, and we mix executive career strategy with the identity work, applied to what's actually happening in your job that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2/8]
You get the full V.O.I.C.E. curriculum. Tonight you got the map. Inside, you get the turn-by-turn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3/8]
Hot seats. You bring your actual situation and we work it, live. And you'll be surprised how much you learn from watching someone else's hot seat. Her boss is your boss with a different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4/8]
We build your personal negotiation strategy. Salary, promotion, bonus, equity, flexibility, a new offer, whatever's on your plate. This is where my 26 years on the Street go to work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5/8]
Role play. I know, everyone groans. But remember my first negotiation? I fumbled because I'd never practiced. You get to fumble in front of us, where it's safe, so you don't fumble where it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6/8]
Executive communication coaching. Presence, authority, influencing decision makers, handling the difficult conversations without over-explaining.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7/8]
We also build out your long-term career plan. Because this is about the next ten years, and the next raise is only one step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8/8]
And a private community of women doing the same work. You'll share wins, you'll practice with each other, you'll call each other out. Lovingly. Mostly.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[PLACEHOLDER: presenter notes for bonus once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So here's all of it together. [Walk down the list briefly.] The total value comes to [PLACEHOLDER: total]. I'm not going to charge you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Your investment is [PLACEHOLDER: price]. I'm a finance person, so let's look at it like one. One successful negotiation can pay this back many times over. Shelly's increase was 210 thousand dollars in a single year. And after the first raise, you keep knowing how to do this for every negotiation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COMMITMENT]
I'm going to be straight with you, because that's who I am. I can't guarantee what your boss or your company will do. Nobody can. If someone promises you a specific number,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COMMITMENT]
But here's what I can promise. If you do the work, you will leave thinking differently, communicating differently and showing up differently than you did when you walked in. I've watched it happen too many times to pretend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COMMITMENT]
And my commitment to you: show up and do the work, and I will be right there. I'll challenge you, I'll support you, and I'll tell you what you need to hear even when you don't want to hear it. I can't do this for you. We do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[SCARCITY + URGENCY]
I keep this group small on purpose. I want to personally coach every woman in it, and I can't do that with a hundred people. There are [PLACEHOLDER: number] seats. When they're gone, enrollment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[SCARCITY + URGENCY]
The next cohort starts [PLACEHOLDER: date]. We review applications in the order they arrive, so if you already know, don't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[SCARCITY + URGENCY]
[PLACEHOLDER: pricing urgency line, if future cohorts will be priced higher.] But the real deadline isn't mine. Every month you don't interrupt this pattern, it gets more expensive and more entrenched. You already know what it's costing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Okay. I know what's going on in your head right now, because I've heard all of it. Let's go through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My industry is different. Sure. Your industry determines the numbers and how comp gets structured. But knowing your value and advocating for yourself? That works whether you're in healthcare, tech, law or banking. I've seen it across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I hear this one all the time. Try this reframe: what you're actually having is a business conversation about value. And by the way, your company knows how expensive it is to replace you, even if they never say it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I don't have time. I know, you're doing the work of three people. That's kind of the point. Staying where you are is costing you more than eight weeks ever will. One conversation can change where your whole career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What if they say no? Then you've learned something. A no tells you what's possible, what needs to happen next, and honestly, sometimes whether you're in the right place. And a professional, well-prepared conversation doesn't wreck a healthy relationship. If it does, that tells you something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Is it worth it? Do the math on one conversation. And then remember you'll have more of them. Salary, bonus, promotion, the next job offer. You'll use this for the rest of your career.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I have to earn the right to ask. Honey, you earned it years ago. You're just still waiting for someone to sign the permission slip. That belief is exactly what the Identity work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I don't want to look greedy. Remember what my aunt said? Men do it all the time, behind closed doors. Nobody calls them greedy. They call them good at business. You get to be good at business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This is the one nobody says out loud. What if they find out I'm not that good? I felt that as the highest-paid person in my division. It's incredibly common, and from what I've seen it tends to hit the most capable people hardest. Your results are real. We work on letting you actually own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And the classic. I'll do it when things calm down. I love you, but things don't calm down. Waiting for the right time is the same pattern we've been talking about all night, just wearing a nicer outfit.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Let's recap. The problem is identity, not negotiation skills. The old plan, work hard and wait, is costing you money and a lot more than money. That cost compounds. The V.O.I.C.E. Framework closes the gap. And you saw what happened for Shelly, Nina and Erica when it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You already have the capability. I know you do, or you wouldn't be here. The question is whether the woman who walks into that room next time is the old version or the one you're ready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So here's the next step. Go to [PLACEHOLDER: URL] and fill out a short application. Tell me where you are, what's keeping you stuck and what you want. I read every one. If it looks like a fit, we'll get on a call and figure out together whether this is right for you. No pressure on that call. It's a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The group is small and the seats go in order. If you felt something tonight, that's your cue. Go apply now while it's fresh. I'll stay on for questions. [Open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I'll leave you with the question so many of you have been asking. When is it going to be my turn? You get to decide that. I'm rooting for you, and I've got your back. Go apply, and I'll see you on the other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6949440" y="0"/>
            <a:ext cx="5242255" cy="6858000"/>
          </a:xfrm>
          <a:prstGeom prst="rect">
            <a:avLst/>
          </a:prstGeom>
          <a:solidFill>
            <a:srgbClr val="2B5C5C"/>
          </a:solidFill>
          <a:ln w="15875">
            <a:solidFill>
              <a:srgbClr val="8AAF8A"/>
            </a:solidFill>
            <a:prstDash val="dash"/>
          </a:ln>
        </p:spPr>
      </p:sp>
      <p:sp>
        <p:nvSpPr>
          <p:cNvPr id="3" name="Text 1"/>
          <p:cNvSpPr txBox="1"/>
          <p:nvPr/>
        </p:nvSpPr>
        <p:spPr>
          <a:xfrm>
            <a:off x="7269480" y="320040"/>
            <a:ext cx="460217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269480" y="731520"/>
            <a:ext cx="460217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Tamara, editorial portrait. Standing, arms relaxed, looking straight into camera. Manhattan skyline or a glass-walled boardroom behind her. Warm, direct, a little bit of a smirk.</a:t>
            </a:r>
            <a:endParaRPr lang="en-US" sz="1200" dirty="0"/>
          </a:p>
        </p:txBody>
      </p:sp>
      <p:sp>
        <p:nvSpPr>
          <p:cNvPr id="5" name="Text 3"/>
          <p:cNvSpPr txBox="1"/>
          <p:nvPr/>
        </p:nvSpPr>
        <p:spPr>
          <a:xfrm>
            <a:off x="640080" y="822960"/>
            <a:ext cx="5943600" cy="2834640"/>
          </a:xfrm>
          <a:prstGeom prst="rect">
            <a:avLst/>
          </a:prstGeom>
          <a:noFill/>
          <a:ln/>
        </p:spPr>
        <p:txBody>
          <a:bodyPr wrap="square" lIns="0" tIns="0" rIns="0" bIns="0" rtlCol="0" anchor="b">
            <a:normAutofit/>
          </a:bodyPr>
          <a:lstStyle/>
          <a:p>
            <a:pPr algn="l" indent="0" marL="0">
              <a:lnSpc>
                <a:spcPct val="95000"/>
              </a:lnSpc>
              <a:buNone/>
            </a:pPr>
            <a:r>
              <a:rPr lang="en-US" sz="5000" b="1" dirty="0">
                <a:solidFill>
                  <a:srgbClr val="FFFFFF"/>
                </a:solidFill>
                <a:latin typeface="Cormorant Garamond" pitchFamily="34" charset="0"/>
                <a:ea typeface="Cormorant Garamond" pitchFamily="34" charset="-122"/>
                <a:cs typeface="Cormorant Garamond" pitchFamily="34" charset="-120"/>
              </a:rPr>
              <a:t>Done Waiting </a:t>
            </a:r>
            <a:pPr algn="l" indent="0" marL="0">
              <a:lnSpc>
                <a:spcPct val="95000"/>
              </a:lnSpc>
              <a:buNone/>
            </a:pPr>
            <a:r>
              <a:rPr lang="en-US" sz="5000" b="1" dirty="0">
                <a:solidFill>
                  <a:srgbClr val="B7D3B7"/>
                </a:solidFill>
                <a:latin typeface="Cormorant Garamond" pitchFamily="34" charset="0"/>
                <a:ea typeface="Cormorant Garamond" pitchFamily="34" charset="-122"/>
                <a:cs typeface="Cormorant Garamond" pitchFamily="34" charset="-120"/>
              </a:rPr>
              <a:t>Your Turn</a:t>
            </a:r>
            <a:endParaRPr lang="en-US" sz="5000" dirty="0"/>
          </a:p>
        </p:txBody>
      </p:sp>
      <p:sp>
        <p:nvSpPr>
          <p:cNvPr id="6" name="Text 4"/>
          <p:cNvSpPr txBox="1"/>
          <p:nvPr/>
        </p:nvSpPr>
        <p:spPr>
          <a:xfrm>
            <a:off x="640080" y="3886200"/>
            <a:ext cx="5852160" cy="1188720"/>
          </a:xfrm>
          <a:prstGeom prst="rect">
            <a:avLst/>
          </a:prstGeom>
          <a:noFill/>
          <a:ln/>
        </p:spPr>
        <p:txBody>
          <a:bodyPr wrap="square" lIns="0" tIns="0" rIns="0" bIns="0" rtlCol="0" anchor="t">
            <a:normAutofit/>
          </a:bodyPr>
          <a:lstStyle/>
          <a:p>
            <a:pPr algn="l" indent="0" marL="0">
              <a:lnSpc>
                <a:spcPct val="110000"/>
              </a:lnSpc>
              <a:buNone/>
            </a:pPr>
            <a:r>
              <a:rPr lang="en-US" sz="2000" dirty="0">
                <a:solidFill>
                  <a:srgbClr val="E1F5EE"/>
                </a:solidFill>
                <a:latin typeface="DM Sans" pitchFamily="34" charset="0"/>
                <a:ea typeface="DM Sans" pitchFamily="34" charset="-122"/>
                <a:cs typeface="DM Sans" pitchFamily="34" charset="-120"/>
              </a:rPr>
              <a:t>Why smart, capable women stay underpaid, and the identity shift that changes it</a:t>
            </a:r>
            <a:endParaRPr lang="en-US" sz="2000" dirty="0"/>
          </a:p>
        </p:txBody>
      </p:sp>
      <p:sp>
        <p:nvSpPr>
          <p:cNvPr id="7" name="Text 5"/>
          <p:cNvSpPr txBox="1"/>
          <p:nvPr/>
        </p:nvSpPr>
        <p:spPr>
          <a:xfrm>
            <a:off x="640080" y="5303520"/>
            <a:ext cx="5852160" cy="731520"/>
          </a:xfrm>
          <a:prstGeom prst="rect">
            <a:avLst/>
          </a:prstGeom>
          <a:noFill/>
          <a:ln/>
        </p:spPr>
        <p:txBody>
          <a:bodyPr wrap="square" lIns="0" tIns="0" rIns="0" bIns="0" rtlCol="0" anchor="t">
            <a:normAutofit/>
          </a:bodyPr>
          <a:lstStyle/>
          <a:p>
            <a:pPr algn="l" indent="0" marL="0">
              <a:lnSpc>
                <a:spcPct val="100000"/>
              </a:lnSpc>
              <a:buNone/>
            </a:pPr>
            <a:r>
              <a:rPr lang="en-US" sz="1400" b="1" spc="100" kern="0" dirty="0">
                <a:solidFill>
                  <a:srgbClr val="8AAF8A"/>
                </a:solidFill>
                <a:latin typeface="DM Sans" pitchFamily="34" charset="0"/>
                <a:ea typeface="DM Sans" pitchFamily="34" charset="-122"/>
                <a:cs typeface="DM Sans" pitchFamily="34" charset="-120"/>
              </a:rPr>
              <a:t>A live masterclass with Tamara Lashchyk</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B5C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B5C5C"/>
          </a:solidFill>
          <a:ln w="15875">
            <a:solidFill>
              <a:srgbClr val="8AAF8A"/>
            </a:solidFill>
            <a:prstDash val="dash"/>
          </a:ln>
        </p:spPr>
      </p:sp>
      <p:sp>
        <p:nvSpPr>
          <p:cNvPr id="3" name="Text 1"/>
          <p:cNvSpPr txBox="1"/>
          <p:nvPr/>
        </p:nvSpPr>
        <p:spPr>
          <a:xfrm>
            <a:off x="320040" y="320040"/>
            <a:ext cx="1155161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1155161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Woman in her 40s on a treadmill in a gym at dawn, phone pressed to her ear, towel over one shoulder. City still dark outside the window.</a:t>
            </a:r>
            <a:endParaRPr lang="en-US" sz="1200" dirty="0"/>
          </a:p>
        </p:txBody>
      </p:sp>
      <p:sp>
        <p:nvSpPr>
          <p:cNvPr id="5" name="Shape 3"/>
          <p:cNvSpPr/>
          <p:nvPr/>
        </p:nvSpPr>
        <p:spPr>
          <a:xfrm>
            <a:off x="548640" y="3566160"/>
            <a:ext cx="7132320" cy="2743200"/>
          </a:xfrm>
          <a:prstGeom prst="roundRect">
            <a:avLst>
              <a:gd name="adj" fmla="val 3333"/>
            </a:avLst>
          </a:prstGeom>
          <a:solidFill>
            <a:srgbClr val="1E4A4A">
              <a:alpha val="96000"/>
            </a:srgbClr>
          </a:solidFill>
          <a:ln w="12700">
            <a:solidFill>
              <a:srgbClr val="1E4A4A"/>
            </a:solidFill>
            <a:prstDash val="solid"/>
          </a:ln>
        </p:spPr>
      </p:sp>
      <p:sp>
        <p:nvSpPr>
          <p:cNvPr id="6" name="Text 4"/>
          <p:cNvSpPr txBox="1"/>
          <p:nvPr/>
        </p:nvSpPr>
        <p:spPr>
          <a:xfrm>
            <a:off x="868680" y="3749040"/>
            <a:ext cx="6492240" cy="1463040"/>
          </a:xfrm>
          <a:prstGeom prst="rect">
            <a:avLst/>
          </a:prstGeom>
          <a:noFill/>
          <a:ln/>
        </p:spPr>
        <p:txBody>
          <a:bodyPr wrap="square" lIns="0" tIns="0" rIns="0" bIns="0" rtlCol="0" anchor="b">
            <a:normAutofit/>
          </a:bodyPr>
          <a:lstStyle/>
          <a:p>
            <a:pPr algn="l" indent="0" marL="0">
              <a:lnSpc>
                <a:spcPct val="95000"/>
              </a:lnSpc>
              <a:buNone/>
            </a:pPr>
            <a:r>
              <a:rPr lang="en-US" sz="3100" b="1" dirty="0">
                <a:solidFill>
                  <a:srgbClr val="FFFFFF"/>
                </a:solidFill>
                <a:latin typeface="Cormorant Garamond" pitchFamily="34" charset="0"/>
                <a:ea typeface="Cormorant Garamond" pitchFamily="34" charset="-122"/>
                <a:cs typeface="Cormorant Garamond" pitchFamily="34" charset="-120"/>
              </a:rPr>
              <a:t>6:00 AM. Your boss calls </a:t>
            </a:r>
            <a:pPr algn="l" indent="0" marL="0">
              <a:lnSpc>
                <a:spcPct val="95000"/>
              </a:lnSpc>
              <a:buNone/>
            </a:pPr>
            <a:r>
              <a:rPr lang="en-US" sz="3100" b="1" dirty="0">
                <a:solidFill>
                  <a:srgbClr val="B7D3B7"/>
                </a:solidFill>
                <a:latin typeface="Cormorant Garamond" pitchFamily="34" charset="0"/>
                <a:ea typeface="Cormorant Garamond" pitchFamily="34" charset="-122"/>
                <a:cs typeface="Cormorant Garamond" pitchFamily="34" charset="-120"/>
              </a:rPr>
              <a:t>mid-workout.</a:t>
            </a:r>
            <a:endParaRPr lang="en-US" sz="3100" dirty="0"/>
          </a:p>
        </p:txBody>
      </p:sp>
      <p:sp>
        <p:nvSpPr>
          <p:cNvPr id="7" name="Text 5"/>
          <p:cNvSpPr txBox="1"/>
          <p:nvPr/>
        </p:nvSpPr>
        <p:spPr>
          <a:xfrm>
            <a:off x="868680" y="5303520"/>
            <a:ext cx="6492240" cy="914400"/>
          </a:xfrm>
          <a:prstGeom prst="rect">
            <a:avLst/>
          </a:prstGeom>
          <a:noFill/>
          <a:ln/>
        </p:spPr>
        <p:txBody>
          <a:bodyPr wrap="square" lIns="0" tIns="0" rIns="0" bIns="0" rtlCol="0" anchor="t">
            <a:normAutofit/>
          </a:bodyPr>
          <a:lstStyle/>
          <a:p>
            <a:pPr algn="l" indent="0" marL="0">
              <a:lnSpc>
                <a:spcPct val="115000"/>
              </a:lnSpc>
              <a:buNone/>
            </a:pPr>
            <a:r>
              <a:rPr lang="en-US" sz="1600" dirty="0">
                <a:solidFill>
                  <a:srgbClr val="E1F5EE"/>
                </a:solidFill>
                <a:latin typeface="DM Sans" pitchFamily="34" charset="0"/>
                <a:ea typeface="DM Sans" pitchFamily="34" charset="-122"/>
                <a:cs typeface="DM Sans" pitchFamily="34" charset="-120"/>
              </a:rPr>
              <a:t>He needs an answer for Asia. He doesn't have it. You do.</a:t>
            </a:r>
            <a:endParaRPr lang="en-US" sz="1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B5C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B5C5C"/>
          </a:solidFill>
          <a:ln w="15875">
            <a:solidFill>
              <a:srgbClr val="8AAF8A"/>
            </a:solidFill>
            <a:prstDash val="dash"/>
          </a:ln>
        </p:spPr>
      </p:sp>
      <p:sp>
        <p:nvSpPr>
          <p:cNvPr id="3" name="Text 1"/>
          <p:cNvSpPr txBox="1"/>
          <p:nvPr/>
        </p:nvSpPr>
        <p:spPr>
          <a:xfrm>
            <a:off x="320040" y="320040"/>
            <a:ext cx="1155161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1155161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Conference room, candid angle. A woman at the table with a tight, polite smile. Across from her a man in shirtsleeves mid-sentence, bagel in hand, heads nodding around him.</a:t>
            </a:r>
            <a:endParaRPr lang="en-US" sz="1200" dirty="0"/>
          </a:p>
        </p:txBody>
      </p:sp>
      <p:sp>
        <p:nvSpPr>
          <p:cNvPr id="5" name="Shape 3"/>
          <p:cNvSpPr/>
          <p:nvPr/>
        </p:nvSpPr>
        <p:spPr>
          <a:xfrm>
            <a:off x="548640" y="3566160"/>
            <a:ext cx="7132320" cy="2743200"/>
          </a:xfrm>
          <a:prstGeom prst="roundRect">
            <a:avLst>
              <a:gd name="adj" fmla="val 3333"/>
            </a:avLst>
          </a:prstGeom>
          <a:solidFill>
            <a:srgbClr val="1E4A4A">
              <a:alpha val="96000"/>
            </a:srgbClr>
          </a:solidFill>
          <a:ln w="12700">
            <a:solidFill>
              <a:srgbClr val="1E4A4A"/>
            </a:solidFill>
            <a:prstDash val="solid"/>
          </a:ln>
        </p:spPr>
      </p:sp>
      <p:sp>
        <p:nvSpPr>
          <p:cNvPr id="6" name="Text 4"/>
          <p:cNvSpPr txBox="1"/>
          <p:nvPr/>
        </p:nvSpPr>
        <p:spPr>
          <a:xfrm>
            <a:off x="868680" y="3749040"/>
            <a:ext cx="6492240" cy="1463040"/>
          </a:xfrm>
          <a:prstGeom prst="rect">
            <a:avLst/>
          </a:prstGeom>
          <a:noFill/>
          <a:ln/>
        </p:spPr>
        <p:txBody>
          <a:bodyPr wrap="square" lIns="0" tIns="0" rIns="0" bIns="0" rtlCol="0" anchor="b">
            <a:normAutofit/>
          </a:bodyPr>
          <a:lstStyle/>
          <a:p>
            <a:pPr algn="l" indent="0" marL="0">
              <a:lnSpc>
                <a:spcPct val="95000"/>
              </a:lnSpc>
              <a:buNone/>
            </a:pPr>
            <a:r>
              <a:rPr lang="en-US" sz="3600" b="1" dirty="0">
                <a:solidFill>
                  <a:srgbClr val="FFFFFF"/>
                </a:solidFill>
                <a:latin typeface="Cormorant Garamond" pitchFamily="34" charset="0"/>
                <a:ea typeface="Cormorant Garamond" pitchFamily="34" charset="-122"/>
                <a:cs typeface="Cormorant Garamond" pitchFamily="34" charset="-120"/>
              </a:rPr>
              <a:t>9:00 AM. Your idea </a:t>
            </a:r>
            <a:pPr algn="l" indent="0" marL="0">
              <a:lnSpc>
                <a:spcPct val="95000"/>
              </a:lnSpc>
              <a:buNone/>
            </a:pPr>
            <a:r>
              <a:rPr lang="en-US" sz="3600" b="1" dirty="0">
                <a:solidFill>
                  <a:srgbClr val="B7D3B7"/>
                </a:solidFill>
                <a:latin typeface="Cormorant Garamond" pitchFamily="34" charset="0"/>
                <a:ea typeface="Cormorant Garamond" pitchFamily="34" charset="-122"/>
                <a:cs typeface="Cormorant Garamond" pitchFamily="34" charset="-120"/>
              </a:rPr>
              <a:t>gets ignored.</a:t>
            </a:r>
            <a:endParaRPr lang="en-US" sz="3600" dirty="0"/>
          </a:p>
        </p:txBody>
      </p:sp>
      <p:sp>
        <p:nvSpPr>
          <p:cNvPr id="7" name="Text 5"/>
          <p:cNvSpPr txBox="1"/>
          <p:nvPr/>
        </p:nvSpPr>
        <p:spPr>
          <a:xfrm>
            <a:off x="868680" y="5303520"/>
            <a:ext cx="6492240" cy="914400"/>
          </a:xfrm>
          <a:prstGeom prst="rect">
            <a:avLst/>
          </a:prstGeom>
          <a:noFill/>
          <a:ln/>
        </p:spPr>
        <p:txBody>
          <a:bodyPr wrap="square" lIns="0" tIns="0" rIns="0" bIns="0" rtlCol="0" anchor="t">
            <a:normAutofit/>
          </a:bodyPr>
          <a:lstStyle/>
          <a:p>
            <a:pPr algn="l" indent="0" marL="0">
              <a:lnSpc>
                <a:spcPct val="115000"/>
              </a:lnSpc>
              <a:buNone/>
            </a:pPr>
            <a:r>
              <a:rPr lang="en-US" sz="1600" dirty="0">
                <a:solidFill>
                  <a:srgbClr val="E1F5EE"/>
                </a:solidFill>
                <a:latin typeface="DM Sans" pitchFamily="34" charset="0"/>
                <a:ea typeface="DM Sans" pitchFamily="34" charset="-122"/>
                <a:cs typeface="DM Sans" pitchFamily="34" charset="-120"/>
              </a:rPr>
              <a:t>Ten minutes later, Office Bro strolls in late with a coffee and a bagel and pitches the same idea with half the thought behind it. Everyone loves it.</a:t>
            </a:r>
            <a:endParaRPr lang="en-US" sz="1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B5C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B5C5C"/>
          </a:solidFill>
          <a:ln w="15875">
            <a:solidFill>
              <a:srgbClr val="8AAF8A"/>
            </a:solidFill>
            <a:prstDash val="dash"/>
          </a:ln>
        </p:spPr>
      </p:sp>
      <p:sp>
        <p:nvSpPr>
          <p:cNvPr id="3" name="Text 1"/>
          <p:cNvSpPr txBox="1"/>
          <p:nvPr/>
        </p:nvSpPr>
        <p:spPr>
          <a:xfrm>
            <a:off x="320040" y="320040"/>
            <a:ext cx="1155161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1155161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Quiet NYC apartment at night. A woman on the couch with an Uber Eats bag, a cat curled up nearby, city lights through the window. Lit by one lamp.</a:t>
            </a:r>
            <a:endParaRPr lang="en-US" sz="1200" dirty="0"/>
          </a:p>
        </p:txBody>
      </p:sp>
      <p:sp>
        <p:nvSpPr>
          <p:cNvPr id="5" name="Shape 3"/>
          <p:cNvSpPr/>
          <p:nvPr/>
        </p:nvSpPr>
        <p:spPr>
          <a:xfrm>
            <a:off x="548640" y="3566160"/>
            <a:ext cx="7132320" cy="2743200"/>
          </a:xfrm>
          <a:prstGeom prst="roundRect">
            <a:avLst>
              <a:gd name="adj" fmla="val 3333"/>
            </a:avLst>
          </a:prstGeom>
          <a:solidFill>
            <a:srgbClr val="1E4A4A">
              <a:alpha val="96000"/>
            </a:srgbClr>
          </a:solidFill>
          <a:ln w="12700">
            <a:solidFill>
              <a:srgbClr val="1E4A4A"/>
            </a:solidFill>
            <a:prstDash val="solid"/>
          </a:ln>
        </p:spPr>
      </p:sp>
      <p:sp>
        <p:nvSpPr>
          <p:cNvPr id="6" name="Text 4"/>
          <p:cNvSpPr txBox="1"/>
          <p:nvPr/>
        </p:nvSpPr>
        <p:spPr>
          <a:xfrm>
            <a:off x="868680" y="3749040"/>
            <a:ext cx="6492240" cy="1463040"/>
          </a:xfrm>
          <a:prstGeom prst="rect">
            <a:avLst/>
          </a:prstGeom>
          <a:noFill/>
          <a:ln/>
        </p:spPr>
        <p:txBody>
          <a:bodyPr wrap="square" lIns="0" tIns="0" rIns="0" bIns="0" rtlCol="0" anchor="b">
            <a:normAutofit/>
          </a:bodyPr>
          <a:lstStyle/>
          <a:p>
            <a:pPr algn="l" indent="0" marL="0">
              <a:lnSpc>
                <a:spcPct val="95000"/>
              </a:lnSpc>
              <a:buNone/>
            </a:pPr>
            <a:r>
              <a:rPr lang="en-US" sz="3100" b="1" dirty="0">
                <a:solidFill>
                  <a:srgbClr val="FFFFFF"/>
                </a:solidFill>
                <a:latin typeface="Cormorant Garamond" pitchFamily="34" charset="0"/>
                <a:ea typeface="Cormorant Garamond" pitchFamily="34" charset="-122"/>
                <a:cs typeface="Cormorant Garamond" pitchFamily="34" charset="-120"/>
              </a:rPr>
              <a:t>9:00 PM. They forgot your side salad. </a:t>
            </a:r>
            <a:pPr algn="l" indent="0" marL="0">
              <a:lnSpc>
                <a:spcPct val="95000"/>
              </a:lnSpc>
              <a:buNone/>
            </a:pPr>
            <a:r>
              <a:rPr lang="en-US" sz="3100" b="1" dirty="0">
                <a:solidFill>
                  <a:srgbClr val="B7D3B7"/>
                </a:solidFill>
                <a:latin typeface="Cormorant Garamond" pitchFamily="34" charset="0"/>
                <a:ea typeface="Cormorant Garamond" pitchFamily="34" charset="-122"/>
                <a:cs typeface="Cormorant Garamond" pitchFamily="34" charset="-120"/>
              </a:rPr>
              <a:t>You say nothing.</a:t>
            </a:r>
            <a:endParaRPr lang="en-US" sz="3100" dirty="0"/>
          </a:p>
        </p:txBody>
      </p:sp>
      <p:sp>
        <p:nvSpPr>
          <p:cNvPr id="7" name="Text 5"/>
          <p:cNvSpPr txBox="1"/>
          <p:nvPr/>
        </p:nvSpPr>
        <p:spPr>
          <a:xfrm>
            <a:off x="868680" y="5303520"/>
            <a:ext cx="6492240" cy="914400"/>
          </a:xfrm>
          <a:prstGeom prst="rect">
            <a:avLst/>
          </a:prstGeom>
          <a:noFill/>
          <a:ln/>
        </p:spPr>
        <p:txBody>
          <a:bodyPr wrap="square" lIns="0" tIns="0" rIns="0" bIns="0" rtlCol="0" anchor="t">
            <a:normAutofit/>
          </a:bodyPr>
          <a:lstStyle/>
          <a:p>
            <a:pPr algn="l" indent="0" marL="0">
              <a:lnSpc>
                <a:spcPct val="115000"/>
              </a:lnSpc>
              <a:buNone/>
            </a:pPr>
            <a:r>
              <a:rPr lang="en-US" sz="1600" dirty="0">
                <a:solidFill>
                  <a:srgbClr val="E1F5EE"/>
                </a:solidFill>
                <a:latin typeface="DM Sans" pitchFamily="34" charset="0"/>
                <a:ea typeface="DM Sans" pitchFamily="34" charset="-122"/>
                <a:cs typeface="DM Sans" pitchFamily="34" charset="-120"/>
              </a:rPr>
              <a:t>No promotion. No raise. No recognition. Another long day is over.</a:t>
            </a:r>
            <a:endParaRPr lang="en-US" sz="1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1097280" y="1097280"/>
            <a:ext cx="9997135" cy="2926080"/>
          </a:xfrm>
          <a:prstGeom prst="rect">
            <a:avLst/>
          </a:prstGeom>
          <a:noFill/>
          <a:ln/>
        </p:spPr>
        <p:txBody>
          <a:bodyPr wrap="square" lIns="0" tIns="0" rIns="0" bIns="0" rtlCol="0" anchor="b">
            <a:normAutofit/>
          </a:bodyPr>
          <a:lstStyle/>
          <a:p>
            <a:pPr algn="ctr" indent="0" marL="0">
              <a:lnSpc>
                <a:spcPct val="95000"/>
              </a:lnSpc>
              <a:buNone/>
            </a:pPr>
            <a:r>
              <a:rPr lang="en-US" sz="3600" b="1" dirty="0">
                <a:solidFill>
                  <a:srgbClr val="FFFFFF"/>
                </a:solidFill>
                <a:latin typeface="Cormorant Garamond" pitchFamily="34" charset="0"/>
                <a:ea typeface="Cormorant Garamond" pitchFamily="34" charset="-122"/>
                <a:cs typeface="Cormorant Garamond" pitchFamily="34" charset="-120"/>
              </a:rPr>
              <a:t>You don't have a negotiation problem. You have </a:t>
            </a:r>
            <a:pPr algn="ctr" indent="0" marL="0">
              <a:lnSpc>
                <a:spcPct val="95000"/>
              </a:lnSpc>
              <a:buNone/>
            </a:pPr>
            <a:r>
              <a:rPr lang="en-US" sz="3600" b="1" dirty="0">
                <a:solidFill>
                  <a:srgbClr val="B7D3B7"/>
                </a:solidFill>
                <a:latin typeface="Cormorant Garamond" pitchFamily="34" charset="0"/>
                <a:ea typeface="Cormorant Garamond" pitchFamily="34" charset="-122"/>
                <a:cs typeface="Cormorant Garamond" pitchFamily="34" charset="-120"/>
              </a:rPr>
              <a:t>an identity problem.</a:t>
            </a:r>
            <a:endParaRPr lang="en-US" sz="3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in her late 40s looking at her reflection in a floor-to-ceiling office window at dusk. Composed, thoughtful, city behind the glass.</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Your capability has outgrown the woman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you think you are.</a:t>
            </a:r>
            <a:endParaRPr lang="en-US" sz="34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Tonight is about closing that gap, so you become the woman who commands her worth and plays a bigger game.</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48640"/>
            <a:ext cx="6766560" cy="1005840"/>
          </a:xfrm>
          <a:prstGeom prst="rect">
            <a:avLst/>
          </a:prstGeom>
          <a:noFill/>
          <a:ln/>
        </p:spPr>
        <p:txBody>
          <a:bodyPr wrap="square" lIns="0" tIns="0" rIns="0" bIns="0" rtlCol="0" anchor="b">
            <a:normAutofit/>
          </a:bodyPr>
          <a:lstStyle/>
          <a:p>
            <a:pPr algn="l" indent="0" marL="0">
              <a:lnSpc>
                <a:spcPct val="95000"/>
              </a:lnSpc>
              <a:buNone/>
            </a:pPr>
            <a:r>
              <a:rPr lang="en-US" sz="3800" b="1" dirty="0">
                <a:solidFill>
                  <a:srgbClr val="1B2B2B"/>
                </a:solidFill>
                <a:latin typeface="Cormorant Garamond" pitchFamily="34" charset="0"/>
                <a:ea typeface="Cormorant Garamond" pitchFamily="34" charset="-122"/>
                <a:cs typeface="Cormorant Garamond" pitchFamily="34" charset="-120"/>
              </a:rPr>
              <a:t>What I'm </a:t>
            </a:r>
            <a:pPr algn="l" indent="0" marL="0">
              <a:lnSpc>
                <a:spcPct val="95000"/>
              </a:lnSpc>
              <a:buNone/>
            </a:pPr>
            <a:r>
              <a:rPr lang="en-US" sz="3800" b="1" dirty="0">
                <a:solidFill>
                  <a:srgbClr val="1B2B2B"/>
                </a:solidFill>
                <a:highlight>
                  <a:srgbClr val="CFE3CF"/>
                </a:highlight>
                <a:latin typeface="Cormorant Garamond" pitchFamily="34" charset="0"/>
                <a:ea typeface="Cormorant Garamond" pitchFamily="34" charset="-122"/>
                <a:cs typeface="Cormorant Garamond" pitchFamily="34" charset="-120"/>
              </a:rPr>
              <a:t>covering today</a:t>
            </a:r>
            <a:endParaRPr lang="en-US" sz="3800" dirty="0"/>
          </a:p>
        </p:txBody>
      </p:sp>
      <p:sp>
        <p:nvSpPr>
          <p:cNvPr id="3" name="Shape 1"/>
          <p:cNvSpPr/>
          <p:nvPr/>
        </p:nvSpPr>
        <p:spPr>
          <a:xfrm>
            <a:off x="640080" y="1874520"/>
            <a:ext cx="502920" cy="502920"/>
          </a:xfrm>
          <a:prstGeom prst="ellipse">
            <a:avLst/>
          </a:prstGeom>
          <a:solidFill>
            <a:srgbClr val="1E4A4A"/>
          </a:solidFill>
          <a:ln w="12700">
            <a:solidFill>
              <a:srgbClr val="1E4A4A"/>
            </a:solidFill>
            <a:prstDash val="solid"/>
          </a:ln>
        </p:spPr>
      </p:sp>
      <p:sp>
        <p:nvSpPr>
          <p:cNvPr id="4" name="Text 2"/>
          <p:cNvSpPr txBox="1"/>
          <p:nvPr/>
        </p:nvSpPr>
        <p:spPr>
          <a:xfrm>
            <a:off x="640080" y="187452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1</a:t>
            </a:r>
            <a:endParaRPr lang="en-US" sz="1800" dirty="0"/>
          </a:p>
        </p:txBody>
      </p:sp>
      <p:sp>
        <p:nvSpPr>
          <p:cNvPr id="5" name="Text 3"/>
          <p:cNvSpPr txBox="1"/>
          <p:nvPr/>
        </p:nvSpPr>
        <p:spPr>
          <a:xfrm>
            <a:off x="1371600" y="182880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Why working harder stopped working for you</a:t>
            </a:r>
            <a:endParaRPr lang="en-US" sz="1800" dirty="0"/>
          </a:p>
        </p:txBody>
      </p:sp>
      <p:sp>
        <p:nvSpPr>
          <p:cNvPr id="6" name="Shape 4"/>
          <p:cNvSpPr/>
          <p:nvPr/>
        </p:nvSpPr>
        <p:spPr>
          <a:xfrm>
            <a:off x="640080" y="2743200"/>
            <a:ext cx="502920" cy="502920"/>
          </a:xfrm>
          <a:prstGeom prst="ellipse">
            <a:avLst/>
          </a:prstGeom>
          <a:solidFill>
            <a:srgbClr val="1E4A4A"/>
          </a:solidFill>
          <a:ln w="12700">
            <a:solidFill>
              <a:srgbClr val="1E4A4A"/>
            </a:solidFill>
            <a:prstDash val="solid"/>
          </a:ln>
        </p:spPr>
      </p:sp>
      <p:sp>
        <p:nvSpPr>
          <p:cNvPr id="7" name="Text 5"/>
          <p:cNvSpPr txBox="1"/>
          <p:nvPr/>
        </p:nvSpPr>
        <p:spPr>
          <a:xfrm>
            <a:off x="640080" y="274320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2</a:t>
            </a:r>
            <a:endParaRPr lang="en-US" sz="1800" dirty="0"/>
          </a:p>
        </p:txBody>
      </p:sp>
      <p:sp>
        <p:nvSpPr>
          <p:cNvPr id="8" name="Text 6"/>
          <p:cNvSpPr txBox="1"/>
          <p:nvPr/>
        </p:nvSpPr>
        <p:spPr>
          <a:xfrm>
            <a:off x="1371600" y="269748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What waiting is really costing you (hint: more than money)</a:t>
            </a:r>
            <a:endParaRPr lang="en-US" sz="1800" dirty="0"/>
          </a:p>
        </p:txBody>
      </p:sp>
      <p:sp>
        <p:nvSpPr>
          <p:cNvPr id="9" name="Shape 7"/>
          <p:cNvSpPr/>
          <p:nvPr/>
        </p:nvSpPr>
        <p:spPr>
          <a:xfrm>
            <a:off x="640080" y="3611880"/>
            <a:ext cx="502920" cy="502920"/>
          </a:xfrm>
          <a:prstGeom prst="ellipse">
            <a:avLst/>
          </a:prstGeom>
          <a:solidFill>
            <a:srgbClr val="1E4A4A"/>
          </a:solidFill>
          <a:ln w="12700">
            <a:solidFill>
              <a:srgbClr val="1E4A4A"/>
            </a:solidFill>
            <a:prstDash val="solid"/>
          </a:ln>
        </p:spPr>
      </p:sp>
      <p:sp>
        <p:nvSpPr>
          <p:cNvPr id="10" name="Text 8"/>
          <p:cNvSpPr txBox="1"/>
          <p:nvPr/>
        </p:nvSpPr>
        <p:spPr>
          <a:xfrm>
            <a:off x="640080" y="361188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3</a:t>
            </a:r>
            <a:endParaRPr lang="en-US" sz="1800" dirty="0"/>
          </a:p>
        </p:txBody>
      </p:sp>
      <p:sp>
        <p:nvSpPr>
          <p:cNvPr id="11" name="Text 9"/>
          <p:cNvSpPr txBox="1"/>
          <p:nvPr/>
        </p:nvSpPr>
        <p:spPr>
          <a:xfrm>
            <a:off x="1371600" y="356616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The V.O.I.C.E. Framework, and why it starts with identity</a:t>
            </a:r>
            <a:endParaRPr lang="en-US" sz="1800" dirty="0"/>
          </a:p>
        </p:txBody>
      </p:sp>
      <p:sp>
        <p:nvSpPr>
          <p:cNvPr id="12" name="Shape 10"/>
          <p:cNvSpPr/>
          <p:nvPr/>
        </p:nvSpPr>
        <p:spPr>
          <a:xfrm>
            <a:off x="640080" y="4480560"/>
            <a:ext cx="502920" cy="502920"/>
          </a:xfrm>
          <a:prstGeom prst="ellipse">
            <a:avLst/>
          </a:prstGeom>
          <a:solidFill>
            <a:srgbClr val="1E4A4A"/>
          </a:solidFill>
          <a:ln w="12700">
            <a:solidFill>
              <a:srgbClr val="1E4A4A"/>
            </a:solidFill>
            <a:prstDash val="solid"/>
          </a:ln>
        </p:spPr>
      </p:sp>
      <p:sp>
        <p:nvSpPr>
          <p:cNvPr id="13" name="Text 11"/>
          <p:cNvSpPr txBox="1"/>
          <p:nvPr/>
        </p:nvSpPr>
        <p:spPr>
          <a:xfrm>
            <a:off x="640080" y="448056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4</a:t>
            </a:r>
            <a:endParaRPr lang="en-US" sz="1800" dirty="0"/>
          </a:p>
        </p:txBody>
      </p:sp>
      <p:sp>
        <p:nvSpPr>
          <p:cNvPr id="14" name="Text 12"/>
          <p:cNvSpPr txBox="1"/>
          <p:nvPr/>
        </p:nvSpPr>
        <p:spPr>
          <a:xfrm>
            <a:off x="1371600" y="443484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What changed for Shelly, Nina and Erica</a:t>
            </a:r>
            <a:endParaRPr lang="en-US" sz="1800" dirty="0"/>
          </a:p>
        </p:txBody>
      </p:sp>
      <p:sp>
        <p:nvSpPr>
          <p:cNvPr id="15" name="Shape 13"/>
          <p:cNvSpPr/>
          <p:nvPr/>
        </p:nvSpPr>
        <p:spPr>
          <a:xfrm>
            <a:off x="640080" y="5349240"/>
            <a:ext cx="502920" cy="502920"/>
          </a:xfrm>
          <a:prstGeom prst="ellipse">
            <a:avLst/>
          </a:prstGeom>
          <a:solidFill>
            <a:srgbClr val="1E4A4A"/>
          </a:solidFill>
          <a:ln w="12700">
            <a:solidFill>
              <a:srgbClr val="1E4A4A"/>
            </a:solidFill>
            <a:prstDash val="solid"/>
          </a:ln>
        </p:spPr>
      </p:sp>
      <p:sp>
        <p:nvSpPr>
          <p:cNvPr id="16" name="Text 14"/>
          <p:cNvSpPr txBox="1"/>
          <p:nvPr/>
        </p:nvSpPr>
        <p:spPr>
          <a:xfrm>
            <a:off x="640080" y="534924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5</a:t>
            </a:r>
            <a:endParaRPr lang="en-US" sz="1800" dirty="0"/>
          </a:p>
        </p:txBody>
      </p:sp>
      <p:sp>
        <p:nvSpPr>
          <p:cNvPr id="17" name="Text 15"/>
          <p:cNvSpPr txBox="1"/>
          <p:nvPr/>
        </p:nvSpPr>
        <p:spPr>
          <a:xfrm>
            <a:off x="1371600" y="530352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How you can work with me if you want to go further</a:t>
            </a:r>
            <a:endParaRPr lang="en-US" sz="1800" dirty="0"/>
          </a:p>
        </p:txBody>
      </p:sp>
      <p:sp>
        <p:nvSpPr>
          <p:cNvPr id="18" name="Shape 16"/>
          <p:cNvSpPr/>
          <p:nvPr/>
        </p:nvSpPr>
        <p:spPr>
          <a:xfrm>
            <a:off x="7863840" y="548640"/>
            <a:ext cx="3703320" cy="5760720"/>
          </a:xfrm>
          <a:prstGeom prst="roundRect">
            <a:avLst>
              <a:gd name="adj" fmla="val 2963"/>
            </a:avLst>
          </a:prstGeom>
          <a:solidFill>
            <a:srgbClr val="E1F5EE"/>
          </a:solidFill>
          <a:ln w="15875">
            <a:solidFill>
              <a:srgbClr val="8AAF8A"/>
            </a:solidFill>
            <a:prstDash val="dash"/>
          </a:ln>
        </p:spPr>
      </p:sp>
      <p:sp>
        <p:nvSpPr>
          <p:cNvPr id="19" name="Text 17"/>
          <p:cNvSpPr txBox="1"/>
          <p:nvPr/>
        </p:nvSpPr>
        <p:spPr>
          <a:xfrm>
            <a:off x="8160106" y="844906"/>
            <a:ext cx="3110789"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20" name="Text 18"/>
          <p:cNvSpPr txBox="1"/>
          <p:nvPr/>
        </p:nvSpPr>
        <p:spPr>
          <a:xfrm>
            <a:off x="8160106" y="1256386"/>
            <a:ext cx="3110789"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 at a desk with an open notebook and a pen, mid-laugh, looking just off camera. Natural light.</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Close-up: a woman's hands wrapped around a coffee mug on a desk, notebook open next to her. Soft morning light.</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4000" b="1" dirty="0">
                <a:solidFill>
                  <a:srgbClr val="1B2B2B"/>
                </a:solidFill>
                <a:latin typeface="Cormorant Garamond" pitchFamily="34" charset="0"/>
                <a:ea typeface="Cormorant Garamond" pitchFamily="34" charset="-122"/>
                <a:cs typeface="Cormorant Garamond" pitchFamily="34" charset="-120"/>
              </a:rPr>
              <a:t>One ask </a:t>
            </a:r>
            <a:pPr algn="l" indent="0" marL="0">
              <a:lnSpc>
                <a:spcPct val="95000"/>
              </a:lnSpc>
              <a:buNone/>
            </a:pPr>
            <a:r>
              <a:rPr lang="en-US" sz="4000" b="1" dirty="0">
                <a:solidFill>
                  <a:srgbClr val="1B2B2B"/>
                </a:solidFill>
                <a:highlight>
                  <a:srgbClr val="CFE3CF"/>
                </a:highlight>
                <a:latin typeface="Cormorant Garamond" pitchFamily="34" charset="0"/>
                <a:ea typeface="Cormorant Garamond" pitchFamily="34" charset="-122"/>
                <a:cs typeface="Cormorant Garamond" pitchFamily="34" charset="-120"/>
              </a:rPr>
              <a:t>before we start</a:t>
            </a:r>
            <a:endParaRPr lang="en-US" sz="40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Some of this is going to feel foreign. You've spent decades being rewarded for being tough, rational and in control. Give me the next hour with an open mind and an open heart.</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1280160"/>
            <a:ext cx="10911535" cy="73152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A quick note on results</a:t>
            </a:r>
            <a:endParaRPr lang="en-US" sz="3000" dirty="0"/>
          </a:p>
        </p:txBody>
      </p:sp>
      <p:sp>
        <p:nvSpPr>
          <p:cNvPr id="3" name="Text 1"/>
          <p:cNvSpPr txBox="1"/>
          <p:nvPr/>
        </p:nvSpPr>
        <p:spPr>
          <a:xfrm>
            <a:off x="640080" y="2377440"/>
            <a:ext cx="8686800" cy="3200400"/>
          </a:xfrm>
          <a:prstGeom prst="rect">
            <a:avLst/>
          </a:prstGeom>
          <a:noFill/>
          <a:ln/>
        </p:spPr>
        <p:txBody>
          <a:bodyPr wrap="square" lIns="0" tIns="0" rIns="0" bIns="0" rtlCol="0" anchor="t">
            <a:normAutofit/>
          </a:bodyPr>
          <a:lstStyle/>
          <a:p>
            <a:pPr algn="l" indent="0" marL="0">
              <a:lnSpc>
                <a:spcPct val="115000"/>
              </a:lnSpc>
              <a:buNone/>
            </a:pPr>
            <a:r>
              <a:rPr lang="en-US" sz="1500" dirty="0">
                <a:solidFill>
                  <a:srgbClr val="1B2B2B"/>
                </a:solidFill>
                <a:latin typeface="DM Sans" pitchFamily="34" charset="0"/>
                <a:ea typeface="DM Sans" pitchFamily="34" charset="-122"/>
                <a:cs typeface="DM Sans" pitchFamily="34" charset="-120"/>
              </a:rPr>
              <a:t>The client results shared in this presentation are real, but they are not typical and they are not a promise. Outcomes depend on your effort, your situation, your employer and your market, and no one can guarantee how another person or organization will respond. Nothing here is financial, legal or employment advice. </a:t>
            </a:r>
            <a:pPr algn="l" indent="0" marL="0">
              <a:lnSpc>
                <a:spcPct val="115000"/>
              </a:lnSpc>
              <a:buNone/>
            </a:pPr>
            <a:r>
              <a:rPr lang="en-US" sz="1500" b="1" dirty="0">
                <a:solidFill>
                  <a:srgbClr val="B85042"/>
                </a:solidFill>
                <a:latin typeface="DM Sans" pitchFamily="34" charset="0"/>
                <a:ea typeface="DM Sans" pitchFamily="34" charset="-122"/>
                <a:cs typeface="DM Sans" pitchFamily="34" charset="-120"/>
              </a:rPr>
              <a:t>[PLACEHOLDER: have compliance/legal review final disclaimer wording]</a:t>
            </a:r>
            <a:endParaRPr lang="en-US" sz="15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So who am I to talk about this?</a:t>
            </a:r>
            <a:endParaRPr lang="en-US" sz="30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8800" b="1" dirty="0">
                <a:solidFill>
                  <a:srgbClr val="1E4A4A"/>
                </a:solidFill>
                <a:latin typeface="Cormorant Garamond" pitchFamily="34" charset="0"/>
                <a:ea typeface="Cormorant Garamond" pitchFamily="34" charset="-122"/>
                <a:cs typeface="Cormorant Garamond" pitchFamily="34" charset="-120"/>
              </a:rPr>
              <a:t>26 years</a:t>
            </a:r>
            <a:endParaRPr lang="en-US" sz="88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negotiating high-stakes deals on Wall Street</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 early in her Wall Street career. An archival photo from her personal collection: trading floor, big hair era, suit and badge.</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2600" b="1" dirty="0">
                <a:solidFill>
                  <a:srgbClr val="1B2B2B"/>
                </a:solidFill>
                <a:latin typeface="Cormorant Garamond" pitchFamily="34" charset="0"/>
                <a:ea typeface="Cormorant Garamond" pitchFamily="34" charset="-122"/>
                <a:cs typeface="Cormorant Garamond" pitchFamily="34" charset="-120"/>
              </a:rPr>
              <a:t>Some of the world's leading investment banks</a:t>
            </a:r>
            <a:endParaRPr lang="en-US" sz="26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3300" b="1" dirty="0">
                <a:solidFill>
                  <a:srgbClr val="1E4A4A"/>
                </a:solidFill>
                <a:latin typeface="Cormorant Garamond" pitchFamily="34" charset="0"/>
                <a:ea typeface="Cormorant Garamond" pitchFamily="34" charset="-122"/>
                <a:cs typeface="Cormorant Garamond" pitchFamily="34" charset="-120"/>
              </a:rPr>
              <a:t>J.P. Morgan · Merrill Lynch / Bank of America · Deutsche Bank</a:t>
            </a:r>
            <a:endParaRPr lang="en-US" sz="33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Negotiating deals, leading global talent initiatives, advising senior executives</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Row of firm logos (J.P. Morgan, Merrill Lynch / Bank of America, Deutsche Bank). Confirm logo usage rights. Alternate: Tamara in front of a bank's HQ.</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2600" b="1" dirty="0">
                <a:solidFill>
                  <a:srgbClr val="1B2B2B"/>
                </a:solidFill>
                <a:latin typeface="Cormorant Garamond" pitchFamily="34" charset="0"/>
                <a:ea typeface="Cormorant Garamond" pitchFamily="34" charset="-122"/>
                <a:cs typeface="Cormorant Garamond" pitchFamily="34" charset="-120"/>
              </a:rPr>
              <a:t>By the end of my Wall Street career</a:t>
            </a:r>
            <a:endParaRPr lang="en-US" sz="26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8800" b="1" dirty="0">
                <a:solidFill>
                  <a:srgbClr val="1E4A4A"/>
                </a:solidFill>
                <a:latin typeface="Cormorant Garamond" pitchFamily="34" charset="0"/>
                <a:ea typeface="Cormorant Garamond" pitchFamily="34" charset="-122"/>
                <a:cs typeface="Cormorant Garamond" pitchFamily="34" charset="-120"/>
              </a:rPr>
              <a:t>#1</a:t>
            </a:r>
            <a:endParaRPr lang="en-US" sz="88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The highest-paid person in my U.S. division. </a:t>
            </a:r>
            <a:pPr algn="l" indent="0" marL="0">
              <a:lnSpc>
                <a:spcPct val="115000"/>
              </a:lnSpc>
              <a:buNone/>
            </a:pPr>
            <a:r>
              <a:rPr lang="en-US" sz="1900" dirty="0">
                <a:solidFill>
                  <a:srgbClr val="1B2B2B"/>
                </a:solidFill>
                <a:highlight>
                  <a:srgbClr val="CFE3CF"/>
                </a:highlight>
                <a:latin typeface="DM Sans" pitchFamily="34" charset="0"/>
                <a:ea typeface="DM Sans" pitchFamily="34" charset="-122"/>
                <a:cs typeface="DM Sans" pitchFamily="34" charset="-120"/>
              </a:rPr>
              <a:t>Man or woman.</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 in a corner office or at a leadership offsite, mid-conversation, confident posture.</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2600" b="1" dirty="0">
                <a:solidFill>
                  <a:srgbClr val="1B2B2B"/>
                </a:solidFill>
                <a:latin typeface="Cormorant Garamond" pitchFamily="34" charset="0"/>
                <a:ea typeface="Cormorant Garamond" pitchFamily="34" charset="-122"/>
                <a:cs typeface="Cormorant Garamond" pitchFamily="34" charset="-120"/>
              </a:rPr>
              <a:t>I wrote the book on it. Literally.</a:t>
            </a:r>
            <a:endParaRPr lang="en-US" sz="26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4400" b="1" dirty="0">
                <a:solidFill>
                  <a:srgbClr val="1E4A4A"/>
                </a:solidFill>
                <a:latin typeface="Cormorant Garamond" pitchFamily="34" charset="0"/>
                <a:ea typeface="Cormorant Garamond" pitchFamily="34" charset="-122"/>
                <a:cs typeface="Cormorant Garamond" pitchFamily="34" charset="-120"/>
              </a:rPr>
              <a:t>Lose the Gum</a:t>
            </a:r>
            <a:endParaRPr lang="en-US" sz="44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A Survival Guide for Women on Wall Street, Main Street and Every Street in Between</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Book cover of Lose the Gum, shot on a desk or held by Tamara.</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2600" b="1" dirty="0">
                <a:solidFill>
                  <a:srgbClr val="1B2B2B"/>
                </a:solidFill>
                <a:latin typeface="Cormorant Garamond" pitchFamily="34" charset="0"/>
                <a:ea typeface="Cormorant Garamond" pitchFamily="34" charset="-122"/>
                <a:cs typeface="Cormorant Garamond" pitchFamily="34" charset="-120"/>
              </a:rPr>
              <a:t>Recognized for advancing women in finance</a:t>
            </a:r>
            <a:endParaRPr lang="en-US" sz="26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4400" b="1" dirty="0">
                <a:solidFill>
                  <a:srgbClr val="1E4A4A"/>
                </a:solidFill>
                <a:latin typeface="Cormorant Garamond" pitchFamily="34" charset="0"/>
                <a:ea typeface="Cormorant Garamond" pitchFamily="34" charset="-122"/>
                <a:cs typeface="Cormorant Garamond" pitchFamily="34" charset="-120"/>
              </a:rPr>
              <a:t>Women of Wall Street Award</a:t>
            </a:r>
            <a:endParaRPr lang="en-US" sz="44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Plus a Special Congressional Recognition for contributions to the banking, finance and investment communities</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 receiving the Women of Wall Street Award, or the award and the congressional recognition framed on a wall.</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Split image: left half Tamara in a suit on Wall Street, right half Tamara barefoot on a beach in Costa Rica. Two chapters, one woman.</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I learned negotiation across a real desk, with </a:t>
            </a:r>
            <a:pPr algn="l" indent="0" marL="0">
              <a:lnSpc>
                <a:spcPct val="95000"/>
              </a:lnSpc>
              <a:buNone/>
            </a:pPr>
            <a:r>
              <a:rPr lang="en-US" sz="3000" b="1" dirty="0">
                <a:solidFill>
                  <a:srgbClr val="1B2B2B"/>
                </a:solidFill>
                <a:highlight>
                  <a:srgbClr val="CFE3CF"/>
                </a:highlight>
                <a:latin typeface="Cormorant Garamond" pitchFamily="34" charset="0"/>
                <a:ea typeface="Cormorant Garamond" pitchFamily="34" charset="-122"/>
                <a:cs typeface="Cormorant Garamond" pitchFamily="34" charset="-120"/>
              </a:rPr>
              <a:t>real money on the line.</a:t>
            </a:r>
            <a:endParaRPr lang="en-US" sz="30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Then I spent five years learning the part nobody on Wall Street teaches.</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Childhood photo of Tamara from her family album. Ordinary suburban house, 1970s/80s snapshot feel.</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I grew up in a house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with no savings.</a:t>
            </a:r>
            <a:endParaRPr lang="en-US" sz="34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We weren't poor, but there was no money in the bank. My parents carried heaps of credit card debt, and some months the electricity got turned off.</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Tamara's college graduation photo, cap and gown. Or a photo of Tamara with her mother, if she's comfortable sharing it.</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At 18, I lost my mother.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Then my father declared bankruptcy.</a:t>
            </a:r>
            <a:endParaRPr lang="en-US" sz="34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I paid for college on my own and graduated with more than $50,000 in student loans, well over $100,000 in today's dollars.</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Grocery store checkout lane, paper bags, 1990s feel. Could be a stylized stock shot or a recreation.</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Two Wall Street internships, then a recession. </a:t>
            </a:r>
            <a:pPr algn="l" indent="0" marL="0">
              <a:lnSpc>
                <a:spcPct val="95000"/>
              </a:lnSpc>
              <a:buNone/>
            </a:pPr>
            <a:r>
              <a:rPr lang="en-US" sz="3000" b="1" dirty="0">
                <a:solidFill>
                  <a:srgbClr val="1B2B2B"/>
                </a:solidFill>
                <a:highlight>
                  <a:srgbClr val="CFE3CF"/>
                </a:highlight>
                <a:latin typeface="Cormorant Garamond" pitchFamily="34" charset="0"/>
                <a:ea typeface="Cormorant Garamond" pitchFamily="34" charset="-122"/>
                <a:cs typeface="Cormorant Garamond" pitchFamily="34" charset="-120"/>
              </a:rPr>
              <a:t>So I bagged groceries.</a:t>
            </a:r>
            <a:endParaRPr lang="en-US" sz="30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I paid my bills at my local Acme and learned humility, along with a lot of other lessons. Then I sent hundreds of résumés to the one firm I wanted: J.P. Morgan.</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Moody, quiet shot: a woman sitting on the edge of a bed in work clothes, heels kicked off, head in her hands. Soft window light.</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I made my mark.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And I was underpaid.</a:t>
            </a:r>
            <a:endParaRPr lang="en-US" sz="34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I came home exhausted after weeks of long hours and broke down in tears in my aunt's bedroom.</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31520" y="1097280"/>
            <a:ext cx="3474720" cy="4663440"/>
          </a:xfrm>
          <a:prstGeom prst="roundRect">
            <a:avLst>
              <a:gd name="adj" fmla="val 3158"/>
            </a:avLst>
          </a:prstGeom>
          <a:solidFill>
            <a:srgbClr val="E1F5EE"/>
          </a:solidFill>
          <a:ln w="15875">
            <a:solidFill>
              <a:srgbClr val="8AAF8A"/>
            </a:solidFill>
            <a:prstDash val="dash"/>
          </a:ln>
        </p:spPr>
      </p:sp>
      <p:sp>
        <p:nvSpPr>
          <p:cNvPr id="3" name="Text 1"/>
          <p:cNvSpPr txBox="1"/>
          <p:nvPr/>
        </p:nvSpPr>
        <p:spPr>
          <a:xfrm>
            <a:off x="1009498" y="1375258"/>
            <a:ext cx="291876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1009498" y="1786738"/>
            <a:ext cx="2918765" cy="2377440"/>
          </a:xfrm>
          <a:prstGeom prst="rect">
            <a:avLst/>
          </a:prstGeom>
          <a:noFill/>
          <a:ln/>
        </p:spPr>
        <p:txBody>
          <a:bodyPr wrap="square" lIns="0" tIns="0" rIns="0" bIns="0" rtlCol="0" anchor="t">
            <a:normAutofit/>
          </a:bodyPr>
          <a:lstStyle/>
          <a:p>
            <a:pPr algn="l" indent="0" marL="0">
              <a:lnSpc>
                <a:spcPct val="110000"/>
              </a:lnSpc>
              <a:buNone/>
            </a:pPr>
            <a:r>
              <a:rPr lang="en-US" sz="1100" i="1" dirty="0">
                <a:solidFill>
                  <a:srgbClr val="5E6B68"/>
                </a:solidFill>
                <a:latin typeface="DM Sans" pitchFamily="34" charset="0"/>
                <a:ea typeface="DM Sans" pitchFamily="34" charset="-122"/>
                <a:cs typeface="DM Sans" pitchFamily="34" charset="-120"/>
              </a:rPr>
              <a:t>Photo of Tamara's aunt, or Tamara and her aunt together.</a:t>
            </a:r>
            <a:endParaRPr lang="en-US" sz="1100" dirty="0"/>
          </a:p>
        </p:txBody>
      </p:sp>
      <p:sp>
        <p:nvSpPr>
          <p:cNvPr id="5" name="Text 3"/>
          <p:cNvSpPr txBox="1"/>
          <p:nvPr/>
        </p:nvSpPr>
        <p:spPr>
          <a:xfrm>
            <a:off x="4663440" y="548640"/>
            <a:ext cx="1097280" cy="1097280"/>
          </a:xfrm>
          <a:prstGeom prst="rect">
            <a:avLst/>
          </a:prstGeom>
          <a:noFill/>
          <a:ln/>
        </p:spPr>
        <p:txBody>
          <a:bodyPr wrap="square" lIns="0" tIns="0" rIns="0" bIns="0" rtlCol="0" anchor="t">
            <a:normAutofit/>
          </a:bodyPr>
          <a:lstStyle/>
          <a:p>
            <a:pPr algn="l" indent="0" marL="0">
              <a:lnSpc>
                <a:spcPct val="100000"/>
              </a:lnSpc>
              <a:buNone/>
            </a:pPr>
            <a:r>
              <a:rPr lang="en-US" sz="11000" b="1" dirty="0">
                <a:solidFill>
                  <a:srgbClr val="8AAF8A"/>
                </a:solidFill>
                <a:latin typeface="Cormorant Garamond" pitchFamily="34" charset="0"/>
                <a:ea typeface="Cormorant Garamond" pitchFamily="34" charset="-122"/>
                <a:cs typeface="Cormorant Garamond" pitchFamily="34" charset="-120"/>
              </a:rPr>
              <a:t>“</a:t>
            </a:r>
            <a:endParaRPr lang="en-US" sz="11000" dirty="0"/>
          </a:p>
        </p:txBody>
      </p:sp>
      <p:sp>
        <p:nvSpPr>
          <p:cNvPr id="6" name="Text 4"/>
          <p:cNvSpPr txBox="1"/>
          <p:nvPr/>
        </p:nvSpPr>
        <p:spPr>
          <a:xfrm>
            <a:off x="4754880" y="1554480"/>
            <a:ext cx="6766560" cy="3017520"/>
          </a:xfrm>
          <a:prstGeom prst="rect">
            <a:avLst/>
          </a:prstGeom>
          <a:noFill/>
          <a:ln/>
        </p:spPr>
        <p:txBody>
          <a:bodyPr wrap="square" lIns="0" tIns="0" rIns="0" bIns="0" rtlCol="0" anchor="ctr">
            <a:normAutofit/>
          </a:bodyPr>
          <a:lstStyle/>
          <a:p>
            <a:pPr algn="l" indent="0" marL="0">
              <a:lnSpc>
                <a:spcPct val="105000"/>
              </a:lnSpc>
              <a:buNone/>
            </a:pPr>
            <a:r>
              <a:rPr lang="en-US" sz="2300" b="1" i="1" dirty="0">
                <a:solidFill>
                  <a:srgbClr val="1E4A4A"/>
                </a:solidFill>
                <a:latin typeface="Cormorant Garamond" pitchFamily="34" charset="0"/>
                <a:ea typeface="Cormorant Garamond" pitchFamily="34" charset="-122"/>
                <a:cs typeface="Cormorant Garamond" pitchFamily="34" charset="-120"/>
              </a:rPr>
              <a:t>Men do it all the time, and they do it behind closed doors. If you want to play with the big boys, you'd better learn to </a:t>
            </a:r>
            <a:pPr algn="l" indent="0" marL="0">
              <a:lnSpc>
                <a:spcPct val="105000"/>
              </a:lnSpc>
              <a:buNone/>
            </a:pPr>
            <a:r>
              <a:rPr lang="en-US" sz="2300" b="1" i="1" dirty="0">
                <a:solidFill>
                  <a:srgbClr val="1E4A4A"/>
                </a:solidFill>
                <a:highlight>
                  <a:srgbClr val="CFE3CF"/>
                </a:highlight>
                <a:latin typeface="Cormorant Garamond" pitchFamily="34" charset="0"/>
                <a:ea typeface="Cormorant Garamond" pitchFamily="34" charset="-122"/>
                <a:cs typeface="Cormorant Garamond" pitchFamily="34" charset="-120"/>
              </a:rPr>
              <a:t>ask for what you want.</a:t>
            </a:r>
            <a:endParaRPr lang="en-US" sz="2300" dirty="0"/>
          </a:p>
        </p:txBody>
      </p:sp>
      <p:sp>
        <p:nvSpPr>
          <p:cNvPr id="7" name="Text 5"/>
          <p:cNvSpPr txBox="1"/>
          <p:nvPr/>
        </p:nvSpPr>
        <p:spPr>
          <a:xfrm>
            <a:off x="4754880" y="4754880"/>
            <a:ext cx="6583680" cy="1188720"/>
          </a:xfrm>
          <a:prstGeom prst="rect">
            <a:avLst/>
          </a:prstGeom>
          <a:noFill/>
          <a:ln/>
        </p:spPr>
        <p:txBody>
          <a:bodyPr wrap="square" lIns="0" tIns="0" rIns="0" bIns="0" rtlCol="0" anchor="t">
            <a:normAutofit/>
          </a:bodyPr>
          <a:lstStyle/>
          <a:p>
            <a:pPr algn="l" indent="0" marL="0">
              <a:lnSpc>
                <a:spcPct val="110000"/>
              </a:lnSpc>
              <a:buNone/>
            </a:pPr>
            <a:r>
              <a:rPr lang="en-US" sz="1500" dirty="0">
                <a:solidFill>
                  <a:srgbClr val="5E6B68"/>
                </a:solidFill>
                <a:latin typeface="DM Sans" pitchFamily="34" charset="0"/>
                <a:ea typeface="DM Sans" pitchFamily="34" charset="-122"/>
                <a:cs typeface="DM Sans" pitchFamily="34" charset="-120"/>
              </a:rPr>
              <a:t>My aunt, after I told her "we don't do that"</a:t>
            </a:r>
            <a:endParaRPr lang="en-US" sz="15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A woman across a desk from her male boss, shoulders slightly hunched, papers clutched in her lap. 1990s office.</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My first negotiation was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a disaster.</a:t>
            </a:r>
            <a:endParaRPr lang="en-US" sz="34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I was nervous, unprepared, and asked for too little. I got the raise and damaged my credibility in the same meeting. I showed up like a rookie.</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 carrying a box of desk belongings out of an office tower, sunglasses on, chin up. A little wry, a little defiant.</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Twenty-six years later I was at the top.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Then I got fired.</a:t>
            </a:r>
            <a:endParaRPr lang="en-US" sz="34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Two days before my boss retired. A typical Wall Street F.U.</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B5C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B5C5C"/>
          </a:solidFill>
          <a:ln w="15875">
            <a:solidFill>
              <a:srgbClr val="8AAF8A"/>
            </a:solidFill>
            <a:prstDash val="dash"/>
          </a:ln>
        </p:spPr>
      </p:sp>
      <p:sp>
        <p:nvSpPr>
          <p:cNvPr id="3" name="Text 1"/>
          <p:cNvSpPr txBox="1"/>
          <p:nvPr/>
        </p:nvSpPr>
        <p:spPr>
          <a:xfrm>
            <a:off x="320040" y="320040"/>
            <a:ext cx="1155161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1155161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Tamara in Costa Rica or India. Jungle, ocean, or temple setting. Casual clothes, no makeup, genuinely at ease.</a:t>
            </a:r>
            <a:endParaRPr lang="en-US" sz="1200" dirty="0"/>
          </a:p>
        </p:txBody>
      </p:sp>
      <p:sp>
        <p:nvSpPr>
          <p:cNvPr id="5" name="Shape 3"/>
          <p:cNvSpPr/>
          <p:nvPr/>
        </p:nvSpPr>
        <p:spPr>
          <a:xfrm>
            <a:off x="548640" y="3566160"/>
            <a:ext cx="7132320" cy="2743200"/>
          </a:xfrm>
          <a:prstGeom prst="roundRect">
            <a:avLst>
              <a:gd name="adj" fmla="val 3333"/>
            </a:avLst>
          </a:prstGeom>
          <a:solidFill>
            <a:srgbClr val="1E4A4A">
              <a:alpha val="96000"/>
            </a:srgbClr>
          </a:solidFill>
          <a:ln w="12700">
            <a:solidFill>
              <a:srgbClr val="1E4A4A"/>
            </a:solidFill>
            <a:prstDash val="solid"/>
          </a:ln>
        </p:spPr>
      </p:sp>
      <p:sp>
        <p:nvSpPr>
          <p:cNvPr id="6" name="Text 4"/>
          <p:cNvSpPr txBox="1"/>
          <p:nvPr/>
        </p:nvSpPr>
        <p:spPr>
          <a:xfrm>
            <a:off x="868680" y="3749040"/>
            <a:ext cx="6492240" cy="1463040"/>
          </a:xfrm>
          <a:prstGeom prst="rect">
            <a:avLst/>
          </a:prstGeom>
          <a:noFill/>
          <a:ln/>
        </p:spPr>
        <p:txBody>
          <a:bodyPr wrap="square" lIns="0" tIns="0" rIns="0" bIns="0" rtlCol="0" anchor="b">
            <a:normAutofit/>
          </a:bodyPr>
          <a:lstStyle/>
          <a:p>
            <a:pPr algn="l" indent="0" marL="0">
              <a:lnSpc>
                <a:spcPct val="95000"/>
              </a:lnSpc>
              <a:buNone/>
            </a:pPr>
            <a:r>
              <a:rPr lang="en-US" sz="3100" b="1" dirty="0">
                <a:solidFill>
                  <a:srgbClr val="FFFFFF"/>
                </a:solidFill>
                <a:latin typeface="Cormorant Garamond" pitchFamily="34" charset="0"/>
                <a:ea typeface="Cormorant Garamond" pitchFamily="34" charset="-122"/>
                <a:cs typeface="Cormorant Garamond" pitchFamily="34" charset="-120"/>
              </a:rPr>
              <a:t>Five years in Costa Rica and India, </a:t>
            </a:r>
            <a:pPr algn="l" indent="0" marL="0">
              <a:lnSpc>
                <a:spcPct val="95000"/>
              </a:lnSpc>
              <a:buNone/>
            </a:pPr>
            <a:r>
              <a:rPr lang="en-US" sz="3100" b="1" dirty="0">
                <a:solidFill>
                  <a:srgbClr val="B7D3B7"/>
                </a:solidFill>
                <a:latin typeface="Cormorant Garamond" pitchFamily="34" charset="0"/>
                <a:ea typeface="Cormorant Garamond" pitchFamily="34" charset="-122"/>
                <a:cs typeface="Cormorant Garamond" pitchFamily="34" charset="-120"/>
              </a:rPr>
              <a:t>with no titles.</a:t>
            </a:r>
            <a:endParaRPr lang="en-US" sz="3100" dirty="0"/>
          </a:p>
        </p:txBody>
      </p:sp>
      <p:sp>
        <p:nvSpPr>
          <p:cNvPr id="7" name="Text 5"/>
          <p:cNvSpPr txBox="1"/>
          <p:nvPr/>
        </p:nvSpPr>
        <p:spPr>
          <a:xfrm>
            <a:off x="868680" y="5303520"/>
            <a:ext cx="6492240" cy="914400"/>
          </a:xfrm>
          <a:prstGeom prst="rect">
            <a:avLst/>
          </a:prstGeom>
          <a:noFill/>
          <a:ln/>
        </p:spPr>
        <p:txBody>
          <a:bodyPr wrap="square" lIns="0" tIns="0" rIns="0" bIns="0" rtlCol="0" anchor="t">
            <a:normAutofit/>
          </a:bodyPr>
          <a:lstStyle/>
          <a:p>
            <a:pPr algn="l" indent="0" marL="0">
              <a:lnSpc>
                <a:spcPct val="115000"/>
              </a:lnSpc>
              <a:buNone/>
            </a:pPr>
            <a:r>
              <a:rPr lang="en-US" sz="1600" dirty="0">
                <a:solidFill>
                  <a:srgbClr val="E1F5EE"/>
                </a:solidFill>
                <a:latin typeface="DM Sans" pitchFamily="34" charset="0"/>
                <a:ea typeface="DM Sans" pitchFamily="34" charset="-122"/>
                <a:cs typeface="DM Sans" pitchFamily="34" charset="-120"/>
              </a:rPr>
              <a:t>I had lost the identity I'd spent decades building. So I went looking for the woman underneath it.</a:t>
            </a:r>
            <a:endParaRPr lang="en-US" sz="1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1097280" y="1097280"/>
            <a:ext cx="9997135" cy="2926080"/>
          </a:xfrm>
          <a:prstGeom prst="rect">
            <a:avLst/>
          </a:prstGeom>
          <a:noFill/>
          <a:ln/>
        </p:spPr>
        <p:txBody>
          <a:bodyPr wrap="square" lIns="0" tIns="0" rIns="0" bIns="0" rtlCol="0" anchor="b">
            <a:normAutofit/>
          </a:bodyPr>
          <a:lstStyle/>
          <a:p>
            <a:pPr algn="ctr" indent="0" marL="0">
              <a:lnSpc>
                <a:spcPct val="95000"/>
              </a:lnSpc>
              <a:buNone/>
            </a:pPr>
            <a:r>
              <a:rPr lang="en-US" sz="3600" b="1" dirty="0">
                <a:solidFill>
                  <a:srgbClr val="FFFFFF"/>
                </a:solidFill>
                <a:latin typeface="Cormorant Garamond" pitchFamily="34" charset="0"/>
                <a:ea typeface="Cormorant Garamond" pitchFamily="34" charset="-122"/>
                <a:cs typeface="Cormorant Garamond" pitchFamily="34" charset="-120"/>
              </a:rPr>
              <a:t>Your greatest asset isn't in your portfolio. </a:t>
            </a:r>
            <a:pPr algn="ctr" indent="0" marL="0">
              <a:lnSpc>
                <a:spcPct val="95000"/>
              </a:lnSpc>
              <a:buNone/>
            </a:pPr>
            <a:r>
              <a:rPr lang="en-US" sz="3600" b="1" dirty="0">
                <a:solidFill>
                  <a:srgbClr val="B7D3B7"/>
                </a:solidFill>
                <a:latin typeface="Cormorant Garamond" pitchFamily="34" charset="0"/>
                <a:ea typeface="Cormorant Garamond" pitchFamily="34" charset="-122"/>
                <a:cs typeface="Cormorant Garamond" pitchFamily="34" charset="-120"/>
              </a:rPr>
              <a:t>It's in the mirror.</a:t>
            </a:r>
            <a:endParaRPr lang="en-US" sz="3600" dirty="0"/>
          </a:p>
        </p:txBody>
      </p:sp>
      <p:sp>
        <p:nvSpPr>
          <p:cNvPr id="3" name="Text 1"/>
          <p:cNvSpPr txBox="1"/>
          <p:nvPr/>
        </p:nvSpPr>
        <p:spPr>
          <a:xfrm>
            <a:off x="1645920" y="4297680"/>
            <a:ext cx="8899855" cy="146304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Success without fulfillment is failure. And your life will rarely exceed the identity you've accepted for yourself.</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working late alone in an open-plan office, everyone else's desk empty, desk lamp on. Shot from a distance.</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"I'll just keep working hard and </a:t>
            </a:r>
            <a:pPr algn="l" indent="0" marL="0">
              <a:lnSpc>
                <a:spcPct val="95000"/>
              </a:lnSpc>
              <a:buNone/>
            </a:pPr>
            <a:r>
              <a:rPr lang="en-US" sz="3000" b="1" dirty="0">
                <a:solidFill>
                  <a:srgbClr val="1B2B2B"/>
                </a:solidFill>
                <a:highlight>
                  <a:srgbClr val="CFE3CF"/>
                </a:highlight>
                <a:latin typeface="Cormorant Garamond" pitchFamily="34" charset="0"/>
                <a:ea typeface="Cormorant Garamond" pitchFamily="34" charset="-122"/>
                <a:cs typeface="Cormorant Garamond" pitchFamily="34" charset="-120"/>
              </a:rPr>
              <a:t>my work will speak for itself.</a:t>
            </a:r>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a:t>
            </a:r>
            <a:endParaRPr lang="en-US" sz="30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Most of us were raised on this plan. Keep your head down, deliver, wait for the annual review, and hope your boss notices.</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914400"/>
          </a:xfrm>
          <a:prstGeom prst="rect">
            <a:avLst/>
          </a:prstGeom>
          <a:noFill/>
          <a:ln/>
        </p:spPr>
        <p:txBody>
          <a:bodyPr wrap="square" lIns="0" tIns="0" rIns="0" bIns="0" rtlCol="0" anchor="b">
            <a:normAutofit/>
          </a:bodyPr>
          <a:lstStyle/>
          <a:p>
            <a:pPr algn="l" indent="0" marL="0">
              <a:lnSpc>
                <a:spcPct val="95000"/>
              </a:lnSpc>
              <a:buNone/>
            </a:pPr>
            <a:r>
              <a:rPr lang="en-US" sz="3600" b="1" dirty="0">
                <a:solidFill>
                  <a:srgbClr val="1B2B2B"/>
                </a:solidFill>
                <a:latin typeface="Cormorant Garamond" pitchFamily="34" charset="0"/>
                <a:ea typeface="Cormorant Garamond" pitchFamily="34" charset="-122"/>
                <a:cs typeface="Cormorant Garamond" pitchFamily="34" charset="-120"/>
              </a:rPr>
              <a:t>The misdiagnosis</a:t>
            </a:r>
            <a:endParaRPr lang="en-US" sz="3600" dirty="0"/>
          </a:p>
        </p:txBody>
      </p:sp>
      <p:sp>
        <p:nvSpPr>
          <p:cNvPr id="3" name="Shape 1"/>
          <p:cNvSpPr/>
          <p:nvPr/>
        </p:nvSpPr>
        <p:spPr>
          <a:xfrm>
            <a:off x="640080" y="1737360"/>
            <a:ext cx="5303520" cy="4480560"/>
          </a:xfrm>
          <a:prstGeom prst="roundRect">
            <a:avLst>
              <a:gd name="adj" fmla="val 2449"/>
            </a:avLst>
          </a:prstGeom>
          <a:solidFill>
            <a:srgbClr val="EFEAE2"/>
          </a:solidFill>
          <a:ln w="12700">
            <a:solidFill>
              <a:srgbClr val="EFEAE2"/>
            </a:solidFill>
            <a:prstDash val="solid"/>
          </a:ln>
        </p:spPr>
      </p:sp>
      <p:sp>
        <p:nvSpPr>
          <p:cNvPr id="4" name="Text 2"/>
          <p:cNvSpPr txBox="1"/>
          <p:nvPr/>
        </p:nvSpPr>
        <p:spPr>
          <a:xfrm>
            <a:off x="1005840" y="2103120"/>
            <a:ext cx="4572000" cy="365760"/>
          </a:xfrm>
          <a:prstGeom prst="rect">
            <a:avLst/>
          </a:prstGeom>
          <a:noFill/>
          <a:ln/>
        </p:spPr>
        <p:txBody>
          <a:bodyPr wrap="square" lIns="0" tIns="0" rIns="0" bIns="0" rtlCol="0" anchor="t">
            <a:normAutofit/>
          </a:bodyPr>
          <a:lstStyle/>
          <a:p>
            <a:pPr algn="l" indent="0" marL="0">
              <a:lnSpc>
                <a:spcPct val="100000"/>
              </a:lnSpc>
              <a:buNone/>
            </a:pPr>
            <a:r>
              <a:rPr lang="en-US" sz="1300" b="1" spc="200" kern="0" dirty="0">
                <a:solidFill>
                  <a:srgbClr val="5E6B68"/>
                </a:solidFill>
                <a:latin typeface="DM Sans" pitchFamily="34" charset="0"/>
                <a:ea typeface="DM Sans" pitchFamily="34" charset="-122"/>
                <a:cs typeface="DM Sans" pitchFamily="34" charset="-120"/>
              </a:rPr>
              <a:t>WHAT MOST WOMEN THINK</a:t>
            </a:r>
            <a:endParaRPr lang="en-US" sz="1300" dirty="0"/>
          </a:p>
        </p:txBody>
      </p:sp>
      <p:sp>
        <p:nvSpPr>
          <p:cNvPr id="5" name="Text 3"/>
          <p:cNvSpPr txBox="1"/>
          <p:nvPr/>
        </p:nvSpPr>
        <p:spPr>
          <a:xfrm>
            <a:off x="1005840" y="2651760"/>
            <a:ext cx="4572000" cy="3200400"/>
          </a:xfrm>
          <a:prstGeom prst="rect">
            <a:avLst/>
          </a:prstGeom>
          <a:noFill/>
          <a:ln/>
        </p:spPr>
        <p:txBody>
          <a:bodyPr wrap="square" lIns="0" tIns="0" rIns="0" bIns="0" rtlCol="0" anchor="ctr">
            <a:normAutofit/>
          </a:bodyPr>
          <a:lstStyle/>
          <a:p>
            <a:pPr algn="l" indent="0" marL="0">
              <a:lnSpc>
                <a:spcPct val="105000"/>
              </a:lnSpc>
              <a:buNone/>
            </a:pPr>
            <a:r>
              <a:rPr lang="en-US" sz="2200" b="1" dirty="0">
                <a:solidFill>
                  <a:srgbClr val="1B2B2B"/>
                </a:solidFill>
                <a:latin typeface="Cormorant Garamond" pitchFamily="34" charset="0"/>
                <a:ea typeface="Cormorant Garamond" pitchFamily="34" charset="-122"/>
                <a:cs typeface="Cormorant Garamond" pitchFamily="34" charset="-120"/>
              </a:rPr>
              <a:t>"I have a negotiation problem. I need better tactics, a sharper strategy and the right words."</a:t>
            </a:r>
            <a:endParaRPr lang="en-US" sz="2200" dirty="0"/>
          </a:p>
        </p:txBody>
      </p:sp>
      <p:sp>
        <p:nvSpPr>
          <p:cNvPr id="6" name="Shape 4"/>
          <p:cNvSpPr/>
          <p:nvPr/>
        </p:nvSpPr>
        <p:spPr>
          <a:xfrm>
            <a:off x="6263640" y="1737360"/>
            <a:ext cx="5303520" cy="4480560"/>
          </a:xfrm>
          <a:prstGeom prst="roundRect">
            <a:avLst>
              <a:gd name="adj" fmla="val 2449"/>
            </a:avLst>
          </a:prstGeom>
          <a:solidFill>
            <a:srgbClr val="1E4A4A"/>
          </a:solidFill>
          <a:ln w="12700">
            <a:solidFill>
              <a:srgbClr val="1E4A4A"/>
            </a:solidFill>
            <a:prstDash val="solid"/>
          </a:ln>
        </p:spPr>
      </p:sp>
      <p:sp>
        <p:nvSpPr>
          <p:cNvPr id="7" name="Text 5"/>
          <p:cNvSpPr txBox="1"/>
          <p:nvPr/>
        </p:nvSpPr>
        <p:spPr>
          <a:xfrm>
            <a:off x="6629400" y="2103120"/>
            <a:ext cx="4572000" cy="365760"/>
          </a:xfrm>
          <a:prstGeom prst="rect">
            <a:avLst/>
          </a:prstGeom>
          <a:noFill/>
          <a:ln/>
        </p:spPr>
        <p:txBody>
          <a:bodyPr wrap="square" lIns="0" tIns="0" rIns="0" bIns="0" rtlCol="0" anchor="t">
            <a:normAutofit/>
          </a:bodyPr>
          <a:lstStyle/>
          <a:p>
            <a:pPr algn="l" indent="0" marL="0">
              <a:lnSpc>
                <a:spcPct val="100000"/>
              </a:lnSpc>
              <a:buNone/>
            </a:pPr>
            <a:r>
              <a:rPr lang="en-US" sz="1300" b="1" spc="200" kern="0" dirty="0">
                <a:solidFill>
                  <a:srgbClr val="B7D3B7"/>
                </a:solidFill>
                <a:latin typeface="DM Sans" pitchFamily="34" charset="0"/>
                <a:ea typeface="DM Sans" pitchFamily="34" charset="-122"/>
                <a:cs typeface="DM Sans" pitchFamily="34" charset="-120"/>
              </a:rPr>
              <a:t>WHAT'S ACTUALLY GOING ON</a:t>
            </a:r>
            <a:endParaRPr lang="en-US" sz="1300" dirty="0"/>
          </a:p>
        </p:txBody>
      </p:sp>
      <p:sp>
        <p:nvSpPr>
          <p:cNvPr id="8" name="Text 6"/>
          <p:cNvSpPr txBox="1"/>
          <p:nvPr/>
        </p:nvSpPr>
        <p:spPr>
          <a:xfrm>
            <a:off x="6629400" y="2651760"/>
            <a:ext cx="4572000" cy="3200400"/>
          </a:xfrm>
          <a:prstGeom prst="rect">
            <a:avLst/>
          </a:prstGeom>
          <a:noFill/>
          <a:ln/>
        </p:spPr>
        <p:txBody>
          <a:bodyPr wrap="square" lIns="0" tIns="0" rIns="0" bIns="0" rtlCol="0" anchor="ctr">
            <a:normAutofit/>
          </a:bodyPr>
          <a:lstStyle/>
          <a:p>
            <a:pPr algn="l" indent="0" marL="0">
              <a:lnSpc>
                <a:spcPct val="105000"/>
              </a:lnSpc>
              <a:buNone/>
            </a:pPr>
            <a:r>
              <a:rPr lang="en-US" sz="1900" b="1" dirty="0">
                <a:solidFill>
                  <a:srgbClr val="FFFFFF"/>
                </a:solidFill>
                <a:latin typeface="Cormorant Garamond" pitchFamily="34" charset="0"/>
                <a:ea typeface="Cormorant Garamond" pitchFamily="34" charset="-122"/>
                <a:cs typeface="Cormorant Garamond" pitchFamily="34" charset="-120"/>
              </a:rPr>
              <a:t>Your capability has outgrown the identity you've accepted. A better script can't close that gap.</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914400"/>
          </a:xfrm>
          <a:prstGeom prst="rect">
            <a:avLst/>
          </a:prstGeom>
          <a:noFill/>
          <a:ln/>
        </p:spPr>
        <p:txBody>
          <a:bodyPr wrap="square" lIns="0" tIns="0" rIns="0" bIns="0" rtlCol="0" anchor="b">
            <a:normAutofit/>
          </a:bodyPr>
          <a:lstStyle/>
          <a:p>
            <a:pPr algn="l" indent="0" marL="0">
              <a:lnSpc>
                <a:spcPct val="95000"/>
              </a:lnSpc>
              <a:buNone/>
            </a:pPr>
            <a:r>
              <a:rPr lang="en-US" sz="3600" b="1" dirty="0">
                <a:solidFill>
                  <a:srgbClr val="1B2B2B"/>
                </a:solidFill>
                <a:latin typeface="Cormorant Garamond" pitchFamily="34" charset="0"/>
                <a:ea typeface="Cormorant Garamond" pitchFamily="34" charset="-122"/>
                <a:cs typeface="Cormorant Garamond" pitchFamily="34" charset="-120"/>
              </a:rPr>
              <a:t>The old way vs. </a:t>
            </a:r>
            <a:pPr algn="l" indent="0" marL="0">
              <a:lnSpc>
                <a:spcPct val="95000"/>
              </a:lnSpc>
              <a:buNone/>
            </a:pPr>
            <a:r>
              <a:rPr lang="en-US" sz="3600" b="1" dirty="0">
                <a:solidFill>
                  <a:srgbClr val="1B2B2B"/>
                </a:solidFill>
                <a:highlight>
                  <a:srgbClr val="CFE3CF"/>
                </a:highlight>
                <a:latin typeface="Cormorant Garamond" pitchFamily="34" charset="0"/>
                <a:ea typeface="Cormorant Garamond" pitchFamily="34" charset="-122"/>
                <a:cs typeface="Cormorant Garamond" pitchFamily="34" charset="-120"/>
              </a:rPr>
              <a:t>the new way</a:t>
            </a:r>
            <a:endParaRPr lang="en-US" sz="3600" dirty="0"/>
          </a:p>
        </p:txBody>
      </p:sp>
      <p:sp>
        <p:nvSpPr>
          <p:cNvPr id="3" name="Shape 1"/>
          <p:cNvSpPr/>
          <p:nvPr/>
        </p:nvSpPr>
        <p:spPr>
          <a:xfrm>
            <a:off x="640080" y="1737360"/>
            <a:ext cx="3794760" cy="4480560"/>
          </a:xfrm>
          <a:prstGeom prst="roundRect">
            <a:avLst>
              <a:gd name="adj" fmla="val 2892"/>
            </a:avLst>
          </a:prstGeom>
          <a:solidFill>
            <a:srgbClr val="EFEAE2"/>
          </a:solidFill>
          <a:ln w="12700">
            <a:solidFill>
              <a:srgbClr val="EFEAE2"/>
            </a:solidFill>
            <a:prstDash val="solid"/>
          </a:ln>
        </p:spPr>
      </p:sp>
      <p:sp>
        <p:nvSpPr>
          <p:cNvPr id="4" name="Text 2"/>
          <p:cNvSpPr txBox="1"/>
          <p:nvPr/>
        </p:nvSpPr>
        <p:spPr>
          <a:xfrm>
            <a:off x="1005840" y="2103120"/>
            <a:ext cx="3063240" cy="365760"/>
          </a:xfrm>
          <a:prstGeom prst="rect">
            <a:avLst/>
          </a:prstGeom>
          <a:noFill/>
          <a:ln/>
        </p:spPr>
        <p:txBody>
          <a:bodyPr wrap="square" lIns="0" tIns="0" rIns="0" bIns="0" rtlCol="0" anchor="t">
            <a:normAutofit/>
          </a:bodyPr>
          <a:lstStyle/>
          <a:p>
            <a:pPr algn="l" indent="0" marL="0">
              <a:lnSpc>
                <a:spcPct val="100000"/>
              </a:lnSpc>
              <a:buNone/>
            </a:pPr>
            <a:r>
              <a:rPr lang="en-US" sz="1300" b="1" spc="200" kern="0" dirty="0">
                <a:solidFill>
                  <a:srgbClr val="5E6B68"/>
                </a:solidFill>
                <a:latin typeface="DM Sans" pitchFamily="34" charset="0"/>
                <a:ea typeface="DM Sans" pitchFamily="34" charset="-122"/>
                <a:cs typeface="DM Sans" pitchFamily="34" charset="-120"/>
              </a:rPr>
              <a:t>❌ OLD WAY</a:t>
            </a:r>
            <a:endParaRPr lang="en-US" sz="1300" dirty="0"/>
          </a:p>
        </p:txBody>
      </p:sp>
      <p:sp>
        <p:nvSpPr>
          <p:cNvPr id="5" name="Text 3"/>
          <p:cNvSpPr txBox="1"/>
          <p:nvPr/>
        </p:nvSpPr>
        <p:spPr>
          <a:xfrm>
            <a:off x="1005840" y="2651760"/>
            <a:ext cx="3063240" cy="3200400"/>
          </a:xfrm>
          <a:prstGeom prst="rect">
            <a:avLst/>
          </a:prstGeom>
          <a:noFill/>
          <a:ln/>
        </p:spPr>
        <p:txBody>
          <a:bodyPr wrap="square" lIns="0" tIns="0" rIns="0" bIns="0" rtlCol="0" anchor="ctr">
            <a:normAutofit/>
          </a:bodyPr>
          <a:lstStyle/>
          <a:p>
            <a:pPr algn="l" indent="0" marL="0">
              <a:lnSpc>
                <a:spcPct val="105000"/>
              </a:lnSpc>
              <a:buNone/>
            </a:pPr>
            <a:r>
              <a:rPr lang="en-US" sz="2200" b="1" dirty="0">
                <a:solidFill>
                  <a:srgbClr val="1B2B2B"/>
                </a:solidFill>
                <a:latin typeface="Cormorant Garamond" pitchFamily="34" charset="0"/>
                <a:ea typeface="Cormorant Garamond" pitchFamily="34" charset="-122"/>
                <a:cs typeface="Cormorant Garamond" pitchFamily="34" charset="-120"/>
              </a:rPr>
              <a:t>Wait for the annual performance review to find out what you're worth</a:t>
            </a:r>
            <a:endParaRPr lang="en-US" sz="2200" dirty="0"/>
          </a:p>
        </p:txBody>
      </p:sp>
      <p:sp>
        <p:nvSpPr>
          <p:cNvPr id="6" name="Shape 4"/>
          <p:cNvSpPr/>
          <p:nvPr/>
        </p:nvSpPr>
        <p:spPr>
          <a:xfrm>
            <a:off x="4754880" y="1737360"/>
            <a:ext cx="3794760" cy="4480560"/>
          </a:xfrm>
          <a:prstGeom prst="roundRect">
            <a:avLst>
              <a:gd name="adj" fmla="val 2892"/>
            </a:avLst>
          </a:prstGeom>
          <a:solidFill>
            <a:srgbClr val="1E4A4A"/>
          </a:solidFill>
          <a:ln w="12700">
            <a:solidFill>
              <a:srgbClr val="1E4A4A"/>
            </a:solidFill>
            <a:prstDash val="solid"/>
          </a:ln>
        </p:spPr>
      </p:sp>
      <p:sp>
        <p:nvSpPr>
          <p:cNvPr id="7" name="Text 5"/>
          <p:cNvSpPr txBox="1"/>
          <p:nvPr/>
        </p:nvSpPr>
        <p:spPr>
          <a:xfrm>
            <a:off x="5120640" y="2103120"/>
            <a:ext cx="3063240" cy="365760"/>
          </a:xfrm>
          <a:prstGeom prst="rect">
            <a:avLst/>
          </a:prstGeom>
          <a:noFill/>
          <a:ln/>
        </p:spPr>
        <p:txBody>
          <a:bodyPr wrap="square" lIns="0" tIns="0" rIns="0" bIns="0" rtlCol="0" anchor="t">
            <a:normAutofit/>
          </a:bodyPr>
          <a:lstStyle/>
          <a:p>
            <a:pPr algn="l" indent="0" marL="0">
              <a:lnSpc>
                <a:spcPct val="100000"/>
              </a:lnSpc>
              <a:buNone/>
            </a:pPr>
            <a:r>
              <a:rPr lang="en-US" sz="1300" b="1" spc="200" kern="0" dirty="0">
                <a:solidFill>
                  <a:srgbClr val="B7D3B7"/>
                </a:solidFill>
                <a:latin typeface="DM Sans" pitchFamily="34" charset="0"/>
                <a:ea typeface="DM Sans" pitchFamily="34" charset="-122"/>
                <a:cs typeface="DM Sans" pitchFamily="34" charset="-120"/>
              </a:rPr>
              <a:t>✅ NEW WAY</a:t>
            </a:r>
            <a:endParaRPr lang="en-US" sz="1300" dirty="0"/>
          </a:p>
        </p:txBody>
      </p:sp>
      <p:sp>
        <p:nvSpPr>
          <p:cNvPr id="8" name="Text 6"/>
          <p:cNvSpPr txBox="1"/>
          <p:nvPr/>
        </p:nvSpPr>
        <p:spPr>
          <a:xfrm>
            <a:off x="5120640" y="2651760"/>
            <a:ext cx="3063240" cy="3200400"/>
          </a:xfrm>
          <a:prstGeom prst="rect">
            <a:avLst/>
          </a:prstGeom>
          <a:noFill/>
          <a:ln/>
        </p:spPr>
        <p:txBody>
          <a:bodyPr wrap="square" lIns="0" tIns="0" rIns="0" bIns="0" rtlCol="0" anchor="ctr">
            <a:normAutofit/>
          </a:bodyPr>
          <a:lstStyle/>
          <a:p>
            <a:pPr algn="l" indent="0" marL="0">
              <a:lnSpc>
                <a:spcPct val="105000"/>
              </a:lnSpc>
              <a:buNone/>
            </a:pPr>
            <a:r>
              <a:rPr lang="en-US" sz="2200" b="1" dirty="0">
                <a:solidFill>
                  <a:srgbClr val="FFFFFF"/>
                </a:solidFill>
                <a:latin typeface="Cormorant Garamond" pitchFamily="34" charset="0"/>
                <a:ea typeface="Cormorant Garamond" pitchFamily="34" charset="-122"/>
                <a:cs typeface="Cormorant Garamond" pitchFamily="34" charset="-120"/>
              </a:rPr>
              <a:t>Walk in already knowing your market value and the value you've created</a:t>
            </a:r>
            <a:endParaRPr lang="en-US" sz="2200" dirty="0"/>
          </a:p>
        </p:txBody>
      </p:sp>
      <p:sp>
        <p:nvSpPr>
          <p:cNvPr id="9" name="Shape 7"/>
          <p:cNvSpPr/>
          <p:nvPr/>
        </p:nvSpPr>
        <p:spPr>
          <a:xfrm>
            <a:off x="8869680" y="1737360"/>
            <a:ext cx="2681935" cy="4480560"/>
          </a:xfrm>
          <a:prstGeom prst="roundRect">
            <a:avLst>
              <a:gd name="adj" fmla="val 4091"/>
            </a:avLst>
          </a:prstGeom>
          <a:solidFill>
            <a:srgbClr val="E1F5EE"/>
          </a:solidFill>
          <a:ln w="15875">
            <a:solidFill>
              <a:srgbClr val="8AAF8A"/>
            </a:solidFill>
            <a:prstDash val="dash"/>
          </a:ln>
        </p:spPr>
      </p:sp>
      <p:sp>
        <p:nvSpPr>
          <p:cNvPr id="10" name="Text 8"/>
          <p:cNvSpPr txBox="1"/>
          <p:nvPr/>
        </p:nvSpPr>
        <p:spPr>
          <a:xfrm>
            <a:off x="9084235" y="1951915"/>
            <a:ext cx="2252826"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11" name="Text 9"/>
          <p:cNvSpPr txBox="1"/>
          <p:nvPr/>
        </p:nvSpPr>
        <p:spPr>
          <a:xfrm>
            <a:off x="9084235" y="2363395"/>
            <a:ext cx="2252826" cy="2377440"/>
          </a:xfrm>
          <a:prstGeom prst="rect">
            <a:avLst/>
          </a:prstGeom>
          <a:noFill/>
          <a:ln/>
        </p:spPr>
        <p:txBody>
          <a:bodyPr wrap="square" lIns="0" tIns="0" rIns="0" bIns="0" rtlCol="0" anchor="t">
            <a:normAutofit/>
          </a:bodyPr>
          <a:lstStyle/>
          <a:p>
            <a:pPr algn="l" indent="0" marL="0">
              <a:lnSpc>
                <a:spcPct val="110000"/>
              </a:lnSpc>
              <a:buNone/>
            </a:pPr>
            <a:r>
              <a:rPr lang="en-US" sz="1100" i="1" dirty="0">
                <a:solidFill>
                  <a:srgbClr val="5E6B68"/>
                </a:solidFill>
                <a:latin typeface="DM Sans" pitchFamily="34" charset="0"/>
                <a:ea typeface="DM Sans" pitchFamily="34" charset="-122"/>
                <a:cs typeface="DM Sans" pitchFamily="34" charset="-120"/>
              </a:rPr>
              <a:t>Small inset: a calendar page with "Performance Review" circled.</a:t>
            </a:r>
            <a:endParaRPr lang="en-US" sz="11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914400"/>
          </a:xfrm>
          <a:prstGeom prst="rect">
            <a:avLst/>
          </a:prstGeom>
          <a:noFill/>
          <a:ln/>
        </p:spPr>
        <p:txBody>
          <a:bodyPr wrap="square" lIns="0" tIns="0" rIns="0" bIns="0" rtlCol="0" anchor="b">
            <a:normAutofit/>
          </a:bodyPr>
          <a:lstStyle/>
          <a:p>
            <a:pPr algn="l" indent="0" marL="0">
              <a:lnSpc>
                <a:spcPct val="95000"/>
              </a:lnSpc>
              <a:buNone/>
            </a:pPr>
            <a:r>
              <a:rPr lang="en-US" sz="3600" b="1" dirty="0">
                <a:solidFill>
                  <a:srgbClr val="1B2B2B"/>
                </a:solidFill>
                <a:latin typeface="Cormorant Garamond" pitchFamily="34" charset="0"/>
                <a:ea typeface="Cormorant Garamond" pitchFamily="34" charset="-122"/>
                <a:cs typeface="Cormorant Garamond" pitchFamily="34" charset="-120"/>
              </a:rPr>
              <a:t>The old way vs. </a:t>
            </a:r>
            <a:pPr algn="l" indent="0" marL="0">
              <a:lnSpc>
                <a:spcPct val="95000"/>
              </a:lnSpc>
              <a:buNone/>
            </a:pPr>
            <a:r>
              <a:rPr lang="en-US" sz="3600" b="1" dirty="0">
                <a:solidFill>
                  <a:srgbClr val="1B2B2B"/>
                </a:solidFill>
                <a:highlight>
                  <a:srgbClr val="CFE3CF"/>
                </a:highlight>
                <a:latin typeface="Cormorant Garamond" pitchFamily="34" charset="0"/>
                <a:ea typeface="Cormorant Garamond" pitchFamily="34" charset="-122"/>
                <a:cs typeface="Cormorant Garamond" pitchFamily="34" charset="-120"/>
              </a:rPr>
              <a:t>the new way</a:t>
            </a:r>
            <a:endParaRPr lang="en-US" sz="3600" dirty="0"/>
          </a:p>
        </p:txBody>
      </p:sp>
      <p:sp>
        <p:nvSpPr>
          <p:cNvPr id="3" name="Shape 1"/>
          <p:cNvSpPr/>
          <p:nvPr/>
        </p:nvSpPr>
        <p:spPr>
          <a:xfrm>
            <a:off x="640080" y="1737360"/>
            <a:ext cx="3794760" cy="4480560"/>
          </a:xfrm>
          <a:prstGeom prst="roundRect">
            <a:avLst>
              <a:gd name="adj" fmla="val 2892"/>
            </a:avLst>
          </a:prstGeom>
          <a:solidFill>
            <a:srgbClr val="EFEAE2"/>
          </a:solidFill>
          <a:ln w="12700">
            <a:solidFill>
              <a:srgbClr val="EFEAE2"/>
            </a:solidFill>
            <a:prstDash val="solid"/>
          </a:ln>
        </p:spPr>
      </p:sp>
      <p:sp>
        <p:nvSpPr>
          <p:cNvPr id="4" name="Text 2"/>
          <p:cNvSpPr txBox="1"/>
          <p:nvPr/>
        </p:nvSpPr>
        <p:spPr>
          <a:xfrm>
            <a:off x="1005840" y="2103120"/>
            <a:ext cx="3063240" cy="365760"/>
          </a:xfrm>
          <a:prstGeom prst="rect">
            <a:avLst/>
          </a:prstGeom>
          <a:noFill/>
          <a:ln/>
        </p:spPr>
        <p:txBody>
          <a:bodyPr wrap="square" lIns="0" tIns="0" rIns="0" bIns="0" rtlCol="0" anchor="t">
            <a:normAutofit/>
          </a:bodyPr>
          <a:lstStyle/>
          <a:p>
            <a:pPr algn="l" indent="0" marL="0">
              <a:lnSpc>
                <a:spcPct val="100000"/>
              </a:lnSpc>
              <a:buNone/>
            </a:pPr>
            <a:r>
              <a:rPr lang="en-US" sz="1300" b="1" spc="200" kern="0" dirty="0">
                <a:solidFill>
                  <a:srgbClr val="5E6B68"/>
                </a:solidFill>
                <a:latin typeface="DM Sans" pitchFamily="34" charset="0"/>
                <a:ea typeface="DM Sans" pitchFamily="34" charset="-122"/>
                <a:cs typeface="DM Sans" pitchFamily="34" charset="-120"/>
              </a:rPr>
              <a:t>❌ OLD WAY</a:t>
            </a:r>
            <a:endParaRPr lang="en-US" sz="1300" dirty="0"/>
          </a:p>
        </p:txBody>
      </p:sp>
      <p:sp>
        <p:nvSpPr>
          <p:cNvPr id="5" name="Text 3"/>
          <p:cNvSpPr txBox="1"/>
          <p:nvPr/>
        </p:nvSpPr>
        <p:spPr>
          <a:xfrm>
            <a:off x="1005840" y="2651760"/>
            <a:ext cx="3063240" cy="3200400"/>
          </a:xfrm>
          <a:prstGeom prst="rect">
            <a:avLst/>
          </a:prstGeom>
          <a:noFill/>
          <a:ln/>
        </p:spPr>
        <p:txBody>
          <a:bodyPr wrap="square" lIns="0" tIns="0" rIns="0" bIns="0" rtlCol="0" anchor="ctr">
            <a:normAutofit/>
          </a:bodyPr>
          <a:lstStyle/>
          <a:p>
            <a:pPr algn="l" indent="0" marL="0">
              <a:lnSpc>
                <a:spcPct val="105000"/>
              </a:lnSpc>
              <a:buNone/>
            </a:pPr>
            <a:r>
              <a:rPr lang="en-US" sz="2600" b="1" dirty="0">
                <a:solidFill>
                  <a:srgbClr val="1B2B2B"/>
                </a:solidFill>
                <a:latin typeface="Cormorant Garamond" pitchFamily="34" charset="0"/>
                <a:ea typeface="Cormorant Garamond" pitchFamily="34" charset="-122"/>
                <a:cs typeface="Cormorant Garamond" pitchFamily="34" charset="-120"/>
              </a:rPr>
              <a:t>Hope your boss notices how hard you're working</a:t>
            </a:r>
            <a:endParaRPr lang="en-US" sz="2600" dirty="0"/>
          </a:p>
        </p:txBody>
      </p:sp>
      <p:sp>
        <p:nvSpPr>
          <p:cNvPr id="6" name="Shape 4"/>
          <p:cNvSpPr/>
          <p:nvPr/>
        </p:nvSpPr>
        <p:spPr>
          <a:xfrm>
            <a:off x="4754880" y="1737360"/>
            <a:ext cx="3794760" cy="4480560"/>
          </a:xfrm>
          <a:prstGeom prst="roundRect">
            <a:avLst>
              <a:gd name="adj" fmla="val 2892"/>
            </a:avLst>
          </a:prstGeom>
          <a:solidFill>
            <a:srgbClr val="1E4A4A"/>
          </a:solidFill>
          <a:ln w="12700">
            <a:solidFill>
              <a:srgbClr val="1E4A4A"/>
            </a:solidFill>
            <a:prstDash val="solid"/>
          </a:ln>
        </p:spPr>
      </p:sp>
      <p:sp>
        <p:nvSpPr>
          <p:cNvPr id="7" name="Text 5"/>
          <p:cNvSpPr txBox="1"/>
          <p:nvPr/>
        </p:nvSpPr>
        <p:spPr>
          <a:xfrm>
            <a:off x="5120640" y="2103120"/>
            <a:ext cx="3063240" cy="365760"/>
          </a:xfrm>
          <a:prstGeom prst="rect">
            <a:avLst/>
          </a:prstGeom>
          <a:noFill/>
          <a:ln/>
        </p:spPr>
        <p:txBody>
          <a:bodyPr wrap="square" lIns="0" tIns="0" rIns="0" bIns="0" rtlCol="0" anchor="t">
            <a:normAutofit/>
          </a:bodyPr>
          <a:lstStyle/>
          <a:p>
            <a:pPr algn="l" indent="0" marL="0">
              <a:lnSpc>
                <a:spcPct val="100000"/>
              </a:lnSpc>
              <a:buNone/>
            </a:pPr>
            <a:r>
              <a:rPr lang="en-US" sz="1300" b="1" spc="200" kern="0" dirty="0">
                <a:solidFill>
                  <a:srgbClr val="B7D3B7"/>
                </a:solidFill>
                <a:latin typeface="DM Sans" pitchFamily="34" charset="0"/>
                <a:ea typeface="DM Sans" pitchFamily="34" charset="-122"/>
                <a:cs typeface="DM Sans" pitchFamily="34" charset="-120"/>
              </a:rPr>
              <a:t>✅ NEW WAY</a:t>
            </a:r>
            <a:endParaRPr lang="en-US" sz="1300" dirty="0"/>
          </a:p>
        </p:txBody>
      </p:sp>
      <p:sp>
        <p:nvSpPr>
          <p:cNvPr id="8" name="Text 6"/>
          <p:cNvSpPr txBox="1"/>
          <p:nvPr/>
        </p:nvSpPr>
        <p:spPr>
          <a:xfrm>
            <a:off x="5120640" y="2651760"/>
            <a:ext cx="3063240" cy="3200400"/>
          </a:xfrm>
          <a:prstGeom prst="rect">
            <a:avLst/>
          </a:prstGeom>
          <a:noFill/>
          <a:ln/>
        </p:spPr>
        <p:txBody>
          <a:bodyPr wrap="square" lIns="0" tIns="0" rIns="0" bIns="0" rtlCol="0" anchor="ctr">
            <a:normAutofit/>
          </a:bodyPr>
          <a:lstStyle/>
          <a:p>
            <a:pPr algn="l" indent="0" marL="0">
              <a:lnSpc>
                <a:spcPct val="105000"/>
              </a:lnSpc>
              <a:buNone/>
            </a:pPr>
            <a:r>
              <a:rPr lang="en-US" sz="2600" b="1" dirty="0">
                <a:solidFill>
                  <a:srgbClr val="FFFFFF"/>
                </a:solidFill>
                <a:latin typeface="Cormorant Garamond" pitchFamily="34" charset="0"/>
                <a:ea typeface="Cormorant Garamond" pitchFamily="34" charset="-122"/>
                <a:cs typeface="Cormorant Garamond" pitchFamily="34" charset="-120"/>
              </a:rPr>
              <a:t>Make your value impossible to ignore</a:t>
            </a:r>
            <a:endParaRPr lang="en-US" sz="2600" dirty="0"/>
          </a:p>
        </p:txBody>
      </p:sp>
      <p:sp>
        <p:nvSpPr>
          <p:cNvPr id="9" name="Shape 7"/>
          <p:cNvSpPr/>
          <p:nvPr/>
        </p:nvSpPr>
        <p:spPr>
          <a:xfrm>
            <a:off x="8869680" y="1737360"/>
            <a:ext cx="2681935" cy="4480560"/>
          </a:xfrm>
          <a:prstGeom prst="roundRect">
            <a:avLst>
              <a:gd name="adj" fmla="val 4091"/>
            </a:avLst>
          </a:prstGeom>
          <a:solidFill>
            <a:srgbClr val="E1F5EE"/>
          </a:solidFill>
          <a:ln w="15875">
            <a:solidFill>
              <a:srgbClr val="8AAF8A"/>
            </a:solidFill>
            <a:prstDash val="dash"/>
          </a:ln>
        </p:spPr>
      </p:sp>
      <p:sp>
        <p:nvSpPr>
          <p:cNvPr id="10" name="Text 8"/>
          <p:cNvSpPr txBox="1"/>
          <p:nvPr/>
        </p:nvSpPr>
        <p:spPr>
          <a:xfrm>
            <a:off x="9084235" y="1951915"/>
            <a:ext cx="2252826"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11" name="Text 9"/>
          <p:cNvSpPr txBox="1"/>
          <p:nvPr/>
        </p:nvSpPr>
        <p:spPr>
          <a:xfrm>
            <a:off x="9084235" y="2363395"/>
            <a:ext cx="2252826" cy="2377440"/>
          </a:xfrm>
          <a:prstGeom prst="rect">
            <a:avLst/>
          </a:prstGeom>
          <a:noFill/>
          <a:ln/>
        </p:spPr>
        <p:txBody>
          <a:bodyPr wrap="square" lIns="0" tIns="0" rIns="0" bIns="0" rtlCol="0" anchor="t">
            <a:normAutofit/>
          </a:bodyPr>
          <a:lstStyle/>
          <a:p>
            <a:pPr algn="l" indent="0" marL="0">
              <a:lnSpc>
                <a:spcPct val="110000"/>
              </a:lnSpc>
              <a:buNone/>
            </a:pPr>
            <a:r>
              <a:rPr lang="en-US" sz="1100" i="1" dirty="0">
                <a:solidFill>
                  <a:srgbClr val="5E6B68"/>
                </a:solidFill>
                <a:latin typeface="DM Sans" pitchFamily="34" charset="0"/>
                <a:ea typeface="DM Sans" pitchFamily="34" charset="-122"/>
                <a:cs typeface="DM Sans" pitchFamily="34" charset="-120"/>
              </a:rPr>
              <a:t>Small inset: a woman presenting confidently to a leadership team.</a:t>
            </a:r>
            <a:endParaRPr lang="en-US" sz="11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914400"/>
          </a:xfrm>
          <a:prstGeom prst="rect">
            <a:avLst/>
          </a:prstGeom>
          <a:noFill/>
          <a:ln/>
        </p:spPr>
        <p:txBody>
          <a:bodyPr wrap="square" lIns="0" tIns="0" rIns="0" bIns="0" rtlCol="0" anchor="b">
            <a:normAutofit/>
          </a:bodyPr>
          <a:lstStyle/>
          <a:p>
            <a:pPr algn="l" indent="0" marL="0">
              <a:lnSpc>
                <a:spcPct val="95000"/>
              </a:lnSpc>
              <a:buNone/>
            </a:pPr>
            <a:r>
              <a:rPr lang="en-US" sz="3600" b="1" dirty="0">
                <a:solidFill>
                  <a:srgbClr val="1B2B2B"/>
                </a:solidFill>
                <a:latin typeface="Cormorant Garamond" pitchFamily="34" charset="0"/>
                <a:ea typeface="Cormorant Garamond" pitchFamily="34" charset="-122"/>
                <a:cs typeface="Cormorant Garamond" pitchFamily="34" charset="-120"/>
              </a:rPr>
              <a:t>The old way vs. </a:t>
            </a:r>
            <a:pPr algn="l" indent="0" marL="0">
              <a:lnSpc>
                <a:spcPct val="95000"/>
              </a:lnSpc>
              <a:buNone/>
            </a:pPr>
            <a:r>
              <a:rPr lang="en-US" sz="3600" b="1" dirty="0">
                <a:solidFill>
                  <a:srgbClr val="1B2B2B"/>
                </a:solidFill>
                <a:highlight>
                  <a:srgbClr val="CFE3CF"/>
                </a:highlight>
                <a:latin typeface="Cormorant Garamond" pitchFamily="34" charset="0"/>
                <a:ea typeface="Cormorant Garamond" pitchFamily="34" charset="-122"/>
                <a:cs typeface="Cormorant Garamond" pitchFamily="34" charset="-120"/>
              </a:rPr>
              <a:t>the new way</a:t>
            </a:r>
            <a:endParaRPr lang="en-US" sz="3600" dirty="0"/>
          </a:p>
        </p:txBody>
      </p:sp>
      <p:sp>
        <p:nvSpPr>
          <p:cNvPr id="3" name="Shape 1"/>
          <p:cNvSpPr/>
          <p:nvPr/>
        </p:nvSpPr>
        <p:spPr>
          <a:xfrm>
            <a:off x="640080" y="1737360"/>
            <a:ext cx="3794760" cy="4480560"/>
          </a:xfrm>
          <a:prstGeom prst="roundRect">
            <a:avLst>
              <a:gd name="adj" fmla="val 2892"/>
            </a:avLst>
          </a:prstGeom>
          <a:solidFill>
            <a:srgbClr val="EFEAE2"/>
          </a:solidFill>
          <a:ln w="12700">
            <a:solidFill>
              <a:srgbClr val="EFEAE2"/>
            </a:solidFill>
            <a:prstDash val="solid"/>
          </a:ln>
        </p:spPr>
      </p:sp>
      <p:sp>
        <p:nvSpPr>
          <p:cNvPr id="4" name="Text 2"/>
          <p:cNvSpPr txBox="1"/>
          <p:nvPr/>
        </p:nvSpPr>
        <p:spPr>
          <a:xfrm>
            <a:off x="1005840" y="2103120"/>
            <a:ext cx="3063240" cy="365760"/>
          </a:xfrm>
          <a:prstGeom prst="rect">
            <a:avLst/>
          </a:prstGeom>
          <a:noFill/>
          <a:ln/>
        </p:spPr>
        <p:txBody>
          <a:bodyPr wrap="square" lIns="0" tIns="0" rIns="0" bIns="0" rtlCol="0" anchor="t">
            <a:normAutofit/>
          </a:bodyPr>
          <a:lstStyle/>
          <a:p>
            <a:pPr algn="l" indent="0" marL="0">
              <a:lnSpc>
                <a:spcPct val="100000"/>
              </a:lnSpc>
              <a:buNone/>
            </a:pPr>
            <a:r>
              <a:rPr lang="en-US" sz="1300" b="1" spc="200" kern="0" dirty="0">
                <a:solidFill>
                  <a:srgbClr val="5E6B68"/>
                </a:solidFill>
                <a:latin typeface="DM Sans" pitchFamily="34" charset="0"/>
                <a:ea typeface="DM Sans" pitchFamily="34" charset="-122"/>
                <a:cs typeface="DM Sans" pitchFamily="34" charset="-120"/>
              </a:rPr>
              <a:t>❌ OLD WAY</a:t>
            </a:r>
            <a:endParaRPr lang="en-US" sz="1300" dirty="0"/>
          </a:p>
        </p:txBody>
      </p:sp>
      <p:sp>
        <p:nvSpPr>
          <p:cNvPr id="5" name="Text 3"/>
          <p:cNvSpPr txBox="1"/>
          <p:nvPr/>
        </p:nvSpPr>
        <p:spPr>
          <a:xfrm>
            <a:off x="1005840" y="2651760"/>
            <a:ext cx="3063240" cy="3200400"/>
          </a:xfrm>
          <a:prstGeom prst="rect">
            <a:avLst/>
          </a:prstGeom>
          <a:noFill/>
          <a:ln/>
        </p:spPr>
        <p:txBody>
          <a:bodyPr wrap="square" lIns="0" tIns="0" rIns="0" bIns="0" rtlCol="0" anchor="ctr">
            <a:normAutofit/>
          </a:bodyPr>
          <a:lstStyle/>
          <a:p>
            <a:pPr algn="l" indent="0" marL="0">
              <a:lnSpc>
                <a:spcPct val="105000"/>
              </a:lnSpc>
              <a:buNone/>
            </a:pPr>
            <a:r>
              <a:rPr lang="en-US" sz="2600" b="1" dirty="0">
                <a:solidFill>
                  <a:srgbClr val="1B2B2B"/>
                </a:solidFill>
                <a:latin typeface="Cormorant Garamond" pitchFamily="34" charset="0"/>
                <a:ea typeface="Cormorant Garamond" pitchFamily="34" charset="-122"/>
                <a:cs typeface="Cormorant Garamond" pitchFamily="34" charset="-120"/>
              </a:rPr>
              <a:t>Ask a mentor or a friend what they would do</a:t>
            </a:r>
            <a:endParaRPr lang="en-US" sz="2600" dirty="0"/>
          </a:p>
        </p:txBody>
      </p:sp>
      <p:sp>
        <p:nvSpPr>
          <p:cNvPr id="6" name="Shape 4"/>
          <p:cNvSpPr/>
          <p:nvPr/>
        </p:nvSpPr>
        <p:spPr>
          <a:xfrm>
            <a:off x="4754880" y="1737360"/>
            <a:ext cx="3794760" cy="4480560"/>
          </a:xfrm>
          <a:prstGeom prst="roundRect">
            <a:avLst>
              <a:gd name="adj" fmla="val 2892"/>
            </a:avLst>
          </a:prstGeom>
          <a:solidFill>
            <a:srgbClr val="1E4A4A"/>
          </a:solidFill>
          <a:ln w="12700">
            <a:solidFill>
              <a:srgbClr val="1E4A4A"/>
            </a:solidFill>
            <a:prstDash val="solid"/>
          </a:ln>
        </p:spPr>
      </p:sp>
      <p:sp>
        <p:nvSpPr>
          <p:cNvPr id="7" name="Text 5"/>
          <p:cNvSpPr txBox="1"/>
          <p:nvPr/>
        </p:nvSpPr>
        <p:spPr>
          <a:xfrm>
            <a:off x="5120640" y="2103120"/>
            <a:ext cx="3063240" cy="365760"/>
          </a:xfrm>
          <a:prstGeom prst="rect">
            <a:avLst/>
          </a:prstGeom>
          <a:noFill/>
          <a:ln/>
        </p:spPr>
        <p:txBody>
          <a:bodyPr wrap="square" lIns="0" tIns="0" rIns="0" bIns="0" rtlCol="0" anchor="t">
            <a:normAutofit/>
          </a:bodyPr>
          <a:lstStyle/>
          <a:p>
            <a:pPr algn="l" indent="0" marL="0">
              <a:lnSpc>
                <a:spcPct val="100000"/>
              </a:lnSpc>
              <a:buNone/>
            </a:pPr>
            <a:r>
              <a:rPr lang="en-US" sz="1300" b="1" spc="200" kern="0" dirty="0">
                <a:solidFill>
                  <a:srgbClr val="B7D3B7"/>
                </a:solidFill>
                <a:latin typeface="DM Sans" pitchFamily="34" charset="0"/>
                <a:ea typeface="DM Sans" pitchFamily="34" charset="-122"/>
                <a:cs typeface="DM Sans" pitchFamily="34" charset="-120"/>
              </a:rPr>
              <a:t>✅ NEW WAY</a:t>
            </a:r>
            <a:endParaRPr lang="en-US" sz="1300" dirty="0"/>
          </a:p>
        </p:txBody>
      </p:sp>
      <p:sp>
        <p:nvSpPr>
          <p:cNvPr id="8" name="Text 6"/>
          <p:cNvSpPr txBox="1"/>
          <p:nvPr/>
        </p:nvSpPr>
        <p:spPr>
          <a:xfrm>
            <a:off x="5120640" y="2651760"/>
            <a:ext cx="3063240" cy="3200400"/>
          </a:xfrm>
          <a:prstGeom prst="rect">
            <a:avLst/>
          </a:prstGeom>
          <a:noFill/>
          <a:ln/>
        </p:spPr>
        <p:txBody>
          <a:bodyPr wrap="square" lIns="0" tIns="0" rIns="0" bIns="0" rtlCol="0" anchor="ctr">
            <a:normAutofit/>
          </a:bodyPr>
          <a:lstStyle/>
          <a:p>
            <a:pPr algn="l" indent="0" marL="0">
              <a:lnSpc>
                <a:spcPct val="105000"/>
              </a:lnSpc>
              <a:buNone/>
            </a:pPr>
            <a:r>
              <a:rPr lang="en-US" sz="2600" b="1" dirty="0">
                <a:solidFill>
                  <a:srgbClr val="FFFFFF"/>
                </a:solidFill>
                <a:latin typeface="Cormorant Garamond" pitchFamily="34" charset="0"/>
                <a:ea typeface="Cormorant Garamond" pitchFamily="34" charset="-122"/>
                <a:cs typeface="Cormorant Garamond" pitchFamily="34" charset="-120"/>
              </a:rPr>
              <a:t>Become the woman who doesn't need permission to decide</a:t>
            </a:r>
            <a:endParaRPr lang="en-US" sz="2600" dirty="0"/>
          </a:p>
        </p:txBody>
      </p:sp>
      <p:sp>
        <p:nvSpPr>
          <p:cNvPr id="9" name="Shape 7"/>
          <p:cNvSpPr/>
          <p:nvPr/>
        </p:nvSpPr>
        <p:spPr>
          <a:xfrm>
            <a:off x="8869680" y="1737360"/>
            <a:ext cx="2681935" cy="4480560"/>
          </a:xfrm>
          <a:prstGeom prst="roundRect">
            <a:avLst>
              <a:gd name="adj" fmla="val 4091"/>
            </a:avLst>
          </a:prstGeom>
          <a:solidFill>
            <a:srgbClr val="E1F5EE"/>
          </a:solidFill>
          <a:ln w="15875">
            <a:solidFill>
              <a:srgbClr val="8AAF8A"/>
            </a:solidFill>
            <a:prstDash val="dash"/>
          </a:ln>
        </p:spPr>
      </p:sp>
      <p:sp>
        <p:nvSpPr>
          <p:cNvPr id="10" name="Text 8"/>
          <p:cNvSpPr txBox="1"/>
          <p:nvPr/>
        </p:nvSpPr>
        <p:spPr>
          <a:xfrm>
            <a:off x="9084235" y="1951915"/>
            <a:ext cx="2252826"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11" name="Text 9"/>
          <p:cNvSpPr txBox="1"/>
          <p:nvPr/>
        </p:nvSpPr>
        <p:spPr>
          <a:xfrm>
            <a:off x="9084235" y="2363395"/>
            <a:ext cx="2252826" cy="2377440"/>
          </a:xfrm>
          <a:prstGeom prst="rect">
            <a:avLst/>
          </a:prstGeom>
          <a:noFill/>
          <a:ln/>
        </p:spPr>
        <p:txBody>
          <a:bodyPr wrap="square" lIns="0" tIns="0" rIns="0" bIns="0" rtlCol="0" anchor="t">
            <a:normAutofit/>
          </a:bodyPr>
          <a:lstStyle/>
          <a:p>
            <a:pPr algn="l" indent="0" marL="0">
              <a:lnSpc>
                <a:spcPct val="110000"/>
              </a:lnSpc>
              <a:buNone/>
            </a:pPr>
            <a:r>
              <a:rPr lang="en-US" sz="1100" i="1" dirty="0">
                <a:solidFill>
                  <a:srgbClr val="5E6B68"/>
                </a:solidFill>
                <a:latin typeface="DM Sans" pitchFamily="34" charset="0"/>
                <a:ea typeface="DM Sans" pitchFamily="34" charset="-122"/>
                <a:cs typeface="DM Sans" pitchFamily="34" charset="-120"/>
              </a:rPr>
              <a:t>Small inset: two women at a café, one leaning in for advice.</a:t>
            </a:r>
            <a:endParaRPr lang="en-US" sz="11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rehearsing in a bathroom mirror, index cards in hand, looking unconvinced by herself.</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4000" b="1" dirty="0">
                <a:solidFill>
                  <a:srgbClr val="1B2B2B"/>
                </a:solidFill>
                <a:latin typeface="Cormorant Garamond" pitchFamily="34" charset="0"/>
                <a:ea typeface="Cormorant Garamond" pitchFamily="34" charset="-122"/>
                <a:cs typeface="Cormorant Garamond" pitchFamily="34" charset="-120"/>
              </a:rPr>
              <a:t>Why scripts fall flat</a:t>
            </a:r>
            <a:endParaRPr lang="en-US" sz="40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You can memorize the perfect line. If the woman delivering it doesn't believe it, the room hears the doubt before it hears the words.</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48640"/>
            <a:ext cx="6766560" cy="1005840"/>
          </a:xfrm>
          <a:prstGeom prst="rect">
            <a:avLst/>
          </a:prstGeom>
          <a:noFill/>
          <a:ln/>
        </p:spPr>
        <p:txBody>
          <a:bodyPr wrap="square" lIns="0" tIns="0" rIns="0" bIns="0" rtlCol="0" anchor="b">
            <a:normAutofit/>
          </a:bodyPr>
          <a:lstStyle/>
          <a:p>
            <a:pPr algn="l" indent="0" marL="0">
              <a:lnSpc>
                <a:spcPct val="95000"/>
              </a:lnSpc>
              <a:buNone/>
            </a:pPr>
            <a:r>
              <a:rPr lang="en-US" sz="3800" b="1" dirty="0">
                <a:solidFill>
                  <a:srgbClr val="1B2B2B"/>
                </a:solidFill>
                <a:latin typeface="Cormorant Garamond" pitchFamily="34" charset="0"/>
                <a:ea typeface="Cormorant Garamond" pitchFamily="34" charset="-122"/>
                <a:cs typeface="Cormorant Garamond" pitchFamily="34" charset="-120"/>
              </a:rPr>
              <a:t>How the gap </a:t>
            </a:r>
            <a:pPr algn="l" indent="0" marL="0">
              <a:lnSpc>
                <a:spcPct val="95000"/>
              </a:lnSpc>
              <a:buNone/>
            </a:pPr>
            <a:r>
              <a:rPr lang="en-US" sz="3800" b="1" dirty="0">
                <a:solidFill>
                  <a:srgbClr val="1B2B2B"/>
                </a:solidFill>
                <a:highlight>
                  <a:srgbClr val="CFE3CF"/>
                </a:highlight>
                <a:latin typeface="Cormorant Garamond" pitchFamily="34" charset="0"/>
                <a:ea typeface="Cormorant Garamond" pitchFamily="34" charset="-122"/>
                <a:cs typeface="Cormorant Garamond" pitchFamily="34" charset="-120"/>
              </a:rPr>
              <a:t>shows up</a:t>
            </a:r>
            <a:endParaRPr lang="en-US" sz="3800" dirty="0"/>
          </a:p>
        </p:txBody>
      </p:sp>
      <p:sp>
        <p:nvSpPr>
          <p:cNvPr id="3" name="Shape 1"/>
          <p:cNvSpPr/>
          <p:nvPr/>
        </p:nvSpPr>
        <p:spPr>
          <a:xfrm>
            <a:off x="640080" y="1874520"/>
            <a:ext cx="502920" cy="502920"/>
          </a:xfrm>
          <a:prstGeom prst="ellipse">
            <a:avLst/>
          </a:prstGeom>
          <a:solidFill>
            <a:srgbClr val="1E4A4A"/>
          </a:solidFill>
          <a:ln w="12700">
            <a:solidFill>
              <a:srgbClr val="1E4A4A"/>
            </a:solidFill>
            <a:prstDash val="solid"/>
          </a:ln>
        </p:spPr>
      </p:sp>
      <p:sp>
        <p:nvSpPr>
          <p:cNvPr id="4" name="Text 2"/>
          <p:cNvSpPr txBox="1"/>
          <p:nvPr/>
        </p:nvSpPr>
        <p:spPr>
          <a:xfrm>
            <a:off x="640080" y="187452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1</a:t>
            </a:r>
            <a:endParaRPr lang="en-US" sz="1800" dirty="0"/>
          </a:p>
        </p:txBody>
      </p:sp>
      <p:sp>
        <p:nvSpPr>
          <p:cNvPr id="5" name="Text 3"/>
          <p:cNvSpPr txBox="1"/>
          <p:nvPr/>
        </p:nvSpPr>
        <p:spPr>
          <a:xfrm>
            <a:off x="1371600" y="182880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You minimize what you've actually accomplished</a:t>
            </a:r>
            <a:endParaRPr lang="en-US" sz="1800" dirty="0"/>
          </a:p>
        </p:txBody>
      </p:sp>
      <p:sp>
        <p:nvSpPr>
          <p:cNvPr id="6" name="Shape 4"/>
          <p:cNvSpPr/>
          <p:nvPr/>
        </p:nvSpPr>
        <p:spPr>
          <a:xfrm>
            <a:off x="640080" y="2743200"/>
            <a:ext cx="502920" cy="502920"/>
          </a:xfrm>
          <a:prstGeom prst="ellipse">
            <a:avLst/>
          </a:prstGeom>
          <a:solidFill>
            <a:srgbClr val="1E4A4A"/>
          </a:solidFill>
          <a:ln w="12700">
            <a:solidFill>
              <a:srgbClr val="1E4A4A"/>
            </a:solidFill>
            <a:prstDash val="solid"/>
          </a:ln>
        </p:spPr>
      </p:sp>
      <p:sp>
        <p:nvSpPr>
          <p:cNvPr id="7" name="Text 5"/>
          <p:cNvSpPr txBox="1"/>
          <p:nvPr/>
        </p:nvSpPr>
        <p:spPr>
          <a:xfrm>
            <a:off x="640080" y="274320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2</a:t>
            </a:r>
            <a:endParaRPr lang="en-US" sz="1800" dirty="0"/>
          </a:p>
        </p:txBody>
      </p:sp>
      <p:sp>
        <p:nvSpPr>
          <p:cNvPr id="8" name="Text 6"/>
          <p:cNvSpPr txBox="1"/>
          <p:nvPr/>
        </p:nvSpPr>
        <p:spPr>
          <a:xfrm>
            <a:off x="1371600" y="269748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You hesitate to ask for more</a:t>
            </a:r>
            <a:endParaRPr lang="en-US" sz="1800" dirty="0"/>
          </a:p>
        </p:txBody>
      </p:sp>
      <p:sp>
        <p:nvSpPr>
          <p:cNvPr id="9" name="Shape 7"/>
          <p:cNvSpPr/>
          <p:nvPr/>
        </p:nvSpPr>
        <p:spPr>
          <a:xfrm>
            <a:off x="640080" y="3611880"/>
            <a:ext cx="502920" cy="502920"/>
          </a:xfrm>
          <a:prstGeom prst="ellipse">
            <a:avLst/>
          </a:prstGeom>
          <a:solidFill>
            <a:srgbClr val="1E4A4A"/>
          </a:solidFill>
          <a:ln w="12700">
            <a:solidFill>
              <a:srgbClr val="1E4A4A"/>
            </a:solidFill>
            <a:prstDash val="solid"/>
          </a:ln>
        </p:spPr>
      </p:sp>
      <p:sp>
        <p:nvSpPr>
          <p:cNvPr id="10" name="Text 8"/>
          <p:cNvSpPr txBox="1"/>
          <p:nvPr/>
        </p:nvSpPr>
        <p:spPr>
          <a:xfrm>
            <a:off x="640080" y="361188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3</a:t>
            </a:r>
            <a:endParaRPr lang="en-US" sz="1800" dirty="0"/>
          </a:p>
        </p:txBody>
      </p:sp>
      <p:sp>
        <p:nvSpPr>
          <p:cNvPr id="11" name="Text 9"/>
          <p:cNvSpPr txBox="1"/>
          <p:nvPr/>
        </p:nvSpPr>
        <p:spPr>
          <a:xfrm>
            <a:off x="1371600" y="356616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You over-explain yourself</a:t>
            </a:r>
            <a:endParaRPr lang="en-US" sz="1800" dirty="0"/>
          </a:p>
        </p:txBody>
      </p:sp>
      <p:sp>
        <p:nvSpPr>
          <p:cNvPr id="12" name="Shape 10"/>
          <p:cNvSpPr/>
          <p:nvPr/>
        </p:nvSpPr>
        <p:spPr>
          <a:xfrm>
            <a:off x="640080" y="4480560"/>
            <a:ext cx="502920" cy="502920"/>
          </a:xfrm>
          <a:prstGeom prst="ellipse">
            <a:avLst/>
          </a:prstGeom>
          <a:solidFill>
            <a:srgbClr val="1E4A4A"/>
          </a:solidFill>
          <a:ln w="12700">
            <a:solidFill>
              <a:srgbClr val="1E4A4A"/>
            </a:solidFill>
            <a:prstDash val="solid"/>
          </a:ln>
        </p:spPr>
      </p:sp>
      <p:sp>
        <p:nvSpPr>
          <p:cNvPr id="13" name="Text 11"/>
          <p:cNvSpPr txBox="1"/>
          <p:nvPr/>
        </p:nvSpPr>
        <p:spPr>
          <a:xfrm>
            <a:off x="640080" y="448056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4</a:t>
            </a:r>
            <a:endParaRPr lang="en-US" sz="1800" dirty="0"/>
          </a:p>
        </p:txBody>
      </p:sp>
      <p:sp>
        <p:nvSpPr>
          <p:cNvPr id="14" name="Text 12"/>
          <p:cNvSpPr txBox="1"/>
          <p:nvPr/>
        </p:nvSpPr>
        <p:spPr>
          <a:xfrm>
            <a:off x="1371600" y="443484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You avoid the conversations you know you need to have</a:t>
            </a:r>
            <a:endParaRPr lang="en-US" sz="1800" dirty="0"/>
          </a:p>
        </p:txBody>
      </p:sp>
      <p:sp>
        <p:nvSpPr>
          <p:cNvPr id="15" name="Shape 13"/>
          <p:cNvSpPr/>
          <p:nvPr/>
        </p:nvSpPr>
        <p:spPr>
          <a:xfrm>
            <a:off x="7863840" y="548640"/>
            <a:ext cx="3703320" cy="5760720"/>
          </a:xfrm>
          <a:prstGeom prst="roundRect">
            <a:avLst>
              <a:gd name="adj" fmla="val 2963"/>
            </a:avLst>
          </a:prstGeom>
          <a:solidFill>
            <a:srgbClr val="E1F5EE"/>
          </a:solidFill>
          <a:ln w="15875">
            <a:solidFill>
              <a:srgbClr val="8AAF8A"/>
            </a:solidFill>
            <a:prstDash val="dash"/>
          </a:ln>
        </p:spPr>
      </p:sp>
      <p:sp>
        <p:nvSpPr>
          <p:cNvPr id="16" name="Text 14"/>
          <p:cNvSpPr txBox="1"/>
          <p:nvPr/>
        </p:nvSpPr>
        <p:spPr>
          <a:xfrm>
            <a:off x="8160106" y="844906"/>
            <a:ext cx="3110789"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17" name="Text 15"/>
          <p:cNvSpPr txBox="1"/>
          <p:nvPr/>
        </p:nvSpPr>
        <p:spPr>
          <a:xfrm>
            <a:off x="8160106" y="1256386"/>
            <a:ext cx="3110789"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in a meeting, mid-sentence, hands raised in a slightly apologetic gesture.</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at an auto-repair counter looking at an invoice, a mechanic shrugging on the other side.</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And it doesn't stay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at the office.</a:t>
            </a:r>
            <a:endParaRPr lang="en-US" sz="34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The mechanic, the landscaper, the housekeeper, sometimes your own husband and kids. The same weak boundary shows up everywhere.</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B5C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B5C5C"/>
          </a:solidFill>
          <a:ln w="15875">
            <a:solidFill>
              <a:srgbClr val="8AAF8A"/>
            </a:solidFill>
            <a:prstDash val="dash"/>
          </a:ln>
        </p:spPr>
      </p:sp>
      <p:sp>
        <p:nvSpPr>
          <p:cNvPr id="3" name="Text 1"/>
          <p:cNvSpPr txBox="1"/>
          <p:nvPr/>
        </p:nvSpPr>
        <p:spPr>
          <a:xfrm>
            <a:off x="320040" y="320040"/>
            <a:ext cx="1155161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1155161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An hourglass on a boardroom table, sand running, blurred city lights behind.</a:t>
            </a:r>
            <a:endParaRPr lang="en-US" sz="1200" dirty="0"/>
          </a:p>
        </p:txBody>
      </p:sp>
      <p:sp>
        <p:nvSpPr>
          <p:cNvPr id="5" name="Shape 3"/>
          <p:cNvSpPr/>
          <p:nvPr/>
        </p:nvSpPr>
        <p:spPr>
          <a:xfrm>
            <a:off x="548640" y="3566160"/>
            <a:ext cx="7132320" cy="2743200"/>
          </a:xfrm>
          <a:prstGeom prst="roundRect">
            <a:avLst>
              <a:gd name="adj" fmla="val 3333"/>
            </a:avLst>
          </a:prstGeom>
          <a:solidFill>
            <a:srgbClr val="1E4A4A">
              <a:alpha val="96000"/>
            </a:srgbClr>
          </a:solidFill>
          <a:ln w="12700">
            <a:solidFill>
              <a:srgbClr val="1E4A4A"/>
            </a:solidFill>
            <a:prstDash val="solid"/>
          </a:ln>
        </p:spPr>
      </p:sp>
      <p:sp>
        <p:nvSpPr>
          <p:cNvPr id="6" name="Text 4"/>
          <p:cNvSpPr txBox="1"/>
          <p:nvPr/>
        </p:nvSpPr>
        <p:spPr>
          <a:xfrm>
            <a:off x="868680" y="3749040"/>
            <a:ext cx="6492240" cy="2286000"/>
          </a:xfrm>
          <a:prstGeom prst="rect">
            <a:avLst/>
          </a:prstGeom>
          <a:noFill/>
          <a:ln/>
        </p:spPr>
        <p:txBody>
          <a:bodyPr wrap="square" lIns="0" tIns="0" rIns="0" bIns="0" rtlCol="0" anchor="b">
            <a:normAutofit/>
          </a:bodyPr>
          <a:lstStyle/>
          <a:p>
            <a:pPr algn="l" indent="0" marL="0">
              <a:lnSpc>
                <a:spcPct val="95000"/>
              </a:lnSpc>
              <a:buNone/>
            </a:pPr>
            <a:r>
              <a:rPr lang="en-US" sz="3100" b="1" dirty="0">
                <a:solidFill>
                  <a:srgbClr val="FFFFFF"/>
                </a:solidFill>
                <a:latin typeface="Cormorant Garamond" pitchFamily="34" charset="0"/>
                <a:ea typeface="Cormorant Garamond" pitchFamily="34" charset="-122"/>
                <a:cs typeface="Cormorant Garamond" pitchFamily="34" charset="-120"/>
              </a:rPr>
              <a:t>Let's talk about </a:t>
            </a:r>
            <a:pPr algn="l" indent="0" marL="0">
              <a:lnSpc>
                <a:spcPct val="95000"/>
              </a:lnSpc>
              <a:buNone/>
            </a:pPr>
            <a:r>
              <a:rPr lang="en-US" sz="3100" b="1" dirty="0">
                <a:solidFill>
                  <a:srgbClr val="B7D3B7"/>
                </a:solidFill>
                <a:latin typeface="Cormorant Garamond" pitchFamily="34" charset="0"/>
                <a:ea typeface="Cormorant Garamond" pitchFamily="34" charset="-122"/>
                <a:cs typeface="Cormorant Garamond" pitchFamily="34" charset="-120"/>
              </a:rPr>
              <a:t>what waiting costs.</a:t>
            </a:r>
            <a:endParaRPr lang="en-US" sz="31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Most women never ask</a:t>
            </a:r>
            <a:endParaRPr lang="en-US" sz="30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8800" b="1" dirty="0">
                <a:solidFill>
                  <a:srgbClr val="1E4A4A"/>
                </a:solidFill>
                <a:latin typeface="Cormorant Garamond" pitchFamily="34" charset="0"/>
                <a:ea typeface="Cormorant Garamond" pitchFamily="34" charset="-122"/>
                <a:cs typeface="Cormorant Garamond" pitchFamily="34" charset="-120"/>
              </a:rPr>
              <a:t>60%+</a:t>
            </a:r>
            <a:endParaRPr lang="en-US" sz="88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of women have never negotiated their salary. </a:t>
            </a:r>
            <a:pPr algn="l" indent="0" marL="0">
              <a:lnSpc>
                <a:spcPct val="115000"/>
              </a:lnSpc>
              <a:buNone/>
            </a:pPr>
            <a:r>
              <a:rPr lang="en-US" sz="1600" b="1" dirty="0">
                <a:solidFill>
                  <a:srgbClr val="B85042"/>
                </a:solidFill>
                <a:latin typeface="DM Sans" pitchFamily="34" charset="0"/>
                <a:ea typeface="DM Sans" pitchFamily="34" charset="-122"/>
                <a:cs typeface="DM Sans" pitchFamily="34" charset="-120"/>
              </a:rPr>
              <a:t>[PLACEHOLDER: add source citation]</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Diverse group of professional women walking through an office lobby.</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The math nobody shows you</a:t>
            </a:r>
            <a:endParaRPr lang="en-US" sz="30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8800" b="1" dirty="0">
                <a:solidFill>
                  <a:srgbClr val="1E4A4A"/>
                </a:solidFill>
                <a:latin typeface="Cormorant Garamond" pitchFamily="34" charset="0"/>
                <a:ea typeface="Cormorant Garamond" pitchFamily="34" charset="-122"/>
                <a:cs typeface="Cormorant Garamond" pitchFamily="34" charset="-120"/>
              </a:rPr>
              <a:t>Year 1</a:t>
            </a:r>
            <a:endParaRPr lang="en-US" sz="88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Your salary today is </a:t>
            </a:r>
            <a:pPr algn="l" indent="0" marL="0">
              <a:lnSpc>
                <a:spcPct val="115000"/>
              </a:lnSpc>
              <a:buNone/>
            </a:pPr>
            <a:r>
              <a:rPr lang="en-US" sz="1900" dirty="0">
                <a:solidFill>
                  <a:srgbClr val="1B2B2B"/>
                </a:solidFill>
                <a:highlight>
                  <a:srgbClr val="CFE3CF"/>
                </a:highlight>
                <a:latin typeface="DM Sans" pitchFamily="34" charset="0"/>
                <a:ea typeface="DM Sans" pitchFamily="34" charset="-122"/>
                <a:cs typeface="DM Sans" pitchFamily="34" charset="-120"/>
              </a:rPr>
              <a:t>the base</a:t>
            </a:r>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 every future raise is built on.</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Close-up of an offer letter on a desk, a pen resting on it.</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The math nobody shows you</a:t>
            </a:r>
            <a:endParaRPr lang="en-US" sz="30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4400" b="1" dirty="0">
                <a:solidFill>
                  <a:srgbClr val="1E4A4A"/>
                </a:solidFill>
                <a:latin typeface="Cormorant Garamond" pitchFamily="34" charset="0"/>
                <a:ea typeface="Cormorant Garamond" pitchFamily="34" charset="-122"/>
                <a:cs typeface="Cormorant Garamond" pitchFamily="34" charset="-120"/>
              </a:rPr>
              <a:t>Every year after</a:t>
            </a:r>
            <a:endParaRPr lang="en-US" sz="44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Raises, bonuses, retirement contributions and your next offer letter </a:t>
            </a:r>
            <a:pPr algn="l" indent="0" marL="0">
              <a:lnSpc>
                <a:spcPct val="115000"/>
              </a:lnSpc>
              <a:buNone/>
            </a:pPr>
            <a:r>
              <a:rPr lang="en-US" sz="1900" dirty="0">
                <a:solidFill>
                  <a:srgbClr val="1B2B2B"/>
                </a:solidFill>
                <a:highlight>
                  <a:srgbClr val="CFE3CF"/>
                </a:highlight>
                <a:latin typeface="DM Sans" pitchFamily="34" charset="0"/>
                <a:ea typeface="DM Sans" pitchFamily="34" charset="-122"/>
                <a:cs typeface="DM Sans" pitchFamily="34" charset="-120"/>
              </a:rPr>
              <a:t>all stack on that number.</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Stack of documents: pay stubs, a 401(k) statement, an offer letter, fanned out.</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The math nobody shows you</a:t>
            </a:r>
            <a:endParaRPr lang="en-US" sz="30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8800" b="1" dirty="0">
                <a:solidFill>
                  <a:srgbClr val="1E4A4A"/>
                </a:solidFill>
                <a:latin typeface="Cormorant Garamond" pitchFamily="34" charset="0"/>
                <a:ea typeface="Cormorant Garamond" pitchFamily="34" charset="-122"/>
                <a:cs typeface="Cormorant Garamond" pitchFamily="34" charset="-120"/>
              </a:rPr>
              <a:t>$100,000s</a:t>
            </a:r>
            <a:endParaRPr lang="en-US" sz="88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One more year of waiting can cost you </a:t>
            </a:r>
            <a:pPr algn="l" indent="0" marL="0">
              <a:lnSpc>
                <a:spcPct val="115000"/>
              </a:lnSpc>
              <a:buNone/>
            </a:pPr>
            <a:r>
              <a:rPr lang="en-US" sz="1900" dirty="0">
                <a:solidFill>
                  <a:srgbClr val="1B2B2B"/>
                </a:solidFill>
                <a:highlight>
                  <a:srgbClr val="CFE3CF"/>
                </a:highlight>
                <a:latin typeface="DM Sans" pitchFamily="34" charset="0"/>
                <a:ea typeface="DM Sans" pitchFamily="34" charset="-122"/>
                <a:cs typeface="DM Sans" pitchFamily="34" charset="-120"/>
              </a:rPr>
              <a:t>hundreds of thousands of dollars</a:t>
            </a:r>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 over a career.</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reviewing a financial chart on a laptop, reflection of the screen in her glasses.</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in a car in a parking garage after work, engine off, staring ahead. Not crying, just tired.</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The emotional cost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compounds faster.</a:t>
            </a:r>
            <a:endParaRPr lang="en-US" sz="34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Every time you stay quiet, minimize what you did or wait to be noticed, you practice the exact pattern that's keeping you stuck.</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leading a discussion at a whiteboard, a laptop open with an AI tool on the table behind her.</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4000" b="1" dirty="0">
                <a:solidFill>
                  <a:srgbClr val="1B2B2B"/>
                </a:solidFill>
                <a:latin typeface="Cormorant Garamond" pitchFamily="34" charset="0"/>
                <a:ea typeface="Cormorant Garamond" pitchFamily="34" charset="-122"/>
                <a:cs typeface="Cormorant Garamond" pitchFamily="34" charset="-120"/>
              </a:rPr>
              <a:t>And the market </a:t>
            </a:r>
            <a:pPr algn="l" indent="0" marL="0">
              <a:lnSpc>
                <a:spcPct val="95000"/>
              </a:lnSpc>
              <a:buNone/>
            </a:pPr>
            <a:r>
              <a:rPr lang="en-US" sz="4000" b="1" dirty="0">
                <a:solidFill>
                  <a:srgbClr val="1B2B2B"/>
                </a:solidFill>
                <a:highlight>
                  <a:srgbClr val="CFE3CF"/>
                </a:highlight>
                <a:latin typeface="Cormorant Garamond" pitchFamily="34" charset="0"/>
                <a:ea typeface="Cormorant Garamond" pitchFamily="34" charset="-122"/>
                <a:cs typeface="Cormorant Garamond" pitchFamily="34" charset="-120"/>
              </a:rPr>
              <a:t>just shifted.</a:t>
            </a:r>
            <a:endParaRPr lang="en-US" sz="40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With AI, you no longer need to be the smartest person in the room. What matters now is what technology can't replicate.</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48640"/>
            <a:ext cx="6766560" cy="1005840"/>
          </a:xfrm>
          <a:prstGeom prst="rect">
            <a:avLst/>
          </a:prstGeom>
          <a:noFill/>
          <a:ln/>
        </p:spPr>
        <p:txBody>
          <a:bodyPr wrap="square" lIns="0" tIns="0" rIns="0" bIns="0" rtlCol="0" anchor="b">
            <a:normAutofit/>
          </a:bodyPr>
          <a:lstStyle/>
          <a:p>
            <a:pPr algn="l" indent="0" marL="0">
              <a:lnSpc>
                <a:spcPct val="95000"/>
              </a:lnSpc>
              <a:buNone/>
            </a:pPr>
            <a:r>
              <a:rPr lang="en-US" sz="3800" b="1" dirty="0">
                <a:solidFill>
                  <a:srgbClr val="1B2B2B"/>
                </a:solidFill>
                <a:latin typeface="Cormorant Garamond" pitchFamily="34" charset="0"/>
                <a:ea typeface="Cormorant Garamond" pitchFamily="34" charset="-122"/>
                <a:cs typeface="Cormorant Garamond" pitchFamily="34" charset="-120"/>
              </a:rPr>
              <a:t>What AI </a:t>
            </a:r>
            <a:pPr algn="l" indent="0" marL="0">
              <a:lnSpc>
                <a:spcPct val="95000"/>
              </a:lnSpc>
              <a:buNone/>
            </a:pPr>
            <a:r>
              <a:rPr lang="en-US" sz="3800" b="1" dirty="0">
                <a:solidFill>
                  <a:srgbClr val="1B2B2B"/>
                </a:solidFill>
                <a:highlight>
                  <a:srgbClr val="CFE3CF"/>
                </a:highlight>
                <a:latin typeface="Cormorant Garamond" pitchFamily="34" charset="0"/>
                <a:ea typeface="Cormorant Garamond" pitchFamily="34" charset="-122"/>
                <a:cs typeface="Cormorant Garamond" pitchFamily="34" charset="-120"/>
              </a:rPr>
              <a:t>can't do for you</a:t>
            </a:r>
            <a:endParaRPr lang="en-US" sz="3800" dirty="0"/>
          </a:p>
        </p:txBody>
      </p:sp>
      <p:sp>
        <p:nvSpPr>
          <p:cNvPr id="3" name="Shape 1"/>
          <p:cNvSpPr/>
          <p:nvPr/>
        </p:nvSpPr>
        <p:spPr>
          <a:xfrm>
            <a:off x="640080" y="1874520"/>
            <a:ext cx="502920" cy="502920"/>
          </a:xfrm>
          <a:prstGeom prst="ellipse">
            <a:avLst/>
          </a:prstGeom>
          <a:solidFill>
            <a:srgbClr val="1E4A4A"/>
          </a:solidFill>
          <a:ln w="12700">
            <a:solidFill>
              <a:srgbClr val="1E4A4A"/>
            </a:solidFill>
            <a:prstDash val="solid"/>
          </a:ln>
        </p:spPr>
      </p:sp>
      <p:sp>
        <p:nvSpPr>
          <p:cNvPr id="4" name="Text 2"/>
          <p:cNvSpPr txBox="1"/>
          <p:nvPr/>
        </p:nvSpPr>
        <p:spPr>
          <a:xfrm>
            <a:off x="640080" y="187452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1</a:t>
            </a:r>
            <a:endParaRPr lang="en-US" sz="1800" dirty="0"/>
          </a:p>
        </p:txBody>
      </p:sp>
      <p:sp>
        <p:nvSpPr>
          <p:cNvPr id="5" name="Text 3"/>
          <p:cNvSpPr txBox="1"/>
          <p:nvPr/>
        </p:nvSpPr>
        <p:spPr>
          <a:xfrm>
            <a:off x="1371600" y="182880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Think strategically and exercise judgment</a:t>
            </a:r>
            <a:endParaRPr lang="en-US" sz="1800" dirty="0"/>
          </a:p>
        </p:txBody>
      </p:sp>
      <p:sp>
        <p:nvSpPr>
          <p:cNvPr id="6" name="Shape 4"/>
          <p:cNvSpPr/>
          <p:nvPr/>
        </p:nvSpPr>
        <p:spPr>
          <a:xfrm>
            <a:off x="640080" y="2743200"/>
            <a:ext cx="502920" cy="502920"/>
          </a:xfrm>
          <a:prstGeom prst="ellipse">
            <a:avLst/>
          </a:prstGeom>
          <a:solidFill>
            <a:srgbClr val="1E4A4A"/>
          </a:solidFill>
          <a:ln w="12700">
            <a:solidFill>
              <a:srgbClr val="1E4A4A"/>
            </a:solidFill>
            <a:prstDash val="solid"/>
          </a:ln>
        </p:spPr>
      </p:sp>
      <p:sp>
        <p:nvSpPr>
          <p:cNvPr id="7" name="Text 5"/>
          <p:cNvSpPr txBox="1"/>
          <p:nvPr/>
        </p:nvSpPr>
        <p:spPr>
          <a:xfrm>
            <a:off x="640080" y="274320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2</a:t>
            </a:r>
            <a:endParaRPr lang="en-US" sz="1800" dirty="0"/>
          </a:p>
        </p:txBody>
      </p:sp>
      <p:sp>
        <p:nvSpPr>
          <p:cNvPr id="8" name="Text 6"/>
          <p:cNvSpPr txBox="1"/>
          <p:nvPr/>
        </p:nvSpPr>
        <p:spPr>
          <a:xfrm>
            <a:off x="1371600" y="269748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Communicate with influence</a:t>
            </a:r>
            <a:endParaRPr lang="en-US" sz="1800" dirty="0"/>
          </a:p>
        </p:txBody>
      </p:sp>
      <p:sp>
        <p:nvSpPr>
          <p:cNvPr id="9" name="Shape 7"/>
          <p:cNvSpPr/>
          <p:nvPr/>
        </p:nvSpPr>
        <p:spPr>
          <a:xfrm>
            <a:off x="640080" y="3611880"/>
            <a:ext cx="502920" cy="502920"/>
          </a:xfrm>
          <a:prstGeom prst="ellipse">
            <a:avLst/>
          </a:prstGeom>
          <a:solidFill>
            <a:srgbClr val="1E4A4A"/>
          </a:solidFill>
          <a:ln w="12700">
            <a:solidFill>
              <a:srgbClr val="1E4A4A"/>
            </a:solidFill>
            <a:prstDash val="solid"/>
          </a:ln>
        </p:spPr>
      </p:sp>
      <p:sp>
        <p:nvSpPr>
          <p:cNvPr id="10" name="Text 8"/>
          <p:cNvSpPr txBox="1"/>
          <p:nvPr/>
        </p:nvSpPr>
        <p:spPr>
          <a:xfrm>
            <a:off x="640080" y="361188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3</a:t>
            </a:r>
            <a:endParaRPr lang="en-US" sz="1800" dirty="0"/>
          </a:p>
        </p:txBody>
      </p:sp>
      <p:sp>
        <p:nvSpPr>
          <p:cNvPr id="11" name="Text 9"/>
          <p:cNvSpPr txBox="1"/>
          <p:nvPr/>
        </p:nvSpPr>
        <p:spPr>
          <a:xfrm>
            <a:off x="1371600" y="356616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Build real relationships</a:t>
            </a:r>
            <a:endParaRPr lang="en-US" sz="1800" dirty="0"/>
          </a:p>
        </p:txBody>
      </p:sp>
      <p:sp>
        <p:nvSpPr>
          <p:cNvPr id="12" name="Shape 10"/>
          <p:cNvSpPr/>
          <p:nvPr/>
        </p:nvSpPr>
        <p:spPr>
          <a:xfrm>
            <a:off x="640080" y="4480560"/>
            <a:ext cx="502920" cy="502920"/>
          </a:xfrm>
          <a:prstGeom prst="ellipse">
            <a:avLst/>
          </a:prstGeom>
          <a:solidFill>
            <a:srgbClr val="1E4A4A"/>
          </a:solidFill>
          <a:ln w="12700">
            <a:solidFill>
              <a:srgbClr val="1E4A4A"/>
            </a:solidFill>
            <a:prstDash val="solid"/>
          </a:ln>
        </p:spPr>
      </p:sp>
      <p:sp>
        <p:nvSpPr>
          <p:cNvPr id="13" name="Text 11"/>
          <p:cNvSpPr txBox="1"/>
          <p:nvPr/>
        </p:nvSpPr>
        <p:spPr>
          <a:xfrm>
            <a:off x="640080" y="448056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4</a:t>
            </a:r>
            <a:endParaRPr lang="en-US" sz="1800" dirty="0"/>
          </a:p>
        </p:txBody>
      </p:sp>
      <p:sp>
        <p:nvSpPr>
          <p:cNvPr id="14" name="Text 12"/>
          <p:cNvSpPr txBox="1"/>
          <p:nvPr/>
        </p:nvSpPr>
        <p:spPr>
          <a:xfrm>
            <a:off x="1371600" y="443484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Advocate for your ideas</a:t>
            </a:r>
            <a:endParaRPr lang="en-US" sz="1800" dirty="0"/>
          </a:p>
        </p:txBody>
      </p:sp>
      <p:sp>
        <p:nvSpPr>
          <p:cNvPr id="15" name="Shape 13"/>
          <p:cNvSpPr/>
          <p:nvPr/>
        </p:nvSpPr>
        <p:spPr>
          <a:xfrm>
            <a:off x="640080" y="5349240"/>
            <a:ext cx="502920" cy="502920"/>
          </a:xfrm>
          <a:prstGeom prst="ellipse">
            <a:avLst/>
          </a:prstGeom>
          <a:solidFill>
            <a:srgbClr val="1E4A4A"/>
          </a:solidFill>
          <a:ln w="12700">
            <a:solidFill>
              <a:srgbClr val="1E4A4A"/>
            </a:solidFill>
            <a:prstDash val="solid"/>
          </a:ln>
        </p:spPr>
      </p:sp>
      <p:sp>
        <p:nvSpPr>
          <p:cNvPr id="16" name="Text 14"/>
          <p:cNvSpPr txBox="1"/>
          <p:nvPr/>
        </p:nvSpPr>
        <p:spPr>
          <a:xfrm>
            <a:off x="640080" y="534924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5</a:t>
            </a:r>
            <a:endParaRPr lang="en-US" sz="1800" dirty="0"/>
          </a:p>
        </p:txBody>
      </p:sp>
      <p:sp>
        <p:nvSpPr>
          <p:cNvPr id="17" name="Text 15"/>
          <p:cNvSpPr txBox="1"/>
          <p:nvPr/>
        </p:nvSpPr>
        <p:spPr>
          <a:xfrm>
            <a:off x="1371600" y="530352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Lead with confidence</a:t>
            </a:r>
            <a:endParaRPr lang="en-US" sz="1800" dirty="0"/>
          </a:p>
        </p:txBody>
      </p:sp>
      <p:sp>
        <p:nvSpPr>
          <p:cNvPr id="18" name="Shape 16"/>
          <p:cNvSpPr/>
          <p:nvPr/>
        </p:nvSpPr>
        <p:spPr>
          <a:xfrm>
            <a:off x="7863840" y="548640"/>
            <a:ext cx="3703320" cy="5760720"/>
          </a:xfrm>
          <a:prstGeom prst="roundRect">
            <a:avLst>
              <a:gd name="adj" fmla="val 2963"/>
            </a:avLst>
          </a:prstGeom>
          <a:solidFill>
            <a:srgbClr val="E1F5EE"/>
          </a:solidFill>
          <a:ln w="15875">
            <a:solidFill>
              <a:srgbClr val="8AAF8A"/>
            </a:solidFill>
            <a:prstDash val="dash"/>
          </a:ln>
        </p:spPr>
      </p:sp>
      <p:sp>
        <p:nvSpPr>
          <p:cNvPr id="19" name="Text 17"/>
          <p:cNvSpPr txBox="1"/>
          <p:nvPr/>
        </p:nvSpPr>
        <p:spPr>
          <a:xfrm>
            <a:off x="8160106" y="844906"/>
            <a:ext cx="3110789"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20" name="Text 18"/>
          <p:cNvSpPr txBox="1"/>
          <p:nvPr/>
        </p:nvSpPr>
        <p:spPr>
          <a:xfrm>
            <a:off x="8160106" y="1256386"/>
            <a:ext cx="3110789"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Close-up of two women shaking hands across a table, both smiling.</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1097280" y="1097280"/>
            <a:ext cx="9997135" cy="2926080"/>
          </a:xfrm>
          <a:prstGeom prst="rect">
            <a:avLst/>
          </a:prstGeom>
          <a:noFill/>
          <a:ln/>
        </p:spPr>
        <p:txBody>
          <a:bodyPr wrap="square" lIns="0" tIns="0" rIns="0" bIns="0" rtlCol="0" anchor="b">
            <a:normAutofit/>
          </a:bodyPr>
          <a:lstStyle/>
          <a:p>
            <a:pPr algn="ctr" indent="0" marL="0">
              <a:lnSpc>
                <a:spcPct val="95000"/>
              </a:lnSpc>
              <a:buNone/>
            </a:pPr>
            <a:r>
              <a:rPr lang="en-US" sz="4100" b="1" dirty="0">
                <a:solidFill>
                  <a:srgbClr val="FFFFFF"/>
                </a:solidFill>
                <a:latin typeface="Cormorant Garamond" pitchFamily="34" charset="0"/>
                <a:ea typeface="Cormorant Garamond" pitchFamily="34" charset="-122"/>
                <a:cs typeface="Cormorant Garamond" pitchFamily="34" charset="-120"/>
              </a:rPr>
              <a:t>Executive presence is becoming </a:t>
            </a:r>
            <a:pPr algn="ctr" indent="0" marL="0">
              <a:lnSpc>
                <a:spcPct val="95000"/>
              </a:lnSpc>
              <a:buNone/>
            </a:pPr>
            <a:r>
              <a:rPr lang="en-US" sz="4100" b="1" dirty="0">
                <a:solidFill>
                  <a:srgbClr val="B7D3B7"/>
                </a:solidFill>
                <a:latin typeface="Cormorant Garamond" pitchFamily="34" charset="0"/>
                <a:ea typeface="Cormorant Garamond" pitchFamily="34" charset="-122"/>
                <a:cs typeface="Cormorant Garamond" pitchFamily="34" charset="-120"/>
              </a:rPr>
              <a:t>the competitive advantage.</a:t>
            </a:r>
            <a:endParaRPr lang="en-US" sz="4100" dirty="0"/>
          </a:p>
        </p:txBody>
      </p:sp>
      <p:sp>
        <p:nvSpPr>
          <p:cNvPr id="3" name="Text 1"/>
          <p:cNvSpPr txBox="1"/>
          <p:nvPr/>
        </p:nvSpPr>
        <p:spPr>
          <a:xfrm>
            <a:off x="1645920" y="4297680"/>
            <a:ext cx="8899855" cy="146304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Knowing what makes you unique, and how to get paid for it, starts with knowing yourself.</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 at a whiteboard or flip chart, marker in hand, mid-explanation, looking back at the audience.</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4000" b="1" dirty="0">
                <a:solidFill>
                  <a:srgbClr val="1B2B2B"/>
                </a:solidFill>
                <a:latin typeface="Cormorant Garamond" pitchFamily="34" charset="0"/>
                <a:ea typeface="Cormorant Garamond" pitchFamily="34" charset="-122"/>
                <a:cs typeface="Cormorant Garamond" pitchFamily="34" charset="-120"/>
              </a:rPr>
              <a:t>So how do you </a:t>
            </a:r>
            <a:pPr algn="l" indent="0" marL="0">
              <a:lnSpc>
                <a:spcPct val="95000"/>
              </a:lnSpc>
              <a:buNone/>
            </a:pPr>
            <a:r>
              <a:rPr lang="en-US" sz="4000" b="1" dirty="0">
                <a:solidFill>
                  <a:srgbClr val="1B2B2B"/>
                </a:solidFill>
                <a:highlight>
                  <a:srgbClr val="CFE3CF"/>
                </a:highlight>
                <a:latin typeface="Cormorant Garamond" pitchFamily="34" charset="0"/>
                <a:ea typeface="Cormorant Garamond" pitchFamily="34" charset="-122"/>
                <a:cs typeface="Cormorant Garamond" pitchFamily="34" charset="-120"/>
              </a:rPr>
              <a:t>close the gap?</a:t>
            </a:r>
            <a:endParaRPr lang="en-US" sz="40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Twenty-six years of Wall Street negotiation plus five years of deep identity work. I put both into one framework.</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48640"/>
            <a:ext cx="10911535" cy="914400"/>
          </a:xfrm>
          <a:prstGeom prst="rect">
            <a:avLst/>
          </a:prstGeom>
          <a:noFill/>
          <a:ln/>
        </p:spPr>
        <p:txBody>
          <a:bodyPr wrap="square" lIns="0" tIns="0" rIns="0" bIns="0" rtlCol="0" anchor="b">
            <a:normAutofit/>
          </a:bodyPr>
          <a:lstStyle/>
          <a:p>
            <a:pPr algn="ctr" indent="0" marL="0">
              <a:lnSpc>
                <a:spcPct val="95000"/>
              </a:lnSpc>
              <a:buNone/>
            </a:pPr>
            <a:r>
              <a:rPr lang="en-US" sz="4000" b="1" dirty="0">
                <a:solidFill>
                  <a:srgbClr val="1B2B2B"/>
                </a:solidFill>
                <a:latin typeface="Cormorant Garamond" pitchFamily="34" charset="0"/>
                <a:ea typeface="Cormorant Garamond" pitchFamily="34" charset="-122"/>
                <a:cs typeface="Cormorant Garamond" pitchFamily="34" charset="-120"/>
              </a:rPr>
              <a:t>The V.O.I.C.E. Framework™</a:t>
            </a:r>
            <a:endParaRPr lang="en-US" sz="4000" dirty="0"/>
          </a:p>
        </p:txBody>
      </p:sp>
      <p:sp>
        <p:nvSpPr>
          <p:cNvPr id="3" name="Shape 1"/>
          <p:cNvSpPr/>
          <p:nvPr/>
        </p:nvSpPr>
        <p:spPr>
          <a:xfrm>
            <a:off x="953994" y="2011680"/>
            <a:ext cx="1554480" cy="1554480"/>
          </a:xfrm>
          <a:prstGeom prst="ellipse">
            <a:avLst/>
          </a:prstGeom>
          <a:solidFill>
            <a:srgbClr val="1E4A4A"/>
          </a:solidFill>
          <a:ln w="12700">
            <a:solidFill>
              <a:srgbClr val="1E4A4A"/>
            </a:solidFill>
            <a:prstDash val="solid"/>
          </a:ln>
        </p:spPr>
      </p:sp>
      <p:sp>
        <p:nvSpPr>
          <p:cNvPr id="4" name="Text 2"/>
          <p:cNvSpPr txBox="1"/>
          <p:nvPr/>
        </p:nvSpPr>
        <p:spPr>
          <a:xfrm>
            <a:off x="953994"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V</a:t>
            </a:r>
            <a:endParaRPr lang="en-US" sz="6400" dirty="0"/>
          </a:p>
        </p:txBody>
      </p:sp>
      <p:sp>
        <p:nvSpPr>
          <p:cNvPr id="5" name="Text 3"/>
          <p:cNvSpPr txBox="1"/>
          <p:nvPr/>
        </p:nvSpPr>
        <p:spPr>
          <a:xfrm>
            <a:off x="502920" y="3840480"/>
            <a:ext cx="2456627" cy="1280160"/>
          </a:xfrm>
          <a:prstGeom prst="rect">
            <a:avLst/>
          </a:prstGeom>
          <a:noFill/>
          <a:ln/>
        </p:spPr>
        <p:txBody>
          <a:bodyPr wrap="square" lIns="0" tIns="0" rIns="0" bIns="0" rtlCol="0" anchor="t">
            <a:normAutofit/>
          </a:bodyPr>
          <a:lstStyle/>
          <a:p>
            <a:pPr algn="ctr" indent="0" marL="0">
              <a:lnSpc>
                <a:spcPct val="100000"/>
              </a:lnSpc>
              <a:buNone/>
            </a:pPr>
            <a:r>
              <a:rPr lang="en-US" sz="2600" b="1" dirty="0">
                <a:solidFill>
                  <a:srgbClr val="1E4A4A"/>
                </a:solidFill>
                <a:latin typeface="Cormorant Garamond" pitchFamily="34" charset="0"/>
                <a:ea typeface="Cormorant Garamond" pitchFamily="34" charset="-122"/>
                <a:cs typeface="Cormorant Garamond" pitchFamily="34" charset="-120"/>
              </a:rPr>
              <a:t>Value</a:t>
            </a:r>
            <a:endParaRPr lang="en-US" sz="2600" dirty="0"/>
          </a:p>
        </p:txBody>
      </p:sp>
      <p:sp>
        <p:nvSpPr>
          <p:cNvPr id="6" name="Shape 4"/>
          <p:cNvSpPr/>
          <p:nvPr/>
        </p:nvSpPr>
        <p:spPr>
          <a:xfrm>
            <a:off x="3136301" y="2011680"/>
            <a:ext cx="1554480" cy="1554480"/>
          </a:xfrm>
          <a:prstGeom prst="ellipse">
            <a:avLst/>
          </a:prstGeom>
          <a:solidFill>
            <a:srgbClr val="1E4A4A"/>
          </a:solidFill>
          <a:ln w="12700">
            <a:solidFill>
              <a:srgbClr val="1E4A4A"/>
            </a:solidFill>
            <a:prstDash val="solid"/>
          </a:ln>
        </p:spPr>
      </p:sp>
      <p:sp>
        <p:nvSpPr>
          <p:cNvPr id="7" name="Text 5"/>
          <p:cNvSpPr txBox="1"/>
          <p:nvPr/>
        </p:nvSpPr>
        <p:spPr>
          <a:xfrm>
            <a:off x="3136301"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O</a:t>
            </a:r>
            <a:endParaRPr lang="en-US" sz="6400" dirty="0"/>
          </a:p>
        </p:txBody>
      </p:sp>
      <p:sp>
        <p:nvSpPr>
          <p:cNvPr id="8" name="Text 6"/>
          <p:cNvSpPr txBox="1"/>
          <p:nvPr/>
        </p:nvSpPr>
        <p:spPr>
          <a:xfrm>
            <a:off x="2685227" y="3840480"/>
            <a:ext cx="2456627" cy="1280160"/>
          </a:xfrm>
          <a:prstGeom prst="rect">
            <a:avLst/>
          </a:prstGeom>
          <a:noFill/>
          <a:ln/>
        </p:spPr>
        <p:txBody>
          <a:bodyPr wrap="square" lIns="0" tIns="0" rIns="0" bIns="0" rtlCol="0" anchor="t">
            <a:normAutofit/>
          </a:bodyPr>
          <a:lstStyle/>
          <a:p>
            <a:pPr algn="ctr" indent="0" marL="0">
              <a:lnSpc>
                <a:spcPct val="100000"/>
              </a:lnSpc>
              <a:buNone/>
            </a:pPr>
            <a:r>
              <a:rPr lang="en-US" sz="2600" b="1" dirty="0">
                <a:solidFill>
                  <a:srgbClr val="1E4A4A"/>
                </a:solidFill>
                <a:latin typeface="Cormorant Garamond" pitchFamily="34" charset="0"/>
                <a:ea typeface="Cormorant Garamond" pitchFamily="34" charset="-122"/>
                <a:cs typeface="Cormorant Garamond" pitchFamily="34" charset="-120"/>
              </a:rPr>
              <a:t>Ownership</a:t>
            </a:r>
            <a:endParaRPr lang="en-US" sz="2600" dirty="0"/>
          </a:p>
        </p:txBody>
      </p:sp>
      <p:sp>
        <p:nvSpPr>
          <p:cNvPr id="9" name="Shape 7"/>
          <p:cNvSpPr/>
          <p:nvPr/>
        </p:nvSpPr>
        <p:spPr>
          <a:xfrm>
            <a:off x="5318608" y="2011680"/>
            <a:ext cx="1554480" cy="1554480"/>
          </a:xfrm>
          <a:prstGeom prst="ellipse">
            <a:avLst/>
          </a:prstGeom>
          <a:solidFill>
            <a:srgbClr val="1E4A4A"/>
          </a:solidFill>
          <a:ln w="12700">
            <a:solidFill>
              <a:srgbClr val="1E4A4A"/>
            </a:solidFill>
            <a:prstDash val="solid"/>
          </a:ln>
        </p:spPr>
      </p:sp>
      <p:sp>
        <p:nvSpPr>
          <p:cNvPr id="10" name="Text 8"/>
          <p:cNvSpPr txBox="1"/>
          <p:nvPr/>
        </p:nvSpPr>
        <p:spPr>
          <a:xfrm>
            <a:off x="5318608"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I</a:t>
            </a:r>
            <a:endParaRPr lang="en-US" sz="6400" dirty="0"/>
          </a:p>
        </p:txBody>
      </p:sp>
      <p:sp>
        <p:nvSpPr>
          <p:cNvPr id="11" name="Text 9"/>
          <p:cNvSpPr txBox="1"/>
          <p:nvPr/>
        </p:nvSpPr>
        <p:spPr>
          <a:xfrm>
            <a:off x="4867534" y="3840480"/>
            <a:ext cx="2456627" cy="1280160"/>
          </a:xfrm>
          <a:prstGeom prst="rect">
            <a:avLst/>
          </a:prstGeom>
          <a:noFill/>
          <a:ln/>
        </p:spPr>
        <p:txBody>
          <a:bodyPr wrap="square" lIns="0" tIns="0" rIns="0" bIns="0" rtlCol="0" anchor="t">
            <a:normAutofit/>
          </a:bodyPr>
          <a:lstStyle/>
          <a:p>
            <a:pPr algn="ctr" indent="0" marL="0">
              <a:lnSpc>
                <a:spcPct val="100000"/>
              </a:lnSpc>
              <a:buNone/>
            </a:pPr>
            <a:r>
              <a:rPr lang="en-US" sz="2600" b="1" dirty="0">
                <a:solidFill>
                  <a:srgbClr val="1E4A4A"/>
                </a:solidFill>
                <a:latin typeface="Cormorant Garamond" pitchFamily="34" charset="0"/>
                <a:ea typeface="Cormorant Garamond" pitchFamily="34" charset="-122"/>
                <a:cs typeface="Cormorant Garamond" pitchFamily="34" charset="-120"/>
              </a:rPr>
              <a:t>Identity</a:t>
            </a:r>
            <a:endParaRPr lang="en-US" sz="2600" dirty="0"/>
          </a:p>
        </p:txBody>
      </p:sp>
      <p:sp>
        <p:nvSpPr>
          <p:cNvPr id="12" name="Shape 10"/>
          <p:cNvSpPr/>
          <p:nvPr/>
        </p:nvSpPr>
        <p:spPr>
          <a:xfrm>
            <a:off x="7500915" y="2011680"/>
            <a:ext cx="1554480" cy="1554480"/>
          </a:xfrm>
          <a:prstGeom prst="ellipse">
            <a:avLst/>
          </a:prstGeom>
          <a:solidFill>
            <a:srgbClr val="1E4A4A"/>
          </a:solidFill>
          <a:ln w="12700">
            <a:solidFill>
              <a:srgbClr val="1E4A4A"/>
            </a:solidFill>
            <a:prstDash val="solid"/>
          </a:ln>
        </p:spPr>
      </p:sp>
      <p:sp>
        <p:nvSpPr>
          <p:cNvPr id="13" name="Text 11"/>
          <p:cNvSpPr txBox="1"/>
          <p:nvPr/>
        </p:nvSpPr>
        <p:spPr>
          <a:xfrm>
            <a:off x="7500915"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C</a:t>
            </a:r>
            <a:endParaRPr lang="en-US" sz="6400" dirty="0"/>
          </a:p>
        </p:txBody>
      </p:sp>
      <p:sp>
        <p:nvSpPr>
          <p:cNvPr id="14" name="Text 12"/>
          <p:cNvSpPr txBox="1"/>
          <p:nvPr/>
        </p:nvSpPr>
        <p:spPr>
          <a:xfrm>
            <a:off x="7049841" y="3840480"/>
            <a:ext cx="2456627" cy="1280160"/>
          </a:xfrm>
          <a:prstGeom prst="rect">
            <a:avLst/>
          </a:prstGeom>
          <a:noFill/>
          <a:ln/>
        </p:spPr>
        <p:txBody>
          <a:bodyPr wrap="square" lIns="0" tIns="0" rIns="0" bIns="0" rtlCol="0" anchor="t">
            <a:normAutofit/>
          </a:bodyPr>
          <a:lstStyle/>
          <a:p>
            <a:pPr algn="ctr" indent="0" marL="0">
              <a:lnSpc>
                <a:spcPct val="100000"/>
              </a:lnSpc>
              <a:buNone/>
            </a:pPr>
            <a:r>
              <a:rPr lang="en-US" sz="2200" b="1" dirty="0">
                <a:solidFill>
                  <a:srgbClr val="1E4A4A"/>
                </a:solidFill>
                <a:latin typeface="Cormorant Garamond" pitchFamily="34" charset="0"/>
                <a:ea typeface="Cormorant Garamond" pitchFamily="34" charset="-122"/>
                <a:cs typeface="Cormorant Garamond" pitchFamily="34" charset="-120"/>
              </a:rPr>
              <a:t>Communication</a:t>
            </a:r>
            <a:endParaRPr lang="en-US" sz="2200" dirty="0"/>
          </a:p>
        </p:txBody>
      </p:sp>
      <p:sp>
        <p:nvSpPr>
          <p:cNvPr id="15" name="Shape 13"/>
          <p:cNvSpPr/>
          <p:nvPr/>
        </p:nvSpPr>
        <p:spPr>
          <a:xfrm>
            <a:off x="9683222" y="2011680"/>
            <a:ext cx="1554480" cy="1554480"/>
          </a:xfrm>
          <a:prstGeom prst="ellipse">
            <a:avLst/>
          </a:prstGeom>
          <a:solidFill>
            <a:srgbClr val="1E4A4A"/>
          </a:solidFill>
          <a:ln w="12700">
            <a:solidFill>
              <a:srgbClr val="1E4A4A"/>
            </a:solidFill>
            <a:prstDash val="solid"/>
          </a:ln>
        </p:spPr>
      </p:sp>
      <p:sp>
        <p:nvSpPr>
          <p:cNvPr id="16" name="Text 14"/>
          <p:cNvSpPr txBox="1"/>
          <p:nvPr/>
        </p:nvSpPr>
        <p:spPr>
          <a:xfrm>
            <a:off x="9683222"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E</a:t>
            </a:r>
            <a:endParaRPr lang="en-US" sz="6400" dirty="0"/>
          </a:p>
        </p:txBody>
      </p:sp>
      <p:sp>
        <p:nvSpPr>
          <p:cNvPr id="17" name="Text 15"/>
          <p:cNvSpPr txBox="1"/>
          <p:nvPr/>
        </p:nvSpPr>
        <p:spPr>
          <a:xfrm>
            <a:off x="9232148" y="3840480"/>
            <a:ext cx="2456627" cy="1280160"/>
          </a:xfrm>
          <a:prstGeom prst="rect">
            <a:avLst/>
          </a:prstGeom>
          <a:noFill/>
          <a:ln/>
        </p:spPr>
        <p:txBody>
          <a:bodyPr wrap="square" lIns="0" tIns="0" rIns="0" bIns="0" rtlCol="0" anchor="t">
            <a:normAutofit/>
          </a:bodyPr>
          <a:lstStyle/>
          <a:p>
            <a:pPr algn="ctr" indent="0" marL="0">
              <a:lnSpc>
                <a:spcPct val="100000"/>
              </a:lnSpc>
              <a:buNone/>
            </a:pPr>
            <a:r>
              <a:rPr lang="en-US" sz="2600" b="1" dirty="0">
                <a:solidFill>
                  <a:srgbClr val="1E4A4A"/>
                </a:solidFill>
                <a:latin typeface="Cormorant Garamond" pitchFamily="34" charset="0"/>
                <a:ea typeface="Cormorant Garamond" pitchFamily="34" charset="-122"/>
                <a:cs typeface="Cormorant Garamond" pitchFamily="34" charset="-120"/>
              </a:rPr>
              <a:t>Execution</a:t>
            </a:r>
            <a:endParaRPr lang="en-US" sz="2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1097280" y="1097280"/>
            <a:ext cx="9997135" cy="2926080"/>
          </a:xfrm>
          <a:prstGeom prst="rect">
            <a:avLst/>
          </a:prstGeom>
          <a:noFill/>
          <a:ln/>
        </p:spPr>
        <p:txBody>
          <a:bodyPr wrap="square" lIns="0" tIns="0" rIns="0" bIns="0" rtlCol="0" anchor="b">
            <a:normAutofit/>
          </a:bodyPr>
          <a:lstStyle/>
          <a:p>
            <a:pPr algn="ctr" indent="0" marL="0">
              <a:lnSpc>
                <a:spcPct val="95000"/>
              </a:lnSpc>
              <a:buNone/>
            </a:pPr>
            <a:r>
              <a:rPr lang="en-US" sz="3600" b="1" dirty="0">
                <a:solidFill>
                  <a:srgbClr val="FFFFFF"/>
                </a:solidFill>
                <a:latin typeface="Cormorant Garamond" pitchFamily="34" charset="0"/>
                <a:ea typeface="Cormorant Garamond" pitchFamily="34" charset="-122"/>
                <a:cs typeface="Cormorant Garamond" pitchFamily="34" charset="-120"/>
              </a:rPr>
              <a:t>Negotiation is the vehicle. </a:t>
            </a:r>
            <a:pPr algn="ctr" indent="0" marL="0">
              <a:lnSpc>
                <a:spcPct val="95000"/>
              </a:lnSpc>
              <a:buNone/>
            </a:pPr>
            <a:r>
              <a:rPr lang="en-US" sz="3600" b="1" dirty="0">
                <a:solidFill>
                  <a:srgbClr val="B7D3B7"/>
                </a:solidFill>
                <a:latin typeface="Cormorant Garamond" pitchFamily="34" charset="0"/>
                <a:ea typeface="Cormorant Garamond" pitchFamily="34" charset="-122"/>
                <a:cs typeface="Cormorant Garamond" pitchFamily="34" charset="-120"/>
              </a:rPr>
              <a:t>Transformation is the destination.</a:t>
            </a:r>
            <a:endParaRPr lang="en-US" sz="3600" dirty="0"/>
          </a:p>
        </p:txBody>
      </p:sp>
      <p:sp>
        <p:nvSpPr>
          <p:cNvPr id="3" name="Text 1"/>
          <p:cNvSpPr txBox="1"/>
          <p:nvPr/>
        </p:nvSpPr>
        <p:spPr>
          <a:xfrm>
            <a:off x="1645920" y="4297680"/>
            <a:ext cx="8899855" cy="146304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Every part of the V.O.I.C.E. Framework combines real-world strategy with the identity work underneath it.</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640080" y="54864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THE V.O.I.C.E. FRAMEWORK · PART 1 OF 5</a:t>
            </a:r>
            <a:endParaRPr lang="en-US" sz="1200" dirty="0"/>
          </a:p>
        </p:txBody>
      </p:sp>
      <p:sp>
        <p:nvSpPr>
          <p:cNvPr id="3" name="Text 1"/>
          <p:cNvSpPr txBox="1"/>
          <p:nvPr/>
        </p:nvSpPr>
        <p:spPr>
          <a:xfrm>
            <a:off x="457200" y="1097280"/>
            <a:ext cx="3291840" cy="4572000"/>
          </a:xfrm>
          <a:prstGeom prst="rect">
            <a:avLst/>
          </a:prstGeom>
          <a:noFill/>
          <a:ln/>
        </p:spPr>
        <p:txBody>
          <a:bodyPr wrap="square" lIns="0" tIns="0" rIns="0" bIns="0" rtlCol="0" anchor="ctr">
            <a:normAutofit/>
          </a:bodyPr>
          <a:lstStyle/>
          <a:p>
            <a:pPr algn="ctr" indent="0" marL="0">
              <a:lnSpc>
                <a:spcPct val="100000"/>
              </a:lnSpc>
              <a:buNone/>
            </a:pPr>
            <a:r>
              <a:rPr lang="en-US" sz="26000" b="1" dirty="0">
                <a:solidFill>
                  <a:srgbClr val="8AAF8A"/>
                </a:solidFill>
                <a:latin typeface="Cormorant Garamond" pitchFamily="34" charset="0"/>
                <a:ea typeface="Cormorant Garamond" pitchFamily="34" charset="-122"/>
                <a:cs typeface="Cormorant Garamond" pitchFamily="34" charset="-120"/>
              </a:rPr>
              <a:t>V</a:t>
            </a:r>
            <a:endParaRPr lang="en-US" sz="26000" dirty="0"/>
          </a:p>
        </p:txBody>
      </p:sp>
      <p:sp>
        <p:nvSpPr>
          <p:cNvPr id="4" name="Text 2"/>
          <p:cNvSpPr txBox="1"/>
          <p:nvPr/>
        </p:nvSpPr>
        <p:spPr>
          <a:xfrm>
            <a:off x="3931920" y="1737360"/>
            <a:ext cx="4114800" cy="1188720"/>
          </a:xfrm>
          <a:prstGeom prst="rect">
            <a:avLst/>
          </a:prstGeom>
          <a:noFill/>
          <a:ln/>
        </p:spPr>
        <p:txBody>
          <a:bodyPr wrap="square" lIns="0" tIns="0" rIns="0" bIns="0" rtlCol="0" anchor="b">
            <a:normAutofit/>
          </a:bodyPr>
          <a:lstStyle/>
          <a:p>
            <a:pPr algn="l" indent="0" marL="0">
              <a:lnSpc>
                <a:spcPct val="95000"/>
              </a:lnSpc>
              <a:buNone/>
            </a:pPr>
            <a:r>
              <a:rPr lang="en-US" sz="5000" b="1" dirty="0">
                <a:solidFill>
                  <a:srgbClr val="FFFFFF"/>
                </a:solidFill>
                <a:latin typeface="Cormorant Garamond" pitchFamily="34" charset="0"/>
                <a:ea typeface="Cormorant Garamond" pitchFamily="34" charset="-122"/>
                <a:cs typeface="Cormorant Garamond" pitchFamily="34" charset="-120"/>
              </a:rPr>
              <a:t>Value</a:t>
            </a:r>
            <a:endParaRPr lang="en-US" sz="5000" dirty="0"/>
          </a:p>
        </p:txBody>
      </p:sp>
      <p:sp>
        <p:nvSpPr>
          <p:cNvPr id="5" name="Text 3"/>
          <p:cNvSpPr txBox="1"/>
          <p:nvPr/>
        </p:nvSpPr>
        <p:spPr>
          <a:xfrm>
            <a:off x="3931920" y="3108960"/>
            <a:ext cx="3931920" cy="2194560"/>
          </a:xfrm>
          <a:prstGeom prst="rect">
            <a:avLst/>
          </a:prstGeom>
          <a:noFill/>
          <a:ln/>
        </p:spPr>
        <p:txBody>
          <a:bodyPr wrap="square" lIns="0" tIns="0" rIns="0" bIns="0" rtlCol="0" anchor="t">
            <a:normAutofit/>
          </a:bodyPr>
          <a:lstStyle/>
          <a:p>
            <a:pPr algn="l" indent="0" marL="0">
              <a:lnSpc>
                <a:spcPct val="105000"/>
              </a:lnSpc>
              <a:buNone/>
            </a:pPr>
            <a:r>
              <a:rPr lang="en-US" sz="2600" i="1" dirty="0">
                <a:solidFill>
                  <a:srgbClr val="E1F5EE"/>
                </a:solidFill>
                <a:latin typeface="Cormorant Garamond" pitchFamily="34" charset="0"/>
                <a:ea typeface="Cormorant Garamond" pitchFamily="34" charset="-122"/>
                <a:cs typeface="Cormorant Garamond" pitchFamily="34" charset="-120"/>
              </a:rPr>
              <a:t>Learn to see your value </a:t>
            </a:r>
            <a:pPr algn="l" indent="0" marL="0">
              <a:lnSpc>
                <a:spcPct val="105000"/>
              </a:lnSpc>
              <a:buNone/>
            </a:pPr>
            <a:r>
              <a:rPr lang="en-US" sz="2600" i="1" dirty="0">
                <a:solidFill>
                  <a:srgbClr val="B7D3B7"/>
                </a:solidFill>
                <a:latin typeface="Cormorant Garamond" pitchFamily="34" charset="0"/>
                <a:ea typeface="Cormorant Garamond" pitchFamily="34" charset="-122"/>
                <a:cs typeface="Cormorant Garamond" pitchFamily="34" charset="-120"/>
              </a:rPr>
              <a:t>before you ask others to</a:t>
            </a:r>
            <a:endParaRPr lang="en-US" sz="2600" dirty="0"/>
          </a:p>
        </p:txBody>
      </p:sp>
      <p:sp>
        <p:nvSpPr>
          <p:cNvPr id="6" name="Shape 4"/>
          <p:cNvSpPr/>
          <p:nvPr/>
        </p:nvSpPr>
        <p:spPr>
          <a:xfrm>
            <a:off x="8183880" y="0"/>
            <a:ext cx="4007815" cy="6858000"/>
          </a:xfrm>
          <a:prstGeom prst="rect">
            <a:avLst/>
          </a:prstGeom>
          <a:solidFill>
            <a:srgbClr val="2B5C5C"/>
          </a:solidFill>
          <a:ln w="15875">
            <a:solidFill>
              <a:srgbClr val="8AAF8A"/>
            </a:solidFill>
            <a:prstDash val="dash"/>
          </a:ln>
        </p:spPr>
      </p:sp>
      <p:sp>
        <p:nvSpPr>
          <p:cNvPr id="7" name="Text 5"/>
          <p:cNvSpPr txBox="1"/>
          <p:nvPr/>
        </p:nvSpPr>
        <p:spPr>
          <a:xfrm>
            <a:off x="8503920" y="320040"/>
            <a:ext cx="336773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8" name="Text 6"/>
          <p:cNvSpPr txBox="1"/>
          <p:nvPr/>
        </p:nvSpPr>
        <p:spPr>
          <a:xfrm>
            <a:off x="8503920" y="731520"/>
            <a:ext cx="336773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Woman at her desk reviewing a printed report, pen in hand, a small satisfied smile, like she just noticed something.</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914400"/>
          </a:xfrm>
          <a:prstGeom prst="rect">
            <a:avLst/>
          </a:prstGeom>
          <a:noFill/>
          <a:ln/>
        </p:spPr>
        <p:txBody>
          <a:bodyPr wrap="square" lIns="0" tIns="0" rIns="0" bIns="0" rtlCol="0" anchor="b">
            <a:normAutofit/>
          </a:bodyPr>
          <a:lstStyle/>
          <a:p>
            <a:pPr algn="l" indent="0" marL="0">
              <a:lnSpc>
                <a:spcPct val="95000"/>
              </a:lnSpc>
              <a:buNone/>
            </a:pPr>
            <a:r>
              <a:rPr lang="en-US" sz="3600" b="1" dirty="0">
                <a:solidFill>
                  <a:srgbClr val="1B2B2B"/>
                </a:solidFill>
                <a:latin typeface="Cormorant Garamond" pitchFamily="34" charset="0"/>
                <a:ea typeface="Cormorant Garamond" pitchFamily="34" charset="-122"/>
                <a:cs typeface="Cormorant Garamond" pitchFamily="34" charset="-120"/>
              </a:rPr>
              <a:t>The belief </a:t>
            </a:r>
            <a:pPr algn="l" indent="0" marL="0">
              <a:lnSpc>
                <a:spcPct val="95000"/>
              </a:lnSpc>
              <a:buNone/>
            </a:pPr>
            <a:r>
              <a:rPr lang="en-US" sz="3600" b="1" dirty="0">
                <a:solidFill>
                  <a:srgbClr val="1B2B2B"/>
                </a:solidFill>
                <a:highlight>
                  <a:srgbClr val="CFE3CF"/>
                </a:highlight>
                <a:latin typeface="Cormorant Garamond" pitchFamily="34" charset="0"/>
                <a:ea typeface="Cormorant Garamond" pitchFamily="34" charset="-122"/>
                <a:cs typeface="Cormorant Garamond" pitchFamily="34" charset="-120"/>
              </a:rPr>
              <a:t>Value breaks</a:t>
            </a:r>
            <a:endParaRPr lang="en-US" sz="3600" dirty="0"/>
          </a:p>
        </p:txBody>
      </p:sp>
      <p:sp>
        <p:nvSpPr>
          <p:cNvPr id="3" name="Shape 1"/>
          <p:cNvSpPr/>
          <p:nvPr/>
        </p:nvSpPr>
        <p:spPr>
          <a:xfrm>
            <a:off x="640080" y="1737360"/>
            <a:ext cx="5303520" cy="4480560"/>
          </a:xfrm>
          <a:prstGeom prst="roundRect">
            <a:avLst>
              <a:gd name="adj" fmla="val 2449"/>
            </a:avLst>
          </a:prstGeom>
          <a:solidFill>
            <a:srgbClr val="EFEAE2"/>
          </a:solidFill>
          <a:ln w="12700">
            <a:solidFill>
              <a:srgbClr val="EFEAE2"/>
            </a:solidFill>
            <a:prstDash val="solid"/>
          </a:ln>
        </p:spPr>
      </p:sp>
      <p:sp>
        <p:nvSpPr>
          <p:cNvPr id="4" name="Text 2"/>
          <p:cNvSpPr txBox="1"/>
          <p:nvPr/>
        </p:nvSpPr>
        <p:spPr>
          <a:xfrm>
            <a:off x="1005840" y="2103120"/>
            <a:ext cx="4572000" cy="365760"/>
          </a:xfrm>
          <a:prstGeom prst="rect">
            <a:avLst/>
          </a:prstGeom>
          <a:noFill/>
          <a:ln/>
        </p:spPr>
        <p:txBody>
          <a:bodyPr wrap="square" lIns="0" tIns="0" rIns="0" bIns="0" rtlCol="0" anchor="t">
            <a:normAutofit/>
          </a:bodyPr>
          <a:lstStyle/>
          <a:p>
            <a:pPr algn="l" indent="0" marL="0">
              <a:lnSpc>
                <a:spcPct val="100000"/>
              </a:lnSpc>
              <a:buNone/>
            </a:pPr>
            <a:r>
              <a:rPr lang="en-US" sz="1300" b="1" spc="2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005840" y="2651760"/>
            <a:ext cx="4572000" cy="3200400"/>
          </a:xfrm>
          <a:prstGeom prst="rect">
            <a:avLst/>
          </a:prstGeom>
          <a:noFill/>
          <a:ln/>
        </p:spPr>
        <p:txBody>
          <a:bodyPr wrap="square" lIns="0" tIns="0" rIns="0" bIns="0" rtlCol="0" anchor="ctr">
            <a:normAutofit/>
          </a:bodyPr>
          <a:lstStyle/>
          <a:p>
            <a:pPr algn="l" indent="0" marL="0">
              <a:lnSpc>
                <a:spcPct val="105000"/>
              </a:lnSpc>
              <a:buNone/>
            </a:pPr>
            <a:r>
              <a:rPr lang="en-US" sz="3000" b="1" dirty="0">
                <a:solidFill>
                  <a:srgbClr val="1B2B2B"/>
                </a:solidFill>
                <a:latin typeface="Cormorant Garamond" pitchFamily="34" charset="0"/>
                <a:ea typeface="Cormorant Garamond" pitchFamily="34" charset="-122"/>
                <a:cs typeface="Cormorant Garamond" pitchFamily="34" charset="-120"/>
              </a:rPr>
              <a:t>"My value is how hard I work."</a:t>
            </a:r>
            <a:endParaRPr lang="en-US" sz="3000" dirty="0"/>
          </a:p>
        </p:txBody>
      </p:sp>
      <p:sp>
        <p:nvSpPr>
          <p:cNvPr id="6" name="Shape 4"/>
          <p:cNvSpPr/>
          <p:nvPr/>
        </p:nvSpPr>
        <p:spPr>
          <a:xfrm>
            <a:off x="6263640" y="1737360"/>
            <a:ext cx="5303520" cy="4480560"/>
          </a:xfrm>
          <a:prstGeom prst="roundRect">
            <a:avLst>
              <a:gd name="adj" fmla="val 2449"/>
            </a:avLst>
          </a:prstGeom>
          <a:solidFill>
            <a:srgbClr val="1E4A4A"/>
          </a:solidFill>
          <a:ln w="12700">
            <a:solidFill>
              <a:srgbClr val="1E4A4A"/>
            </a:solidFill>
            <a:prstDash val="solid"/>
          </a:ln>
        </p:spPr>
      </p:sp>
      <p:sp>
        <p:nvSpPr>
          <p:cNvPr id="7" name="Text 5"/>
          <p:cNvSpPr txBox="1"/>
          <p:nvPr/>
        </p:nvSpPr>
        <p:spPr>
          <a:xfrm>
            <a:off x="6629400" y="2103120"/>
            <a:ext cx="4572000" cy="365760"/>
          </a:xfrm>
          <a:prstGeom prst="rect">
            <a:avLst/>
          </a:prstGeom>
          <a:noFill/>
          <a:ln/>
        </p:spPr>
        <p:txBody>
          <a:bodyPr wrap="square" lIns="0" tIns="0" rIns="0" bIns="0" rtlCol="0" anchor="t">
            <a:normAutofit/>
          </a:bodyPr>
          <a:lstStyle/>
          <a:p>
            <a:pPr algn="l" indent="0" marL="0">
              <a:lnSpc>
                <a:spcPct val="100000"/>
              </a:lnSpc>
              <a:buNone/>
            </a:pPr>
            <a:r>
              <a:rPr lang="en-US" sz="1300" b="1" spc="2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629400" y="2651760"/>
            <a:ext cx="4572000" cy="3200400"/>
          </a:xfrm>
          <a:prstGeom prst="rect">
            <a:avLst/>
          </a:prstGeom>
          <a:noFill/>
          <a:ln/>
        </p:spPr>
        <p:txBody>
          <a:bodyPr wrap="square" lIns="0" tIns="0" rIns="0" bIns="0" rtlCol="0" anchor="ctr">
            <a:normAutofit/>
          </a:bodyPr>
          <a:lstStyle/>
          <a:p>
            <a:pPr algn="l" indent="0" marL="0">
              <a:lnSpc>
                <a:spcPct val="105000"/>
              </a:lnSpc>
              <a:buNone/>
            </a:pPr>
            <a:r>
              <a:rPr lang="en-US" sz="2200" b="1" dirty="0">
                <a:solidFill>
                  <a:srgbClr val="FFFFFF"/>
                </a:solidFill>
                <a:latin typeface="Cormorant Garamond" pitchFamily="34" charset="0"/>
                <a:ea typeface="Cormorant Garamond" pitchFamily="34" charset="-122"/>
                <a:cs typeface="Cormorant Garamond" pitchFamily="34" charset="-120"/>
              </a:rPr>
              <a:t>Companies pay for value. Effort alone never makes it into the comp discussion.</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Close-up of a hand writing numbers in the margin of a notebook, a laptop spreadsheet blurred behind.</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4000" b="1" dirty="0">
                <a:solidFill>
                  <a:srgbClr val="1B2B2B"/>
                </a:solidFill>
                <a:latin typeface="Cormorant Garamond" pitchFamily="34" charset="0"/>
                <a:ea typeface="Cormorant Garamond" pitchFamily="34" charset="-122"/>
                <a:cs typeface="Cormorant Garamond" pitchFamily="34" charset="-120"/>
              </a:rPr>
              <a:t>Your value is </a:t>
            </a:r>
            <a:pPr algn="l" indent="0" marL="0">
              <a:lnSpc>
                <a:spcPct val="95000"/>
              </a:lnSpc>
              <a:buNone/>
            </a:pPr>
            <a:r>
              <a:rPr lang="en-US" sz="4000" b="1" dirty="0">
                <a:solidFill>
                  <a:srgbClr val="1B2B2B"/>
                </a:solidFill>
                <a:highlight>
                  <a:srgbClr val="CFE3CF"/>
                </a:highlight>
                <a:latin typeface="Cormorant Garamond" pitchFamily="34" charset="0"/>
                <a:ea typeface="Cormorant Garamond" pitchFamily="34" charset="-122"/>
                <a:cs typeface="Cormorant Garamond" pitchFamily="34" charset="-120"/>
              </a:rPr>
              <a:t>measurable.</a:t>
            </a:r>
            <a:endParaRPr lang="en-US" sz="40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You create results the business can count. Until you can see them clearly yourself, you're asking someone else to do math you haven't done.</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E1F5EE"/>
        </a:solidFill>
      </p:bgPr>
    </p:bg>
    <p:spTree>
      <p:nvGrpSpPr>
        <p:cNvPr id="1" name=""/>
        <p:cNvGrpSpPr/>
        <p:nvPr/>
      </p:nvGrpSpPr>
      <p:grpSpPr>
        <a:xfrm>
          <a:off x="0" y="0"/>
          <a:ext cx="0" cy="0"/>
          <a:chOff x="0" y="0"/>
          <a:chExt cx="0" cy="0"/>
        </a:xfrm>
      </p:grpSpPr>
      <p:sp>
        <p:nvSpPr>
          <p:cNvPr id="2" name="Shape 0"/>
          <p:cNvSpPr/>
          <p:nvPr/>
        </p:nvSpPr>
        <p:spPr>
          <a:xfrm>
            <a:off x="640080" y="731520"/>
            <a:ext cx="4206240" cy="5394960"/>
          </a:xfrm>
          <a:prstGeom prst="roundRect">
            <a:avLst>
              <a:gd name="adj" fmla="val 2609"/>
            </a:avLst>
          </a:prstGeom>
          <a:solidFill>
            <a:srgbClr val="E1F5EE"/>
          </a:solidFill>
          <a:ln w="15875">
            <a:solidFill>
              <a:srgbClr val="8AAF8A"/>
            </a:solidFill>
            <a:prstDash val="dash"/>
          </a:ln>
        </p:spPr>
      </p:sp>
      <p:sp>
        <p:nvSpPr>
          <p:cNvPr id="3" name="Text 1"/>
          <p:cNvSpPr txBox="1"/>
          <p:nvPr/>
        </p:nvSpPr>
        <p:spPr>
          <a:xfrm>
            <a:off x="960120" y="1051560"/>
            <a:ext cx="35661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960120" y="1463040"/>
            <a:ext cx="35661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walking into a meeting room, head up, folder under her arm.</a:t>
            </a:r>
            <a:endParaRPr lang="en-US" sz="1200" dirty="0"/>
          </a:p>
        </p:txBody>
      </p:sp>
      <p:sp>
        <p:nvSpPr>
          <p:cNvPr id="5" name="Shape 3"/>
          <p:cNvSpPr/>
          <p:nvPr/>
        </p:nvSpPr>
        <p:spPr>
          <a:xfrm>
            <a:off x="5486400" y="1188720"/>
            <a:ext cx="822960" cy="822960"/>
          </a:xfrm>
          <a:prstGeom prst="ellipse">
            <a:avLst/>
          </a:prstGeom>
          <a:solidFill>
            <a:srgbClr val="1E4A4A"/>
          </a:solidFill>
          <a:ln w="12700">
            <a:solidFill>
              <a:srgbClr val="1E4A4A"/>
            </a:solidFill>
            <a:prstDash val="solid"/>
          </a:ln>
        </p:spPr>
      </p:sp>
      <p:sp>
        <p:nvSpPr>
          <p:cNvPr id="6" name="Text 4"/>
          <p:cNvSpPr txBox="1"/>
          <p:nvPr/>
        </p:nvSpPr>
        <p:spPr>
          <a:xfrm>
            <a:off x="5486400" y="1188720"/>
            <a:ext cx="822960" cy="822960"/>
          </a:xfrm>
          <a:prstGeom prst="rect">
            <a:avLst/>
          </a:prstGeom>
          <a:noFill/>
          <a:ln/>
        </p:spPr>
        <p:txBody>
          <a:bodyPr wrap="square" lIns="0" tIns="0" rIns="0" bIns="0" rtlCol="0" anchor="ctr">
            <a:normAutofit/>
          </a:bodyPr>
          <a:lstStyle/>
          <a:p>
            <a:pPr algn="ctr" indent="0" marL="0">
              <a:lnSpc>
                <a:spcPct val="100000"/>
              </a:lnSpc>
              <a:buNone/>
            </a:pPr>
            <a:r>
              <a:rPr lang="en-US" sz="3000" b="1" dirty="0">
                <a:solidFill>
                  <a:srgbClr val="FFFFFF"/>
                </a:solidFill>
                <a:latin typeface="Cormorant Garamond" pitchFamily="34" charset="0"/>
                <a:ea typeface="Cormorant Garamond" pitchFamily="34" charset="-122"/>
                <a:cs typeface="Cormorant Garamond" pitchFamily="34" charset="-120"/>
              </a:rPr>
              <a:t>✓</a:t>
            </a:r>
            <a:endParaRPr lang="en-US" sz="3000" dirty="0"/>
          </a:p>
        </p:txBody>
      </p:sp>
      <p:sp>
        <p:nvSpPr>
          <p:cNvPr id="7" name="Text 5"/>
          <p:cNvSpPr txBox="1"/>
          <p:nvPr/>
        </p:nvSpPr>
        <p:spPr>
          <a:xfrm>
            <a:off x="6492240" y="1417320"/>
            <a:ext cx="50292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OUTCOME · VALUE</a:t>
            </a:r>
            <a:endParaRPr lang="en-US" sz="1200" dirty="0"/>
          </a:p>
        </p:txBody>
      </p:sp>
      <p:sp>
        <p:nvSpPr>
          <p:cNvPr id="8" name="Text 6"/>
          <p:cNvSpPr txBox="1"/>
          <p:nvPr/>
        </p:nvSpPr>
        <p:spPr>
          <a:xfrm>
            <a:off x="5486400" y="2286000"/>
            <a:ext cx="6035040" cy="2926080"/>
          </a:xfrm>
          <a:prstGeom prst="rect">
            <a:avLst/>
          </a:prstGeom>
          <a:noFill/>
          <a:ln/>
        </p:spPr>
        <p:txBody>
          <a:bodyPr wrap="square" lIns="0" tIns="0" rIns="0" bIns="0" rtlCol="0" anchor="t">
            <a:normAutofit/>
          </a:bodyPr>
          <a:lstStyle/>
          <a:p>
            <a:pPr algn="l" indent="0" marL="0">
              <a:lnSpc>
                <a:spcPct val="95000"/>
              </a:lnSpc>
              <a:buNone/>
            </a:pPr>
            <a:r>
              <a:rPr lang="en-US" sz="3400" b="1" dirty="0">
                <a:solidFill>
                  <a:srgbClr val="1E4A4A"/>
                </a:solidFill>
                <a:latin typeface="Cormorant Garamond" pitchFamily="34" charset="0"/>
                <a:ea typeface="Cormorant Garamond" pitchFamily="34" charset="-122"/>
                <a:cs typeface="Cormorant Garamond" pitchFamily="34" charset="-120"/>
              </a:rPr>
              <a:t>She knows her value and can </a:t>
            </a:r>
            <a:pPr algn="l" indent="0" marL="0">
              <a:lnSpc>
                <a:spcPct val="95000"/>
              </a:lnSpc>
              <a:buNone/>
            </a:pPr>
            <a:r>
              <a:rPr lang="en-US" sz="3400" b="1" dirty="0">
                <a:solidFill>
                  <a:srgbClr val="1E4A4A"/>
                </a:solidFill>
                <a:highlight>
                  <a:srgbClr val="CFE3CF"/>
                </a:highlight>
                <a:latin typeface="Cormorant Garamond" pitchFamily="34" charset="0"/>
                <a:ea typeface="Cormorant Garamond" pitchFamily="34" charset="-122"/>
                <a:cs typeface="Cormorant Garamond" pitchFamily="34" charset="-120"/>
              </a:rPr>
              <a:t>articulate it with confidence.</a:t>
            </a:r>
            <a:endParaRPr lang="en-US" sz="3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640080" y="54864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THE V.O.I.C.E. FRAMEWORK · PART 2 OF 5</a:t>
            </a:r>
            <a:endParaRPr lang="en-US" sz="1200" dirty="0"/>
          </a:p>
        </p:txBody>
      </p:sp>
      <p:sp>
        <p:nvSpPr>
          <p:cNvPr id="3" name="Text 1"/>
          <p:cNvSpPr txBox="1"/>
          <p:nvPr/>
        </p:nvSpPr>
        <p:spPr>
          <a:xfrm>
            <a:off x="457200" y="1097280"/>
            <a:ext cx="3291840" cy="4572000"/>
          </a:xfrm>
          <a:prstGeom prst="rect">
            <a:avLst/>
          </a:prstGeom>
          <a:noFill/>
          <a:ln/>
        </p:spPr>
        <p:txBody>
          <a:bodyPr wrap="square" lIns="0" tIns="0" rIns="0" bIns="0" rtlCol="0" anchor="ctr">
            <a:normAutofit/>
          </a:bodyPr>
          <a:lstStyle/>
          <a:p>
            <a:pPr algn="ctr" indent="0" marL="0">
              <a:lnSpc>
                <a:spcPct val="100000"/>
              </a:lnSpc>
              <a:buNone/>
            </a:pPr>
            <a:r>
              <a:rPr lang="en-US" sz="26000" b="1" dirty="0">
                <a:solidFill>
                  <a:srgbClr val="8AAF8A"/>
                </a:solidFill>
                <a:latin typeface="Cormorant Garamond" pitchFamily="34" charset="0"/>
                <a:ea typeface="Cormorant Garamond" pitchFamily="34" charset="-122"/>
                <a:cs typeface="Cormorant Garamond" pitchFamily="34" charset="-120"/>
              </a:rPr>
              <a:t>O</a:t>
            </a:r>
            <a:endParaRPr lang="en-US" sz="26000" dirty="0"/>
          </a:p>
        </p:txBody>
      </p:sp>
      <p:sp>
        <p:nvSpPr>
          <p:cNvPr id="4" name="Text 2"/>
          <p:cNvSpPr txBox="1"/>
          <p:nvPr/>
        </p:nvSpPr>
        <p:spPr>
          <a:xfrm>
            <a:off x="3931920" y="1737360"/>
            <a:ext cx="4114800" cy="1188720"/>
          </a:xfrm>
          <a:prstGeom prst="rect">
            <a:avLst/>
          </a:prstGeom>
          <a:noFill/>
          <a:ln/>
        </p:spPr>
        <p:txBody>
          <a:bodyPr wrap="square" lIns="0" tIns="0" rIns="0" bIns="0" rtlCol="0" anchor="b">
            <a:normAutofit/>
          </a:bodyPr>
          <a:lstStyle/>
          <a:p>
            <a:pPr algn="l" indent="0" marL="0">
              <a:lnSpc>
                <a:spcPct val="95000"/>
              </a:lnSpc>
              <a:buNone/>
            </a:pPr>
            <a:r>
              <a:rPr lang="en-US" sz="5000" b="1" dirty="0">
                <a:solidFill>
                  <a:srgbClr val="FFFFFF"/>
                </a:solidFill>
                <a:latin typeface="Cormorant Garamond" pitchFamily="34" charset="0"/>
                <a:ea typeface="Cormorant Garamond" pitchFamily="34" charset="-122"/>
                <a:cs typeface="Cormorant Garamond" pitchFamily="34" charset="-120"/>
              </a:rPr>
              <a:t>Ownership</a:t>
            </a:r>
            <a:endParaRPr lang="en-US" sz="5000" dirty="0"/>
          </a:p>
        </p:txBody>
      </p:sp>
      <p:sp>
        <p:nvSpPr>
          <p:cNvPr id="5" name="Text 3"/>
          <p:cNvSpPr txBox="1"/>
          <p:nvPr/>
        </p:nvSpPr>
        <p:spPr>
          <a:xfrm>
            <a:off x="3931920" y="3108960"/>
            <a:ext cx="3931920" cy="2194560"/>
          </a:xfrm>
          <a:prstGeom prst="rect">
            <a:avLst/>
          </a:prstGeom>
          <a:noFill/>
          <a:ln/>
        </p:spPr>
        <p:txBody>
          <a:bodyPr wrap="square" lIns="0" tIns="0" rIns="0" bIns="0" rtlCol="0" anchor="t">
            <a:normAutofit/>
          </a:bodyPr>
          <a:lstStyle/>
          <a:p>
            <a:pPr algn="l" indent="0" marL="0">
              <a:lnSpc>
                <a:spcPct val="105000"/>
              </a:lnSpc>
              <a:buNone/>
            </a:pPr>
            <a:r>
              <a:rPr lang="en-US" sz="2600" i="1" dirty="0">
                <a:solidFill>
                  <a:srgbClr val="E1F5EE"/>
                </a:solidFill>
                <a:latin typeface="Cormorant Garamond" pitchFamily="34" charset="0"/>
                <a:ea typeface="Cormorant Garamond" pitchFamily="34" charset="-122"/>
                <a:cs typeface="Cormorant Garamond" pitchFamily="34" charset="-120"/>
              </a:rPr>
              <a:t>If you want a bigger job, </a:t>
            </a:r>
            <a:pPr algn="l" indent="0" marL="0">
              <a:lnSpc>
                <a:spcPct val="105000"/>
              </a:lnSpc>
              <a:buNone/>
            </a:pPr>
            <a:r>
              <a:rPr lang="en-US" sz="2600" i="1" dirty="0">
                <a:solidFill>
                  <a:srgbClr val="B7D3B7"/>
                </a:solidFill>
                <a:latin typeface="Cormorant Garamond" pitchFamily="34" charset="0"/>
                <a:ea typeface="Cormorant Garamond" pitchFamily="34" charset="-122"/>
                <a:cs typeface="Cormorant Garamond" pitchFamily="34" charset="-120"/>
              </a:rPr>
              <a:t>make your job bigger</a:t>
            </a:r>
            <a:endParaRPr lang="en-US" sz="2600" dirty="0"/>
          </a:p>
        </p:txBody>
      </p:sp>
      <p:sp>
        <p:nvSpPr>
          <p:cNvPr id="6" name="Shape 4"/>
          <p:cNvSpPr/>
          <p:nvPr/>
        </p:nvSpPr>
        <p:spPr>
          <a:xfrm>
            <a:off x="8183880" y="0"/>
            <a:ext cx="4007815" cy="6858000"/>
          </a:xfrm>
          <a:prstGeom prst="rect">
            <a:avLst/>
          </a:prstGeom>
          <a:solidFill>
            <a:srgbClr val="2B5C5C"/>
          </a:solidFill>
          <a:ln w="15875">
            <a:solidFill>
              <a:srgbClr val="8AAF8A"/>
            </a:solidFill>
            <a:prstDash val="dash"/>
          </a:ln>
        </p:spPr>
      </p:sp>
      <p:sp>
        <p:nvSpPr>
          <p:cNvPr id="7" name="Text 5"/>
          <p:cNvSpPr txBox="1"/>
          <p:nvPr/>
        </p:nvSpPr>
        <p:spPr>
          <a:xfrm>
            <a:off x="8503920" y="320040"/>
            <a:ext cx="336773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8" name="Text 6"/>
          <p:cNvSpPr txBox="1"/>
          <p:nvPr/>
        </p:nvSpPr>
        <p:spPr>
          <a:xfrm>
            <a:off x="8503920" y="731520"/>
            <a:ext cx="336773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Woman standing at a window in a corner office, one hand in pocket, looking out over the city.</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914400"/>
          </a:xfrm>
          <a:prstGeom prst="rect">
            <a:avLst/>
          </a:prstGeom>
          <a:noFill/>
          <a:ln/>
        </p:spPr>
        <p:txBody>
          <a:bodyPr wrap="square" lIns="0" tIns="0" rIns="0" bIns="0" rtlCol="0" anchor="b">
            <a:normAutofit/>
          </a:bodyPr>
          <a:lstStyle/>
          <a:p>
            <a:pPr algn="l" indent="0" marL="0">
              <a:lnSpc>
                <a:spcPct val="95000"/>
              </a:lnSpc>
              <a:buNone/>
            </a:pPr>
            <a:r>
              <a:rPr lang="en-US" sz="3600" b="1" dirty="0">
                <a:solidFill>
                  <a:srgbClr val="1B2B2B"/>
                </a:solidFill>
                <a:latin typeface="Cormorant Garamond" pitchFamily="34" charset="0"/>
                <a:ea typeface="Cormorant Garamond" pitchFamily="34" charset="-122"/>
                <a:cs typeface="Cormorant Garamond" pitchFamily="34" charset="-120"/>
              </a:rPr>
              <a:t>The belief </a:t>
            </a:r>
            <a:pPr algn="l" indent="0" marL="0">
              <a:lnSpc>
                <a:spcPct val="95000"/>
              </a:lnSpc>
              <a:buNone/>
            </a:pPr>
            <a:r>
              <a:rPr lang="en-US" sz="3600" b="1" dirty="0">
                <a:solidFill>
                  <a:srgbClr val="1B2B2B"/>
                </a:solidFill>
                <a:highlight>
                  <a:srgbClr val="CFE3CF"/>
                </a:highlight>
                <a:latin typeface="Cormorant Garamond" pitchFamily="34" charset="0"/>
                <a:ea typeface="Cormorant Garamond" pitchFamily="34" charset="-122"/>
                <a:cs typeface="Cormorant Garamond" pitchFamily="34" charset="-120"/>
              </a:rPr>
              <a:t>Ownership breaks</a:t>
            </a:r>
            <a:endParaRPr lang="en-US" sz="3600" dirty="0"/>
          </a:p>
        </p:txBody>
      </p:sp>
      <p:sp>
        <p:nvSpPr>
          <p:cNvPr id="3" name="Shape 1"/>
          <p:cNvSpPr/>
          <p:nvPr/>
        </p:nvSpPr>
        <p:spPr>
          <a:xfrm>
            <a:off x="640080" y="1737360"/>
            <a:ext cx="5303520" cy="4480560"/>
          </a:xfrm>
          <a:prstGeom prst="roundRect">
            <a:avLst>
              <a:gd name="adj" fmla="val 2449"/>
            </a:avLst>
          </a:prstGeom>
          <a:solidFill>
            <a:srgbClr val="EFEAE2"/>
          </a:solidFill>
          <a:ln w="12700">
            <a:solidFill>
              <a:srgbClr val="EFEAE2"/>
            </a:solidFill>
            <a:prstDash val="solid"/>
          </a:ln>
        </p:spPr>
      </p:sp>
      <p:sp>
        <p:nvSpPr>
          <p:cNvPr id="4" name="Text 2"/>
          <p:cNvSpPr txBox="1"/>
          <p:nvPr/>
        </p:nvSpPr>
        <p:spPr>
          <a:xfrm>
            <a:off x="1005840" y="2103120"/>
            <a:ext cx="4572000" cy="365760"/>
          </a:xfrm>
          <a:prstGeom prst="rect">
            <a:avLst/>
          </a:prstGeom>
          <a:noFill/>
          <a:ln/>
        </p:spPr>
        <p:txBody>
          <a:bodyPr wrap="square" lIns="0" tIns="0" rIns="0" bIns="0" rtlCol="0" anchor="t">
            <a:normAutofit/>
          </a:bodyPr>
          <a:lstStyle/>
          <a:p>
            <a:pPr algn="l" indent="0" marL="0">
              <a:lnSpc>
                <a:spcPct val="100000"/>
              </a:lnSpc>
              <a:buNone/>
            </a:pPr>
            <a:r>
              <a:rPr lang="en-US" sz="1300" b="1" spc="2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005840" y="2651760"/>
            <a:ext cx="4572000" cy="3200400"/>
          </a:xfrm>
          <a:prstGeom prst="rect">
            <a:avLst/>
          </a:prstGeom>
          <a:noFill/>
          <a:ln/>
        </p:spPr>
        <p:txBody>
          <a:bodyPr wrap="square" lIns="0" tIns="0" rIns="0" bIns="0" rtlCol="0" anchor="ctr">
            <a:normAutofit/>
          </a:bodyPr>
          <a:lstStyle/>
          <a:p>
            <a:pPr algn="l" indent="0" marL="0">
              <a:lnSpc>
                <a:spcPct val="105000"/>
              </a:lnSpc>
              <a:buNone/>
            </a:pPr>
            <a:r>
              <a:rPr lang="en-US" sz="2600" b="1" dirty="0">
                <a:solidFill>
                  <a:srgbClr val="1B2B2B"/>
                </a:solidFill>
                <a:latin typeface="Cormorant Garamond" pitchFamily="34" charset="0"/>
                <a:ea typeface="Cormorant Garamond" pitchFamily="34" charset="-122"/>
                <a:cs typeface="Cormorant Garamond" pitchFamily="34" charset="-120"/>
              </a:rPr>
              <a:t>"If I do great work, someone will notice and promote me."</a:t>
            </a:r>
            <a:endParaRPr lang="en-US" sz="2600" dirty="0"/>
          </a:p>
        </p:txBody>
      </p:sp>
      <p:sp>
        <p:nvSpPr>
          <p:cNvPr id="6" name="Shape 4"/>
          <p:cNvSpPr/>
          <p:nvPr/>
        </p:nvSpPr>
        <p:spPr>
          <a:xfrm>
            <a:off x="6263640" y="1737360"/>
            <a:ext cx="5303520" cy="4480560"/>
          </a:xfrm>
          <a:prstGeom prst="roundRect">
            <a:avLst>
              <a:gd name="adj" fmla="val 2449"/>
            </a:avLst>
          </a:prstGeom>
          <a:solidFill>
            <a:srgbClr val="1E4A4A"/>
          </a:solidFill>
          <a:ln w="12700">
            <a:solidFill>
              <a:srgbClr val="1E4A4A"/>
            </a:solidFill>
            <a:prstDash val="solid"/>
          </a:ln>
        </p:spPr>
      </p:sp>
      <p:sp>
        <p:nvSpPr>
          <p:cNvPr id="7" name="Text 5"/>
          <p:cNvSpPr txBox="1"/>
          <p:nvPr/>
        </p:nvSpPr>
        <p:spPr>
          <a:xfrm>
            <a:off x="6629400" y="2103120"/>
            <a:ext cx="4572000" cy="365760"/>
          </a:xfrm>
          <a:prstGeom prst="rect">
            <a:avLst/>
          </a:prstGeom>
          <a:noFill/>
          <a:ln/>
        </p:spPr>
        <p:txBody>
          <a:bodyPr wrap="square" lIns="0" tIns="0" rIns="0" bIns="0" rtlCol="0" anchor="t">
            <a:normAutofit/>
          </a:bodyPr>
          <a:lstStyle/>
          <a:p>
            <a:pPr algn="l" indent="0" marL="0">
              <a:lnSpc>
                <a:spcPct val="100000"/>
              </a:lnSpc>
              <a:buNone/>
            </a:pPr>
            <a:r>
              <a:rPr lang="en-US" sz="1300" b="1" spc="2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629400" y="2651760"/>
            <a:ext cx="4572000" cy="3200400"/>
          </a:xfrm>
          <a:prstGeom prst="rect">
            <a:avLst/>
          </a:prstGeom>
          <a:noFill/>
          <a:ln/>
        </p:spPr>
        <p:txBody>
          <a:bodyPr wrap="square" lIns="0" tIns="0" rIns="0" bIns="0" rtlCol="0" anchor="ctr">
            <a:normAutofit/>
          </a:bodyPr>
          <a:lstStyle/>
          <a:p>
            <a:pPr algn="l" indent="0" marL="0">
              <a:lnSpc>
                <a:spcPct val="105000"/>
              </a:lnSpc>
              <a:buNone/>
            </a:pPr>
            <a:r>
              <a:rPr lang="en-US" sz="2200" b="1" dirty="0">
                <a:solidFill>
                  <a:srgbClr val="FFFFFF"/>
                </a:solidFill>
                <a:latin typeface="Cormorant Garamond" pitchFamily="34" charset="0"/>
                <a:ea typeface="Cormorant Garamond" pitchFamily="34" charset="-122"/>
                <a:cs typeface="Cormorant Garamond" pitchFamily="34" charset="-120"/>
              </a:rPr>
              <a:t>Nobody is coming to hand it to you. You're the CEO of your career.</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leading a small team huddle, gesturing at a board, clearly in charge.</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Waiting is a strategy.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Just a bad one.</a:t>
            </a:r>
            <a:endParaRPr lang="en-US" sz="34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Women who own their careers stop waiting to be recognized and start creating the opportunities, the visibility and the influence they want.</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E1F5EE"/>
        </a:solidFill>
      </p:bgPr>
    </p:bg>
    <p:spTree>
      <p:nvGrpSpPr>
        <p:cNvPr id="1" name=""/>
        <p:cNvGrpSpPr/>
        <p:nvPr/>
      </p:nvGrpSpPr>
      <p:grpSpPr>
        <a:xfrm>
          <a:off x="0" y="0"/>
          <a:ext cx="0" cy="0"/>
          <a:chOff x="0" y="0"/>
          <a:chExt cx="0" cy="0"/>
        </a:xfrm>
      </p:grpSpPr>
      <p:sp>
        <p:nvSpPr>
          <p:cNvPr id="2" name="Shape 0"/>
          <p:cNvSpPr/>
          <p:nvPr/>
        </p:nvSpPr>
        <p:spPr>
          <a:xfrm>
            <a:off x="640080" y="731520"/>
            <a:ext cx="4206240" cy="5394960"/>
          </a:xfrm>
          <a:prstGeom prst="roundRect">
            <a:avLst>
              <a:gd name="adj" fmla="val 2609"/>
            </a:avLst>
          </a:prstGeom>
          <a:solidFill>
            <a:srgbClr val="E1F5EE"/>
          </a:solidFill>
          <a:ln w="15875">
            <a:solidFill>
              <a:srgbClr val="8AAF8A"/>
            </a:solidFill>
            <a:prstDash val="dash"/>
          </a:ln>
        </p:spPr>
      </p:sp>
      <p:sp>
        <p:nvSpPr>
          <p:cNvPr id="3" name="Text 1"/>
          <p:cNvSpPr txBox="1"/>
          <p:nvPr/>
        </p:nvSpPr>
        <p:spPr>
          <a:xfrm>
            <a:off x="960120" y="1051560"/>
            <a:ext cx="35661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960120" y="1463040"/>
            <a:ext cx="35661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signing a document at a desk, decisive.</a:t>
            </a:r>
            <a:endParaRPr lang="en-US" sz="1200" dirty="0"/>
          </a:p>
        </p:txBody>
      </p:sp>
      <p:sp>
        <p:nvSpPr>
          <p:cNvPr id="5" name="Shape 3"/>
          <p:cNvSpPr/>
          <p:nvPr/>
        </p:nvSpPr>
        <p:spPr>
          <a:xfrm>
            <a:off x="5486400" y="1188720"/>
            <a:ext cx="822960" cy="822960"/>
          </a:xfrm>
          <a:prstGeom prst="ellipse">
            <a:avLst/>
          </a:prstGeom>
          <a:solidFill>
            <a:srgbClr val="1E4A4A"/>
          </a:solidFill>
          <a:ln w="12700">
            <a:solidFill>
              <a:srgbClr val="1E4A4A"/>
            </a:solidFill>
            <a:prstDash val="solid"/>
          </a:ln>
        </p:spPr>
      </p:sp>
      <p:sp>
        <p:nvSpPr>
          <p:cNvPr id="6" name="Text 4"/>
          <p:cNvSpPr txBox="1"/>
          <p:nvPr/>
        </p:nvSpPr>
        <p:spPr>
          <a:xfrm>
            <a:off x="5486400" y="1188720"/>
            <a:ext cx="822960" cy="822960"/>
          </a:xfrm>
          <a:prstGeom prst="rect">
            <a:avLst/>
          </a:prstGeom>
          <a:noFill/>
          <a:ln/>
        </p:spPr>
        <p:txBody>
          <a:bodyPr wrap="square" lIns="0" tIns="0" rIns="0" bIns="0" rtlCol="0" anchor="ctr">
            <a:normAutofit/>
          </a:bodyPr>
          <a:lstStyle/>
          <a:p>
            <a:pPr algn="ctr" indent="0" marL="0">
              <a:lnSpc>
                <a:spcPct val="100000"/>
              </a:lnSpc>
              <a:buNone/>
            </a:pPr>
            <a:r>
              <a:rPr lang="en-US" sz="3000" b="1" dirty="0">
                <a:solidFill>
                  <a:srgbClr val="FFFFFF"/>
                </a:solidFill>
                <a:latin typeface="Cormorant Garamond" pitchFamily="34" charset="0"/>
                <a:ea typeface="Cormorant Garamond" pitchFamily="34" charset="-122"/>
                <a:cs typeface="Cormorant Garamond" pitchFamily="34" charset="-120"/>
              </a:rPr>
              <a:t>✓</a:t>
            </a:r>
            <a:endParaRPr lang="en-US" sz="3000" dirty="0"/>
          </a:p>
        </p:txBody>
      </p:sp>
      <p:sp>
        <p:nvSpPr>
          <p:cNvPr id="7" name="Text 5"/>
          <p:cNvSpPr txBox="1"/>
          <p:nvPr/>
        </p:nvSpPr>
        <p:spPr>
          <a:xfrm>
            <a:off x="6492240" y="1417320"/>
            <a:ext cx="50292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OUTCOME · OWNERSHIP</a:t>
            </a:r>
            <a:endParaRPr lang="en-US" sz="1200" dirty="0"/>
          </a:p>
        </p:txBody>
      </p:sp>
      <p:sp>
        <p:nvSpPr>
          <p:cNvPr id="8" name="Text 6"/>
          <p:cNvSpPr txBox="1"/>
          <p:nvPr/>
        </p:nvSpPr>
        <p:spPr>
          <a:xfrm>
            <a:off x="5486400" y="2286000"/>
            <a:ext cx="6035040" cy="2926080"/>
          </a:xfrm>
          <a:prstGeom prst="rect">
            <a:avLst/>
          </a:prstGeom>
          <a:noFill/>
          <a:ln/>
        </p:spPr>
        <p:txBody>
          <a:bodyPr wrap="square" lIns="0" tIns="0" rIns="0" bIns="0" rtlCol="0" anchor="t">
            <a:normAutofit/>
          </a:bodyPr>
          <a:lstStyle/>
          <a:p>
            <a:pPr algn="l" indent="0" marL="0">
              <a:lnSpc>
                <a:spcPct val="95000"/>
              </a:lnSpc>
              <a:buNone/>
            </a:pPr>
            <a:r>
              <a:rPr lang="en-US" sz="3400" b="1" dirty="0">
                <a:solidFill>
                  <a:srgbClr val="1E4A4A"/>
                </a:solidFill>
                <a:latin typeface="Cormorant Garamond" pitchFamily="34" charset="0"/>
                <a:ea typeface="Cormorant Garamond" pitchFamily="34" charset="-122"/>
                <a:cs typeface="Cormorant Garamond" pitchFamily="34" charset="-120"/>
              </a:rPr>
              <a:t>She stops waiting to be chosen and </a:t>
            </a:r>
            <a:pPr algn="l" indent="0" marL="0">
              <a:lnSpc>
                <a:spcPct val="95000"/>
              </a:lnSpc>
              <a:buNone/>
            </a:pPr>
            <a:r>
              <a:rPr lang="en-US" sz="3400" b="1" dirty="0">
                <a:solidFill>
                  <a:srgbClr val="1E4A4A"/>
                </a:solidFill>
                <a:highlight>
                  <a:srgbClr val="CFE3CF"/>
                </a:highlight>
                <a:latin typeface="Cormorant Garamond" pitchFamily="34" charset="0"/>
                <a:ea typeface="Cormorant Garamond" pitchFamily="34" charset="-122"/>
                <a:cs typeface="Cormorant Garamond" pitchFamily="34" charset="-120"/>
              </a:rPr>
              <a:t>starts choosing herself.</a:t>
            </a:r>
            <a:endParaRPr lang="en-US" sz="3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640080" y="54864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THE V.O.I.C.E. FRAMEWORK · PART 3 OF 5</a:t>
            </a:r>
            <a:endParaRPr lang="en-US" sz="1200" dirty="0"/>
          </a:p>
        </p:txBody>
      </p:sp>
      <p:sp>
        <p:nvSpPr>
          <p:cNvPr id="3" name="Text 1"/>
          <p:cNvSpPr txBox="1"/>
          <p:nvPr/>
        </p:nvSpPr>
        <p:spPr>
          <a:xfrm>
            <a:off x="457200" y="1097280"/>
            <a:ext cx="3291840" cy="4572000"/>
          </a:xfrm>
          <a:prstGeom prst="rect">
            <a:avLst/>
          </a:prstGeom>
          <a:noFill/>
          <a:ln/>
        </p:spPr>
        <p:txBody>
          <a:bodyPr wrap="square" lIns="0" tIns="0" rIns="0" bIns="0" rtlCol="0" anchor="ctr">
            <a:normAutofit/>
          </a:bodyPr>
          <a:lstStyle/>
          <a:p>
            <a:pPr algn="ctr" indent="0" marL="0">
              <a:lnSpc>
                <a:spcPct val="100000"/>
              </a:lnSpc>
              <a:buNone/>
            </a:pPr>
            <a:r>
              <a:rPr lang="en-US" sz="26000" b="1" dirty="0">
                <a:solidFill>
                  <a:srgbClr val="8AAF8A"/>
                </a:solidFill>
                <a:latin typeface="Cormorant Garamond" pitchFamily="34" charset="0"/>
                <a:ea typeface="Cormorant Garamond" pitchFamily="34" charset="-122"/>
                <a:cs typeface="Cormorant Garamond" pitchFamily="34" charset="-120"/>
              </a:rPr>
              <a:t>I</a:t>
            </a:r>
            <a:endParaRPr lang="en-US" sz="26000" dirty="0"/>
          </a:p>
        </p:txBody>
      </p:sp>
      <p:sp>
        <p:nvSpPr>
          <p:cNvPr id="4" name="Text 2"/>
          <p:cNvSpPr txBox="1"/>
          <p:nvPr/>
        </p:nvSpPr>
        <p:spPr>
          <a:xfrm>
            <a:off x="3931920" y="1737360"/>
            <a:ext cx="4114800" cy="1188720"/>
          </a:xfrm>
          <a:prstGeom prst="rect">
            <a:avLst/>
          </a:prstGeom>
          <a:noFill/>
          <a:ln/>
        </p:spPr>
        <p:txBody>
          <a:bodyPr wrap="square" lIns="0" tIns="0" rIns="0" bIns="0" rtlCol="0" anchor="b">
            <a:normAutofit/>
          </a:bodyPr>
          <a:lstStyle/>
          <a:p>
            <a:pPr algn="l" indent="0" marL="0">
              <a:lnSpc>
                <a:spcPct val="95000"/>
              </a:lnSpc>
              <a:buNone/>
            </a:pPr>
            <a:r>
              <a:rPr lang="en-US" sz="5000" b="1" dirty="0">
                <a:solidFill>
                  <a:srgbClr val="FFFFFF"/>
                </a:solidFill>
                <a:latin typeface="Cormorant Garamond" pitchFamily="34" charset="0"/>
                <a:ea typeface="Cormorant Garamond" pitchFamily="34" charset="-122"/>
                <a:cs typeface="Cormorant Garamond" pitchFamily="34" charset="-120"/>
              </a:rPr>
              <a:t>Identity</a:t>
            </a:r>
            <a:endParaRPr lang="en-US" sz="5000" dirty="0"/>
          </a:p>
        </p:txBody>
      </p:sp>
      <p:sp>
        <p:nvSpPr>
          <p:cNvPr id="5" name="Text 3"/>
          <p:cNvSpPr txBox="1"/>
          <p:nvPr/>
        </p:nvSpPr>
        <p:spPr>
          <a:xfrm>
            <a:off x="3931920" y="3108960"/>
            <a:ext cx="3931920" cy="2194560"/>
          </a:xfrm>
          <a:prstGeom prst="rect">
            <a:avLst/>
          </a:prstGeom>
          <a:noFill/>
          <a:ln/>
        </p:spPr>
        <p:txBody>
          <a:bodyPr wrap="square" lIns="0" tIns="0" rIns="0" bIns="0" rtlCol="0" anchor="t">
            <a:normAutofit/>
          </a:bodyPr>
          <a:lstStyle/>
          <a:p>
            <a:pPr algn="l" indent="0" marL="0">
              <a:lnSpc>
                <a:spcPct val="105000"/>
              </a:lnSpc>
              <a:buNone/>
            </a:pPr>
            <a:r>
              <a:rPr lang="en-US" sz="3000" i="1" dirty="0">
                <a:solidFill>
                  <a:srgbClr val="E1F5EE"/>
                </a:solidFill>
                <a:latin typeface="Cormorant Garamond" pitchFamily="34" charset="0"/>
                <a:ea typeface="Cormorant Garamond" pitchFamily="34" charset="-122"/>
                <a:cs typeface="Cormorant Garamond" pitchFamily="34" charset="-120"/>
              </a:rPr>
              <a:t>Become </a:t>
            </a:r>
            <a:pPr algn="l" indent="0" marL="0">
              <a:lnSpc>
                <a:spcPct val="105000"/>
              </a:lnSpc>
              <a:buNone/>
            </a:pPr>
            <a:r>
              <a:rPr lang="en-US" sz="3000" i="1" dirty="0">
                <a:solidFill>
                  <a:srgbClr val="B7D3B7"/>
                </a:solidFill>
                <a:latin typeface="Cormorant Garamond" pitchFamily="34" charset="0"/>
                <a:ea typeface="Cormorant Garamond" pitchFamily="34" charset="-122"/>
                <a:cs typeface="Cormorant Garamond" pitchFamily="34" charset="-120"/>
              </a:rPr>
              <a:t>the woman first</a:t>
            </a:r>
            <a:endParaRPr lang="en-US" sz="3000" dirty="0"/>
          </a:p>
        </p:txBody>
      </p:sp>
      <p:sp>
        <p:nvSpPr>
          <p:cNvPr id="6" name="Shape 4"/>
          <p:cNvSpPr/>
          <p:nvPr/>
        </p:nvSpPr>
        <p:spPr>
          <a:xfrm>
            <a:off x="8183880" y="0"/>
            <a:ext cx="4007815" cy="6858000"/>
          </a:xfrm>
          <a:prstGeom prst="rect">
            <a:avLst/>
          </a:prstGeom>
          <a:solidFill>
            <a:srgbClr val="2B5C5C"/>
          </a:solidFill>
          <a:ln w="15875">
            <a:solidFill>
              <a:srgbClr val="8AAF8A"/>
            </a:solidFill>
            <a:prstDash val="dash"/>
          </a:ln>
        </p:spPr>
      </p:sp>
      <p:sp>
        <p:nvSpPr>
          <p:cNvPr id="7" name="Text 5"/>
          <p:cNvSpPr txBox="1"/>
          <p:nvPr/>
        </p:nvSpPr>
        <p:spPr>
          <a:xfrm>
            <a:off x="8503920" y="320040"/>
            <a:ext cx="336773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8" name="Text 6"/>
          <p:cNvSpPr txBox="1"/>
          <p:nvPr/>
        </p:nvSpPr>
        <p:spPr>
          <a:xfrm>
            <a:off x="8503920" y="731520"/>
            <a:ext cx="336773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Woman looking at herself in a mirror, calm and direct, soft light. The mirror motif from the origin story.</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914400"/>
          </a:xfrm>
          <a:prstGeom prst="rect">
            <a:avLst/>
          </a:prstGeom>
          <a:noFill/>
          <a:ln/>
        </p:spPr>
        <p:txBody>
          <a:bodyPr wrap="square" lIns="0" tIns="0" rIns="0" bIns="0" rtlCol="0" anchor="b">
            <a:normAutofit/>
          </a:bodyPr>
          <a:lstStyle/>
          <a:p>
            <a:pPr algn="l" indent="0" marL="0">
              <a:lnSpc>
                <a:spcPct val="95000"/>
              </a:lnSpc>
              <a:buNone/>
            </a:pPr>
            <a:r>
              <a:rPr lang="en-US" sz="3600" b="1" dirty="0">
                <a:solidFill>
                  <a:srgbClr val="1B2B2B"/>
                </a:solidFill>
                <a:latin typeface="Cormorant Garamond" pitchFamily="34" charset="0"/>
                <a:ea typeface="Cormorant Garamond" pitchFamily="34" charset="-122"/>
                <a:cs typeface="Cormorant Garamond" pitchFamily="34" charset="-120"/>
              </a:rPr>
              <a:t>The belief </a:t>
            </a:r>
            <a:pPr algn="l" indent="0" marL="0">
              <a:lnSpc>
                <a:spcPct val="95000"/>
              </a:lnSpc>
              <a:buNone/>
            </a:pPr>
            <a:r>
              <a:rPr lang="en-US" sz="3600" b="1" dirty="0">
                <a:solidFill>
                  <a:srgbClr val="1B2B2B"/>
                </a:solidFill>
                <a:highlight>
                  <a:srgbClr val="CFE3CF"/>
                </a:highlight>
                <a:latin typeface="Cormorant Garamond" pitchFamily="34" charset="0"/>
                <a:ea typeface="Cormorant Garamond" pitchFamily="34" charset="-122"/>
                <a:cs typeface="Cormorant Garamond" pitchFamily="34" charset="-120"/>
              </a:rPr>
              <a:t>Identity breaks</a:t>
            </a:r>
            <a:endParaRPr lang="en-US" sz="3600" dirty="0"/>
          </a:p>
        </p:txBody>
      </p:sp>
      <p:sp>
        <p:nvSpPr>
          <p:cNvPr id="3" name="Shape 1"/>
          <p:cNvSpPr/>
          <p:nvPr/>
        </p:nvSpPr>
        <p:spPr>
          <a:xfrm>
            <a:off x="640080" y="1737360"/>
            <a:ext cx="5303520" cy="4480560"/>
          </a:xfrm>
          <a:prstGeom prst="roundRect">
            <a:avLst>
              <a:gd name="adj" fmla="val 2449"/>
            </a:avLst>
          </a:prstGeom>
          <a:solidFill>
            <a:srgbClr val="EFEAE2"/>
          </a:solidFill>
          <a:ln w="12700">
            <a:solidFill>
              <a:srgbClr val="EFEAE2"/>
            </a:solidFill>
            <a:prstDash val="solid"/>
          </a:ln>
        </p:spPr>
      </p:sp>
      <p:sp>
        <p:nvSpPr>
          <p:cNvPr id="4" name="Text 2"/>
          <p:cNvSpPr txBox="1"/>
          <p:nvPr/>
        </p:nvSpPr>
        <p:spPr>
          <a:xfrm>
            <a:off x="1005840" y="2103120"/>
            <a:ext cx="4572000" cy="365760"/>
          </a:xfrm>
          <a:prstGeom prst="rect">
            <a:avLst/>
          </a:prstGeom>
          <a:noFill/>
          <a:ln/>
        </p:spPr>
        <p:txBody>
          <a:bodyPr wrap="square" lIns="0" tIns="0" rIns="0" bIns="0" rtlCol="0" anchor="t">
            <a:normAutofit/>
          </a:bodyPr>
          <a:lstStyle/>
          <a:p>
            <a:pPr algn="l" indent="0" marL="0">
              <a:lnSpc>
                <a:spcPct val="100000"/>
              </a:lnSpc>
              <a:buNone/>
            </a:pPr>
            <a:r>
              <a:rPr lang="en-US" sz="1300" b="1" spc="2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005840" y="2651760"/>
            <a:ext cx="4572000" cy="3200400"/>
          </a:xfrm>
          <a:prstGeom prst="rect">
            <a:avLst/>
          </a:prstGeom>
          <a:noFill/>
          <a:ln/>
        </p:spPr>
        <p:txBody>
          <a:bodyPr wrap="square" lIns="0" tIns="0" rIns="0" bIns="0" rtlCol="0" anchor="ctr">
            <a:normAutofit/>
          </a:bodyPr>
          <a:lstStyle/>
          <a:p>
            <a:pPr algn="l" indent="0" marL="0">
              <a:lnSpc>
                <a:spcPct val="105000"/>
              </a:lnSpc>
              <a:buNone/>
            </a:pPr>
            <a:r>
              <a:rPr lang="en-US" sz="2600" b="1" dirty="0">
                <a:solidFill>
                  <a:srgbClr val="1B2B2B"/>
                </a:solidFill>
                <a:latin typeface="Cormorant Garamond" pitchFamily="34" charset="0"/>
                <a:ea typeface="Cormorant Garamond" pitchFamily="34" charset="-122"/>
                <a:cs typeface="Cormorant Garamond" pitchFamily="34" charset="-120"/>
              </a:rPr>
              <a:t>"I'll feel confident once I get the title and the number."</a:t>
            </a:r>
            <a:endParaRPr lang="en-US" sz="2600" dirty="0"/>
          </a:p>
        </p:txBody>
      </p:sp>
      <p:sp>
        <p:nvSpPr>
          <p:cNvPr id="6" name="Shape 4"/>
          <p:cNvSpPr/>
          <p:nvPr/>
        </p:nvSpPr>
        <p:spPr>
          <a:xfrm>
            <a:off x="6263640" y="1737360"/>
            <a:ext cx="5303520" cy="4480560"/>
          </a:xfrm>
          <a:prstGeom prst="roundRect">
            <a:avLst>
              <a:gd name="adj" fmla="val 2449"/>
            </a:avLst>
          </a:prstGeom>
          <a:solidFill>
            <a:srgbClr val="1E4A4A"/>
          </a:solidFill>
          <a:ln w="12700">
            <a:solidFill>
              <a:srgbClr val="1E4A4A"/>
            </a:solidFill>
            <a:prstDash val="solid"/>
          </a:ln>
        </p:spPr>
      </p:sp>
      <p:sp>
        <p:nvSpPr>
          <p:cNvPr id="7" name="Text 5"/>
          <p:cNvSpPr txBox="1"/>
          <p:nvPr/>
        </p:nvSpPr>
        <p:spPr>
          <a:xfrm>
            <a:off x="6629400" y="2103120"/>
            <a:ext cx="4572000" cy="365760"/>
          </a:xfrm>
          <a:prstGeom prst="rect">
            <a:avLst/>
          </a:prstGeom>
          <a:noFill/>
          <a:ln/>
        </p:spPr>
        <p:txBody>
          <a:bodyPr wrap="square" lIns="0" tIns="0" rIns="0" bIns="0" rtlCol="0" anchor="t">
            <a:normAutofit/>
          </a:bodyPr>
          <a:lstStyle/>
          <a:p>
            <a:pPr algn="l" indent="0" marL="0">
              <a:lnSpc>
                <a:spcPct val="100000"/>
              </a:lnSpc>
              <a:buNone/>
            </a:pPr>
            <a:r>
              <a:rPr lang="en-US" sz="1300" b="1" spc="2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629400" y="2651760"/>
            <a:ext cx="4572000" cy="3200400"/>
          </a:xfrm>
          <a:prstGeom prst="rect">
            <a:avLst/>
          </a:prstGeom>
          <a:noFill/>
          <a:ln/>
        </p:spPr>
        <p:txBody>
          <a:bodyPr wrap="square" lIns="0" tIns="0" rIns="0" bIns="0" rtlCol="0" anchor="ctr">
            <a:normAutofit/>
          </a:bodyPr>
          <a:lstStyle/>
          <a:p>
            <a:pPr algn="l" indent="0" marL="0">
              <a:lnSpc>
                <a:spcPct val="105000"/>
              </a:lnSpc>
              <a:buNone/>
            </a:pPr>
            <a:r>
              <a:rPr lang="en-US" sz="2200" b="1" dirty="0">
                <a:solidFill>
                  <a:srgbClr val="FFFFFF"/>
                </a:solidFill>
                <a:latin typeface="Cormorant Garamond" pitchFamily="34" charset="0"/>
                <a:ea typeface="Cormorant Garamond" pitchFamily="34" charset="-122"/>
                <a:cs typeface="Cormorant Garamond" pitchFamily="34" charset="-120"/>
              </a:rPr>
              <a:t>Your career will rarely exceed the identity you've accepted for yourself.</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sitting alone at a kitchen table late at night, bills and a laptop in front of her, contemplative.</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Every negotiation feels like </a:t>
            </a:r>
            <a:pPr algn="l" indent="0" marL="0">
              <a:lnSpc>
                <a:spcPct val="95000"/>
              </a:lnSpc>
              <a:buNone/>
            </a:pPr>
            <a:r>
              <a:rPr lang="en-US" sz="3000" b="1" dirty="0">
                <a:solidFill>
                  <a:srgbClr val="1B2B2B"/>
                </a:solidFill>
                <a:highlight>
                  <a:srgbClr val="CFE3CF"/>
                </a:highlight>
                <a:latin typeface="Cormorant Garamond" pitchFamily="34" charset="0"/>
                <a:ea typeface="Cormorant Garamond" pitchFamily="34" charset="-122"/>
                <a:cs typeface="Cormorant Garamond" pitchFamily="34" charset="-120"/>
              </a:rPr>
              <a:t>a referendum on whether you're enough.</a:t>
            </a:r>
            <a:endParaRPr lang="en-US" sz="30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That's why it's so emotional. Old beliefs, old money stories and old programming are quietly setting your ceiling.</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E1F5EE"/>
        </a:solidFill>
      </p:bgPr>
    </p:bg>
    <p:spTree>
      <p:nvGrpSpPr>
        <p:cNvPr id="1" name=""/>
        <p:cNvGrpSpPr/>
        <p:nvPr/>
      </p:nvGrpSpPr>
      <p:grpSpPr>
        <a:xfrm>
          <a:off x="0" y="0"/>
          <a:ext cx="0" cy="0"/>
          <a:chOff x="0" y="0"/>
          <a:chExt cx="0" cy="0"/>
        </a:xfrm>
      </p:grpSpPr>
      <p:sp>
        <p:nvSpPr>
          <p:cNvPr id="2" name="Shape 0"/>
          <p:cNvSpPr/>
          <p:nvPr/>
        </p:nvSpPr>
        <p:spPr>
          <a:xfrm>
            <a:off x="640080" y="731520"/>
            <a:ext cx="4206240" cy="5394960"/>
          </a:xfrm>
          <a:prstGeom prst="roundRect">
            <a:avLst>
              <a:gd name="adj" fmla="val 2609"/>
            </a:avLst>
          </a:prstGeom>
          <a:solidFill>
            <a:srgbClr val="E1F5EE"/>
          </a:solidFill>
          <a:ln w="15875">
            <a:solidFill>
              <a:srgbClr val="8AAF8A"/>
            </a:solidFill>
            <a:prstDash val="dash"/>
          </a:ln>
        </p:spPr>
      </p:sp>
      <p:sp>
        <p:nvSpPr>
          <p:cNvPr id="3" name="Text 1"/>
          <p:cNvSpPr txBox="1"/>
          <p:nvPr/>
        </p:nvSpPr>
        <p:spPr>
          <a:xfrm>
            <a:off x="960120" y="1051560"/>
            <a:ext cx="35661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960120" y="1463040"/>
            <a:ext cx="35661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laughing with colleagues at the head of a table, relaxed and in command.</a:t>
            </a:r>
            <a:endParaRPr lang="en-US" sz="1200" dirty="0"/>
          </a:p>
        </p:txBody>
      </p:sp>
      <p:sp>
        <p:nvSpPr>
          <p:cNvPr id="5" name="Shape 3"/>
          <p:cNvSpPr/>
          <p:nvPr/>
        </p:nvSpPr>
        <p:spPr>
          <a:xfrm>
            <a:off x="5486400" y="1188720"/>
            <a:ext cx="822960" cy="822960"/>
          </a:xfrm>
          <a:prstGeom prst="ellipse">
            <a:avLst/>
          </a:prstGeom>
          <a:solidFill>
            <a:srgbClr val="1E4A4A"/>
          </a:solidFill>
          <a:ln w="12700">
            <a:solidFill>
              <a:srgbClr val="1E4A4A"/>
            </a:solidFill>
            <a:prstDash val="solid"/>
          </a:ln>
        </p:spPr>
      </p:sp>
      <p:sp>
        <p:nvSpPr>
          <p:cNvPr id="6" name="Text 4"/>
          <p:cNvSpPr txBox="1"/>
          <p:nvPr/>
        </p:nvSpPr>
        <p:spPr>
          <a:xfrm>
            <a:off x="5486400" y="1188720"/>
            <a:ext cx="822960" cy="822960"/>
          </a:xfrm>
          <a:prstGeom prst="rect">
            <a:avLst/>
          </a:prstGeom>
          <a:noFill/>
          <a:ln/>
        </p:spPr>
        <p:txBody>
          <a:bodyPr wrap="square" lIns="0" tIns="0" rIns="0" bIns="0" rtlCol="0" anchor="ctr">
            <a:normAutofit/>
          </a:bodyPr>
          <a:lstStyle/>
          <a:p>
            <a:pPr algn="ctr" indent="0" marL="0">
              <a:lnSpc>
                <a:spcPct val="100000"/>
              </a:lnSpc>
              <a:buNone/>
            </a:pPr>
            <a:r>
              <a:rPr lang="en-US" sz="3000" b="1" dirty="0">
                <a:solidFill>
                  <a:srgbClr val="FFFFFF"/>
                </a:solidFill>
                <a:latin typeface="Cormorant Garamond" pitchFamily="34" charset="0"/>
                <a:ea typeface="Cormorant Garamond" pitchFamily="34" charset="-122"/>
                <a:cs typeface="Cormorant Garamond" pitchFamily="34" charset="-120"/>
              </a:rPr>
              <a:t>✓</a:t>
            </a:r>
            <a:endParaRPr lang="en-US" sz="3000" dirty="0"/>
          </a:p>
        </p:txBody>
      </p:sp>
      <p:sp>
        <p:nvSpPr>
          <p:cNvPr id="7" name="Text 5"/>
          <p:cNvSpPr txBox="1"/>
          <p:nvPr/>
        </p:nvSpPr>
        <p:spPr>
          <a:xfrm>
            <a:off x="6492240" y="1417320"/>
            <a:ext cx="50292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OUTCOME · IDENTITY</a:t>
            </a:r>
            <a:endParaRPr lang="en-US" sz="1200" dirty="0"/>
          </a:p>
        </p:txBody>
      </p:sp>
      <p:sp>
        <p:nvSpPr>
          <p:cNvPr id="8" name="Text 6"/>
          <p:cNvSpPr txBox="1"/>
          <p:nvPr/>
        </p:nvSpPr>
        <p:spPr>
          <a:xfrm>
            <a:off x="5486400" y="2286000"/>
            <a:ext cx="6035040" cy="2926080"/>
          </a:xfrm>
          <a:prstGeom prst="rect">
            <a:avLst/>
          </a:prstGeom>
          <a:noFill/>
          <a:ln/>
        </p:spPr>
        <p:txBody>
          <a:bodyPr wrap="square" lIns="0" tIns="0" rIns="0" bIns="0" rtlCol="0" anchor="t">
            <a:normAutofit/>
          </a:bodyPr>
          <a:lstStyle/>
          <a:p>
            <a:pPr algn="l" indent="0" marL="0">
              <a:lnSpc>
                <a:spcPct val="95000"/>
              </a:lnSpc>
              <a:buNone/>
            </a:pPr>
            <a:r>
              <a:rPr lang="en-US" sz="3000" b="1" dirty="0">
                <a:solidFill>
                  <a:srgbClr val="1E4A4A"/>
                </a:solidFill>
                <a:latin typeface="Cormorant Garamond" pitchFamily="34" charset="0"/>
                <a:ea typeface="Cormorant Garamond" pitchFamily="34" charset="-122"/>
                <a:cs typeface="Cormorant Garamond" pitchFamily="34" charset="-120"/>
              </a:rPr>
              <a:t>She no longer questions whether she deserves more. </a:t>
            </a:r>
            <a:pPr algn="l" indent="0" marL="0">
              <a:lnSpc>
                <a:spcPct val="95000"/>
              </a:lnSpc>
              <a:buNone/>
            </a:pPr>
            <a:r>
              <a:rPr lang="en-US" sz="3000" b="1" dirty="0">
                <a:solidFill>
                  <a:srgbClr val="1E4A4A"/>
                </a:solidFill>
                <a:highlight>
                  <a:srgbClr val="CFE3CF"/>
                </a:highlight>
                <a:latin typeface="Cormorant Garamond" pitchFamily="34" charset="0"/>
                <a:ea typeface="Cormorant Garamond" pitchFamily="34" charset="-122"/>
                <a:cs typeface="Cormorant Garamond" pitchFamily="34" charset="-120"/>
              </a:rPr>
              <a:t>She expects it.</a:t>
            </a:r>
            <a:endParaRPr lang="en-US" sz="3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640080" y="54864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THE V.O.I.C.E. FRAMEWORK · PART 4 OF 5</a:t>
            </a:r>
            <a:endParaRPr lang="en-US" sz="1200" dirty="0"/>
          </a:p>
        </p:txBody>
      </p:sp>
      <p:sp>
        <p:nvSpPr>
          <p:cNvPr id="3" name="Text 1"/>
          <p:cNvSpPr txBox="1"/>
          <p:nvPr/>
        </p:nvSpPr>
        <p:spPr>
          <a:xfrm>
            <a:off x="457200" y="1097280"/>
            <a:ext cx="3291840" cy="4572000"/>
          </a:xfrm>
          <a:prstGeom prst="rect">
            <a:avLst/>
          </a:prstGeom>
          <a:noFill/>
          <a:ln/>
        </p:spPr>
        <p:txBody>
          <a:bodyPr wrap="square" lIns="0" tIns="0" rIns="0" bIns="0" rtlCol="0" anchor="ctr">
            <a:normAutofit/>
          </a:bodyPr>
          <a:lstStyle/>
          <a:p>
            <a:pPr algn="ctr" indent="0" marL="0">
              <a:lnSpc>
                <a:spcPct val="100000"/>
              </a:lnSpc>
              <a:buNone/>
            </a:pPr>
            <a:r>
              <a:rPr lang="en-US" sz="26000" b="1" dirty="0">
                <a:solidFill>
                  <a:srgbClr val="8AAF8A"/>
                </a:solidFill>
                <a:latin typeface="Cormorant Garamond" pitchFamily="34" charset="0"/>
                <a:ea typeface="Cormorant Garamond" pitchFamily="34" charset="-122"/>
                <a:cs typeface="Cormorant Garamond" pitchFamily="34" charset="-120"/>
              </a:rPr>
              <a:t>C</a:t>
            </a:r>
            <a:endParaRPr lang="en-US" sz="26000" dirty="0"/>
          </a:p>
        </p:txBody>
      </p:sp>
      <p:sp>
        <p:nvSpPr>
          <p:cNvPr id="4" name="Text 2"/>
          <p:cNvSpPr txBox="1"/>
          <p:nvPr/>
        </p:nvSpPr>
        <p:spPr>
          <a:xfrm>
            <a:off x="3931920" y="1737360"/>
            <a:ext cx="4114800" cy="1188720"/>
          </a:xfrm>
          <a:prstGeom prst="rect">
            <a:avLst/>
          </a:prstGeom>
          <a:noFill/>
          <a:ln/>
        </p:spPr>
        <p:txBody>
          <a:bodyPr wrap="square" lIns="0" tIns="0" rIns="0" bIns="0" rtlCol="0" anchor="b">
            <a:normAutofit/>
          </a:bodyPr>
          <a:lstStyle/>
          <a:p>
            <a:pPr algn="l" indent="0" marL="0">
              <a:lnSpc>
                <a:spcPct val="95000"/>
              </a:lnSpc>
              <a:buNone/>
            </a:pPr>
            <a:r>
              <a:rPr lang="en-US" sz="3600" b="1" dirty="0">
                <a:solidFill>
                  <a:srgbClr val="FFFFFF"/>
                </a:solidFill>
                <a:latin typeface="Cormorant Garamond" pitchFamily="34" charset="0"/>
                <a:ea typeface="Cormorant Garamond" pitchFamily="34" charset="-122"/>
                <a:cs typeface="Cormorant Garamond" pitchFamily="34" charset="-120"/>
              </a:rPr>
              <a:t>Communication</a:t>
            </a:r>
            <a:endParaRPr lang="en-US" sz="3600" dirty="0"/>
          </a:p>
        </p:txBody>
      </p:sp>
      <p:sp>
        <p:nvSpPr>
          <p:cNvPr id="5" name="Text 3"/>
          <p:cNvSpPr txBox="1"/>
          <p:nvPr/>
        </p:nvSpPr>
        <p:spPr>
          <a:xfrm>
            <a:off x="3931920" y="3108960"/>
            <a:ext cx="3931920" cy="2194560"/>
          </a:xfrm>
          <a:prstGeom prst="rect">
            <a:avLst/>
          </a:prstGeom>
          <a:noFill/>
          <a:ln/>
        </p:spPr>
        <p:txBody>
          <a:bodyPr wrap="square" lIns="0" tIns="0" rIns="0" bIns="0" rtlCol="0" anchor="t">
            <a:normAutofit/>
          </a:bodyPr>
          <a:lstStyle/>
          <a:p>
            <a:pPr algn="l" indent="0" marL="0">
              <a:lnSpc>
                <a:spcPct val="105000"/>
              </a:lnSpc>
              <a:buNone/>
            </a:pPr>
            <a:r>
              <a:rPr lang="en-US" sz="2600" i="1" dirty="0">
                <a:solidFill>
                  <a:srgbClr val="E1F5EE"/>
                </a:solidFill>
                <a:latin typeface="Cormorant Garamond" pitchFamily="34" charset="0"/>
                <a:ea typeface="Cormorant Garamond" pitchFamily="34" charset="-122"/>
                <a:cs typeface="Cormorant Garamond" pitchFamily="34" charset="-120"/>
              </a:rPr>
              <a:t>Make your value </a:t>
            </a:r>
            <a:pPr algn="l" indent="0" marL="0">
              <a:lnSpc>
                <a:spcPct val="105000"/>
              </a:lnSpc>
              <a:buNone/>
            </a:pPr>
            <a:r>
              <a:rPr lang="en-US" sz="2600" i="1" dirty="0">
                <a:solidFill>
                  <a:srgbClr val="B7D3B7"/>
                </a:solidFill>
                <a:latin typeface="Cormorant Garamond" pitchFamily="34" charset="0"/>
                <a:ea typeface="Cormorant Garamond" pitchFamily="34" charset="-122"/>
                <a:cs typeface="Cormorant Garamond" pitchFamily="34" charset="-120"/>
              </a:rPr>
              <a:t>impossible to ignore</a:t>
            </a:r>
            <a:endParaRPr lang="en-US" sz="2600" dirty="0"/>
          </a:p>
        </p:txBody>
      </p:sp>
      <p:sp>
        <p:nvSpPr>
          <p:cNvPr id="6" name="Shape 4"/>
          <p:cNvSpPr/>
          <p:nvPr/>
        </p:nvSpPr>
        <p:spPr>
          <a:xfrm>
            <a:off x="8183880" y="0"/>
            <a:ext cx="4007815" cy="6858000"/>
          </a:xfrm>
          <a:prstGeom prst="rect">
            <a:avLst/>
          </a:prstGeom>
          <a:solidFill>
            <a:srgbClr val="2B5C5C"/>
          </a:solidFill>
          <a:ln w="15875">
            <a:solidFill>
              <a:srgbClr val="8AAF8A"/>
            </a:solidFill>
            <a:prstDash val="dash"/>
          </a:ln>
        </p:spPr>
      </p:sp>
      <p:sp>
        <p:nvSpPr>
          <p:cNvPr id="7" name="Text 5"/>
          <p:cNvSpPr txBox="1"/>
          <p:nvPr/>
        </p:nvSpPr>
        <p:spPr>
          <a:xfrm>
            <a:off x="8503920" y="320040"/>
            <a:ext cx="336773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8" name="Text 6"/>
          <p:cNvSpPr txBox="1"/>
          <p:nvPr/>
        </p:nvSpPr>
        <p:spPr>
          <a:xfrm>
            <a:off x="8503920" y="731520"/>
            <a:ext cx="336773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Woman speaking at the head of a boardroom table, executives turned toward her, listening.</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914400"/>
          </a:xfrm>
          <a:prstGeom prst="rect">
            <a:avLst/>
          </a:prstGeom>
          <a:noFill/>
          <a:ln/>
        </p:spPr>
        <p:txBody>
          <a:bodyPr wrap="square" lIns="0" tIns="0" rIns="0" bIns="0" rtlCol="0" anchor="b">
            <a:normAutofit/>
          </a:bodyPr>
          <a:lstStyle/>
          <a:p>
            <a:pPr algn="l" indent="0" marL="0">
              <a:lnSpc>
                <a:spcPct val="95000"/>
              </a:lnSpc>
              <a:buNone/>
            </a:pPr>
            <a:r>
              <a:rPr lang="en-US" sz="3600" b="1" dirty="0">
                <a:solidFill>
                  <a:srgbClr val="1B2B2B"/>
                </a:solidFill>
                <a:latin typeface="Cormorant Garamond" pitchFamily="34" charset="0"/>
                <a:ea typeface="Cormorant Garamond" pitchFamily="34" charset="-122"/>
                <a:cs typeface="Cormorant Garamond" pitchFamily="34" charset="-120"/>
              </a:rPr>
              <a:t>The belief </a:t>
            </a:r>
            <a:pPr algn="l" indent="0" marL="0">
              <a:lnSpc>
                <a:spcPct val="95000"/>
              </a:lnSpc>
              <a:buNone/>
            </a:pPr>
            <a:r>
              <a:rPr lang="en-US" sz="3600" b="1" dirty="0">
                <a:solidFill>
                  <a:srgbClr val="1B2B2B"/>
                </a:solidFill>
                <a:highlight>
                  <a:srgbClr val="CFE3CF"/>
                </a:highlight>
                <a:latin typeface="Cormorant Garamond" pitchFamily="34" charset="0"/>
                <a:ea typeface="Cormorant Garamond" pitchFamily="34" charset="-122"/>
                <a:cs typeface="Cormorant Garamond" pitchFamily="34" charset="-120"/>
              </a:rPr>
              <a:t>Communication breaks</a:t>
            </a:r>
            <a:endParaRPr lang="en-US" sz="3600" dirty="0"/>
          </a:p>
        </p:txBody>
      </p:sp>
      <p:sp>
        <p:nvSpPr>
          <p:cNvPr id="3" name="Shape 1"/>
          <p:cNvSpPr/>
          <p:nvPr/>
        </p:nvSpPr>
        <p:spPr>
          <a:xfrm>
            <a:off x="640080" y="1737360"/>
            <a:ext cx="5303520" cy="4480560"/>
          </a:xfrm>
          <a:prstGeom prst="roundRect">
            <a:avLst>
              <a:gd name="adj" fmla="val 2449"/>
            </a:avLst>
          </a:prstGeom>
          <a:solidFill>
            <a:srgbClr val="EFEAE2"/>
          </a:solidFill>
          <a:ln w="12700">
            <a:solidFill>
              <a:srgbClr val="EFEAE2"/>
            </a:solidFill>
            <a:prstDash val="solid"/>
          </a:ln>
        </p:spPr>
      </p:sp>
      <p:sp>
        <p:nvSpPr>
          <p:cNvPr id="4" name="Text 2"/>
          <p:cNvSpPr txBox="1"/>
          <p:nvPr/>
        </p:nvSpPr>
        <p:spPr>
          <a:xfrm>
            <a:off x="1005840" y="2103120"/>
            <a:ext cx="4572000" cy="365760"/>
          </a:xfrm>
          <a:prstGeom prst="rect">
            <a:avLst/>
          </a:prstGeom>
          <a:noFill/>
          <a:ln/>
        </p:spPr>
        <p:txBody>
          <a:bodyPr wrap="square" lIns="0" tIns="0" rIns="0" bIns="0" rtlCol="0" anchor="t">
            <a:normAutofit/>
          </a:bodyPr>
          <a:lstStyle/>
          <a:p>
            <a:pPr algn="l" indent="0" marL="0">
              <a:lnSpc>
                <a:spcPct val="100000"/>
              </a:lnSpc>
              <a:buNone/>
            </a:pPr>
            <a:r>
              <a:rPr lang="en-US" sz="1300" b="1" spc="2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005840" y="2651760"/>
            <a:ext cx="4572000" cy="3200400"/>
          </a:xfrm>
          <a:prstGeom prst="rect">
            <a:avLst/>
          </a:prstGeom>
          <a:noFill/>
          <a:ln/>
        </p:spPr>
        <p:txBody>
          <a:bodyPr wrap="square" lIns="0" tIns="0" rIns="0" bIns="0" rtlCol="0" anchor="ctr">
            <a:normAutofit/>
          </a:bodyPr>
          <a:lstStyle/>
          <a:p>
            <a:pPr algn="l" indent="0" marL="0">
              <a:lnSpc>
                <a:spcPct val="105000"/>
              </a:lnSpc>
              <a:buNone/>
            </a:pPr>
            <a:r>
              <a:rPr lang="en-US" sz="3000" b="1" dirty="0">
                <a:solidFill>
                  <a:srgbClr val="1B2B2B"/>
                </a:solidFill>
                <a:latin typeface="Cormorant Garamond" pitchFamily="34" charset="0"/>
                <a:ea typeface="Cormorant Garamond" pitchFamily="34" charset="-122"/>
                <a:cs typeface="Cormorant Garamond" pitchFamily="34" charset="-120"/>
              </a:rPr>
              <a:t>"I just need the perfect words."</a:t>
            </a:r>
            <a:endParaRPr lang="en-US" sz="3000" dirty="0"/>
          </a:p>
        </p:txBody>
      </p:sp>
      <p:sp>
        <p:nvSpPr>
          <p:cNvPr id="6" name="Shape 4"/>
          <p:cNvSpPr/>
          <p:nvPr/>
        </p:nvSpPr>
        <p:spPr>
          <a:xfrm>
            <a:off x="6263640" y="1737360"/>
            <a:ext cx="5303520" cy="4480560"/>
          </a:xfrm>
          <a:prstGeom prst="roundRect">
            <a:avLst>
              <a:gd name="adj" fmla="val 2449"/>
            </a:avLst>
          </a:prstGeom>
          <a:solidFill>
            <a:srgbClr val="1E4A4A"/>
          </a:solidFill>
          <a:ln w="12700">
            <a:solidFill>
              <a:srgbClr val="1E4A4A"/>
            </a:solidFill>
            <a:prstDash val="solid"/>
          </a:ln>
        </p:spPr>
      </p:sp>
      <p:sp>
        <p:nvSpPr>
          <p:cNvPr id="7" name="Text 5"/>
          <p:cNvSpPr txBox="1"/>
          <p:nvPr/>
        </p:nvSpPr>
        <p:spPr>
          <a:xfrm>
            <a:off x="6629400" y="2103120"/>
            <a:ext cx="4572000" cy="365760"/>
          </a:xfrm>
          <a:prstGeom prst="rect">
            <a:avLst/>
          </a:prstGeom>
          <a:noFill/>
          <a:ln/>
        </p:spPr>
        <p:txBody>
          <a:bodyPr wrap="square" lIns="0" tIns="0" rIns="0" bIns="0" rtlCol="0" anchor="t">
            <a:normAutofit/>
          </a:bodyPr>
          <a:lstStyle/>
          <a:p>
            <a:pPr algn="l" indent="0" marL="0">
              <a:lnSpc>
                <a:spcPct val="100000"/>
              </a:lnSpc>
              <a:buNone/>
            </a:pPr>
            <a:r>
              <a:rPr lang="en-US" sz="1300" b="1" spc="2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629400" y="2651760"/>
            <a:ext cx="4572000" cy="3200400"/>
          </a:xfrm>
          <a:prstGeom prst="rect">
            <a:avLst/>
          </a:prstGeom>
          <a:noFill/>
          <a:ln/>
        </p:spPr>
        <p:txBody>
          <a:bodyPr wrap="square" lIns="0" tIns="0" rIns="0" bIns="0" rtlCol="0" anchor="ctr">
            <a:normAutofit/>
          </a:bodyPr>
          <a:lstStyle/>
          <a:p>
            <a:pPr algn="l" indent="0" marL="0">
              <a:lnSpc>
                <a:spcPct val="105000"/>
              </a:lnSpc>
              <a:buNone/>
            </a:pPr>
            <a:r>
              <a:rPr lang="en-US" sz="2200" b="1" dirty="0">
                <a:solidFill>
                  <a:srgbClr val="FFFFFF"/>
                </a:solidFill>
                <a:latin typeface="Cormorant Garamond" pitchFamily="34" charset="0"/>
                <a:ea typeface="Cormorant Garamond" pitchFamily="34" charset="-122"/>
                <a:cs typeface="Cormorant Garamond" pitchFamily="34" charset="-120"/>
              </a:rPr>
              <a:t>People respond to who's saying the words far more than the words themselves.</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Close-up of a woman mid-sentence, hand on the table, making eye contact across it.</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Your communication should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match your capability.</a:t>
            </a:r>
            <a:endParaRPr lang="en-US" sz="34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Executive presence, clarity and authority. Advocating for yourself in a way that feels like you, and still commands the room.</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E1F5EE"/>
        </a:solidFill>
      </p:bgPr>
    </p:bg>
    <p:spTree>
      <p:nvGrpSpPr>
        <p:cNvPr id="1" name=""/>
        <p:cNvGrpSpPr/>
        <p:nvPr/>
      </p:nvGrpSpPr>
      <p:grpSpPr>
        <a:xfrm>
          <a:off x="0" y="0"/>
          <a:ext cx="0" cy="0"/>
          <a:chOff x="0" y="0"/>
          <a:chExt cx="0" cy="0"/>
        </a:xfrm>
      </p:grpSpPr>
      <p:sp>
        <p:nvSpPr>
          <p:cNvPr id="2" name="Shape 0"/>
          <p:cNvSpPr/>
          <p:nvPr/>
        </p:nvSpPr>
        <p:spPr>
          <a:xfrm>
            <a:off x="640080" y="731520"/>
            <a:ext cx="4206240" cy="5394960"/>
          </a:xfrm>
          <a:prstGeom prst="roundRect">
            <a:avLst>
              <a:gd name="adj" fmla="val 2609"/>
            </a:avLst>
          </a:prstGeom>
          <a:solidFill>
            <a:srgbClr val="E1F5EE"/>
          </a:solidFill>
          <a:ln w="15875">
            <a:solidFill>
              <a:srgbClr val="8AAF8A"/>
            </a:solidFill>
            <a:prstDash val="dash"/>
          </a:ln>
        </p:spPr>
      </p:sp>
      <p:sp>
        <p:nvSpPr>
          <p:cNvPr id="3" name="Text 1"/>
          <p:cNvSpPr txBox="1"/>
          <p:nvPr/>
        </p:nvSpPr>
        <p:spPr>
          <a:xfrm>
            <a:off x="960120" y="1051560"/>
            <a:ext cx="35661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960120" y="1463040"/>
            <a:ext cx="35661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presenting on stage or at a town hall, confident stance.</a:t>
            </a:r>
            <a:endParaRPr lang="en-US" sz="1200" dirty="0"/>
          </a:p>
        </p:txBody>
      </p:sp>
      <p:sp>
        <p:nvSpPr>
          <p:cNvPr id="5" name="Shape 3"/>
          <p:cNvSpPr/>
          <p:nvPr/>
        </p:nvSpPr>
        <p:spPr>
          <a:xfrm>
            <a:off x="5486400" y="1188720"/>
            <a:ext cx="822960" cy="822960"/>
          </a:xfrm>
          <a:prstGeom prst="ellipse">
            <a:avLst/>
          </a:prstGeom>
          <a:solidFill>
            <a:srgbClr val="1E4A4A"/>
          </a:solidFill>
          <a:ln w="12700">
            <a:solidFill>
              <a:srgbClr val="1E4A4A"/>
            </a:solidFill>
            <a:prstDash val="solid"/>
          </a:ln>
        </p:spPr>
      </p:sp>
      <p:sp>
        <p:nvSpPr>
          <p:cNvPr id="6" name="Text 4"/>
          <p:cNvSpPr txBox="1"/>
          <p:nvPr/>
        </p:nvSpPr>
        <p:spPr>
          <a:xfrm>
            <a:off x="5486400" y="1188720"/>
            <a:ext cx="822960" cy="822960"/>
          </a:xfrm>
          <a:prstGeom prst="rect">
            <a:avLst/>
          </a:prstGeom>
          <a:noFill/>
          <a:ln/>
        </p:spPr>
        <p:txBody>
          <a:bodyPr wrap="square" lIns="0" tIns="0" rIns="0" bIns="0" rtlCol="0" anchor="ctr">
            <a:normAutofit/>
          </a:bodyPr>
          <a:lstStyle/>
          <a:p>
            <a:pPr algn="ctr" indent="0" marL="0">
              <a:lnSpc>
                <a:spcPct val="100000"/>
              </a:lnSpc>
              <a:buNone/>
            </a:pPr>
            <a:r>
              <a:rPr lang="en-US" sz="3000" b="1" dirty="0">
                <a:solidFill>
                  <a:srgbClr val="FFFFFF"/>
                </a:solidFill>
                <a:latin typeface="Cormorant Garamond" pitchFamily="34" charset="0"/>
                <a:ea typeface="Cormorant Garamond" pitchFamily="34" charset="-122"/>
                <a:cs typeface="Cormorant Garamond" pitchFamily="34" charset="-120"/>
              </a:rPr>
              <a:t>✓</a:t>
            </a:r>
            <a:endParaRPr lang="en-US" sz="3000" dirty="0"/>
          </a:p>
        </p:txBody>
      </p:sp>
      <p:sp>
        <p:nvSpPr>
          <p:cNvPr id="7" name="Text 5"/>
          <p:cNvSpPr txBox="1"/>
          <p:nvPr/>
        </p:nvSpPr>
        <p:spPr>
          <a:xfrm>
            <a:off x="6492240" y="1417320"/>
            <a:ext cx="50292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OUTCOME · COMMUNICATION</a:t>
            </a:r>
            <a:endParaRPr lang="en-US" sz="1200" dirty="0"/>
          </a:p>
        </p:txBody>
      </p:sp>
      <p:sp>
        <p:nvSpPr>
          <p:cNvPr id="8" name="Text 6"/>
          <p:cNvSpPr txBox="1"/>
          <p:nvPr/>
        </p:nvSpPr>
        <p:spPr>
          <a:xfrm>
            <a:off x="5486400" y="2286000"/>
            <a:ext cx="6035040" cy="2926080"/>
          </a:xfrm>
          <a:prstGeom prst="rect">
            <a:avLst/>
          </a:prstGeom>
          <a:noFill/>
          <a:ln/>
        </p:spPr>
        <p:txBody>
          <a:bodyPr wrap="square" lIns="0" tIns="0" rIns="0" bIns="0" rtlCol="0" anchor="t">
            <a:normAutofit/>
          </a:bodyPr>
          <a:lstStyle/>
          <a:p>
            <a:pPr algn="l" indent="0" marL="0">
              <a:lnSpc>
                <a:spcPct val="95000"/>
              </a:lnSpc>
              <a:buNone/>
            </a:pPr>
            <a:r>
              <a:rPr lang="en-US" sz="3400" b="1" dirty="0">
                <a:solidFill>
                  <a:srgbClr val="1E4A4A"/>
                </a:solidFill>
                <a:latin typeface="Cormorant Garamond" pitchFamily="34" charset="0"/>
                <a:ea typeface="Cormorant Garamond" pitchFamily="34" charset="-122"/>
                <a:cs typeface="Cormorant Garamond" pitchFamily="34" charset="-120"/>
              </a:rPr>
              <a:t>Her communication finally </a:t>
            </a:r>
            <a:pPr algn="l" indent="0" marL="0">
              <a:lnSpc>
                <a:spcPct val="95000"/>
              </a:lnSpc>
              <a:buNone/>
            </a:pPr>
            <a:r>
              <a:rPr lang="en-US" sz="3400" b="1" dirty="0">
                <a:solidFill>
                  <a:srgbClr val="1E4A4A"/>
                </a:solidFill>
                <a:highlight>
                  <a:srgbClr val="CFE3CF"/>
                </a:highlight>
                <a:latin typeface="Cormorant Garamond" pitchFamily="34" charset="0"/>
                <a:ea typeface="Cormorant Garamond" pitchFamily="34" charset="-122"/>
                <a:cs typeface="Cormorant Garamond" pitchFamily="34" charset="-120"/>
              </a:rPr>
              <a:t>reflects her capability.</a:t>
            </a:r>
            <a:endParaRPr lang="en-US" sz="3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640080" y="54864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THE V.O.I.C.E. FRAMEWORK · PART 5 OF 5</a:t>
            </a:r>
            <a:endParaRPr lang="en-US" sz="1200" dirty="0"/>
          </a:p>
        </p:txBody>
      </p:sp>
      <p:sp>
        <p:nvSpPr>
          <p:cNvPr id="3" name="Text 1"/>
          <p:cNvSpPr txBox="1"/>
          <p:nvPr/>
        </p:nvSpPr>
        <p:spPr>
          <a:xfrm>
            <a:off x="457200" y="1097280"/>
            <a:ext cx="3291840" cy="4572000"/>
          </a:xfrm>
          <a:prstGeom prst="rect">
            <a:avLst/>
          </a:prstGeom>
          <a:noFill/>
          <a:ln/>
        </p:spPr>
        <p:txBody>
          <a:bodyPr wrap="square" lIns="0" tIns="0" rIns="0" bIns="0" rtlCol="0" anchor="ctr">
            <a:normAutofit/>
          </a:bodyPr>
          <a:lstStyle/>
          <a:p>
            <a:pPr algn="ctr" indent="0" marL="0">
              <a:lnSpc>
                <a:spcPct val="100000"/>
              </a:lnSpc>
              <a:buNone/>
            </a:pPr>
            <a:r>
              <a:rPr lang="en-US" sz="26000" b="1" dirty="0">
                <a:solidFill>
                  <a:srgbClr val="8AAF8A"/>
                </a:solidFill>
                <a:latin typeface="Cormorant Garamond" pitchFamily="34" charset="0"/>
                <a:ea typeface="Cormorant Garamond" pitchFamily="34" charset="-122"/>
                <a:cs typeface="Cormorant Garamond" pitchFamily="34" charset="-120"/>
              </a:rPr>
              <a:t>E</a:t>
            </a:r>
            <a:endParaRPr lang="en-US" sz="26000" dirty="0"/>
          </a:p>
        </p:txBody>
      </p:sp>
      <p:sp>
        <p:nvSpPr>
          <p:cNvPr id="4" name="Text 2"/>
          <p:cNvSpPr txBox="1"/>
          <p:nvPr/>
        </p:nvSpPr>
        <p:spPr>
          <a:xfrm>
            <a:off x="3931920" y="1737360"/>
            <a:ext cx="4114800" cy="1188720"/>
          </a:xfrm>
          <a:prstGeom prst="rect">
            <a:avLst/>
          </a:prstGeom>
          <a:noFill/>
          <a:ln/>
        </p:spPr>
        <p:txBody>
          <a:bodyPr wrap="square" lIns="0" tIns="0" rIns="0" bIns="0" rtlCol="0" anchor="b">
            <a:normAutofit/>
          </a:bodyPr>
          <a:lstStyle/>
          <a:p>
            <a:pPr algn="l" indent="0" marL="0">
              <a:lnSpc>
                <a:spcPct val="95000"/>
              </a:lnSpc>
              <a:buNone/>
            </a:pPr>
            <a:r>
              <a:rPr lang="en-US" sz="5000" b="1" dirty="0">
                <a:solidFill>
                  <a:srgbClr val="FFFFFF"/>
                </a:solidFill>
                <a:latin typeface="Cormorant Garamond" pitchFamily="34" charset="0"/>
                <a:ea typeface="Cormorant Garamond" pitchFamily="34" charset="-122"/>
                <a:cs typeface="Cormorant Garamond" pitchFamily="34" charset="-120"/>
              </a:rPr>
              <a:t>Execution</a:t>
            </a:r>
            <a:endParaRPr lang="en-US" sz="5000" dirty="0"/>
          </a:p>
        </p:txBody>
      </p:sp>
      <p:sp>
        <p:nvSpPr>
          <p:cNvPr id="5" name="Text 3"/>
          <p:cNvSpPr txBox="1"/>
          <p:nvPr/>
        </p:nvSpPr>
        <p:spPr>
          <a:xfrm>
            <a:off x="3931920" y="3108960"/>
            <a:ext cx="3931920" cy="2194560"/>
          </a:xfrm>
          <a:prstGeom prst="rect">
            <a:avLst/>
          </a:prstGeom>
          <a:noFill/>
          <a:ln/>
        </p:spPr>
        <p:txBody>
          <a:bodyPr wrap="square" lIns="0" tIns="0" rIns="0" bIns="0" rtlCol="0" anchor="t">
            <a:normAutofit/>
          </a:bodyPr>
          <a:lstStyle/>
          <a:p>
            <a:pPr algn="l" indent="0" marL="0">
              <a:lnSpc>
                <a:spcPct val="105000"/>
              </a:lnSpc>
              <a:buNone/>
            </a:pPr>
            <a:r>
              <a:rPr lang="en-US" sz="3000" i="1" dirty="0">
                <a:solidFill>
                  <a:srgbClr val="E1F5EE"/>
                </a:solidFill>
                <a:latin typeface="Cormorant Garamond" pitchFamily="34" charset="0"/>
                <a:ea typeface="Cormorant Garamond" pitchFamily="34" charset="-122"/>
                <a:cs typeface="Cormorant Garamond" pitchFamily="34" charset="-120"/>
              </a:rPr>
              <a:t>Courage </a:t>
            </a:r>
            <a:pPr algn="l" indent="0" marL="0">
              <a:lnSpc>
                <a:spcPct val="105000"/>
              </a:lnSpc>
              <a:buNone/>
            </a:pPr>
            <a:r>
              <a:rPr lang="en-US" sz="3000" i="1" dirty="0">
                <a:solidFill>
                  <a:srgbClr val="B7D3B7"/>
                </a:solidFill>
                <a:latin typeface="Cormorant Garamond" pitchFamily="34" charset="0"/>
                <a:ea typeface="Cormorant Garamond" pitchFamily="34" charset="-122"/>
                <a:cs typeface="Cormorant Garamond" pitchFamily="34" charset="-120"/>
              </a:rPr>
              <a:t>in action</a:t>
            </a:r>
            <a:endParaRPr lang="en-US" sz="3000" dirty="0"/>
          </a:p>
        </p:txBody>
      </p:sp>
      <p:sp>
        <p:nvSpPr>
          <p:cNvPr id="6" name="Shape 4"/>
          <p:cNvSpPr/>
          <p:nvPr/>
        </p:nvSpPr>
        <p:spPr>
          <a:xfrm>
            <a:off x="8183880" y="0"/>
            <a:ext cx="4007815" cy="6858000"/>
          </a:xfrm>
          <a:prstGeom prst="rect">
            <a:avLst/>
          </a:prstGeom>
          <a:solidFill>
            <a:srgbClr val="2B5C5C"/>
          </a:solidFill>
          <a:ln w="15875">
            <a:solidFill>
              <a:srgbClr val="8AAF8A"/>
            </a:solidFill>
            <a:prstDash val="dash"/>
          </a:ln>
        </p:spPr>
      </p:sp>
      <p:sp>
        <p:nvSpPr>
          <p:cNvPr id="7" name="Text 5"/>
          <p:cNvSpPr txBox="1"/>
          <p:nvPr/>
        </p:nvSpPr>
        <p:spPr>
          <a:xfrm>
            <a:off x="8503920" y="320040"/>
            <a:ext cx="336773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8" name="Text 6"/>
          <p:cNvSpPr txBox="1"/>
          <p:nvPr/>
        </p:nvSpPr>
        <p:spPr>
          <a:xfrm>
            <a:off x="8503920" y="731520"/>
            <a:ext cx="336773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Woman knocking on a glass office door, determined expression, about to walk in.</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914400"/>
          </a:xfrm>
          <a:prstGeom prst="rect">
            <a:avLst/>
          </a:prstGeom>
          <a:noFill/>
          <a:ln/>
        </p:spPr>
        <p:txBody>
          <a:bodyPr wrap="square" lIns="0" tIns="0" rIns="0" bIns="0" rtlCol="0" anchor="b">
            <a:normAutofit/>
          </a:bodyPr>
          <a:lstStyle/>
          <a:p>
            <a:pPr algn="l" indent="0" marL="0">
              <a:lnSpc>
                <a:spcPct val="95000"/>
              </a:lnSpc>
              <a:buNone/>
            </a:pPr>
            <a:r>
              <a:rPr lang="en-US" sz="3600" b="1" dirty="0">
                <a:solidFill>
                  <a:srgbClr val="1B2B2B"/>
                </a:solidFill>
                <a:latin typeface="Cormorant Garamond" pitchFamily="34" charset="0"/>
                <a:ea typeface="Cormorant Garamond" pitchFamily="34" charset="-122"/>
                <a:cs typeface="Cormorant Garamond" pitchFamily="34" charset="-120"/>
              </a:rPr>
              <a:t>The belief </a:t>
            </a:r>
            <a:pPr algn="l" indent="0" marL="0">
              <a:lnSpc>
                <a:spcPct val="95000"/>
              </a:lnSpc>
              <a:buNone/>
            </a:pPr>
            <a:r>
              <a:rPr lang="en-US" sz="3600" b="1" dirty="0">
                <a:solidFill>
                  <a:srgbClr val="1B2B2B"/>
                </a:solidFill>
                <a:highlight>
                  <a:srgbClr val="CFE3CF"/>
                </a:highlight>
                <a:latin typeface="Cormorant Garamond" pitchFamily="34" charset="0"/>
                <a:ea typeface="Cormorant Garamond" pitchFamily="34" charset="-122"/>
                <a:cs typeface="Cormorant Garamond" pitchFamily="34" charset="-120"/>
              </a:rPr>
              <a:t>Execution breaks</a:t>
            </a:r>
            <a:endParaRPr lang="en-US" sz="3600" dirty="0"/>
          </a:p>
        </p:txBody>
      </p:sp>
      <p:sp>
        <p:nvSpPr>
          <p:cNvPr id="3" name="Shape 1"/>
          <p:cNvSpPr/>
          <p:nvPr/>
        </p:nvSpPr>
        <p:spPr>
          <a:xfrm>
            <a:off x="640080" y="1737360"/>
            <a:ext cx="5303520" cy="4480560"/>
          </a:xfrm>
          <a:prstGeom prst="roundRect">
            <a:avLst>
              <a:gd name="adj" fmla="val 2449"/>
            </a:avLst>
          </a:prstGeom>
          <a:solidFill>
            <a:srgbClr val="EFEAE2"/>
          </a:solidFill>
          <a:ln w="12700">
            <a:solidFill>
              <a:srgbClr val="EFEAE2"/>
            </a:solidFill>
            <a:prstDash val="solid"/>
          </a:ln>
        </p:spPr>
      </p:sp>
      <p:sp>
        <p:nvSpPr>
          <p:cNvPr id="4" name="Text 2"/>
          <p:cNvSpPr txBox="1"/>
          <p:nvPr/>
        </p:nvSpPr>
        <p:spPr>
          <a:xfrm>
            <a:off x="1005840" y="2103120"/>
            <a:ext cx="4572000" cy="365760"/>
          </a:xfrm>
          <a:prstGeom prst="rect">
            <a:avLst/>
          </a:prstGeom>
          <a:noFill/>
          <a:ln/>
        </p:spPr>
        <p:txBody>
          <a:bodyPr wrap="square" lIns="0" tIns="0" rIns="0" bIns="0" rtlCol="0" anchor="t">
            <a:normAutofit/>
          </a:bodyPr>
          <a:lstStyle/>
          <a:p>
            <a:pPr algn="l" indent="0" marL="0">
              <a:lnSpc>
                <a:spcPct val="100000"/>
              </a:lnSpc>
              <a:buNone/>
            </a:pPr>
            <a:r>
              <a:rPr lang="en-US" sz="1300" b="1" spc="2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005840" y="2651760"/>
            <a:ext cx="4572000" cy="3200400"/>
          </a:xfrm>
          <a:prstGeom prst="rect">
            <a:avLst/>
          </a:prstGeom>
          <a:noFill/>
          <a:ln/>
        </p:spPr>
        <p:txBody>
          <a:bodyPr wrap="square" lIns="0" tIns="0" rIns="0" bIns="0" rtlCol="0" anchor="ctr">
            <a:normAutofit/>
          </a:bodyPr>
          <a:lstStyle/>
          <a:p>
            <a:pPr algn="l" indent="0" marL="0">
              <a:lnSpc>
                <a:spcPct val="105000"/>
              </a:lnSpc>
              <a:buNone/>
            </a:pPr>
            <a:r>
              <a:rPr lang="en-US" sz="3000" b="1" dirty="0">
                <a:solidFill>
                  <a:srgbClr val="1B2B2B"/>
                </a:solidFill>
                <a:latin typeface="Cormorant Garamond" pitchFamily="34" charset="0"/>
                <a:ea typeface="Cormorant Garamond" pitchFamily="34" charset="-122"/>
                <a:cs typeface="Cormorant Garamond" pitchFamily="34" charset="-120"/>
              </a:rPr>
              <a:t>"I'll act when I feel ready."</a:t>
            </a:r>
            <a:endParaRPr lang="en-US" sz="3000" dirty="0"/>
          </a:p>
        </p:txBody>
      </p:sp>
      <p:sp>
        <p:nvSpPr>
          <p:cNvPr id="6" name="Shape 4"/>
          <p:cNvSpPr/>
          <p:nvPr/>
        </p:nvSpPr>
        <p:spPr>
          <a:xfrm>
            <a:off x="6263640" y="1737360"/>
            <a:ext cx="5303520" cy="4480560"/>
          </a:xfrm>
          <a:prstGeom prst="roundRect">
            <a:avLst>
              <a:gd name="adj" fmla="val 2449"/>
            </a:avLst>
          </a:prstGeom>
          <a:solidFill>
            <a:srgbClr val="1E4A4A"/>
          </a:solidFill>
          <a:ln w="12700">
            <a:solidFill>
              <a:srgbClr val="1E4A4A"/>
            </a:solidFill>
            <a:prstDash val="solid"/>
          </a:ln>
        </p:spPr>
      </p:sp>
      <p:sp>
        <p:nvSpPr>
          <p:cNvPr id="7" name="Text 5"/>
          <p:cNvSpPr txBox="1"/>
          <p:nvPr/>
        </p:nvSpPr>
        <p:spPr>
          <a:xfrm>
            <a:off x="6629400" y="2103120"/>
            <a:ext cx="4572000" cy="365760"/>
          </a:xfrm>
          <a:prstGeom prst="rect">
            <a:avLst/>
          </a:prstGeom>
          <a:noFill/>
          <a:ln/>
        </p:spPr>
        <p:txBody>
          <a:bodyPr wrap="square" lIns="0" tIns="0" rIns="0" bIns="0" rtlCol="0" anchor="t">
            <a:normAutofit/>
          </a:bodyPr>
          <a:lstStyle/>
          <a:p>
            <a:pPr algn="l" indent="0" marL="0">
              <a:lnSpc>
                <a:spcPct val="100000"/>
              </a:lnSpc>
              <a:buNone/>
            </a:pPr>
            <a:r>
              <a:rPr lang="en-US" sz="1300" b="1" spc="2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629400" y="2651760"/>
            <a:ext cx="4572000" cy="3200400"/>
          </a:xfrm>
          <a:prstGeom prst="rect">
            <a:avLst/>
          </a:prstGeom>
          <a:noFill/>
          <a:ln/>
        </p:spPr>
        <p:txBody>
          <a:bodyPr wrap="square" lIns="0" tIns="0" rIns="0" bIns="0" rtlCol="0" anchor="ctr">
            <a:normAutofit/>
          </a:bodyPr>
          <a:lstStyle/>
          <a:p>
            <a:pPr algn="l" indent="0" marL="0">
              <a:lnSpc>
                <a:spcPct val="105000"/>
              </a:lnSpc>
              <a:buNone/>
            </a:pPr>
            <a:r>
              <a:rPr lang="en-US" sz="2600" b="1" dirty="0">
                <a:solidFill>
                  <a:srgbClr val="FFFFFF"/>
                </a:solidFill>
                <a:latin typeface="Cormorant Garamond" pitchFamily="34" charset="0"/>
                <a:ea typeface="Cormorant Garamond" pitchFamily="34" charset="-122"/>
                <a:cs typeface="Cormorant Garamond" pitchFamily="34" charset="-120"/>
              </a:rPr>
              <a:t>Confidence shows up after action. Rarely before.</a:t>
            </a:r>
            <a:endParaRPr lang="en-US" sz="2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Two women role-playing a conversation across a small table, a coach observing with a notebook.</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Closing the gap between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knowing and doing</a:t>
            </a:r>
            <a:endParaRPr lang="en-US" sz="34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Practicing the high-stakes conversation before it counts, with coaching, feedback and women holding you accountable.</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E1F5EE"/>
        </a:solidFill>
      </p:bgPr>
    </p:bg>
    <p:spTree>
      <p:nvGrpSpPr>
        <p:cNvPr id="1" name=""/>
        <p:cNvGrpSpPr/>
        <p:nvPr/>
      </p:nvGrpSpPr>
      <p:grpSpPr>
        <a:xfrm>
          <a:off x="0" y="0"/>
          <a:ext cx="0" cy="0"/>
          <a:chOff x="0" y="0"/>
          <a:chExt cx="0" cy="0"/>
        </a:xfrm>
      </p:grpSpPr>
      <p:sp>
        <p:nvSpPr>
          <p:cNvPr id="2" name="Shape 0"/>
          <p:cNvSpPr/>
          <p:nvPr/>
        </p:nvSpPr>
        <p:spPr>
          <a:xfrm>
            <a:off x="640080" y="731520"/>
            <a:ext cx="4206240" cy="5394960"/>
          </a:xfrm>
          <a:prstGeom prst="roundRect">
            <a:avLst>
              <a:gd name="adj" fmla="val 2609"/>
            </a:avLst>
          </a:prstGeom>
          <a:solidFill>
            <a:srgbClr val="E1F5EE"/>
          </a:solidFill>
          <a:ln w="15875">
            <a:solidFill>
              <a:srgbClr val="8AAF8A"/>
            </a:solidFill>
            <a:prstDash val="dash"/>
          </a:ln>
        </p:spPr>
      </p:sp>
      <p:sp>
        <p:nvSpPr>
          <p:cNvPr id="3" name="Text 1"/>
          <p:cNvSpPr txBox="1"/>
          <p:nvPr/>
        </p:nvSpPr>
        <p:spPr>
          <a:xfrm>
            <a:off x="960120" y="1051560"/>
            <a:ext cx="35661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960120" y="1463040"/>
            <a:ext cx="35661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walking out of an office building at golden hour, smiling to herself, phone in hand.</a:t>
            </a:r>
            <a:endParaRPr lang="en-US" sz="1200" dirty="0"/>
          </a:p>
        </p:txBody>
      </p:sp>
      <p:sp>
        <p:nvSpPr>
          <p:cNvPr id="5" name="Shape 3"/>
          <p:cNvSpPr/>
          <p:nvPr/>
        </p:nvSpPr>
        <p:spPr>
          <a:xfrm>
            <a:off x="5486400" y="1188720"/>
            <a:ext cx="822960" cy="822960"/>
          </a:xfrm>
          <a:prstGeom prst="ellipse">
            <a:avLst/>
          </a:prstGeom>
          <a:solidFill>
            <a:srgbClr val="1E4A4A"/>
          </a:solidFill>
          <a:ln w="12700">
            <a:solidFill>
              <a:srgbClr val="1E4A4A"/>
            </a:solidFill>
            <a:prstDash val="solid"/>
          </a:ln>
        </p:spPr>
      </p:sp>
      <p:sp>
        <p:nvSpPr>
          <p:cNvPr id="6" name="Text 4"/>
          <p:cNvSpPr txBox="1"/>
          <p:nvPr/>
        </p:nvSpPr>
        <p:spPr>
          <a:xfrm>
            <a:off x="5486400" y="1188720"/>
            <a:ext cx="822960" cy="822960"/>
          </a:xfrm>
          <a:prstGeom prst="rect">
            <a:avLst/>
          </a:prstGeom>
          <a:noFill/>
          <a:ln/>
        </p:spPr>
        <p:txBody>
          <a:bodyPr wrap="square" lIns="0" tIns="0" rIns="0" bIns="0" rtlCol="0" anchor="ctr">
            <a:normAutofit/>
          </a:bodyPr>
          <a:lstStyle/>
          <a:p>
            <a:pPr algn="ctr" indent="0" marL="0">
              <a:lnSpc>
                <a:spcPct val="100000"/>
              </a:lnSpc>
              <a:buNone/>
            </a:pPr>
            <a:r>
              <a:rPr lang="en-US" sz="3000" b="1" dirty="0">
                <a:solidFill>
                  <a:srgbClr val="FFFFFF"/>
                </a:solidFill>
                <a:latin typeface="Cormorant Garamond" pitchFamily="34" charset="0"/>
                <a:ea typeface="Cormorant Garamond" pitchFamily="34" charset="-122"/>
                <a:cs typeface="Cormorant Garamond" pitchFamily="34" charset="-120"/>
              </a:rPr>
              <a:t>✓</a:t>
            </a:r>
            <a:endParaRPr lang="en-US" sz="3000" dirty="0"/>
          </a:p>
        </p:txBody>
      </p:sp>
      <p:sp>
        <p:nvSpPr>
          <p:cNvPr id="7" name="Text 5"/>
          <p:cNvSpPr txBox="1"/>
          <p:nvPr/>
        </p:nvSpPr>
        <p:spPr>
          <a:xfrm>
            <a:off x="6492240" y="1417320"/>
            <a:ext cx="50292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OUTCOME · EXECUTION</a:t>
            </a:r>
            <a:endParaRPr lang="en-US" sz="1200" dirty="0"/>
          </a:p>
        </p:txBody>
      </p:sp>
      <p:sp>
        <p:nvSpPr>
          <p:cNvPr id="8" name="Text 6"/>
          <p:cNvSpPr txBox="1"/>
          <p:nvPr/>
        </p:nvSpPr>
        <p:spPr>
          <a:xfrm>
            <a:off x="5486400" y="2286000"/>
            <a:ext cx="6035040" cy="2926080"/>
          </a:xfrm>
          <a:prstGeom prst="rect">
            <a:avLst/>
          </a:prstGeom>
          <a:noFill/>
          <a:ln/>
        </p:spPr>
        <p:txBody>
          <a:bodyPr wrap="square" lIns="0" tIns="0" rIns="0" bIns="0" rtlCol="0" anchor="t">
            <a:normAutofit/>
          </a:bodyPr>
          <a:lstStyle/>
          <a:p>
            <a:pPr algn="l" indent="0" marL="0">
              <a:lnSpc>
                <a:spcPct val="95000"/>
              </a:lnSpc>
              <a:buNone/>
            </a:pPr>
            <a:r>
              <a:rPr lang="en-US" sz="3400" b="1" dirty="0">
                <a:solidFill>
                  <a:srgbClr val="1E4A4A"/>
                </a:solidFill>
                <a:latin typeface="Cormorant Garamond" pitchFamily="34" charset="0"/>
                <a:ea typeface="Cormorant Garamond" pitchFamily="34" charset="-122"/>
                <a:cs typeface="Cormorant Garamond" pitchFamily="34" charset="-120"/>
              </a:rPr>
              <a:t>She builds the confidence that </a:t>
            </a:r>
            <a:pPr algn="l" indent="0" marL="0">
              <a:lnSpc>
                <a:spcPct val="95000"/>
              </a:lnSpc>
              <a:buNone/>
            </a:pPr>
            <a:r>
              <a:rPr lang="en-US" sz="3400" b="1" dirty="0">
                <a:solidFill>
                  <a:srgbClr val="1E4A4A"/>
                </a:solidFill>
                <a:highlight>
                  <a:srgbClr val="CFE3CF"/>
                </a:highlight>
                <a:latin typeface="Cormorant Garamond" pitchFamily="34" charset="0"/>
                <a:ea typeface="Cormorant Garamond" pitchFamily="34" charset="-122"/>
                <a:cs typeface="Cormorant Garamond" pitchFamily="34" charset="-120"/>
              </a:rPr>
              <a:t>only comes from action.</a:t>
            </a:r>
            <a:endParaRPr lang="en-US" sz="3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48640"/>
            <a:ext cx="10911535" cy="914400"/>
          </a:xfrm>
          <a:prstGeom prst="rect">
            <a:avLst/>
          </a:prstGeom>
          <a:noFill/>
          <a:ln/>
        </p:spPr>
        <p:txBody>
          <a:bodyPr wrap="square" lIns="0" tIns="0" rIns="0" bIns="0" rtlCol="0" anchor="b">
            <a:normAutofit/>
          </a:bodyPr>
          <a:lstStyle/>
          <a:p>
            <a:pPr algn="ctr"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The V.O.I.C.E. Framework™, </a:t>
            </a:r>
            <a:pPr algn="ctr"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together</a:t>
            </a:r>
            <a:endParaRPr lang="en-US" sz="3400" dirty="0"/>
          </a:p>
        </p:txBody>
      </p:sp>
      <p:sp>
        <p:nvSpPr>
          <p:cNvPr id="3" name="Shape 1"/>
          <p:cNvSpPr/>
          <p:nvPr/>
        </p:nvSpPr>
        <p:spPr>
          <a:xfrm>
            <a:off x="953994" y="2011680"/>
            <a:ext cx="1554480" cy="1554480"/>
          </a:xfrm>
          <a:prstGeom prst="ellipse">
            <a:avLst/>
          </a:prstGeom>
          <a:solidFill>
            <a:srgbClr val="1E4A4A"/>
          </a:solidFill>
          <a:ln w="12700">
            <a:solidFill>
              <a:srgbClr val="1E4A4A"/>
            </a:solidFill>
            <a:prstDash val="solid"/>
          </a:ln>
        </p:spPr>
      </p:sp>
      <p:sp>
        <p:nvSpPr>
          <p:cNvPr id="4" name="Text 2"/>
          <p:cNvSpPr txBox="1"/>
          <p:nvPr/>
        </p:nvSpPr>
        <p:spPr>
          <a:xfrm>
            <a:off x="953994"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V</a:t>
            </a:r>
            <a:endParaRPr lang="en-US" sz="6400" dirty="0"/>
          </a:p>
        </p:txBody>
      </p:sp>
      <p:sp>
        <p:nvSpPr>
          <p:cNvPr id="5" name="Text 3"/>
          <p:cNvSpPr txBox="1"/>
          <p:nvPr/>
        </p:nvSpPr>
        <p:spPr>
          <a:xfrm>
            <a:off x="502920" y="3840480"/>
            <a:ext cx="2456627" cy="1280160"/>
          </a:xfrm>
          <a:prstGeom prst="rect">
            <a:avLst/>
          </a:prstGeom>
          <a:noFill/>
          <a:ln/>
        </p:spPr>
        <p:txBody>
          <a:bodyPr wrap="square" lIns="0" tIns="0" rIns="0" bIns="0" rtlCol="0" anchor="t">
            <a:normAutofit/>
          </a:bodyPr>
          <a:lstStyle/>
          <a:p>
            <a:pPr algn="ctr" indent="0" marL="0">
              <a:lnSpc>
                <a:spcPct val="100000"/>
              </a:lnSpc>
              <a:buNone/>
            </a:pPr>
            <a:r>
              <a:rPr lang="en-US" sz="2000" b="1" dirty="0">
                <a:solidFill>
                  <a:srgbClr val="1E4A4A"/>
                </a:solidFill>
                <a:latin typeface="Cormorant Garamond" pitchFamily="34" charset="0"/>
                <a:ea typeface="Cormorant Garamond" pitchFamily="34" charset="-122"/>
                <a:cs typeface="Cormorant Garamond" pitchFamily="34" charset="-120"/>
              </a:rPr>
              <a:t>She knows her value</a:t>
            </a:r>
            <a:endParaRPr lang="en-US" sz="2000" dirty="0"/>
          </a:p>
        </p:txBody>
      </p:sp>
      <p:sp>
        <p:nvSpPr>
          <p:cNvPr id="6" name="Shape 4"/>
          <p:cNvSpPr/>
          <p:nvPr/>
        </p:nvSpPr>
        <p:spPr>
          <a:xfrm>
            <a:off x="3136301" y="2011680"/>
            <a:ext cx="1554480" cy="1554480"/>
          </a:xfrm>
          <a:prstGeom prst="ellipse">
            <a:avLst/>
          </a:prstGeom>
          <a:solidFill>
            <a:srgbClr val="1E4A4A"/>
          </a:solidFill>
          <a:ln w="12700">
            <a:solidFill>
              <a:srgbClr val="1E4A4A"/>
            </a:solidFill>
            <a:prstDash val="solid"/>
          </a:ln>
        </p:spPr>
      </p:sp>
      <p:sp>
        <p:nvSpPr>
          <p:cNvPr id="7" name="Text 5"/>
          <p:cNvSpPr txBox="1"/>
          <p:nvPr/>
        </p:nvSpPr>
        <p:spPr>
          <a:xfrm>
            <a:off x="3136301"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O</a:t>
            </a:r>
            <a:endParaRPr lang="en-US" sz="6400" dirty="0"/>
          </a:p>
        </p:txBody>
      </p:sp>
      <p:sp>
        <p:nvSpPr>
          <p:cNvPr id="8" name="Text 6"/>
          <p:cNvSpPr txBox="1"/>
          <p:nvPr/>
        </p:nvSpPr>
        <p:spPr>
          <a:xfrm>
            <a:off x="2685227" y="3840480"/>
            <a:ext cx="2456627" cy="1280160"/>
          </a:xfrm>
          <a:prstGeom prst="rect">
            <a:avLst/>
          </a:prstGeom>
          <a:noFill/>
          <a:ln/>
        </p:spPr>
        <p:txBody>
          <a:bodyPr wrap="square" lIns="0" tIns="0" rIns="0" bIns="0" rtlCol="0" anchor="t">
            <a:normAutofit/>
          </a:bodyPr>
          <a:lstStyle/>
          <a:p>
            <a:pPr algn="ctr" indent="0" marL="0">
              <a:lnSpc>
                <a:spcPct val="100000"/>
              </a:lnSpc>
              <a:buNone/>
            </a:pPr>
            <a:r>
              <a:rPr lang="en-US" sz="2000" b="1" dirty="0">
                <a:solidFill>
                  <a:srgbClr val="1E4A4A"/>
                </a:solidFill>
                <a:latin typeface="Cormorant Garamond" pitchFamily="34" charset="0"/>
                <a:ea typeface="Cormorant Garamond" pitchFamily="34" charset="-122"/>
                <a:cs typeface="Cormorant Garamond" pitchFamily="34" charset="-120"/>
              </a:rPr>
              <a:t>She chooses herself</a:t>
            </a:r>
            <a:endParaRPr lang="en-US" sz="2000" dirty="0"/>
          </a:p>
        </p:txBody>
      </p:sp>
      <p:sp>
        <p:nvSpPr>
          <p:cNvPr id="9" name="Shape 7"/>
          <p:cNvSpPr/>
          <p:nvPr/>
        </p:nvSpPr>
        <p:spPr>
          <a:xfrm>
            <a:off x="5318608" y="2011680"/>
            <a:ext cx="1554480" cy="1554480"/>
          </a:xfrm>
          <a:prstGeom prst="ellipse">
            <a:avLst/>
          </a:prstGeom>
          <a:solidFill>
            <a:srgbClr val="1E4A4A"/>
          </a:solidFill>
          <a:ln w="12700">
            <a:solidFill>
              <a:srgbClr val="1E4A4A"/>
            </a:solidFill>
            <a:prstDash val="solid"/>
          </a:ln>
        </p:spPr>
      </p:sp>
      <p:sp>
        <p:nvSpPr>
          <p:cNvPr id="10" name="Text 8"/>
          <p:cNvSpPr txBox="1"/>
          <p:nvPr/>
        </p:nvSpPr>
        <p:spPr>
          <a:xfrm>
            <a:off x="5318608"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I</a:t>
            </a:r>
            <a:endParaRPr lang="en-US" sz="6400" dirty="0"/>
          </a:p>
        </p:txBody>
      </p:sp>
      <p:sp>
        <p:nvSpPr>
          <p:cNvPr id="11" name="Text 9"/>
          <p:cNvSpPr txBox="1"/>
          <p:nvPr/>
        </p:nvSpPr>
        <p:spPr>
          <a:xfrm>
            <a:off x="4867534" y="3840480"/>
            <a:ext cx="2456627" cy="1280160"/>
          </a:xfrm>
          <a:prstGeom prst="rect">
            <a:avLst/>
          </a:prstGeom>
          <a:noFill/>
          <a:ln/>
        </p:spPr>
        <p:txBody>
          <a:bodyPr wrap="square" lIns="0" tIns="0" rIns="0" bIns="0" rtlCol="0" anchor="t">
            <a:normAutofit/>
          </a:bodyPr>
          <a:lstStyle/>
          <a:p>
            <a:pPr algn="ctr" indent="0" marL="0">
              <a:lnSpc>
                <a:spcPct val="100000"/>
              </a:lnSpc>
              <a:buNone/>
            </a:pPr>
            <a:r>
              <a:rPr lang="en-US" sz="2000" b="1" dirty="0">
                <a:solidFill>
                  <a:srgbClr val="1E4A4A"/>
                </a:solidFill>
                <a:latin typeface="Cormorant Garamond" pitchFamily="34" charset="0"/>
                <a:ea typeface="Cormorant Garamond" pitchFamily="34" charset="-122"/>
                <a:cs typeface="Cormorant Garamond" pitchFamily="34" charset="-120"/>
              </a:rPr>
              <a:t>She expects more</a:t>
            </a:r>
            <a:endParaRPr lang="en-US" sz="2000" dirty="0"/>
          </a:p>
        </p:txBody>
      </p:sp>
      <p:sp>
        <p:nvSpPr>
          <p:cNvPr id="12" name="Shape 10"/>
          <p:cNvSpPr/>
          <p:nvPr/>
        </p:nvSpPr>
        <p:spPr>
          <a:xfrm>
            <a:off x="7500915" y="2011680"/>
            <a:ext cx="1554480" cy="1554480"/>
          </a:xfrm>
          <a:prstGeom prst="ellipse">
            <a:avLst/>
          </a:prstGeom>
          <a:solidFill>
            <a:srgbClr val="1E4A4A"/>
          </a:solidFill>
          <a:ln w="12700">
            <a:solidFill>
              <a:srgbClr val="1E4A4A"/>
            </a:solidFill>
            <a:prstDash val="solid"/>
          </a:ln>
        </p:spPr>
      </p:sp>
      <p:sp>
        <p:nvSpPr>
          <p:cNvPr id="13" name="Text 11"/>
          <p:cNvSpPr txBox="1"/>
          <p:nvPr/>
        </p:nvSpPr>
        <p:spPr>
          <a:xfrm>
            <a:off x="7500915"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C</a:t>
            </a:r>
            <a:endParaRPr lang="en-US" sz="6400" dirty="0"/>
          </a:p>
        </p:txBody>
      </p:sp>
      <p:sp>
        <p:nvSpPr>
          <p:cNvPr id="14" name="Text 12"/>
          <p:cNvSpPr txBox="1"/>
          <p:nvPr/>
        </p:nvSpPr>
        <p:spPr>
          <a:xfrm>
            <a:off x="7049841" y="3840480"/>
            <a:ext cx="2456627" cy="1280160"/>
          </a:xfrm>
          <a:prstGeom prst="rect">
            <a:avLst/>
          </a:prstGeom>
          <a:noFill/>
          <a:ln/>
        </p:spPr>
        <p:txBody>
          <a:bodyPr wrap="square" lIns="0" tIns="0" rIns="0" bIns="0" rtlCol="0" anchor="t">
            <a:normAutofit/>
          </a:bodyPr>
          <a:lstStyle/>
          <a:p>
            <a:pPr algn="ctr" indent="0" marL="0">
              <a:lnSpc>
                <a:spcPct val="100000"/>
              </a:lnSpc>
              <a:buNone/>
            </a:pPr>
            <a:r>
              <a:rPr lang="en-US" sz="2000" b="1" dirty="0">
                <a:solidFill>
                  <a:srgbClr val="1E4A4A"/>
                </a:solidFill>
                <a:latin typeface="Cormorant Garamond" pitchFamily="34" charset="0"/>
                <a:ea typeface="Cormorant Garamond" pitchFamily="34" charset="-122"/>
                <a:cs typeface="Cormorant Garamond" pitchFamily="34" charset="-120"/>
              </a:rPr>
              <a:t>Her words match her capability</a:t>
            </a:r>
            <a:endParaRPr lang="en-US" sz="2000" dirty="0"/>
          </a:p>
        </p:txBody>
      </p:sp>
      <p:sp>
        <p:nvSpPr>
          <p:cNvPr id="15" name="Shape 13"/>
          <p:cNvSpPr/>
          <p:nvPr/>
        </p:nvSpPr>
        <p:spPr>
          <a:xfrm>
            <a:off x="9683222" y="2011680"/>
            <a:ext cx="1554480" cy="1554480"/>
          </a:xfrm>
          <a:prstGeom prst="ellipse">
            <a:avLst/>
          </a:prstGeom>
          <a:solidFill>
            <a:srgbClr val="1E4A4A"/>
          </a:solidFill>
          <a:ln w="12700">
            <a:solidFill>
              <a:srgbClr val="1E4A4A"/>
            </a:solidFill>
            <a:prstDash val="solid"/>
          </a:ln>
        </p:spPr>
      </p:sp>
      <p:sp>
        <p:nvSpPr>
          <p:cNvPr id="16" name="Text 14"/>
          <p:cNvSpPr txBox="1"/>
          <p:nvPr/>
        </p:nvSpPr>
        <p:spPr>
          <a:xfrm>
            <a:off x="9683222"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E</a:t>
            </a:r>
            <a:endParaRPr lang="en-US" sz="6400" dirty="0"/>
          </a:p>
        </p:txBody>
      </p:sp>
      <p:sp>
        <p:nvSpPr>
          <p:cNvPr id="17" name="Text 15"/>
          <p:cNvSpPr txBox="1"/>
          <p:nvPr/>
        </p:nvSpPr>
        <p:spPr>
          <a:xfrm>
            <a:off x="9232148" y="3840480"/>
            <a:ext cx="2456627" cy="1280160"/>
          </a:xfrm>
          <a:prstGeom prst="rect">
            <a:avLst/>
          </a:prstGeom>
          <a:noFill/>
          <a:ln/>
        </p:spPr>
        <p:txBody>
          <a:bodyPr wrap="square" lIns="0" tIns="0" rIns="0" bIns="0" rtlCol="0" anchor="t">
            <a:normAutofit/>
          </a:bodyPr>
          <a:lstStyle/>
          <a:p>
            <a:pPr algn="ctr" indent="0" marL="0">
              <a:lnSpc>
                <a:spcPct val="100000"/>
              </a:lnSpc>
              <a:buNone/>
            </a:pPr>
            <a:r>
              <a:rPr lang="en-US" sz="2000" b="1" dirty="0">
                <a:solidFill>
                  <a:srgbClr val="1E4A4A"/>
                </a:solidFill>
                <a:latin typeface="Cormorant Garamond" pitchFamily="34" charset="0"/>
                <a:ea typeface="Cormorant Garamond" pitchFamily="34" charset="-122"/>
                <a:cs typeface="Cormorant Garamond" pitchFamily="34" charset="-120"/>
              </a:rPr>
              <a:t>She acts, even when it's uncomfortable</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Stack of generic negotiation books on a nightstand, one open face-down, a pair of reading glasses on top.</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Most programs start at C.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We start with who you are.</a:t>
            </a:r>
            <a:endParaRPr lang="en-US" sz="34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Scripts only touch communication. The V.O.I.C.E. Framework works on the woman saying them.</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1097280" y="1097280"/>
            <a:ext cx="9997135" cy="2926080"/>
          </a:xfrm>
          <a:prstGeom prst="rect">
            <a:avLst/>
          </a:prstGeom>
          <a:noFill/>
          <a:ln/>
        </p:spPr>
        <p:txBody>
          <a:bodyPr wrap="square" lIns="0" tIns="0" rIns="0" bIns="0" rtlCol="0" anchor="b">
            <a:normAutofit/>
          </a:bodyPr>
          <a:lstStyle/>
          <a:p>
            <a:pPr algn="ctr" indent="0" marL="0">
              <a:lnSpc>
                <a:spcPct val="95000"/>
              </a:lnSpc>
              <a:buNone/>
            </a:pPr>
            <a:r>
              <a:rPr lang="en-US" sz="4800" b="1" dirty="0">
                <a:solidFill>
                  <a:srgbClr val="FFFFFF"/>
                </a:solidFill>
                <a:latin typeface="Cormorant Garamond" pitchFamily="34" charset="0"/>
                <a:ea typeface="Cormorant Garamond" pitchFamily="34" charset="-122"/>
                <a:cs typeface="Cormorant Garamond" pitchFamily="34" charset="-120"/>
              </a:rPr>
              <a:t>Which letter </a:t>
            </a:r>
            <a:pPr algn="ctr" indent="0" marL="0">
              <a:lnSpc>
                <a:spcPct val="95000"/>
              </a:lnSpc>
              <a:buNone/>
            </a:pPr>
            <a:r>
              <a:rPr lang="en-US" sz="4800" b="1" dirty="0">
                <a:solidFill>
                  <a:srgbClr val="B7D3B7"/>
                </a:solidFill>
                <a:latin typeface="Cormorant Garamond" pitchFamily="34" charset="0"/>
                <a:ea typeface="Cormorant Garamond" pitchFamily="34" charset="-122"/>
                <a:cs typeface="Cormorant Garamond" pitchFamily="34" charset="-120"/>
              </a:rPr>
              <a:t>hit you hardest?</a:t>
            </a:r>
            <a:endParaRPr lang="en-US" sz="4800" dirty="0"/>
          </a:p>
        </p:txBody>
      </p:sp>
      <p:sp>
        <p:nvSpPr>
          <p:cNvPr id="3" name="Text 1"/>
          <p:cNvSpPr txBox="1"/>
          <p:nvPr/>
        </p:nvSpPr>
        <p:spPr>
          <a:xfrm>
            <a:off x="1645920" y="4297680"/>
            <a:ext cx="8899855" cy="146304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Type V, O, I, C or E in the chat.</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Collage-style grid of three women's portraits (Shelly, Nina, Erica). </a:t>
            </a:r>
            <a:pPr algn="l" indent="0" marL="0">
              <a:lnSpc>
                <a:spcPct val="110000"/>
              </a:lnSpc>
              <a:buNone/>
            </a:pPr>
            <a:r>
              <a:rPr lang="en-US" sz="1200" b="1" i="1" dirty="0">
                <a:solidFill>
                  <a:srgbClr val="B85042"/>
                </a:solidFill>
                <a:latin typeface="DM Sans" pitchFamily="34" charset="0"/>
                <a:ea typeface="DM Sans" pitchFamily="34" charset="-122"/>
                <a:cs typeface="DM Sans" pitchFamily="34" charset="-120"/>
              </a:rPr>
              <a:t>[PLACEHOLDER: needs client photos and written consent. Use silhouettes if not approved.]</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Let me show you what this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looks like in real life.</a:t>
            </a:r>
            <a:endParaRPr lang="en-US" sz="34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Three women. Different industries, different pay bands. The same gap between what they could do and who they believed they were.</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40080"/>
            <a:ext cx="2926080" cy="457200"/>
          </a:xfrm>
          <a:prstGeom prst="roundRect">
            <a:avLst>
              <a:gd name="adj" fmla="val 50000"/>
            </a:avLst>
          </a:prstGeom>
          <a:solidFill>
            <a:srgbClr val="E1F5EE"/>
          </a:solidFill>
          <a:ln w="12700">
            <a:solidFill>
              <a:srgbClr val="E1F5EE"/>
            </a:solidFill>
            <a:prstDash val="solid"/>
          </a:ln>
        </p:spPr>
      </p:sp>
      <p:sp>
        <p:nvSpPr>
          <p:cNvPr id="3" name="Text 1"/>
          <p:cNvSpPr txBox="1"/>
          <p:nvPr/>
        </p:nvSpPr>
        <p:spPr>
          <a:xfrm>
            <a:off x="640080" y="640080"/>
            <a:ext cx="2926080" cy="457200"/>
          </a:xfrm>
          <a:prstGeom prst="rect">
            <a:avLst/>
          </a:prstGeom>
          <a:noFill/>
          <a:ln/>
        </p:spPr>
        <p:txBody>
          <a:bodyPr wrap="square" lIns="0" tIns="0" rIns="0" bIns="0" rtlCol="0" anchor="ctr">
            <a:normAutofit/>
          </a:bodyPr>
          <a:lstStyle/>
          <a:p>
            <a:pPr algn="ctr" indent="0" marL="0">
              <a:lnSpc>
                <a:spcPct val="100000"/>
              </a:lnSpc>
              <a:buNone/>
            </a:pPr>
            <a:r>
              <a:rPr lang="en-US" sz="1200" b="1" spc="200" kern="0" dirty="0">
                <a:solidFill>
                  <a:srgbClr val="1E4A4A"/>
                </a:solidFill>
                <a:latin typeface="DM Sans" pitchFamily="34" charset="0"/>
                <a:ea typeface="DM Sans" pitchFamily="34" charset="-122"/>
                <a:cs typeface="DM Sans" pitchFamily="34" charset="-120"/>
              </a:rPr>
              <a:t>WHERE SHELLY STARTED</a:t>
            </a:r>
            <a:endParaRPr lang="en-US" sz="1200" dirty="0"/>
          </a:p>
        </p:txBody>
      </p:sp>
      <p:sp>
        <p:nvSpPr>
          <p:cNvPr id="4" name="Text 2"/>
          <p:cNvSpPr txBox="1"/>
          <p:nvPr/>
        </p:nvSpPr>
        <p:spPr>
          <a:xfrm>
            <a:off x="640080" y="1463040"/>
            <a:ext cx="6400800" cy="2194560"/>
          </a:xfrm>
          <a:prstGeom prst="rect">
            <a:avLst/>
          </a:prstGeom>
          <a:noFill/>
          <a:ln/>
        </p:spPr>
        <p:txBody>
          <a:bodyPr wrap="square" lIns="0" tIns="0" rIns="0" bIns="0" rtlCol="0" anchor="b">
            <a:normAutofit/>
          </a:bodyPr>
          <a:lstStyle/>
          <a:p>
            <a:pPr algn="l" indent="0" marL="0">
              <a:lnSpc>
                <a:spcPct val="95000"/>
              </a:lnSpc>
              <a:buNone/>
            </a:pPr>
            <a:r>
              <a:rPr lang="en-US" sz="3600" b="1" dirty="0">
                <a:solidFill>
                  <a:srgbClr val="1B2B2B"/>
                </a:solidFill>
                <a:latin typeface="Cormorant Garamond" pitchFamily="34" charset="0"/>
                <a:ea typeface="Cormorant Garamond" pitchFamily="34" charset="-122"/>
                <a:cs typeface="Cormorant Garamond" pitchFamily="34" charset="-120"/>
              </a:rPr>
              <a:t>Highly accomplished. </a:t>
            </a:r>
            <a:pPr algn="l" indent="0" marL="0">
              <a:lnSpc>
                <a:spcPct val="95000"/>
              </a:lnSpc>
              <a:buNone/>
            </a:pPr>
            <a:r>
              <a:rPr lang="en-US" sz="3600" b="1" dirty="0">
                <a:solidFill>
                  <a:srgbClr val="1B2B2B"/>
                </a:solidFill>
                <a:highlight>
                  <a:srgbClr val="CFE3CF"/>
                </a:highlight>
                <a:latin typeface="Cormorant Garamond" pitchFamily="34" charset="0"/>
                <a:ea typeface="Cormorant Garamond" pitchFamily="34" charset="-122"/>
                <a:cs typeface="Cormorant Garamond" pitchFamily="34" charset="-120"/>
              </a:rPr>
              <a:t>Knew she was underpaid.</a:t>
            </a:r>
            <a:endParaRPr lang="en-US" sz="3600" dirty="0"/>
          </a:p>
        </p:txBody>
      </p:sp>
      <p:sp>
        <p:nvSpPr>
          <p:cNvPr id="5" name="Text 3"/>
          <p:cNvSpPr txBox="1"/>
          <p:nvPr/>
        </p:nvSpPr>
        <p:spPr>
          <a:xfrm>
            <a:off x="640080" y="3931920"/>
            <a:ext cx="6217920" cy="201168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1B2B2B"/>
                </a:solidFill>
                <a:latin typeface="DM Sans" pitchFamily="34" charset="0"/>
                <a:ea typeface="DM Sans" pitchFamily="34" charset="-122"/>
                <a:cs typeface="DM Sans" pitchFamily="34" charset="-120"/>
              </a:rPr>
              <a:t>She believed her work should speak for itself and found negotiating deeply uncomfortable.</a:t>
            </a:r>
            <a:endParaRPr lang="en-US" sz="2000" dirty="0"/>
          </a:p>
        </p:txBody>
      </p:sp>
      <p:sp>
        <p:nvSpPr>
          <p:cNvPr id="6" name="Shape 4"/>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7" name="Text 5"/>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8" name="Text 6"/>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Shelly headshot. </a:t>
            </a:r>
            <a:pPr algn="l" indent="0" marL="0">
              <a:lnSpc>
                <a:spcPct val="110000"/>
              </a:lnSpc>
              <a:buNone/>
            </a:pPr>
            <a:r>
              <a:rPr lang="en-US" sz="1200" b="1" i="1" dirty="0">
                <a:solidFill>
                  <a:srgbClr val="B85042"/>
                </a:solidFill>
                <a:latin typeface="DM Sans" pitchFamily="34" charset="0"/>
                <a:ea typeface="DM Sans" pitchFamily="34" charset="-122"/>
                <a:cs typeface="DM Sans" pitchFamily="34" charset="-120"/>
              </a:rPr>
              <a:t>[PLACEHOLDER: client photo + consent]</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0292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SHELLY</a:t>
            </a:r>
            <a:endParaRPr lang="en-US" sz="1200" dirty="0"/>
          </a:p>
        </p:txBody>
      </p:sp>
      <p:sp>
        <p:nvSpPr>
          <p:cNvPr id="3" name="Text 1"/>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Where Shelly is now</a:t>
            </a:r>
            <a:endParaRPr lang="en-US" sz="3000" dirty="0"/>
          </a:p>
        </p:txBody>
      </p:sp>
      <p:sp>
        <p:nvSpPr>
          <p:cNvPr id="4" name="Text 2"/>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8800" b="1" dirty="0">
                <a:solidFill>
                  <a:srgbClr val="1E4A4A"/>
                </a:solidFill>
                <a:latin typeface="Cormorant Garamond" pitchFamily="34" charset="0"/>
                <a:ea typeface="Cormorant Garamond" pitchFamily="34" charset="-122"/>
                <a:cs typeface="Cormorant Garamond" pitchFamily="34" charset="-120"/>
              </a:rPr>
              <a:t>$225K → $435K</a:t>
            </a:r>
            <a:endParaRPr lang="en-US" sz="8800" dirty="0"/>
          </a:p>
        </p:txBody>
      </p:sp>
      <p:sp>
        <p:nvSpPr>
          <p:cNvPr id="5" name="Text 3"/>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Once she understood her market value and could communicate it with confidence, the conversation changed.</a:t>
            </a:r>
            <a:endParaRPr lang="en-US" sz="1900" dirty="0"/>
          </a:p>
        </p:txBody>
      </p:sp>
      <p:sp>
        <p:nvSpPr>
          <p:cNvPr id="6" name="Shape 4"/>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7" name="Text 5"/>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8" name="Text 6"/>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Shelly, confident portrait in her work setting. </a:t>
            </a:r>
            <a:pPr algn="l" indent="0" marL="0">
              <a:lnSpc>
                <a:spcPct val="110000"/>
              </a:lnSpc>
              <a:buNone/>
            </a:pPr>
            <a:r>
              <a:rPr lang="en-US" sz="1200" b="1" i="1" dirty="0">
                <a:solidFill>
                  <a:srgbClr val="B85042"/>
                </a:solidFill>
                <a:latin typeface="DM Sans" pitchFamily="34" charset="0"/>
                <a:ea typeface="DM Sans" pitchFamily="34" charset="-122"/>
                <a:cs typeface="DM Sans" pitchFamily="34" charset="-120"/>
              </a:rPr>
              <a:t>[PLACEHOLDER: client photo + consent]</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31520" y="1097280"/>
            <a:ext cx="3474720" cy="4663440"/>
          </a:xfrm>
          <a:prstGeom prst="roundRect">
            <a:avLst>
              <a:gd name="adj" fmla="val 3158"/>
            </a:avLst>
          </a:prstGeom>
          <a:solidFill>
            <a:srgbClr val="E1F5EE"/>
          </a:solidFill>
          <a:ln w="15875">
            <a:solidFill>
              <a:srgbClr val="8AAF8A"/>
            </a:solidFill>
            <a:prstDash val="dash"/>
          </a:ln>
        </p:spPr>
      </p:sp>
      <p:sp>
        <p:nvSpPr>
          <p:cNvPr id="3" name="Text 1"/>
          <p:cNvSpPr txBox="1"/>
          <p:nvPr/>
        </p:nvSpPr>
        <p:spPr>
          <a:xfrm>
            <a:off x="1009498" y="1375258"/>
            <a:ext cx="291876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1009498" y="1786738"/>
            <a:ext cx="2918765" cy="2377440"/>
          </a:xfrm>
          <a:prstGeom prst="rect">
            <a:avLst/>
          </a:prstGeom>
          <a:noFill/>
          <a:ln/>
        </p:spPr>
        <p:txBody>
          <a:bodyPr wrap="square" lIns="0" tIns="0" rIns="0" bIns="0" rtlCol="0" anchor="t">
            <a:normAutofit/>
          </a:bodyPr>
          <a:lstStyle/>
          <a:p>
            <a:pPr algn="l" indent="0" marL="0">
              <a:lnSpc>
                <a:spcPct val="110000"/>
              </a:lnSpc>
              <a:buNone/>
            </a:pPr>
            <a:r>
              <a:rPr lang="en-US" sz="1100" i="1" dirty="0">
                <a:solidFill>
                  <a:srgbClr val="5E6B68"/>
                </a:solidFill>
                <a:latin typeface="DM Sans" pitchFamily="34" charset="0"/>
                <a:ea typeface="DM Sans" pitchFamily="34" charset="-122"/>
                <a:cs typeface="DM Sans" pitchFamily="34" charset="-120"/>
              </a:rPr>
              <a:t>Shelly headshot, or a still frame from her video testimonial.</a:t>
            </a:r>
            <a:endParaRPr lang="en-US" sz="1100" dirty="0"/>
          </a:p>
        </p:txBody>
      </p:sp>
      <p:sp>
        <p:nvSpPr>
          <p:cNvPr id="5" name="Text 3"/>
          <p:cNvSpPr txBox="1"/>
          <p:nvPr/>
        </p:nvSpPr>
        <p:spPr>
          <a:xfrm>
            <a:off x="4663440" y="548640"/>
            <a:ext cx="1097280" cy="1097280"/>
          </a:xfrm>
          <a:prstGeom prst="rect">
            <a:avLst/>
          </a:prstGeom>
          <a:noFill/>
          <a:ln/>
        </p:spPr>
        <p:txBody>
          <a:bodyPr wrap="square" lIns="0" tIns="0" rIns="0" bIns="0" rtlCol="0" anchor="t">
            <a:normAutofit/>
          </a:bodyPr>
          <a:lstStyle/>
          <a:p>
            <a:pPr algn="l" indent="0" marL="0">
              <a:lnSpc>
                <a:spcPct val="100000"/>
              </a:lnSpc>
              <a:buNone/>
            </a:pPr>
            <a:r>
              <a:rPr lang="en-US" sz="11000" b="1" dirty="0">
                <a:solidFill>
                  <a:srgbClr val="8AAF8A"/>
                </a:solidFill>
                <a:latin typeface="Cormorant Garamond" pitchFamily="34" charset="0"/>
                <a:ea typeface="Cormorant Garamond" pitchFamily="34" charset="-122"/>
                <a:cs typeface="Cormorant Garamond" pitchFamily="34" charset="-120"/>
              </a:rPr>
              <a:t>“</a:t>
            </a:r>
            <a:endParaRPr lang="en-US" sz="11000" dirty="0"/>
          </a:p>
        </p:txBody>
      </p:sp>
      <p:sp>
        <p:nvSpPr>
          <p:cNvPr id="6" name="Text 4"/>
          <p:cNvSpPr txBox="1"/>
          <p:nvPr/>
        </p:nvSpPr>
        <p:spPr>
          <a:xfrm>
            <a:off x="4754880" y="1554480"/>
            <a:ext cx="6766560" cy="3017520"/>
          </a:xfrm>
          <a:prstGeom prst="rect">
            <a:avLst/>
          </a:prstGeom>
          <a:noFill/>
          <a:ln/>
        </p:spPr>
        <p:txBody>
          <a:bodyPr wrap="square" lIns="0" tIns="0" rIns="0" bIns="0" rtlCol="0" anchor="ctr">
            <a:normAutofit/>
          </a:bodyPr>
          <a:lstStyle/>
          <a:p>
            <a:pPr algn="l" indent="0" marL="0">
              <a:lnSpc>
                <a:spcPct val="105000"/>
              </a:lnSpc>
              <a:buNone/>
            </a:pPr>
            <a:r>
              <a:rPr lang="en-US" sz="3100" b="1" i="1" dirty="0">
                <a:solidFill>
                  <a:srgbClr val="1E4A4A"/>
                </a:solidFill>
                <a:latin typeface="Cormorant Garamond" pitchFamily="34" charset="0"/>
                <a:ea typeface="Cormorant Garamond" pitchFamily="34" charset="-122"/>
                <a:cs typeface="Cormorant Garamond" pitchFamily="34" charset="-120"/>
              </a:rPr>
              <a:t>She stopped </a:t>
            </a:r>
            <a:pPr algn="l" indent="0" marL="0">
              <a:lnSpc>
                <a:spcPct val="105000"/>
              </a:lnSpc>
              <a:buNone/>
            </a:pPr>
            <a:r>
              <a:rPr lang="en-US" sz="3100" b="1" i="1" dirty="0">
                <a:solidFill>
                  <a:srgbClr val="1E4A4A"/>
                </a:solidFill>
                <a:highlight>
                  <a:srgbClr val="CFE3CF"/>
                </a:highlight>
                <a:latin typeface="Cormorant Garamond" pitchFamily="34" charset="0"/>
                <a:ea typeface="Cormorant Garamond" pitchFamily="34" charset="-122"/>
                <a:cs typeface="Cormorant Garamond" pitchFamily="34" charset="-120"/>
              </a:rPr>
              <a:t>waiting for permission.</a:t>
            </a:r>
            <a:endParaRPr lang="en-US" sz="3100" dirty="0"/>
          </a:p>
        </p:txBody>
      </p:sp>
      <p:sp>
        <p:nvSpPr>
          <p:cNvPr id="7" name="Text 5"/>
          <p:cNvSpPr txBox="1"/>
          <p:nvPr/>
        </p:nvSpPr>
        <p:spPr>
          <a:xfrm>
            <a:off x="4754880" y="4754880"/>
            <a:ext cx="6583680" cy="1188720"/>
          </a:xfrm>
          <a:prstGeom prst="rect">
            <a:avLst/>
          </a:prstGeom>
          <a:noFill/>
          <a:ln/>
        </p:spPr>
        <p:txBody>
          <a:bodyPr wrap="square" lIns="0" tIns="0" rIns="0" bIns="0" rtlCol="0" anchor="t">
            <a:normAutofit/>
          </a:bodyPr>
          <a:lstStyle/>
          <a:p>
            <a:pPr algn="l" indent="0" marL="0">
              <a:lnSpc>
                <a:spcPct val="110000"/>
              </a:lnSpc>
              <a:buNone/>
            </a:pPr>
            <a:r>
              <a:rPr lang="en-US" sz="1500" dirty="0">
                <a:solidFill>
                  <a:srgbClr val="5E6B68"/>
                </a:solidFill>
                <a:latin typeface="DM Sans" pitchFamily="34" charset="0"/>
                <a:ea typeface="DM Sans" pitchFamily="34" charset="-122"/>
                <a:cs typeface="DM Sans" pitchFamily="34" charset="-120"/>
              </a:rPr>
              <a:t>Shelly now approaches every career decision from ownership instead of fear. </a:t>
            </a:r>
            <a:pPr algn="l" indent="0" marL="0">
              <a:lnSpc>
                <a:spcPct val="110000"/>
              </a:lnSpc>
              <a:buNone/>
            </a:pPr>
            <a:r>
              <a:rPr lang="en-US" sz="1500" b="1" dirty="0">
                <a:solidFill>
                  <a:srgbClr val="B85042"/>
                </a:solidFill>
                <a:latin typeface="DM Sans" pitchFamily="34" charset="0"/>
                <a:ea typeface="DM Sans" pitchFamily="34" charset="-122"/>
                <a:cs typeface="DM Sans" pitchFamily="34" charset="-120"/>
              </a:rPr>
              <a:t>[PLACEHOLDER: swap for Shelly's own words or video testimonial]</a:t>
            </a:r>
            <a:endParaRPr lang="en-US" sz="15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40080"/>
            <a:ext cx="2926080" cy="457200"/>
          </a:xfrm>
          <a:prstGeom prst="roundRect">
            <a:avLst>
              <a:gd name="adj" fmla="val 50000"/>
            </a:avLst>
          </a:prstGeom>
          <a:solidFill>
            <a:srgbClr val="E1F5EE"/>
          </a:solidFill>
          <a:ln w="12700">
            <a:solidFill>
              <a:srgbClr val="E1F5EE"/>
            </a:solidFill>
            <a:prstDash val="solid"/>
          </a:ln>
        </p:spPr>
      </p:sp>
      <p:sp>
        <p:nvSpPr>
          <p:cNvPr id="3" name="Text 1"/>
          <p:cNvSpPr txBox="1"/>
          <p:nvPr/>
        </p:nvSpPr>
        <p:spPr>
          <a:xfrm>
            <a:off x="640080" y="640080"/>
            <a:ext cx="2926080" cy="457200"/>
          </a:xfrm>
          <a:prstGeom prst="rect">
            <a:avLst/>
          </a:prstGeom>
          <a:noFill/>
          <a:ln/>
        </p:spPr>
        <p:txBody>
          <a:bodyPr wrap="square" lIns="0" tIns="0" rIns="0" bIns="0" rtlCol="0" anchor="ctr">
            <a:normAutofit/>
          </a:bodyPr>
          <a:lstStyle/>
          <a:p>
            <a:pPr algn="ctr" indent="0" marL="0">
              <a:lnSpc>
                <a:spcPct val="100000"/>
              </a:lnSpc>
              <a:buNone/>
            </a:pPr>
            <a:r>
              <a:rPr lang="en-US" sz="1200" b="1" spc="200" kern="0" dirty="0">
                <a:solidFill>
                  <a:srgbClr val="1E4A4A"/>
                </a:solidFill>
                <a:latin typeface="DM Sans" pitchFamily="34" charset="0"/>
                <a:ea typeface="DM Sans" pitchFamily="34" charset="-122"/>
                <a:cs typeface="DM Sans" pitchFamily="34" charset="-120"/>
              </a:rPr>
              <a:t>WHERE NINA STARTED</a:t>
            </a:r>
            <a:endParaRPr lang="en-US" sz="1200" dirty="0"/>
          </a:p>
        </p:txBody>
      </p:sp>
      <p:sp>
        <p:nvSpPr>
          <p:cNvPr id="4" name="Text 2"/>
          <p:cNvSpPr txBox="1"/>
          <p:nvPr/>
        </p:nvSpPr>
        <p:spPr>
          <a:xfrm>
            <a:off x="640080" y="1463040"/>
            <a:ext cx="6400800" cy="2194560"/>
          </a:xfrm>
          <a:prstGeom prst="rect">
            <a:avLst/>
          </a:prstGeom>
          <a:noFill/>
          <a:ln/>
        </p:spPr>
        <p:txBody>
          <a:bodyPr wrap="square" lIns="0" tIns="0" rIns="0" bIns="0" rtlCol="0" anchor="b">
            <a:normAutofit/>
          </a:bodyPr>
          <a:lstStyle/>
          <a:p>
            <a:pPr algn="l" indent="0" marL="0">
              <a:lnSpc>
                <a:spcPct val="95000"/>
              </a:lnSpc>
              <a:buNone/>
            </a:pPr>
            <a:r>
              <a:rPr lang="en-US" sz="3600" b="1" dirty="0">
                <a:solidFill>
                  <a:srgbClr val="1B2B2B"/>
                </a:solidFill>
                <a:latin typeface="Cormorant Garamond" pitchFamily="34" charset="0"/>
                <a:ea typeface="Cormorant Garamond" pitchFamily="34" charset="-122"/>
                <a:cs typeface="Cormorant Garamond" pitchFamily="34" charset="-120"/>
              </a:rPr>
              <a:t>Exceptional work. </a:t>
            </a:r>
            <a:pPr algn="l" indent="0" marL="0">
              <a:lnSpc>
                <a:spcPct val="95000"/>
              </a:lnSpc>
              <a:buNone/>
            </a:pPr>
            <a:r>
              <a:rPr lang="en-US" sz="3600" b="1" dirty="0">
                <a:solidFill>
                  <a:srgbClr val="1B2B2B"/>
                </a:solidFill>
                <a:highlight>
                  <a:srgbClr val="CFE3CF"/>
                </a:highlight>
                <a:latin typeface="Cormorant Garamond" pitchFamily="34" charset="0"/>
                <a:ea typeface="Cormorant Garamond" pitchFamily="34" charset="-122"/>
                <a:cs typeface="Cormorant Garamond" pitchFamily="34" charset="-120"/>
              </a:rPr>
              <a:t>Overlooked anyway.</a:t>
            </a:r>
            <a:endParaRPr lang="en-US" sz="3600" dirty="0"/>
          </a:p>
        </p:txBody>
      </p:sp>
      <p:sp>
        <p:nvSpPr>
          <p:cNvPr id="5" name="Text 3"/>
          <p:cNvSpPr txBox="1"/>
          <p:nvPr/>
        </p:nvSpPr>
        <p:spPr>
          <a:xfrm>
            <a:off x="640080" y="3931920"/>
            <a:ext cx="6217920" cy="201168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1B2B2B"/>
                </a:solidFill>
                <a:latin typeface="DM Sans" pitchFamily="34" charset="0"/>
                <a:ea typeface="DM Sans" pitchFamily="34" charset="-122"/>
                <a:cs typeface="DM Sans" pitchFamily="34" charset="-120"/>
              </a:rPr>
              <a:t>She kept delivering and kept getting passed over for bigger opportunities. Despite years of success, she questioned her value.</a:t>
            </a:r>
            <a:endParaRPr lang="en-US" sz="2000" dirty="0"/>
          </a:p>
        </p:txBody>
      </p:sp>
      <p:sp>
        <p:nvSpPr>
          <p:cNvPr id="6" name="Shape 4"/>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7" name="Text 5"/>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8" name="Text 6"/>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Nina headshot. </a:t>
            </a:r>
            <a:pPr algn="l" indent="0" marL="0">
              <a:lnSpc>
                <a:spcPct val="110000"/>
              </a:lnSpc>
              <a:buNone/>
            </a:pPr>
            <a:r>
              <a:rPr lang="en-US" sz="1200" b="1" i="1" dirty="0">
                <a:solidFill>
                  <a:srgbClr val="B85042"/>
                </a:solidFill>
                <a:latin typeface="DM Sans" pitchFamily="34" charset="0"/>
                <a:ea typeface="DM Sans" pitchFamily="34" charset="-122"/>
                <a:cs typeface="DM Sans" pitchFamily="34" charset="-120"/>
              </a:rPr>
              <a:t>[PLACEHOLDER: client photo + consent]</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0292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NINA</a:t>
            </a:r>
            <a:endParaRPr lang="en-US" sz="1200" dirty="0"/>
          </a:p>
        </p:txBody>
      </p:sp>
      <p:sp>
        <p:nvSpPr>
          <p:cNvPr id="3" name="Text 1"/>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Where Nina is now</a:t>
            </a:r>
            <a:endParaRPr lang="en-US" sz="3000" dirty="0"/>
          </a:p>
        </p:txBody>
      </p:sp>
      <p:sp>
        <p:nvSpPr>
          <p:cNvPr id="4" name="Text 2"/>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8800" b="1" dirty="0">
                <a:solidFill>
                  <a:srgbClr val="1E4A4A"/>
                </a:solidFill>
                <a:latin typeface="Cormorant Garamond" pitchFamily="34" charset="0"/>
                <a:ea typeface="Cormorant Garamond" pitchFamily="34" charset="-122"/>
                <a:cs typeface="Cormorant Garamond" pitchFamily="34" charset="-120"/>
              </a:rPr>
              <a:t>$185K → $215K</a:t>
            </a:r>
            <a:endParaRPr lang="en-US" sz="8800" dirty="0"/>
          </a:p>
        </p:txBody>
      </p:sp>
      <p:sp>
        <p:nvSpPr>
          <p:cNvPr id="5" name="Text 3"/>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And positioned for executive leadership. She learned to articulate her business impact and stopped minimizing her accomplishments.</a:t>
            </a:r>
            <a:endParaRPr lang="en-US" sz="1900" dirty="0"/>
          </a:p>
        </p:txBody>
      </p:sp>
      <p:sp>
        <p:nvSpPr>
          <p:cNvPr id="6" name="Shape 4"/>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7" name="Text 5"/>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8" name="Text 6"/>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Nina in a leadership setting. </a:t>
            </a:r>
            <a:pPr algn="l" indent="0" marL="0">
              <a:lnSpc>
                <a:spcPct val="110000"/>
              </a:lnSpc>
              <a:buNone/>
            </a:pPr>
            <a:r>
              <a:rPr lang="en-US" sz="1200" b="1" i="1" dirty="0">
                <a:solidFill>
                  <a:srgbClr val="B85042"/>
                </a:solidFill>
                <a:latin typeface="DM Sans" pitchFamily="34" charset="0"/>
                <a:ea typeface="DM Sans" pitchFamily="34" charset="-122"/>
                <a:cs typeface="DM Sans" pitchFamily="34" charset="-120"/>
              </a:rPr>
              <a:t>[PLACEHOLDER: client photo + consent]</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31520" y="1097280"/>
            <a:ext cx="3474720" cy="4663440"/>
          </a:xfrm>
          <a:prstGeom prst="roundRect">
            <a:avLst>
              <a:gd name="adj" fmla="val 3158"/>
            </a:avLst>
          </a:prstGeom>
          <a:solidFill>
            <a:srgbClr val="E1F5EE"/>
          </a:solidFill>
          <a:ln w="15875">
            <a:solidFill>
              <a:srgbClr val="8AAF8A"/>
            </a:solidFill>
            <a:prstDash val="dash"/>
          </a:ln>
        </p:spPr>
      </p:sp>
      <p:sp>
        <p:nvSpPr>
          <p:cNvPr id="3" name="Text 1"/>
          <p:cNvSpPr txBox="1"/>
          <p:nvPr/>
        </p:nvSpPr>
        <p:spPr>
          <a:xfrm>
            <a:off x="1009498" y="1375258"/>
            <a:ext cx="291876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1009498" y="1786738"/>
            <a:ext cx="2918765" cy="2377440"/>
          </a:xfrm>
          <a:prstGeom prst="rect">
            <a:avLst/>
          </a:prstGeom>
          <a:noFill/>
          <a:ln/>
        </p:spPr>
        <p:txBody>
          <a:bodyPr wrap="square" lIns="0" tIns="0" rIns="0" bIns="0" rtlCol="0" anchor="t">
            <a:normAutofit/>
          </a:bodyPr>
          <a:lstStyle/>
          <a:p>
            <a:pPr algn="l" indent="0" marL="0">
              <a:lnSpc>
                <a:spcPct val="110000"/>
              </a:lnSpc>
              <a:buNone/>
            </a:pPr>
            <a:r>
              <a:rPr lang="en-US" sz="1100" i="1" dirty="0">
                <a:solidFill>
                  <a:srgbClr val="5E6B68"/>
                </a:solidFill>
                <a:latin typeface="DM Sans" pitchFamily="34" charset="0"/>
                <a:ea typeface="DM Sans" pitchFamily="34" charset="-122"/>
                <a:cs typeface="DM Sans" pitchFamily="34" charset="-120"/>
              </a:rPr>
              <a:t>Nina headshot, or a still from her testimonial.</a:t>
            </a:r>
            <a:endParaRPr lang="en-US" sz="1100" dirty="0"/>
          </a:p>
        </p:txBody>
      </p:sp>
      <p:sp>
        <p:nvSpPr>
          <p:cNvPr id="5" name="Text 3"/>
          <p:cNvSpPr txBox="1"/>
          <p:nvPr/>
        </p:nvSpPr>
        <p:spPr>
          <a:xfrm>
            <a:off x="4663440" y="548640"/>
            <a:ext cx="1097280" cy="1097280"/>
          </a:xfrm>
          <a:prstGeom prst="rect">
            <a:avLst/>
          </a:prstGeom>
          <a:noFill/>
          <a:ln/>
        </p:spPr>
        <p:txBody>
          <a:bodyPr wrap="square" lIns="0" tIns="0" rIns="0" bIns="0" rtlCol="0" anchor="t">
            <a:normAutofit/>
          </a:bodyPr>
          <a:lstStyle/>
          <a:p>
            <a:pPr algn="l" indent="0" marL="0">
              <a:lnSpc>
                <a:spcPct val="100000"/>
              </a:lnSpc>
              <a:buNone/>
            </a:pPr>
            <a:r>
              <a:rPr lang="en-US" sz="11000" b="1" dirty="0">
                <a:solidFill>
                  <a:srgbClr val="8AAF8A"/>
                </a:solidFill>
                <a:latin typeface="Cormorant Garamond" pitchFamily="34" charset="0"/>
                <a:ea typeface="Cormorant Garamond" pitchFamily="34" charset="-122"/>
                <a:cs typeface="Cormorant Garamond" pitchFamily="34" charset="-120"/>
              </a:rPr>
              <a:t>“</a:t>
            </a:r>
            <a:endParaRPr lang="en-US" sz="11000" dirty="0"/>
          </a:p>
        </p:txBody>
      </p:sp>
      <p:sp>
        <p:nvSpPr>
          <p:cNvPr id="6" name="Text 4"/>
          <p:cNvSpPr txBox="1"/>
          <p:nvPr/>
        </p:nvSpPr>
        <p:spPr>
          <a:xfrm>
            <a:off x="4754880" y="1554480"/>
            <a:ext cx="6766560" cy="3017520"/>
          </a:xfrm>
          <a:prstGeom prst="rect">
            <a:avLst/>
          </a:prstGeom>
          <a:noFill/>
          <a:ln/>
        </p:spPr>
        <p:txBody>
          <a:bodyPr wrap="square" lIns="0" tIns="0" rIns="0" bIns="0" rtlCol="0" anchor="ctr">
            <a:normAutofit/>
          </a:bodyPr>
          <a:lstStyle/>
          <a:p>
            <a:pPr algn="l" indent="0" marL="0">
              <a:lnSpc>
                <a:spcPct val="105000"/>
              </a:lnSpc>
              <a:buNone/>
            </a:pPr>
            <a:r>
              <a:rPr lang="en-US" sz="3100" b="1" i="1" dirty="0">
                <a:solidFill>
                  <a:srgbClr val="1E4A4A"/>
                </a:solidFill>
                <a:latin typeface="Cormorant Garamond" pitchFamily="34" charset="0"/>
                <a:ea typeface="Cormorant Garamond" pitchFamily="34" charset="-122"/>
                <a:cs typeface="Cormorant Garamond" pitchFamily="34" charset="-120"/>
              </a:rPr>
              <a:t>She started acting like </a:t>
            </a:r>
            <a:pPr algn="l" indent="0" marL="0">
              <a:lnSpc>
                <a:spcPct val="105000"/>
              </a:lnSpc>
              <a:buNone/>
            </a:pPr>
            <a:r>
              <a:rPr lang="en-US" sz="3100" b="1" i="1" dirty="0">
                <a:solidFill>
                  <a:srgbClr val="1E4A4A"/>
                </a:solidFill>
                <a:highlight>
                  <a:srgbClr val="CFE3CF"/>
                </a:highlight>
                <a:latin typeface="Cormorant Garamond" pitchFamily="34" charset="0"/>
                <a:ea typeface="Cormorant Garamond" pitchFamily="34" charset="-122"/>
                <a:cs typeface="Cormorant Garamond" pitchFamily="34" charset="-120"/>
              </a:rPr>
              <a:t>the leader she already was.</a:t>
            </a:r>
            <a:endParaRPr lang="en-US" sz="3100" dirty="0"/>
          </a:p>
        </p:txBody>
      </p:sp>
      <p:sp>
        <p:nvSpPr>
          <p:cNvPr id="7" name="Text 5"/>
          <p:cNvSpPr txBox="1"/>
          <p:nvPr/>
        </p:nvSpPr>
        <p:spPr>
          <a:xfrm>
            <a:off x="4754880" y="4754880"/>
            <a:ext cx="6583680" cy="1188720"/>
          </a:xfrm>
          <a:prstGeom prst="rect">
            <a:avLst/>
          </a:prstGeom>
          <a:noFill/>
          <a:ln/>
        </p:spPr>
        <p:txBody>
          <a:bodyPr wrap="square" lIns="0" tIns="0" rIns="0" bIns="0" rtlCol="0" anchor="t">
            <a:normAutofit/>
          </a:bodyPr>
          <a:lstStyle/>
          <a:p>
            <a:pPr algn="l" indent="0" marL="0">
              <a:lnSpc>
                <a:spcPct val="110000"/>
              </a:lnSpc>
              <a:buNone/>
            </a:pPr>
            <a:r>
              <a:rPr lang="en-US" sz="1500" dirty="0">
                <a:solidFill>
                  <a:srgbClr val="5E6B68"/>
                </a:solidFill>
                <a:latin typeface="DM Sans" pitchFamily="34" charset="0"/>
                <a:ea typeface="DM Sans" pitchFamily="34" charset="-122"/>
                <a:cs typeface="DM Sans" pitchFamily="34" charset="-120"/>
              </a:rPr>
              <a:t>Nina stopped hoping to be recognized. </a:t>
            </a:r>
            <a:pPr algn="l" indent="0" marL="0">
              <a:lnSpc>
                <a:spcPct val="110000"/>
              </a:lnSpc>
              <a:buNone/>
            </a:pPr>
            <a:r>
              <a:rPr lang="en-US" sz="1500" b="1" dirty="0">
                <a:solidFill>
                  <a:srgbClr val="B85042"/>
                </a:solidFill>
                <a:latin typeface="DM Sans" pitchFamily="34" charset="0"/>
                <a:ea typeface="DM Sans" pitchFamily="34" charset="-122"/>
                <a:cs typeface="DM Sans" pitchFamily="34" charset="-120"/>
              </a:rPr>
              <a:t>[PLACEHOLDER: swap for Nina's own words or video testimonial]</a:t>
            </a:r>
            <a:endParaRPr lang="en-US" sz="15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640080"/>
            <a:ext cx="2926080" cy="457200"/>
          </a:xfrm>
          <a:prstGeom prst="roundRect">
            <a:avLst>
              <a:gd name="adj" fmla="val 50000"/>
            </a:avLst>
          </a:prstGeom>
          <a:solidFill>
            <a:srgbClr val="E1F5EE"/>
          </a:solidFill>
          <a:ln w="12700">
            <a:solidFill>
              <a:srgbClr val="E1F5EE"/>
            </a:solidFill>
            <a:prstDash val="solid"/>
          </a:ln>
        </p:spPr>
      </p:sp>
      <p:sp>
        <p:nvSpPr>
          <p:cNvPr id="3" name="Text 1"/>
          <p:cNvSpPr txBox="1"/>
          <p:nvPr/>
        </p:nvSpPr>
        <p:spPr>
          <a:xfrm>
            <a:off x="640080" y="640080"/>
            <a:ext cx="2926080" cy="457200"/>
          </a:xfrm>
          <a:prstGeom prst="rect">
            <a:avLst/>
          </a:prstGeom>
          <a:noFill/>
          <a:ln/>
        </p:spPr>
        <p:txBody>
          <a:bodyPr wrap="square" lIns="0" tIns="0" rIns="0" bIns="0" rtlCol="0" anchor="ctr">
            <a:normAutofit/>
          </a:bodyPr>
          <a:lstStyle/>
          <a:p>
            <a:pPr algn="ctr" indent="0" marL="0">
              <a:lnSpc>
                <a:spcPct val="100000"/>
              </a:lnSpc>
              <a:buNone/>
            </a:pPr>
            <a:r>
              <a:rPr lang="en-US" sz="1200" b="1" spc="200" kern="0" dirty="0">
                <a:solidFill>
                  <a:srgbClr val="1E4A4A"/>
                </a:solidFill>
                <a:latin typeface="DM Sans" pitchFamily="34" charset="0"/>
                <a:ea typeface="DM Sans" pitchFamily="34" charset="-122"/>
                <a:cs typeface="DM Sans" pitchFamily="34" charset="-120"/>
              </a:rPr>
              <a:t>WHERE ERICA STARTED</a:t>
            </a:r>
            <a:endParaRPr lang="en-US" sz="1200" dirty="0"/>
          </a:p>
        </p:txBody>
      </p:sp>
      <p:sp>
        <p:nvSpPr>
          <p:cNvPr id="4" name="Text 2"/>
          <p:cNvSpPr txBox="1"/>
          <p:nvPr/>
        </p:nvSpPr>
        <p:spPr>
          <a:xfrm>
            <a:off x="640080" y="1463040"/>
            <a:ext cx="6400800" cy="2194560"/>
          </a:xfrm>
          <a:prstGeom prst="rect">
            <a:avLst/>
          </a:prstGeom>
          <a:noFill/>
          <a:ln/>
        </p:spPr>
        <p:txBody>
          <a:bodyPr wrap="square" lIns="0" tIns="0" rIns="0" bIns="0" rtlCol="0" anchor="b">
            <a:normAutofit/>
          </a:bodyPr>
          <a:lstStyle/>
          <a:p>
            <a:pPr algn="l" indent="0" marL="0">
              <a:lnSpc>
                <a:spcPct val="95000"/>
              </a:lnSpc>
              <a:buNone/>
            </a:pPr>
            <a:r>
              <a:rPr lang="en-US" sz="3600" b="1" dirty="0">
                <a:solidFill>
                  <a:srgbClr val="1B2B2B"/>
                </a:solidFill>
                <a:latin typeface="Cormorant Garamond" pitchFamily="34" charset="0"/>
                <a:ea typeface="Cormorant Garamond" pitchFamily="34" charset="-122"/>
                <a:cs typeface="Cormorant Garamond" pitchFamily="34" charset="-120"/>
              </a:rPr>
              <a:t>She dramatically </a:t>
            </a:r>
            <a:pPr algn="l" indent="0" marL="0">
              <a:lnSpc>
                <a:spcPct val="95000"/>
              </a:lnSpc>
              <a:buNone/>
            </a:pPr>
            <a:r>
              <a:rPr lang="en-US" sz="3600" b="1" dirty="0">
                <a:solidFill>
                  <a:srgbClr val="1B2B2B"/>
                </a:solidFill>
                <a:highlight>
                  <a:srgbClr val="CFE3CF"/>
                </a:highlight>
                <a:latin typeface="Cormorant Garamond" pitchFamily="34" charset="0"/>
                <a:ea typeface="Cormorant Garamond" pitchFamily="34" charset="-122"/>
                <a:cs typeface="Cormorant Garamond" pitchFamily="34" charset="-120"/>
              </a:rPr>
              <a:t>underestimated her market value.</a:t>
            </a:r>
            <a:endParaRPr lang="en-US" sz="3600" dirty="0"/>
          </a:p>
        </p:txBody>
      </p:sp>
      <p:sp>
        <p:nvSpPr>
          <p:cNvPr id="5" name="Text 3"/>
          <p:cNvSpPr txBox="1"/>
          <p:nvPr/>
        </p:nvSpPr>
        <p:spPr>
          <a:xfrm>
            <a:off x="640080" y="3931920"/>
            <a:ext cx="6217920" cy="201168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1B2B2B"/>
                </a:solidFill>
                <a:latin typeface="DM Sans" pitchFamily="34" charset="0"/>
                <a:ea typeface="DM Sans" pitchFamily="34" charset="-122"/>
                <a:cs typeface="DM Sans" pitchFamily="34" charset="-120"/>
              </a:rPr>
              <a:t>She had no idea what the market was willing to pay for what she did.</a:t>
            </a:r>
            <a:endParaRPr lang="en-US" sz="2000" dirty="0"/>
          </a:p>
        </p:txBody>
      </p:sp>
      <p:sp>
        <p:nvSpPr>
          <p:cNvPr id="6" name="Shape 4"/>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7" name="Text 5"/>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8" name="Text 6"/>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Erica headshot. </a:t>
            </a:r>
            <a:pPr algn="l" indent="0" marL="0">
              <a:lnSpc>
                <a:spcPct val="110000"/>
              </a:lnSpc>
              <a:buNone/>
            </a:pPr>
            <a:r>
              <a:rPr lang="en-US" sz="1200" b="1" i="1" dirty="0">
                <a:solidFill>
                  <a:srgbClr val="B85042"/>
                </a:solidFill>
                <a:latin typeface="DM Sans" pitchFamily="34" charset="0"/>
                <a:ea typeface="DM Sans" pitchFamily="34" charset="-122"/>
                <a:cs typeface="DM Sans" pitchFamily="34" charset="-120"/>
              </a:rPr>
              <a:t>[PLACEHOLDER: client photo + consent]</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0292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ERICA</a:t>
            </a:r>
            <a:endParaRPr lang="en-US" sz="1200" dirty="0"/>
          </a:p>
        </p:txBody>
      </p:sp>
      <p:sp>
        <p:nvSpPr>
          <p:cNvPr id="3" name="Text 1"/>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Where Erica is now</a:t>
            </a:r>
            <a:endParaRPr lang="en-US" sz="3000" dirty="0"/>
          </a:p>
        </p:txBody>
      </p:sp>
      <p:sp>
        <p:nvSpPr>
          <p:cNvPr id="4" name="Text 2"/>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8800" b="1" dirty="0">
                <a:solidFill>
                  <a:srgbClr val="1E4A4A"/>
                </a:solidFill>
                <a:latin typeface="Cormorant Garamond" pitchFamily="34" charset="0"/>
                <a:ea typeface="Cormorant Garamond" pitchFamily="34" charset="-122"/>
                <a:cs typeface="Cormorant Garamond" pitchFamily="34" charset="-120"/>
              </a:rPr>
              <a:t>$28K → $80K</a:t>
            </a:r>
            <a:endParaRPr lang="en-US" sz="8800" dirty="0"/>
          </a:p>
        </p:txBody>
      </p:sp>
      <p:sp>
        <p:nvSpPr>
          <p:cNvPr id="5" name="Text 3"/>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Once she understood what the market would pay, and built the confidence to ask, she approached every opportunity differently.</a:t>
            </a:r>
            <a:endParaRPr lang="en-US" sz="1900" dirty="0"/>
          </a:p>
        </p:txBody>
      </p:sp>
      <p:sp>
        <p:nvSpPr>
          <p:cNvPr id="6" name="Shape 4"/>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7" name="Text 5"/>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8" name="Text 6"/>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Erica, candid shot at work. </a:t>
            </a:r>
            <a:pPr algn="l" indent="0" marL="0">
              <a:lnSpc>
                <a:spcPct val="110000"/>
              </a:lnSpc>
              <a:buNone/>
            </a:pPr>
            <a:r>
              <a:rPr lang="en-US" sz="1200" b="1" i="1" dirty="0">
                <a:solidFill>
                  <a:srgbClr val="B85042"/>
                </a:solidFill>
                <a:latin typeface="DM Sans" pitchFamily="34" charset="0"/>
                <a:ea typeface="DM Sans" pitchFamily="34" charset="-122"/>
                <a:cs typeface="DM Sans" pitchFamily="34" charset="-120"/>
              </a:rPr>
              <a:t>[PLACEHOLDER: client photo + consent]</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31520" y="1097280"/>
            <a:ext cx="3474720" cy="4663440"/>
          </a:xfrm>
          <a:prstGeom prst="roundRect">
            <a:avLst>
              <a:gd name="adj" fmla="val 3158"/>
            </a:avLst>
          </a:prstGeom>
          <a:solidFill>
            <a:srgbClr val="E1F5EE"/>
          </a:solidFill>
          <a:ln w="15875">
            <a:solidFill>
              <a:srgbClr val="8AAF8A"/>
            </a:solidFill>
            <a:prstDash val="dash"/>
          </a:ln>
        </p:spPr>
      </p:sp>
      <p:sp>
        <p:nvSpPr>
          <p:cNvPr id="3" name="Text 1"/>
          <p:cNvSpPr txBox="1"/>
          <p:nvPr/>
        </p:nvSpPr>
        <p:spPr>
          <a:xfrm>
            <a:off x="1009498" y="1375258"/>
            <a:ext cx="291876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1009498" y="1786738"/>
            <a:ext cx="2918765" cy="2377440"/>
          </a:xfrm>
          <a:prstGeom prst="rect">
            <a:avLst/>
          </a:prstGeom>
          <a:noFill/>
          <a:ln/>
        </p:spPr>
        <p:txBody>
          <a:bodyPr wrap="square" lIns="0" tIns="0" rIns="0" bIns="0" rtlCol="0" anchor="t">
            <a:normAutofit/>
          </a:bodyPr>
          <a:lstStyle/>
          <a:p>
            <a:pPr algn="l" indent="0" marL="0">
              <a:lnSpc>
                <a:spcPct val="110000"/>
              </a:lnSpc>
              <a:buNone/>
            </a:pPr>
            <a:r>
              <a:rPr lang="en-US" sz="1100" i="1" dirty="0">
                <a:solidFill>
                  <a:srgbClr val="5E6B68"/>
                </a:solidFill>
                <a:latin typeface="DM Sans" pitchFamily="34" charset="0"/>
                <a:ea typeface="DM Sans" pitchFamily="34" charset="-122"/>
                <a:cs typeface="DM Sans" pitchFamily="34" charset="-120"/>
              </a:rPr>
              <a:t>Erica headshot, or a still from her testimonial.</a:t>
            </a:r>
            <a:endParaRPr lang="en-US" sz="1100" dirty="0"/>
          </a:p>
        </p:txBody>
      </p:sp>
      <p:sp>
        <p:nvSpPr>
          <p:cNvPr id="5" name="Text 3"/>
          <p:cNvSpPr txBox="1"/>
          <p:nvPr/>
        </p:nvSpPr>
        <p:spPr>
          <a:xfrm>
            <a:off x="4663440" y="548640"/>
            <a:ext cx="1097280" cy="1097280"/>
          </a:xfrm>
          <a:prstGeom prst="rect">
            <a:avLst/>
          </a:prstGeom>
          <a:noFill/>
          <a:ln/>
        </p:spPr>
        <p:txBody>
          <a:bodyPr wrap="square" lIns="0" tIns="0" rIns="0" bIns="0" rtlCol="0" anchor="t">
            <a:normAutofit/>
          </a:bodyPr>
          <a:lstStyle/>
          <a:p>
            <a:pPr algn="l" indent="0" marL="0">
              <a:lnSpc>
                <a:spcPct val="100000"/>
              </a:lnSpc>
              <a:buNone/>
            </a:pPr>
            <a:r>
              <a:rPr lang="en-US" sz="11000" b="1" dirty="0">
                <a:solidFill>
                  <a:srgbClr val="8AAF8A"/>
                </a:solidFill>
                <a:latin typeface="Cormorant Garamond" pitchFamily="34" charset="0"/>
                <a:ea typeface="Cormorant Garamond" pitchFamily="34" charset="-122"/>
                <a:cs typeface="Cormorant Garamond" pitchFamily="34" charset="-120"/>
              </a:rPr>
              <a:t>“</a:t>
            </a:r>
            <a:endParaRPr lang="en-US" sz="11000" dirty="0"/>
          </a:p>
        </p:txBody>
      </p:sp>
      <p:sp>
        <p:nvSpPr>
          <p:cNvPr id="6" name="Text 4"/>
          <p:cNvSpPr txBox="1"/>
          <p:nvPr/>
        </p:nvSpPr>
        <p:spPr>
          <a:xfrm>
            <a:off x="4754880" y="1554480"/>
            <a:ext cx="6766560" cy="3017520"/>
          </a:xfrm>
          <a:prstGeom prst="rect">
            <a:avLst/>
          </a:prstGeom>
          <a:noFill/>
          <a:ln/>
        </p:spPr>
        <p:txBody>
          <a:bodyPr wrap="square" lIns="0" tIns="0" rIns="0" bIns="0" rtlCol="0" anchor="ctr">
            <a:normAutofit/>
          </a:bodyPr>
          <a:lstStyle/>
          <a:p>
            <a:pPr algn="l" indent="0" marL="0">
              <a:lnSpc>
                <a:spcPct val="105000"/>
              </a:lnSpc>
              <a:buNone/>
            </a:pPr>
            <a:r>
              <a:rPr lang="en-US" sz="2700" b="1" i="1" dirty="0">
                <a:solidFill>
                  <a:srgbClr val="1E4A4A"/>
                </a:solidFill>
                <a:latin typeface="Cormorant Garamond" pitchFamily="34" charset="0"/>
                <a:ea typeface="Cormorant Garamond" pitchFamily="34" charset="-122"/>
                <a:cs typeface="Cormorant Garamond" pitchFamily="34" charset="-120"/>
              </a:rPr>
              <a:t>She stopped asking whether she deserved more and </a:t>
            </a:r>
            <a:pPr algn="l" indent="0" marL="0">
              <a:lnSpc>
                <a:spcPct val="105000"/>
              </a:lnSpc>
              <a:buNone/>
            </a:pPr>
            <a:r>
              <a:rPr lang="en-US" sz="2700" b="1" i="1" dirty="0">
                <a:solidFill>
                  <a:srgbClr val="1E4A4A"/>
                </a:solidFill>
                <a:highlight>
                  <a:srgbClr val="CFE3CF"/>
                </a:highlight>
                <a:latin typeface="Cormorant Garamond" pitchFamily="34" charset="0"/>
                <a:ea typeface="Cormorant Garamond" pitchFamily="34" charset="-122"/>
                <a:cs typeface="Cormorant Garamond" pitchFamily="34" charset="-120"/>
              </a:rPr>
              <a:t>started expecting it.</a:t>
            </a:r>
            <a:endParaRPr lang="en-US" sz="2700" dirty="0"/>
          </a:p>
        </p:txBody>
      </p:sp>
      <p:sp>
        <p:nvSpPr>
          <p:cNvPr id="7" name="Text 5"/>
          <p:cNvSpPr txBox="1"/>
          <p:nvPr/>
        </p:nvSpPr>
        <p:spPr>
          <a:xfrm>
            <a:off x="4754880" y="4754880"/>
            <a:ext cx="6583680" cy="1188720"/>
          </a:xfrm>
          <a:prstGeom prst="rect">
            <a:avLst/>
          </a:prstGeom>
          <a:noFill/>
          <a:ln/>
        </p:spPr>
        <p:txBody>
          <a:bodyPr wrap="square" lIns="0" tIns="0" rIns="0" bIns="0" rtlCol="0" anchor="t">
            <a:normAutofit/>
          </a:bodyPr>
          <a:lstStyle/>
          <a:p>
            <a:pPr algn="l" indent="0" marL="0">
              <a:lnSpc>
                <a:spcPct val="110000"/>
              </a:lnSpc>
              <a:buNone/>
            </a:pPr>
            <a:r>
              <a:rPr lang="en-US" sz="1500" b="1" dirty="0">
                <a:solidFill>
                  <a:srgbClr val="B85042"/>
                </a:solidFill>
                <a:latin typeface="DM Sans" pitchFamily="34" charset="0"/>
                <a:ea typeface="DM Sans" pitchFamily="34" charset="-122"/>
                <a:cs typeface="DM Sans" pitchFamily="34" charset="-120"/>
              </a:rPr>
              <a:t>[PLACEHOLDER: swap for Erica's own words or video testimonial]</a:t>
            </a:r>
            <a:endParaRPr lang="en-US" sz="15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Grid of testimonial screenshots and video thumbnails from past clients. </a:t>
            </a:r>
            <a:pPr algn="l" indent="0" marL="0">
              <a:lnSpc>
                <a:spcPct val="110000"/>
              </a:lnSpc>
              <a:buNone/>
            </a:pPr>
            <a:r>
              <a:rPr lang="en-US" sz="1200" b="1" i="1" dirty="0">
                <a:solidFill>
                  <a:srgbClr val="B85042"/>
                </a:solidFill>
                <a:latin typeface="DM Sans" pitchFamily="34" charset="0"/>
                <a:ea typeface="DM Sans" pitchFamily="34" charset="-122"/>
                <a:cs typeface="DM Sans" pitchFamily="34" charset="-120"/>
              </a:rPr>
              <a:t>[PLACEHOLDER: real testimonials only]</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The money is one result.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The woman is the transformation.</a:t>
            </a:r>
            <a:endParaRPr lang="en-US" sz="34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600" b="1" dirty="0">
                <a:solidFill>
                  <a:srgbClr val="B85042"/>
                </a:solidFill>
                <a:latin typeface="DM Sans" pitchFamily="34" charset="0"/>
                <a:ea typeface="DM Sans" pitchFamily="34" charset="-122"/>
                <a:cs typeface="DM Sans" pitchFamily="34" charset="-120"/>
              </a:rPr>
              <a:t>[PLACEHOLDER: additional testimonial screenshots or video clips from past clients]</a:t>
            </a:r>
            <a:endParaRPr lang="en-US" sz="1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6949440" y="0"/>
            <a:ext cx="5242255" cy="6858000"/>
          </a:xfrm>
          <a:prstGeom prst="rect">
            <a:avLst/>
          </a:prstGeom>
          <a:solidFill>
            <a:srgbClr val="2B5C5C"/>
          </a:solidFill>
          <a:ln w="15875">
            <a:solidFill>
              <a:srgbClr val="8AAF8A"/>
            </a:solidFill>
            <a:prstDash val="dash"/>
          </a:ln>
        </p:spPr>
      </p:sp>
      <p:sp>
        <p:nvSpPr>
          <p:cNvPr id="3" name="Text 1"/>
          <p:cNvSpPr txBox="1"/>
          <p:nvPr/>
        </p:nvSpPr>
        <p:spPr>
          <a:xfrm>
            <a:off x="7269480" y="320040"/>
            <a:ext cx="460217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269480" y="731520"/>
            <a:ext cx="460217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Tamara coaching a small group of women around a table (or on a Zoom grid), everyone leaning in.</a:t>
            </a:r>
            <a:endParaRPr lang="en-US" sz="1200" dirty="0"/>
          </a:p>
        </p:txBody>
      </p:sp>
      <p:sp>
        <p:nvSpPr>
          <p:cNvPr id="5" name="Text 3"/>
          <p:cNvSpPr txBox="1"/>
          <p:nvPr/>
        </p:nvSpPr>
        <p:spPr>
          <a:xfrm>
            <a:off x="640080" y="822960"/>
            <a:ext cx="5943600" cy="2834640"/>
          </a:xfrm>
          <a:prstGeom prst="rect">
            <a:avLst/>
          </a:prstGeom>
          <a:noFill/>
          <a:ln/>
        </p:spPr>
        <p:txBody>
          <a:bodyPr wrap="square" lIns="0" tIns="0" rIns="0" bIns="0" rtlCol="0" anchor="b">
            <a:normAutofit/>
          </a:bodyPr>
          <a:lstStyle/>
          <a:p>
            <a:pPr algn="l" indent="0" marL="0">
              <a:lnSpc>
                <a:spcPct val="95000"/>
              </a:lnSpc>
              <a:buNone/>
            </a:pPr>
            <a:r>
              <a:rPr lang="en-US" sz="4300" b="1" dirty="0">
                <a:solidFill>
                  <a:srgbClr val="FFFFFF"/>
                </a:solidFill>
                <a:latin typeface="Cormorant Garamond" pitchFamily="34" charset="0"/>
                <a:ea typeface="Cormorant Garamond" pitchFamily="34" charset="-122"/>
                <a:cs typeface="Cormorant Garamond" pitchFamily="34" charset="-120"/>
              </a:rPr>
              <a:t>So if that sounds interesting, </a:t>
            </a:r>
            <a:pPr algn="l" indent="0" marL="0">
              <a:lnSpc>
                <a:spcPct val="95000"/>
              </a:lnSpc>
              <a:buNone/>
            </a:pPr>
            <a:r>
              <a:rPr lang="en-US" sz="4300" b="1" dirty="0">
                <a:solidFill>
                  <a:srgbClr val="B7D3B7"/>
                </a:solidFill>
                <a:latin typeface="Cormorant Garamond" pitchFamily="34" charset="0"/>
                <a:ea typeface="Cormorant Garamond" pitchFamily="34" charset="-122"/>
                <a:cs typeface="Cormorant Garamond" pitchFamily="34" charset="-120"/>
              </a:rPr>
              <a:t>here's how we work together.</a:t>
            </a:r>
            <a:endParaRPr lang="en-US" sz="4300" dirty="0"/>
          </a:p>
        </p:txBody>
      </p:sp>
      <p:sp>
        <p:nvSpPr>
          <p:cNvPr id="6" name="Text 4"/>
          <p:cNvSpPr txBox="1"/>
          <p:nvPr/>
        </p:nvSpPr>
        <p:spPr>
          <a:xfrm>
            <a:off x="640080" y="3886200"/>
            <a:ext cx="5852160" cy="1188720"/>
          </a:xfrm>
          <a:prstGeom prst="rect">
            <a:avLst/>
          </a:prstGeom>
          <a:noFill/>
          <a:ln/>
        </p:spPr>
        <p:txBody>
          <a:bodyPr wrap="square" lIns="0" tIns="0" rIns="0" bIns="0" rtlCol="0" anchor="t">
            <a:normAutofit/>
          </a:bodyPr>
          <a:lstStyle/>
          <a:p>
            <a:pPr algn="l" indent="0" marL="0">
              <a:lnSpc>
                <a:spcPct val="110000"/>
              </a:lnSpc>
              <a:buNone/>
            </a:pPr>
            <a:r>
              <a:rPr lang="en-US" sz="2000" dirty="0">
                <a:solidFill>
                  <a:srgbClr val="E1F5EE"/>
                </a:solidFill>
                <a:latin typeface="DM Sans" pitchFamily="34" charset="0"/>
                <a:ea typeface="DM Sans" pitchFamily="34" charset="-122"/>
                <a:cs typeface="DM Sans" pitchFamily="34" charset="-120"/>
              </a:rPr>
              <a:t>The Amplify Your V.O.I.C.E. Experience</a:t>
            </a:r>
            <a:endParaRPr lang="en-US" sz="2000" dirty="0"/>
          </a:p>
        </p:txBody>
      </p:sp>
      <p:sp>
        <p:nvSpPr>
          <p:cNvPr id="7" name="Text 5"/>
          <p:cNvSpPr txBox="1"/>
          <p:nvPr/>
        </p:nvSpPr>
        <p:spPr>
          <a:xfrm>
            <a:off x="640080" y="5303520"/>
            <a:ext cx="5852160" cy="731520"/>
          </a:xfrm>
          <a:prstGeom prst="rect">
            <a:avLst/>
          </a:prstGeom>
          <a:noFill/>
          <a:ln/>
        </p:spPr>
        <p:txBody>
          <a:bodyPr wrap="square" lIns="0" tIns="0" rIns="0" bIns="0" rtlCol="0" anchor="t">
            <a:normAutofit/>
          </a:bodyPr>
          <a:lstStyle/>
          <a:p>
            <a:pPr algn="l" indent="0" marL="0">
              <a:lnSpc>
                <a:spcPct val="100000"/>
              </a:lnSpc>
              <a:buNone/>
            </a:pPr>
            <a:r>
              <a:rPr lang="en-US" sz="1400" b="1" spc="100" kern="0" dirty="0">
                <a:solidFill>
                  <a:srgbClr val="8AAF8A"/>
                </a:solidFill>
                <a:latin typeface="DM Sans" pitchFamily="34" charset="0"/>
                <a:ea typeface="DM Sans" pitchFamily="34" charset="-122"/>
                <a:cs typeface="DM Sans" pitchFamily="34" charset="-120"/>
              </a:rPr>
              <a:t>An intimate, high-touch 8-week executive coaching experience for ambitious corporate women</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914400"/>
          </a:xfrm>
          <a:prstGeom prst="rect">
            <a:avLst/>
          </a:prstGeom>
          <a:noFill/>
          <a:ln/>
        </p:spPr>
        <p:txBody>
          <a:bodyPr wrap="square" lIns="0" tIns="0" rIns="0" bIns="0" rtlCol="0" anchor="b">
            <a:normAutofit/>
          </a:bodyPr>
          <a:lstStyle/>
          <a:p>
            <a:pPr algn="l" indent="0" marL="0">
              <a:lnSpc>
                <a:spcPct val="95000"/>
              </a:lnSpc>
              <a:buNone/>
            </a:pPr>
            <a:r>
              <a:rPr lang="en-US" sz="3600" b="1" dirty="0">
                <a:solidFill>
                  <a:srgbClr val="1B2B2B"/>
                </a:solidFill>
                <a:latin typeface="Cormorant Garamond" pitchFamily="34" charset="0"/>
                <a:ea typeface="Cormorant Garamond" pitchFamily="34" charset="-122"/>
                <a:cs typeface="Cormorant Garamond" pitchFamily="34" charset="-120"/>
              </a:rPr>
              <a:t>Who this </a:t>
            </a:r>
            <a:pPr algn="l" indent="0" marL="0">
              <a:lnSpc>
                <a:spcPct val="95000"/>
              </a:lnSpc>
              <a:buNone/>
            </a:pPr>
            <a:r>
              <a:rPr lang="en-US" sz="3600" b="1" dirty="0">
                <a:solidFill>
                  <a:srgbClr val="1B2B2B"/>
                </a:solidFill>
                <a:highlight>
                  <a:srgbClr val="CFE3CF"/>
                </a:highlight>
                <a:latin typeface="Cormorant Garamond" pitchFamily="34" charset="0"/>
                <a:ea typeface="Cormorant Garamond" pitchFamily="34" charset="-122"/>
                <a:cs typeface="Cormorant Garamond" pitchFamily="34" charset="-120"/>
              </a:rPr>
              <a:t>is for</a:t>
            </a:r>
            <a:endParaRPr lang="en-US" sz="3600" dirty="0"/>
          </a:p>
        </p:txBody>
      </p:sp>
      <p:sp>
        <p:nvSpPr>
          <p:cNvPr id="3" name="Shape 1"/>
          <p:cNvSpPr/>
          <p:nvPr/>
        </p:nvSpPr>
        <p:spPr>
          <a:xfrm>
            <a:off x="640080" y="1737360"/>
            <a:ext cx="5303520" cy="4480560"/>
          </a:xfrm>
          <a:prstGeom prst="roundRect">
            <a:avLst>
              <a:gd name="adj" fmla="val 2449"/>
            </a:avLst>
          </a:prstGeom>
          <a:solidFill>
            <a:srgbClr val="EFEAE2"/>
          </a:solidFill>
          <a:ln w="12700">
            <a:solidFill>
              <a:srgbClr val="EFEAE2"/>
            </a:solidFill>
            <a:prstDash val="solid"/>
          </a:ln>
        </p:spPr>
      </p:sp>
      <p:sp>
        <p:nvSpPr>
          <p:cNvPr id="4" name="Text 2"/>
          <p:cNvSpPr txBox="1"/>
          <p:nvPr/>
        </p:nvSpPr>
        <p:spPr>
          <a:xfrm>
            <a:off x="1005840" y="2103120"/>
            <a:ext cx="4572000" cy="365760"/>
          </a:xfrm>
          <a:prstGeom prst="rect">
            <a:avLst/>
          </a:prstGeom>
          <a:noFill/>
          <a:ln/>
        </p:spPr>
        <p:txBody>
          <a:bodyPr wrap="square" lIns="0" tIns="0" rIns="0" bIns="0" rtlCol="0" anchor="t">
            <a:normAutofit/>
          </a:bodyPr>
          <a:lstStyle/>
          <a:p>
            <a:pPr algn="l" indent="0" marL="0">
              <a:lnSpc>
                <a:spcPct val="100000"/>
              </a:lnSpc>
              <a:buNone/>
            </a:pPr>
            <a:r>
              <a:rPr lang="en-US" sz="1300" b="1" spc="200" kern="0" dirty="0">
                <a:solidFill>
                  <a:srgbClr val="5E6B68"/>
                </a:solidFill>
                <a:latin typeface="DM Sans" pitchFamily="34" charset="0"/>
                <a:ea typeface="DM Sans" pitchFamily="34" charset="-122"/>
                <a:cs typeface="DM Sans" pitchFamily="34" charset="-120"/>
              </a:rPr>
              <a:t>THIS IS FOR YOU IF…</a:t>
            </a:r>
            <a:endParaRPr lang="en-US" sz="1300" dirty="0"/>
          </a:p>
        </p:txBody>
      </p:sp>
      <p:sp>
        <p:nvSpPr>
          <p:cNvPr id="5" name="Text 3"/>
          <p:cNvSpPr txBox="1"/>
          <p:nvPr/>
        </p:nvSpPr>
        <p:spPr>
          <a:xfrm>
            <a:off x="1005840" y="2651760"/>
            <a:ext cx="4572000" cy="3200400"/>
          </a:xfrm>
          <a:prstGeom prst="rect">
            <a:avLst/>
          </a:prstGeom>
          <a:noFill/>
          <a:ln/>
        </p:spPr>
        <p:txBody>
          <a:bodyPr wrap="square" lIns="0" tIns="0" rIns="0" bIns="0" rtlCol="0" anchor="ctr">
            <a:normAutofit/>
          </a:bodyPr>
          <a:lstStyle/>
          <a:p>
            <a:pPr algn="l" indent="0" marL="0">
              <a:lnSpc>
                <a:spcPct val="105000"/>
              </a:lnSpc>
              <a:buNone/>
            </a:pPr>
            <a:r>
              <a:rPr lang="en-US" sz="1900" b="1" dirty="0">
                <a:solidFill>
                  <a:srgbClr val="1B2B2B"/>
                </a:solidFill>
                <a:latin typeface="Cormorant Garamond" pitchFamily="34" charset="0"/>
                <a:ea typeface="Cormorant Garamond" pitchFamily="34" charset="-122"/>
                <a:cs typeface="Cormorant Garamond" pitchFamily="34" charset="-120"/>
              </a:rPr>
              <a:t>You're an ambitious corporate woman who's capable of more, ready to go deeper than tactics, and willing to invest in yourself.</a:t>
            </a:r>
            <a:endParaRPr lang="en-US" sz="1900" dirty="0"/>
          </a:p>
        </p:txBody>
      </p:sp>
      <p:sp>
        <p:nvSpPr>
          <p:cNvPr id="6" name="Shape 4"/>
          <p:cNvSpPr/>
          <p:nvPr/>
        </p:nvSpPr>
        <p:spPr>
          <a:xfrm>
            <a:off x="6263640" y="1737360"/>
            <a:ext cx="5303520" cy="4480560"/>
          </a:xfrm>
          <a:prstGeom prst="roundRect">
            <a:avLst>
              <a:gd name="adj" fmla="val 2449"/>
            </a:avLst>
          </a:prstGeom>
          <a:solidFill>
            <a:srgbClr val="1E4A4A"/>
          </a:solidFill>
          <a:ln w="12700">
            <a:solidFill>
              <a:srgbClr val="1E4A4A"/>
            </a:solidFill>
            <a:prstDash val="solid"/>
          </a:ln>
        </p:spPr>
      </p:sp>
      <p:sp>
        <p:nvSpPr>
          <p:cNvPr id="7" name="Text 5"/>
          <p:cNvSpPr txBox="1"/>
          <p:nvPr/>
        </p:nvSpPr>
        <p:spPr>
          <a:xfrm>
            <a:off x="6629400" y="2103120"/>
            <a:ext cx="4572000" cy="365760"/>
          </a:xfrm>
          <a:prstGeom prst="rect">
            <a:avLst/>
          </a:prstGeom>
          <a:noFill/>
          <a:ln/>
        </p:spPr>
        <p:txBody>
          <a:bodyPr wrap="square" lIns="0" tIns="0" rIns="0" bIns="0" rtlCol="0" anchor="t">
            <a:normAutofit/>
          </a:bodyPr>
          <a:lstStyle/>
          <a:p>
            <a:pPr algn="l" indent="0" marL="0">
              <a:lnSpc>
                <a:spcPct val="100000"/>
              </a:lnSpc>
              <a:buNone/>
            </a:pPr>
            <a:r>
              <a:rPr lang="en-US" sz="1300" b="1" spc="200" kern="0" dirty="0">
                <a:solidFill>
                  <a:srgbClr val="B7D3B7"/>
                </a:solidFill>
                <a:latin typeface="DM Sans" pitchFamily="34" charset="0"/>
                <a:ea typeface="DM Sans" pitchFamily="34" charset="-122"/>
                <a:cs typeface="DM Sans" pitchFamily="34" charset="-120"/>
              </a:rPr>
              <a:t>THIS ISN'T FOR YOU IF…</a:t>
            </a:r>
            <a:endParaRPr lang="en-US" sz="1300" dirty="0"/>
          </a:p>
        </p:txBody>
      </p:sp>
      <p:sp>
        <p:nvSpPr>
          <p:cNvPr id="8" name="Text 6"/>
          <p:cNvSpPr txBox="1"/>
          <p:nvPr/>
        </p:nvSpPr>
        <p:spPr>
          <a:xfrm>
            <a:off x="6629400" y="2651760"/>
            <a:ext cx="4572000" cy="3200400"/>
          </a:xfrm>
          <a:prstGeom prst="rect">
            <a:avLst/>
          </a:prstGeom>
          <a:noFill/>
          <a:ln/>
        </p:spPr>
        <p:txBody>
          <a:bodyPr wrap="square" lIns="0" tIns="0" rIns="0" bIns="0" rtlCol="0" anchor="ctr">
            <a:normAutofit/>
          </a:bodyPr>
          <a:lstStyle/>
          <a:p>
            <a:pPr algn="l" indent="0" marL="0">
              <a:lnSpc>
                <a:spcPct val="105000"/>
              </a:lnSpc>
              <a:buNone/>
            </a:pPr>
            <a:r>
              <a:rPr lang="en-US" sz="2200" b="1" dirty="0">
                <a:solidFill>
                  <a:srgbClr val="FFFFFF"/>
                </a:solidFill>
                <a:latin typeface="Cormorant Garamond" pitchFamily="34" charset="0"/>
                <a:ea typeface="Cormorant Garamond" pitchFamily="34" charset="-122"/>
                <a:cs typeface="Cormorant Garamond" pitchFamily="34" charset="-120"/>
              </a:rPr>
              <a:t>You want a résumé review, a list of scripts, or a quick fix without doing the inner work.</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0292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INSIDE THE EXPERIENCE · 1 OF 8</a:t>
            </a:r>
            <a:endParaRPr lang="en-US" sz="1200" dirty="0"/>
          </a:p>
        </p:txBody>
      </p:sp>
      <p:sp>
        <p:nvSpPr>
          <p:cNvPr id="3" name="Text 1"/>
          <p:cNvSpPr txBox="1"/>
          <p:nvPr/>
        </p:nvSpPr>
        <p:spPr>
          <a:xfrm>
            <a:off x="640080" y="868680"/>
            <a:ext cx="6583680" cy="1097280"/>
          </a:xfrm>
          <a:prstGeom prst="rect">
            <a:avLst/>
          </a:prstGeom>
          <a:noFill/>
          <a:ln/>
        </p:spPr>
        <p:txBody>
          <a:bodyPr wrap="square" lIns="0" tIns="0" rIns="0" bIns="0" rtlCol="0" anchor="b">
            <a:normAutofit/>
          </a:bodyPr>
          <a:lstStyle/>
          <a:p>
            <a:pPr algn="l" indent="0" marL="0">
              <a:lnSpc>
                <a:spcPct val="95000"/>
              </a:lnSpc>
              <a:buNone/>
            </a:pPr>
            <a:r>
              <a:rPr lang="en-US" sz="3800" b="1" dirty="0">
                <a:solidFill>
                  <a:srgbClr val="1B2B2B"/>
                </a:solidFill>
                <a:latin typeface="Cormorant Garamond" pitchFamily="34" charset="0"/>
                <a:ea typeface="Cormorant Garamond" pitchFamily="34" charset="-122"/>
                <a:cs typeface="Cormorant Garamond" pitchFamily="34" charset="-120"/>
              </a:rPr>
              <a:t>Weekly Live Executive Coaching</a:t>
            </a:r>
            <a:endParaRPr lang="en-US" sz="3800" dirty="0"/>
          </a:p>
        </p:txBody>
      </p:sp>
      <p:sp>
        <p:nvSpPr>
          <p:cNvPr id="4" name="Text 2"/>
          <p:cNvSpPr txBox="1"/>
          <p:nvPr/>
        </p:nvSpPr>
        <p:spPr>
          <a:xfrm>
            <a:off x="640080" y="224028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WHAT IT IS</a:t>
            </a:r>
            <a:endParaRPr lang="en-US" sz="1200" dirty="0"/>
          </a:p>
        </p:txBody>
      </p:sp>
      <p:sp>
        <p:nvSpPr>
          <p:cNvPr id="5" name="Text 3"/>
          <p:cNvSpPr txBox="1"/>
          <p:nvPr/>
        </p:nvSpPr>
        <p:spPr>
          <a:xfrm>
            <a:off x="640080" y="2606040"/>
            <a:ext cx="6492240" cy="1188720"/>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B2B2B"/>
                </a:solidFill>
                <a:latin typeface="DM Sans" pitchFamily="34" charset="0"/>
                <a:ea typeface="DM Sans" pitchFamily="34" charset="-122"/>
                <a:cs typeface="DM Sans" pitchFamily="34" charset="-120"/>
              </a:rPr>
              <a:t>Live group coaching every week as you move through the V.O.I.C.E. Framework. Each session builds on the last.</a:t>
            </a:r>
            <a:endParaRPr lang="en-US" sz="1700" dirty="0"/>
          </a:p>
        </p:txBody>
      </p:sp>
      <p:sp>
        <p:nvSpPr>
          <p:cNvPr id="6" name="Text 4"/>
          <p:cNvSpPr txBox="1"/>
          <p:nvPr/>
        </p:nvSpPr>
        <p:spPr>
          <a:xfrm>
            <a:off x="640080" y="388620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WHY IT MATTERS</a:t>
            </a:r>
            <a:endParaRPr lang="en-US" sz="1200" dirty="0"/>
          </a:p>
        </p:txBody>
      </p:sp>
      <p:sp>
        <p:nvSpPr>
          <p:cNvPr id="7" name="Text 5"/>
          <p:cNvSpPr txBox="1"/>
          <p:nvPr/>
        </p:nvSpPr>
        <p:spPr>
          <a:xfrm>
            <a:off x="640080" y="4251960"/>
            <a:ext cx="6492240" cy="1005840"/>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B2B2B"/>
                </a:solidFill>
                <a:latin typeface="DM Sans" pitchFamily="34" charset="0"/>
                <a:ea typeface="DM Sans" pitchFamily="34" charset="-122"/>
                <a:cs typeface="DM Sans" pitchFamily="34" charset="-120"/>
              </a:rPr>
              <a:t>Career strategy and identity work together, applied to your real situation in real time.</a:t>
            </a:r>
            <a:endParaRPr lang="en-US" sz="1700" dirty="0"/>
          </a:p>
        </p:txBody>
      </p:sp>
      <p:sp>
        <p:nvSpPr>
          <p:cNvPr id="8" name="Shape 6"/>
          <p:cNvSpPr/>
          <p:nvPr/>
        </p:nvSpPr>
        <p:spPr>
          <a:xfrm>
            <a:off x="640080" y="5486400"/>
            <a:ext cx="4023360" cy="548640"/>
          </a:xfrm>
          <a:prstGeom prst="roundRect">
            <a:avLst>
              <a:gd name="adj" fmla="val 50000"/>
            </a:avLst>
          </a:prstGeom>
          <a:solidFill>
            <a:srgbClr val="1E4A4A"/>
          </a:solidFill>
          <a:ln w="12700">
            <a:solidFill>
              <a:srgbClr val="1E4A4A"/>
            </a:solidFill>
            <a:prstDash val="solid"/>
          </a:ln>
        </p:spPr>
      </p:sp>
      <p:sp>
        <p:nvSpPr>
          <p:cNvPr id="9" name="Text 7"/>
          <p:cNvSpPr txBox="1"/>
          <p:nvPr/>
        </p:nvSpPr>
        <p:spPr>
          <a:xfrm>
            <a:off x="822960" y="5486400"/>
            <a:ext cx="365760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10" name="Shape 8"/>
          <p:cNvSpPr/>
          <p:nvPr/>
        </p:nvSpPr>
        <p:spPr>
          <a:xfrm>
            <a:off x="7680960" y="548640"/>
            <a:ext cx="3886200" cy="5760720"/>
          </a:xfrm>
          <a:prstGeom prst="roundRect">
            <a:avLst>
              <a:gd name="adj" fmla="val 2824"/>
            </a:avLst>
          </a:prstGeom>
          <a:solidFill>
            <a:srgbClr val="E1F5EE"/>
          </a:solidFill>
          <a:ln w="15875">
            <a:solidFill>
              <a:srgbClr val="8AAF8A"/>
            </a:solidFill>
            <a:prstDash val="dash"/>
          </a:ln>
        </p:spPr>
      </p:sp>
      <p:sp>
        <p:nvSpPr>
          <p:cNvPr id="11" name="Text 9"/>
          <p:cNvSpPr txBox="1"/>
          <p:nvPr/>
        </p:nvSpPr>
        <p:spPr>
          <a:xfrm>
            <a:off x="7991856" y="859536"/>
            <a:ext cx="326440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12" name="Text 10"/>
          <p:cNvSpPr txBox="1"/>
          <p:nvPr/>
        </p:nvSpPr>
        <p:spPr>
          <a:xfrm>
            <a:off x="7991856" y="1271016"/>
            <a:ext cx="326440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 on a live Zoom coaching call, gallery view of women engaged and nodding.</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0292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INSIDE THE EXPERIENCE · 2 OF 8</a:t>
            </a:r>
            <a:endParaRPr lang="en-US" sz="1200" dirty="0"/>
          </a:p>
        </p:txBody>
      </p:sp>
      <p:sp>
        <p:nvSpPr>
          <p:cNvPr id="3" name="Text 1"/>
          <p:cNvSpPr txBox="1"/>
          <p:nvPr/>
        </p:nvSpPr>
        <p:spPr>
          <a:xfrm>
            <a:off x="640080" y="868680"/>
            <a:ext cx="6583680" cy="1097280"/>
          </a:xfrm>
          <a:prstGeom prst="rect">
            <a:avLst/>
          </a:prstGeom>
          <a:noFill/>
          <a:ln/>
        </p:spPr>
        <p:txBody>
          <a:bodyPr wrap="square" lIns="0" tIns="0" rIns="0" bIns="0" rtlCol="0" anchor="b">
            <a:normAutofit/>
          </a:bodyPr>
          <a:lstStyle/>
          <a:p>
            <a:pPr algn="l" indent="0" marL="0">
              <a:lnSpc>
                <a:spcPct val="95000"/>
              </a:lnSpc>
              <a:buNone/>
            </a:pPr>
            <a:r>
              <a:rPr lang="en-US" sz="3800" b="1" dirty="0">
                <a:solidFill>
                  <a:srgbClr val="1B2B2B"/>
                </a:solidFill>
                <a:latin typeface="Cormorant Garamond" pitchFamily="34" charset="0"/>
                <a:ea typeface="Cormorant Garamond" pitchFamily="34" charset="-122"/>
                <a:cs typeface="Cormorant Garamond" pitchFamily="34" charset="-120"/>
              </a:rPr>
              <a:t>The V.O.I.C.E. Curriculum</a:t>
            </a:r>
            <a:endParaRPr lang="en-US" sz="3800" dirty="0"/>
          </a:p>
        </p:txBody>
      </p:sp>
      <p:sp>
        <p:nvSpPr>
          <p:cNvPr id="4" name="Text 2"/>
          <p:cNvSpPr txBox="1"/>
          <p:nvPr/>
        </p:nvSpPr>
        <p:spPr>
          <a:xfrm>
            <a:off x="640080" y="224028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WHAT IT IS</a:t>
            </a:r>
            <a:endParaRPr lang="en-US" sz="1200" dirty="0"/>
          </a:p>
        </p:txBody>
      </p:sp>
      <p:sp>
        <p:nvSpPr>
          <p:cNvPr id="5" name="Text 3"/>
          <p:cNvSpPr txBox="1"/>
          <p:nvPr/>
        </p:nvSpPr>
        <p:spPr>
          <a:xfrm>
            <a:off x="640080" y="2606040"/>
            <a:ext cx="6492240" cy="1188720"/>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B2B2B"/>
                </a:solidFill>
                <a:latin typeface="DM Sans" pitchFamily="34" charset="0"/>
                <a:ea typeface="DM Sans" pitchFamily="34" charset="-122"/>
                <a:cs typeface="DM Sans" pitchFamily="34" charset="-120"/>
              </a:rPr>
              <a:t>The full five-part framework: Value, Ownership, Identity, Communication and Execution.</a:t>
            </a:r>
            <a:endParaRPr lang="en-US" sz="1700" dirty="0"/>
          </a:p>
        </p:txBody>
      </p:sp>
      <p:sp>
        <p:nvSpPr>
          <p:cNvPr id="6" name="Text 4"/>
          <p:cNvSpPr txBox="1"/>
          <p:nvPr/>
        </p:nvSpPr>
        <p:spPr>
          <a:xfrm>
            <a:off x="640080" y="388620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WHY IT MATTERS</a:t>
            </a:r>
            <a:endParaRPr lang="en-US" sz="1200" dirty="0"/>
          </a:p>
        </p:txBody>
      </p:sp>
      <p:sp>
        <p:nvSpPr>
          <p:cNvPr id="7" name="Text 5"/>
          <p:cNvSpPr txBox="1"/>
          <p:nvPr/>
        </p:nvSpPr>
        <p:spPr>
          <a:xfrm>
            <a:off x="640080" y="4251960"/>
            <a:ext cx="6492240" cy="1005840"/>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B2B2B"/>
                </a:solidFill>
                <a:latin typeface="DM Sans" pitchFamily="34" charset="0"/>
                <a:ea typeface="DM Sans" pitchFamily="34" charset="-122"/>
                <a:cs typeface="DM Sans" pitchFamily="34" charset="-120"/>
              </a:rPr>
              <a:t>Everything you saw tonight, taught in depth, with the how-to I kept out of this masterclass.</a:t>
            </a:r>
            <a:endParaRPr lang="en-US" sz="1700" dirty="0"/>
          </a:p>
        </p:txBody>
      </p:sp>
      <p:sp>
        <p:nvSpPr>
          <p:cNvPr id="8" name="Shape 6"/>
          <p:cNvSpPr/>
          <p:nvPr/>
        </p:nvSpPr>
        <p:spPr>
          <a:xfrm>
            <a:off x="640080" y="5486400"/>
            <a:ext cx="4023360" cy="548640"/>
          </a:xfrm>
          <a:prstGeom prst="roundRect">
            <a:avLst>
              <a:gd name="adj" fmla="val 50000"/>
            </a:avLst>
          </a:prstGeom>
          <a:solidFill>
            <a:srgbClr val="1E4A4A"/>
          </a:solidFill>
          <a:ln w="12700">
            <a:solidFill>
              <a:srgbClr val="1E4A4A"/>
            </a:solidFill>
            <a:prstDash val="solid"/>
          </a:ln>
        </p:spPr>
      </p:sp>
      <p:sp>
        <p:nvSpPr>
          <p:cNvPr id="9" name="Text 7"/>
          <p:cNvSpPr txBox="1"/>
          <p:nvPr/>
        </p:nvSpPr>
        <p:spPr>
          <a:xfrm>
            <a:off x="822960" y="5486400"/>
            <a:ext cx="365760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10" name="Shape 8"/>
          <p:cNvSpPr/>
          <p:nvPr/>
        </p:nvSpPr>
        <p:spPr>
          <a:xfrm>
            <a:off x="7680960" y="548640"/>
            <a:ext cx="3886200" cy="5760720"/>
          </a:xfrm>
          <a:prstGeom prst="roundRect">
            <a:avLst>
              <a:gd name="adj" fmla="val 2824"/>
            </a:avLst>
          </a:prstGeom>
          <a:solidFill>
            <a:srgbClr val="E1F5EE"/>
          </a:solidFill>
          <a:ln w="15875">
            <a:solidFill>
              <a:srgbClr val="8AAF8A"/>
            </a:solidFill>
            <a:prstDash val="dash"/>
          </a:ln>
        </p:spPr>
      </p:sp>
      <p:sp>
        <p:nvSpPr>
          <p:cNvPr id="11" name="Text 9"/>
          <p:cNvSpPr txBox="1"/>
          <p:nvPr/>
        </p:nvSpPr>
        <p:spPr>
          <a:xfrm>
            <a:off x="7991856" y="859536"/>
            <a:ext cx="326440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12" name="Text 10"/>
          <p:cNvSpPr txBox="1"/>
          <p:nvPr/>
        </p:nvSpPr>
        <p:spPr>
          <a:xfrm>
            <a:off x="7991856" y="1271016"/>
            <a:ext cx="326440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Workbook or course portal mockup with the V.O.I.C.E. letters on the cover.</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0292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INSIDE THE EXPERIENCE · 3 OF 8</a:t>
            </a:r>
            <a:endParaRPr lang="en-US" sz="1200" dirty="0"/>
          </a:p>
        </p:txBody>
      </p:sp>
      <p:sp>
        <p:nvSpPr>
          <p:cNvPr id="3" name="Text 1"/>
          <p:cNvSpPr txBox="1"/>
          <p:nvPr/>
        </p:nvSpPr>
        <p:spPr>
          <a:xfrm>
            <a:off x="640080" y="868680"/>
            <a:ext cx="6583680" cy="1097280"/>
          </a:xfrm>
          <a:prstGeom prst="rect">
            <a:avLst/>
          </a:prstGeom>
          <a:noFill/>
          <a:ln/>
        </p:spPr>
        <p:txBody>
          <a:bodyPr wrap="square" lIns="0" tIns="0" rIns="0" bIns="0" rtlCol="0" anchor="b">
            <a:normAutofit/>
          </a:bodyPr>
          <a:lstStyle/>
          <a:p>
            <a:pPr algn="l" indent="0" marL="0">
              <a:lnSpc>
                <a:spcPct val="95000"/>
              </a:lnSpc>
              <a:buNone/>
            </a:pPr>
            <a:r>
              <a:rPr lang="en-US" sz="3800" b="1" dirty="0">
                <a:solidFill>
                  <a:srgbClr val="1B2B2B"/>
                </a:solidFill>
                <a:latin typeface="Cormorant Garamond" pitchFamily="34" charset="0"/>
                <a:ea typeface="Cormorant Garamond" pitchFamily="34" charset="-122"/>
                <a:cs typeface="Cormorant Garamond" pitchFamily="34" charset="-120"/>
              </a:rPr>
              <a:t>Hot Seat Coaching</a:t>
            </a:r>
            <a:endParaRPr lang="en-US" sz="3800" dirty="0"/>
          </a:p>
        </p:txBody>
      </p:sp>
      <p:sp>
        <p:nvSpPr>
          <p:cNvPr id="4" name="Text 2"/>
          <p:cNvSpPr txBox="1"/>
          <p:nvPr/>
        </p:nvSpPr>
        <p:spPr>
          <a:xfrm>
            <a:off x="640080" y="224028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WHAT IT IS</a:t>
            </a:r>
            <a:endParaRPr lang="en-US" sz="1200" dirty="0"/>
          </a:p>
        </p:txBody>
      </p:sp>
      <p:sp>
        <p:nvSpPr>
          <p:cNvPr id="5" name="Text 3"/>
          <p:cNvSpPr txBox="1"/>
          <p:nvPr/>
        </p:nvSpPr>
        <p:spPr>
          <a:xfrm>
            <a:off x="640080" y="2606040"/>
            <a:ext cx="6492240" cy="1188720"/>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B2B2B"/>
                </a:solidFill>
                <a:latin typeface="DM Sans" pitchFamily="34" charset="0"/>
                <a:ea typeface="DM Sans" pitchFamily="34" charset="-122"/>
                <a:cs typeface="DM Sans" pitchFamily="34" charset="-120"/>
              </a:rPr>
              <a:t>Personalized coaching on your specific career challenge, in front of a group of accomplished women.</a:t>
            </a:r>
            <a:endParaRPr lang="en-US" sz="1700" dirty="0"/>
          </a:p>
        </p:txBody>
      </p:sp>
      <p:sp>
        <p:nvSpPr>
          <p:cNvPr id="6" name="Text 4"/>
          <p:cNvSpPr txBox="1"/>
          <p:nvPr/>
        </p:nvSpPr>
        <p:spPr>
          <a:xfrm>
            <a:off x="640080" y="388620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WHY IT MATTERS</a:t>
            </a:r>
            <a:endParaRPr lang="en-US" sz="1200" dirty="0"/>
          </a:p>
        </p:txBody>
      </p:sp>
      <p:sp>
        <p:nvSpPr>
          <p:cNvPr id="7" name="Text 5"/>
          <p:cNvSpPr txBox="1"/>
          <p:nvPr/>
        </p:nvSpPr>
        <p:spPr>
          <a:xfrm>
            <a:off x="640080" y="4251960"/>
            <a:ext cx="6492240" cy="1005840"/>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B2B2B"/>
                </a:solidFill>
                <a:latin typeface="DM Sans" pitchFamily="34" charset="0"/>
                <a:ea typeface="DM Sans" pitchFamily="34" charset="-122"/>
                <a:cs typeface="DM Sans" pitchFamily="34" charset="-120"/>
              </a:rPr>
              <a:t>Direct feedback on your situation, and you learn from every other woman's hot seat too.</a:t>
            </a:r>
            <a:endParaRPr lang="en-US" sz="1700" dirty="0"/>
          </a:p>
        </p:txBody>
      </p:sp>
      <p:sp>
        <p:nvSpPr>
          <p:cNvPr id="8" name="Shape 6"/>
          <p:cNvSpPr/>
          <p:nvPr/>
        </p:nvSpPr>
        <p:spPr>
          <a:xfrm>
            <a:off x="640080" y="5486400"/>
            <a:ext cx="4023360" cy="548640"/>
          </a:xfrm>
          <a:prstGeom prst="roundRect">
            <a:avLst>
              <a:gd name="adj" fmla="val 50000"/>
            </a:avLst>
          </a:prstGeom>
          <a:solidFill>
            <a:srgbClr val="1E4A4A"/>
          </a:solidFill>
          <a:ln w="12700">
            <a:solidFill>
              <a:srgbClr val="1E4A4A"/>
            </a:solidFill>
            <a:prstDash val="solid"/>
          </a:ln>
        </p:spPr>
      </p:sp>
      <p:sp>
        <p:nvSpPr>
          <p:cNvPr id="9" name="Text 7"/>
          <p:cNvSpPr txBox="1"/>
          <p:nvPr/>
        </p:nvSpPr>
        <p:spPr>
          <a:xfrm>
            <a:off x="822960" y="5486400"/>
            <a:ext cx="365760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10" name="Shape 8"/>
          <p:cNvSpPr/>
          <p:nvPr/>
        </p:nvSpPr>
        <p:spPr>
          <a:xfrm>
            <a:off x="7680960" y="548640"/>
            <a:ext cx="3886200" cy="5760720"/>
          </a:xfrm>
          <a:prstGeom prst="roundRect">
            <a:avLst>
              <a:gd name="adj" fmla="val 2824"/>
            </a:avLst>
          </a:prstGeom>
          <a:solidFill>
            <a:srgbClr val="E1F5EE"/>
          </a:solidFill>
          <a:ln w="15875">
            <a:solidFill>
              <a:srgbClr val="8AAF8A"/>
            </a:solidFill>
            <a:prstDash val="dash"/>
          </a:ln>
        </p:spPr>
      </p:sp>
      <p:sp>
        <p:nvSpPr>
          <p:cNvPr id="11" name="Text 9"/>
          <p:cNvSpPr txBox="1"/>
          <p:nvPr/>
        </p:nvSpPr>
        <p:spPr>
          <a:xfrm>
            <a:off x="7991856" y="859536"/>
            <a:ext cx="326440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12" name="Text 10"/>
          <p:cNvSpPr txBox="1"/>
          <p:nvPr/>
        </p:nvSpPr>
        <p:spPr>
          <a:xfrm>
            <a:off x="7991856" y="1271016"/>
            <a:ext cx="326440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One woman in focus on a Zoom call speaking, others listening intently.</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0292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INSIDE THE EXPERIENCE · 4 OF 8</a:t>
            </a:r>
            <a:endParaRPr lang="en-US" sz="1200" dirty="0"/>
          </a:p>
        </p:txBody>
      </p:sp>
      <p:sp>
        <p:nvSpPr>
          <p:cNvPr id="3" name="Text 1"/>
          <p:cNvSpPr txBox="1"/>
          <p:nvPr/>
        </p:nvSpPr>
        <p:spPr>
          <a:xfrm>
            <a:off x="640080" y="868680"/>
            <a:ext cx="6583680" cy="1097280"/>
          </a:xfrm>
          <a:prstGeom prst="rect">
            <a:avLst/>
          </a:prstGeom>
          <a:noFill/>
          <a:ln/>
        </p:spPr>
        <p:txBody>
          <a:bodyPr wrap="square" lIns="0" tIns="0" rIns="0" bIns="0" rtlCol="0" anchor="b">
            <a:normAutofit/>
          </a:bodyPr>
          <a:lstStyle/>
          <a:p>
            <a:pPr algn="l" indent="0" marL="0">
              <a:lnSpc>
                <a:spcPct val="95000"/>
              </a:lnSpc>
              <a:buNone/>
            </a:pPr>
            <a:r>
              <a:rPr lang="en-US" sz="3800" b="1" dirty="0">
                <a:solidFill>
                  <a:srgbClr val="1B2B2B"/>
                </a:solidFill>
                <a:latin typeface="Cormorant Garamond" pitchFamily="34" charset="0"/>
                <a:ea typeface="Cormorant Garamond" pitchFamily="34" charset="-122"/>
                <a:cs typeface="Cormorant Garamond" pitchFamily="34" charset="-120"/>
              </a:rPr>
              <a:t>Negotiation Strategy Sessions</a:t>
            </a:r>
            <a:endParaRPr lang="en-US" sz="3800" dirty="0"/>
          </a:p>
        </p:txBody>
      </p:sp>
      <p:sp>
        <p:nvSpPr>
          <p:cNvPr id="4" name="Text 2"/>
          <p:cNvSpPr txBox="1"/>
          <p:nvPr/>
        </p:nvSpPr>
        <p:spPr>
          <a:xfrm>
            <a:off x="640080" y="224028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WHAT IT IS</a:t>
            </a:r>
            <a:endParaRPr lang="en-US" sz="1200" dirty="0"/>
          </a:p>
        </p:txBody>
      </p:sp>
      <p:sp>
        <p:nvSpPr>
          <p:cNvPr id="5" name="Text 3"/>
          <p:cNvSpPr txBox="1"/>
          <p:nvPr/>
        </p:nvSpPr>
        <p:spPr>
          <a:xfrm>
            <a:off x="640080" y="2606040"/>
            <a:ext cx="6492240" cy="1188720"/>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B2B2B"/>
                </a:solidFill>
                <a:latin typeface="DM Sans" pitchFamily="34" charset="0"/>
                <a:ea typeface="DM Sans" pitchFamily="34" charset="-122"/>
                <a:cs typeface="DM Sans" pitchFamily="34" charset="-120"/>
              </a:rPr>
              <a:t>A personalized strategy for your specific negotiation: salary, promotion, bonus, equity, flexible work, a new offer or an executive opportunity.</a:t>
            </a:r>
            <a:endParaRPr lang="en-US" sz="1700" dirty="0"/>
          </a:p>
        </p:txBody>
      </p:sp>
      <p:sp>
        <p:nvSpPr>
          <p:cNvPr id="6" name="Text 4"/>
          <p:cNvSpPr txBox="1"/>
          <p:nvPr/>
        </p:nvSpPr>
        <p:spPr>
          <a:xfrm>
            <a:off x="640080" y="388620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WHY IT MATTERS</a:t>
            </a:r>
            <a:endParaRPr lang="en-US" sz="1200" dirty="0"/>
          </a:p>
        </p:txBody>
      </p:sp>
      <p:sp>
        <p:nvSpPr>
          <p:cNvPr id="7" name="Text 5"/>
          <p:cNvSpPr txBox="1"/>
          <p:nvPr/>
        </p:nvSpPr>
        <p:spPr>
          <a:xfrm>
            <a:off x="640080" y="4251960"/>
            <a:ext cx="6492240" cy="1005840"/>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B2B2B"/>
                </a:solidFill>
                <a:latin typeface="DM Sans" pitchFamily="34" charset="0"/>
                <a:ea typeface="DM Sans" pitchFamily="34" charset="-122"/>
                <a:cs typeface="DM Sans" pitchFamily="34" charset="-120"/>
              </a:rPr>
              <a:t>Twenty-six years of Wall Street deal-making, applied to your next conversation.</a:t>
            </a:r>
            <a:endParaRPr lang="en-US" sz="1700" dirty="0"/>
          </a:p>
        </p:txBody>
      </p:sp>
      <p:sp>
        <p:nvSpPr>
          <p:cNvPr id="8" name="Shape 6"/>
          <p:cNvSpPr/>
          <p:nvPr/>
        </p:nvSpPr>
        <p:spPr>
          <a:xfrm>
            <a:off x="640080" y="5486400"/>
            <a:ext cx="4023360" cy="548640"/>
          </a:xfrm>
          <a:prstGeom prst="roundRect">
            <a:avLst>
              <a:gd name="adj" fmla="val 50000"/>
            </a:avLst>
          </a:prstGeom>
          <a:solidFill>
            <a:srgbClr val="1E4A4A"/>
          </a:solidFill>
          <a:ln w="12700">
            <a:solidFill>
              <a:srgbClr val="1E4A4A"/>
            </a:solidFill>
            <a:prstDash val="solid"/>
          </a:ln>
        </p:spPr>
      </p:sp>
      <p:sp>
        <p:nvSpPr>
          <p:cNvPr id="9" name="Text 7"/>
          <p:cNvSpPr txBox="1"/>
          <p:nvPr/>
        </p:nvSpPr>
        <p:spPr>
          <a:xfrm>
            <a:off x="822960" y="5486400"/>
            <a:ext cx="365760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10" name="Shape 8"/>
          <p:cNvSpPr/>
          <p:nvPr/>
        </p:nvSpPr>
        <p:spPr>
          <a:xfrm>
            <a:off x="7680960" y="548640"/>
            <a:ext cx="3886200" cy="5760720"/>
          </a:xfrm>
          <a:prstGeom prst="roundRect">
            <a:avLst>
              <a:gd name="adj" fmla="val 2824"/>
            </a:avLst>
          </a:prstGeom>
          <a:solidFill>
            <a:srgbClr val="E1F5EE"/>
          </a:solidFill>
          <a:ln w="15875">
            <a:solidFill>
              <a:srgbClr val="8AAF8A"/>
            </a:solidFill>
            <a:prstDash val="dash"/>
          </a:ln>
        </p:spPr>
      </p:sp>
      <p:sp>
        <p:nvSpPr>
          <p:cNvPr id="11" name="Text 9"/>
          <p:cNvSpPr txBox="1"/>
          <p:nvPr/>
        </p:nvSpPr>
        <p:spPr>
          <a:xfrm>
            <a:off x="7991856" y="859536"/>
            <a:ext cx="326440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12" name="Text 10"/>
          <p:cNvSpPr txBox="1"/>
          <p:nvPr/>
        </p:nvSpPr>
        <p:spPr>
          <a:xfrm>
            <a:off x="7991856" y="1271016"/>
            <a:ext cx="326440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 and a client across a desk, reviewing a one-page plan together.</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0292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INSIDE THE EXPERIENCE · 5 OF 8</a:t>
            </a:r>
            <a:endParaRPr lang="en-US" sz="1200" dirty="0"/>
          </a:p>
        </p:txBody>
      </p:sp>
      <p:sp>
        <p:nvSpPr>
          <p:cNvPr id="3" name="Text 1"/>
          <p:cNvSpPr txBox="1"/>
          <p:nvPr/>
        </p:nvSpPr>
        <p:spPr>
          <a:xfrm>
            <a:off x="640080" y="868680"/>
            <a:ext cx="6583680" cy="1097280"/>
          </a:xfrm>
          <a:prstGeom prst="rect">
            <a:avLst/>
          </a:prstGeom>
          <a:noFill/>
          <a:ln/>
        </p:spPr>
        <p:txBody>
          <a:bodyPr wrap="square" lIns="0" tIns="0" rIns="0" bIns="0" rtlCol="0" anchor="b">
            <a:normAutofit/>
          </a:bodyPr>
          <a:lstStyle/>
          <a:p>
            <a:pPr algn="l" indent="0" marL="0">
              <a:lnSpc>
                <a:spcPct val="95000"/>
              </a:lnSpc>
              <a:buNone/>
            </a:pPr>
            <a:r>
              <a:rPr lang="en-US" sz="3800" b="1" dirty="0">
                <a:solidFill>
                  <a:srgbClr val="1B2B2B"/>
                </a:solidFill>
                <a:latin typeface="Cormorant Garamond" pitchFamily="34" charset="0"/>
                <a:ea typeface="Cormorant Garamond" pitchFamily="34" charset="-122"/>
                <a:cs typeface="Cormorant Garamond" pitchFamily="34" charset="-120"/>
              </a:rPr>
              <a:t>Live Role Playing</a:t>
            </a:r>
            <a:endParaRPr lang="en-US" sz="3800" dirty="0"/>
          </a:p>
        </p:txBody>
      </p:sp>
      <p:sp>
        <p:nvSpPr>
          <p:cNvPr id="4" name="Text 2"/>
          <p:cNvSpPr txBox="1"/>
          <p:nvPr/>
        </p:nvSpPr>
        <p:spPr>
          <a:xfrm>
            <a:off x="640080" y="224028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WHAT IT IS</a:t>
            </a:r>
            <a:endParaRPr lang="en-US" sz="1200" dirty="0"/>
          </a:p>
        </p:txBody>
      </p:sp>
      <p:sp>
        <p:nvSpPr>
          <p:cNvPr id="5" name="Text 3"/>
          <p:cNvSpPr txBox="1"/>
          <p:nvPr/>
        </p:nvSpPr>
        <p:spPr>
          <a:xfrm>
            <a:off x="640080" y="2606040"/>
            <a:ext cx="6492240" cy="1188720"/>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B2B2B"/>
                </a:solidFill>
                <a:latin typeface="DM Sans" pitchFamily="34" charset="0"/>
                <a:ea typeface="DM Sans" pitchFamily="34" charset="-122"/>
                <a:cs typeface="DM Sans" pitchFamily="34" charset="-120"/>
              </a:rPr>
              <a:t>Practice your high-stakes conversations before they happen, with coaching and feedback.</a:t>
            </a:r>
            <a:endParaRPr lang="en-US" sz="1700" dirty="0"/>
          </a:p>
        </p:txBody>
      </p:sp>
      <p:sp>
        <p:nvSpPr>
          <p:cNvPr id="6" name="Text 4"/>
          <p:cNvSpPr txBox="1"/>
          <p:nvPr/>
        </p:nvSpPr>
        <p:spPr>
          <a:xfrm>
            <a:off x="640080" y="388620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WHY IT MATTERS</a:t>
            </a:r>
            <a:endParaRPr lang="en-US" sz="1200" dirty="0"/>
          </a:p>
        </p:txBody>
      </p:sp>
      <p:sp>
        <p:nvSpPr>
          <p:cNvPr id="7" name="Text 5"/>
          <p:cNvSpPr txBox="1"/>
          <p:nvPr/>
        </p:nvSpPr>
        <p:spPr>
          <a:xfrm>
            <a:off x="640080" y="4251960"/>
            <a:ext cx="6492240" cy="1005840"/>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B2B2B"/>
                </a:solidFill>
                <a:latin typeface="DM Sans" pitchFamily="34" charset="0"/>
                <a:ea typeface="DM Sans" pitchFamily="34" charset="-122"/>
                <a:cs typeface="DM Sans" pitchFamily="34" charset="-120"/>
              </a:rPr>
              <a:t>You get to fumble here, with us, so you don't fumble in front of your boss.</a:t>
            </a:r>
            <a:endParaRPr lang="en-US" sz="1700" dirty="0"/>
          </a:p>
        </p:txBody>
      </p:sp>
      <p:sp>
        <p:nvSpPr>
          <p:cNvPr id="8" name="Shape 6"/>
          <p:cNvSpPr/>
          <p:nvPr/>
        </p:nvSpPr>
        <p:spPr>
          <a:xfrm>
            <a:off x="640080" y="5486400"/>
            <a:ext cx="4023360" cy="548640"/>
          </a:xfrm>
          <a:prstGeom prst="roundRect">
            <a:avLst>
              <a:gd name="adj" fmla="val 50000"/>
            </a:avLst>
          </a:prstGeom>
          <a:solidFill>
            <a:srgbClr val="1E4A4A"/>
          </a:solidFill>
          <a:ln w="12700">
            <a:solidFill>
              <a:srgbClr val="1E4A4A"/>
            </a:solidFill>
            <a:prstDash val="solid"/>
          </a:ln>
        </p:spPr>
      </p:sp>
      <p:sp>
        <p:nvSpPr>
          <p:cNvPr id="9" name="Text 7"/>
          <p:cNvSpPr txBox="1"/>
          <p:nvPr/>
        </p:nvSpPr>
        <p:spPr>
          <a:xfrm>
            <a:off x="822960" y="5486400"/>
            <a:ext cx="365760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10" name="Shape 8"/>
          <p:cNvSpPr/>
          <p:nvPr/>
        </p:nvSpPr>
        <p:spPr>
          <a:xfrm>
            <a:off x="7680960" y="548640"/>
            <a:ext cx="3886200" cy="5760720"/>
          </a:xfrm>
          <a:prstGeom prst="roundRect">
            <a:avLst>
              <a:gd name="adj" fmla="val 2824"/>
            </a:avLst>
          </a:prstGeom>
          <a:solidFill>
            <a:srgbClr val="E1F5EE"/>
          </a:solidFill>
          <a:ln w="15875">
            <a:solidFill>
              <a:srgbClr val="8AAF8A"/>
            </a:solidFill>
            <a:prstDash val="dash"/>
          </a:ln>
        </p:spPr>
      </p:sp>
      <p:sp>
        <p:nvSpPr>
          <p:cNvPr id="11" name="Text 9"/>
          <p:cNvSpPr txBox="1"/>
          <p:nvPr/>
        </p:nvSpPr>
        <p:spPr>
          <a:xfrm>
            <a:off x="7991856" y="859536"/>
            <a:ext cx="326440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12" name="Text 10"/>
          <p:cNvSpPr txBox="1"/>
          <p:nvPr/>
        </p:nvSpPr>
        <p:spPr>
          <a:xfrm>
            <a:off x="7991856" y="1271016"/>
            <a:ext cx="326440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Two women practicing a tense conversation, one mid-sentence, the other playing the skeptical boss.</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0292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INSIDE THE EXPERIENCE · 6 OF 8</a:t>
            </a:r>
            <a:endParaRPr lang="en-US" sz="1200" dirty="0"/>
          </a:p>
        </p:txBody>
      </p:sp>
      <p:sp>
        <p:nvSpPr>
          <p:cNvPr id="3" name="Text 1"/>
          <p:cNvSpPr txBox="1"/>
          <p:nvPr/>
        </p:nvSpPr>
        <p:spPr>
          <a:xfrm>
            <a:off x="640080" y="868680"/>
            <a:ext cx="6583680" cy="1097280"/>
          </a:xfrm>
          <a:prstGeom prst="rect">
            <a:avLst/>
          </a:prstGeom>
          <a:noFill/>
          <a:ln/>
        </p:spPr>
        <p:txBody>
          <a:bodyPr wrap="square" lIns="0" tIns="0" rIns="0" bIns="0" rtlCol="0" anchor="b">
            <a:normAutofit/>
          </a:bodyPr>
          <a:lstStyle/>
          <a:p>
            <a:pPr algn="l" indent="0" marL="0">
              <a:lnSpc>
                <a:spcPct val="95000"/>
              </a:lnSpc>
              <a:buNone/>
            </a:pPr>
            <a:r>
              <a:rPr lang="en-US" sz="3800" b="1" dirty="0">
                <a:solidFill>
                  <a:srgbClr val="1B2B2B"/>
                </a:solidFill>
                <a:latin typeface="Cormorant Garamond" pitchFamily="34" charset="0"/>
                <a:ea typeface="Cormorant Garamond" pitchFamily="34" charset="-122"/>
                <a:cs typeface="Cormorant Garamond" pitchFamily="34" charset="-120"/>
              </a:rPr>
              <a:t>Executive Communication Coaching</a:t>
            </a:r>
            <a:endParaRPr lang="en-US" sz="3800" dirty="0"/>
          </a:p>
        </p:txBody>
      </p:sp>
      <p:sp>
        <p:nvSpPr>
          <p:cNvPr id="4" name="Text 2"/>
          <p:cNvSpPr txBox="1"/>
          <p:nvPr/>
        </p:nvSpPr>
        <p:spPr>
          <a:xfrm>
            <a:off x="640080" y="224028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WHAT IT IS</a:t>
            </a:r>
            <a:endParaRPr lang="en-US" sz="1200" dirty="0"/>
          </a:p>
        </p:txBody>
      </p:sp>
      <p:sp>
        <p:nvSpPr>
          <p:cNvPr id="5" name="Text 3"/>
          <p:cNvSpPr txBox="1"/>
          <p:nvPr/>
        </p:nvSpPr>
        <p:spPr>
          <a:xfrm>
            <a:off x="640080" y="2606040"/>
            <a:ext cx="6492240" cy="1188720"/>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B2B2B"/>
                </a:solidFill>
                <a:latin typeface="DM Sans" pitchFamily="34" charset="0"/>
                <a:ea typeface="DM Sans" pitchFamily="34" charset="-122"/>
                <a:cs typeface="DM Sans" pitchFamily="34" charset="-120"/>
              </a:rPr>
              <a:t>Communicating with authority and executive presence, influencing decision makers and navigating difficult conversations.</a:t>
            </a:r>
            <a:endParaRPr lang="en-US" sz="1700" dirty="0"/>
          </a:p>
        </p:txBody>
      </p:sp>
      <p:sp>
        <p:nvSpPr>
          <p:cNvPr id="6" name="Text 4"/>
          <p:cNvSpPr txBox="1"/>
          <p:nvPr/>
        </p:nvSpPr>
        <p:spPr>
          <a:xfrm>
            <a:off x="640080" y="388620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WHY IT MATTERS</a:t>
            </a:r>
            <a:endParaRPr lang="en-US" sz="1200" dirty="0"/>
          </a:p>
        </p:txBody>
      </p:sp>
      <p:sp>
        <p:nvSpPr>
          <p:cNvPr id="7" name="Text 5"/>
          <p:cNvSpPr txBox="1"/>
          <p:nvPr/>
        </p:nvSpPr>
        <p:spPr>
          <a:xfrm>
            <a:off x="640080" y="4251960"/>
            <a:ext cx="6492240" cy="1005840"/>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B2B2B"/>
                </a:solidFill>
                <a:latin typeface="DM Sans" pitchFamily="34" charset="0"/>
                <a:ea typeface="DM Sans" pitchFamily="34" charset="-122"/>
                <a:cs typeface="DM Sans" pitchFamily="34" charset="-120"/>
              </a:rPr>
              <a:t>So the way you speak finally matches the level you perform at.</a:t>
            </a:r>
            <a:endParaRPr lang="en-US" sz="1700" dirty="0"/>
          </a:p>
        </p:txBody>
      </p:sp>
      <p:sp>
        <p:nvSpPr>
          <p:cNvPr id="8" name="Shape 6"/>
          <p:cNvSpPr/>
          <p:nvPr/>
        </p:nvSpPr>
        <p:spPr>
          <a:xfrm>
            <a:off x="640080" y="5486400"/>
            <a:ext cx="4023360" cy="548640"/>
          </a:xfrm>
          <a:prstGeom prst="roundRect">
            <a:avLst>
              <a:gd name="adj" fmla="val 50000"/>
            </a:avLst>
          </a:prstGeom>
          <a:solidFill>
            <a:srgbClr val="1E4A4A"/>
          </a:solidFill>
          <a:ln w="12700">
            <a:solidFill>
              <a:srgbClr val="1E4A4A"/>
            </a:solidFill>
            <a:prstDash val="solid"/>
          </a:ln>
        </p:spPr>
      </p:sp>
      <p:sp>
        <p:nvSpPr>
          <p:cNvPr id="9" name="Text 7"/>
          <p:cNvSpPr txBox="1"/>
          <p:nvPr/>
        </p:nvSpPr>
        <p:spPr>
          <a:xfrm>
            <a:off x="822960" y="5486400"/>
            <a:ext cx="365760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10" name="Shape 8"/>
          <p:cNvSpPr/>
          <p:nvPr/>
        </p:nvSpPr>
        <p:spPr>
          <a:xfrm>
            <a:off x="7680960" y="548640"/>
            <a:ext cx="3886200" cy="5760720"/>
          </a:xfrm>
          <a:prstGeom prst="roundRect">
            <a:avLst>
              <a:gd name="adj" fmla="val 2824"/>
            </a:avLst>
          </a:prstGeom>
          <a:solidFill>
            <a:srgbClr val="E1F5EE"/>
          </a:solidFill>
          <a:ln w="15875">
            <a:solidFill>
              <a:srgbClr val="8AAF8A"/>
            </a:solidFill>
            <a:prstDash val="dash"/>
          </a:ln>
        </p:spPr>
      </p:sp>
      <p:sp>
        <p:nvSpPr>
          <p:cNvPr id="11" name="Text 9"/>
          <p:cNvSpPr txBox="1"/>
          <p:nvPr/>
        </p:nvSpPr>
        <p:spPr>
          <a:xfrm>
            <a:off x="7991856" y="859536"/>
            <a:ext cx="326440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12" name="Text 10"/>
          <p:cNvSpPr txBox="1"/>
          <p:nvPr/>
        </p:nvSpPr>
        <p:spPr>
          <a:xfrm>
            <a:off x="7991856" y="1271016"/>
            <a:ext cx="326440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speaking at a leadership meeting, others taking notes.</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0292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INSIDE THE EXPERIENCE · 7 OF 8</a:t>
            </a:r>
            <a:endParaRPr lang="en-US" sz="1200" dirty="0"/>
          </a:p>
        </p:txBody>
      </p:sp>
      <p:sp>
        <p:nvSpPr>
          <p:cNvPr id="3" name="Text 1"/>
          <p:cNvSpPr txBox="1"/>
          <p:nvPr/>
        </p:nvSpPr>
        <p:spPr>
          <a:xfrm>
            <a:off x="640080" y="868680"/>
            <a:ext cx="6583680" cy="1097280"/>
          </a:xfrm>
          <a:prstGeom prst="rect">
            <a:avLst/>
          </a:prstGeom>
          <a:noFill/>
          <a:ln/>
        </p:spPr>
        <p:txBody>
          <a:bodyPr wrap="square" lIns="0" tIns="0" rIns="0" bIns="0" rtlCol="0" anchor="b">
            <a:normAutofit/>
          </a:bodyPr>
          <a:lstStyle/>
          <a:p>
            <a:pPr algn="l" indent="0" marL="0">
              <a:lnSpc>
                <a:spcPct val="95000"/>
              </a:lnSpc>
              <a:buNone/>
            </a:pPr>
            <a:r>
              <a:rPr lang="en-US" sz="3800" b="1" dirty="0">
                <a:solidFill>
                  <a:srgbClr val="1B2B2B"/>
                </a:solidFill>
                <a:latin typeface="Cormorant Garamond" pitchFamily="34" charset="0"/>
                <a:ea typeface="Cormorant Garamond" pitchFamily="34" charset="-122"/>
                <a:cs typeface="Cormorant Garamond" pitchFamily="34" charset="-120"/>
              </a:rPr>
              <a:t>Career Strategy</a:t>
            </a:r>
            <a:endParaRPr lang="en-US" sz="3800" dirty="0"/>
          </a:p>
        </p:txBody>
      </p:sp>
      <p:sp>
        <p:nvSpPr>
          <p:cNvPr id="4" name="Text 2"/>
          <p:cNvSpPr txBox="1"/>
          <p:nvPr/>
        </p:nvSpPr>
        <p:spPr>
          <a:xfrm>
            <a:off x="640080" y="224028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WHAT IT IS</a:t>
            </a:r>
            <a:endParaRPr lang="en-US" sz="1200" dirty="0"/>
          </a:p>
        </p:txBody>
      </p:sp>
      <p:sp>
        <p:nvSpPr>
          <p:cNvPr id="5" name="Text 3"/>
          <p:cNvSpPr txBox="1"/>
          <p:nvPr/>
        </p:nvSpPr>
        <p:spPr>
          <a:xfrm>
            <a:off x="640080" y="2606040"/>
            <a:ext cx="6492240" cy="1188720"/>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B2B2B"/>
                </a:solidFill>
                <a:latin typeface="DM Sans" pitchFamily="34" charset="0"/>
                <a:ea typeface="DM Sans" pitchFamily="34" charset="-122"/>
                <a:cs typeface="DM Sans" pitchFamily="34" charset="-120"/>
              </a:rPr>
              <a:t>A long-term career roadmap, beyond your next negotiation.</a:t>
            </a:r>
            <a:endParaRPr lang="en-US" sz="1700" dirty="0"/>
          </a:p>
        </p:txBody>
      </p:sp>
      <p:sp>
        <p:nvSpPr>
          <p:cNvPr id="6" name="Text 4"/>
          <p:cNvSpPr txBox="1"/>
          <p:nvPr/>
        </p:nvSpPr>
        <p:spPr>
          <a:xfrm>
            <a:off x="640080" y="388620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WHY IT MATTERS</a:t>
            </a:r>
            <a:endParaRPr lang="en-US" sz="1200" dirty="0"/>
          </a:p>
        </p:txBody>
      </p:sp>
      <p:sp>
        <p:nvSpPr>
          <p:cNvPr id="7" name="Text 5"/>
          <p:cNvSpPr txBox="1"/>
          <p:nvPr/>
        </p:nvSpPr>
        <p:spPr>
          <a:xfrm>
            <a:off x="640080" y="4251960"/>
            <a:ext cx="6492240" cy="1005840"/>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B2B2B"/>
                </a:solidFill>
                <a:latin typeface="DM Sans" pitchFamily="34" charset="0"/>
                <a:ea typeface="DM Sans" pitchFamily="34" charset="-122"/>
                <a:cs typeface="DM Sans" pitchFamily="34" charset="-120"/>
              </a:rPr>
              <a:t>You stop reacting to review season and start owning where you're going.</a:t>
            </a:r>
            <a:endParaRPr lang="en-US" sz="1700" dirty="0"/>
          </a:p>
        </p:txBody>
      </p:sp>
      <p:sp>
        <p:nvSpPr>
          <p:cNvPr id="8" name="Shape 6"/>
          <p:cNvSpPr/>
          <p:nvPr/>
        </p:nvSpPr>
        <p:spPr>
          <a:xfrm>
            <a:off x="640080" y="5486400"/>
            <a:ext cx="4023360" cy="548640"/>
          </a:xfrm>
          <a:prstGeom prst="roundRect">
            <a:avLst>
              <a:gd name="adj" fmla="val 50000"/>
            </a:avLst>
          </a:prstGeom>
          <a:solidFill>
            <a:srgbClr val="1E4A4A"/>
          </a:solidFill>
          <a:ln w="12700">
            <a:solidFill>
              <a:srgbClr val="1E4A4A"/>
            </a:solidFill>
            <a:prstDash val="solid"/>
          </a:ln>
        </p:spPr>
      </p:sp>
      <p:sp>
        <p:nvSpPr>
          <p:cNvPr id="9" name="Text 7"/>
          <p:cNvSpPr txBox="1"/>
          <p:nvPr/>
        </p:nvSpPr>
        <p:spPr>
          <a:xfrm>
            <a:off x="822960" y="5486400"/>
            <a:ext cx="365760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10" name="Shape 8"/>
          <p:cNvSpPr/>
          <p:nvPr/>
        </p:nvSpPr>
        <p:spPr>
          <a:xfrm>
            <a:off x="7680960" y="548640"/>
            <a:ext cx="3886200" cy="5760720"/>
          </a:xfrm>
          <a:prstGeom prst="roundRect">
            <a:avLst>
              <a:gd name="adj" fmla="val 2824"/>
            </a:avLst>
          </a:prstGeom>
          <a:solidFill>
            <a:srgbClr val="E1F5EE"/>
          </a:solidFill>
          <a:ln w="15875">
            <a:solidFill>
              <a:srgbClr val="8AAF8A"/>
            </a:solidFill>
            <a:prstDash val="dash"/>
          </a:ln>
        </p:spPr>
      </p:sp>
      <p:sp>
        <p:nvSpPr>
          <p:cNvPr id="11" name="Text 9"/>
          <p:cNvSpPr txBox="1"/>
          <p:nvPr/>
        </p:nvSpPr>
        <p:spPr>
          <a:xfrm>
            <a:off x="7991856" y="859536"/>
            <a:ext cx="326440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12" name="Text 10"/>
          <p:cNvSpPr txBox="1"/>
          <p:nvPr/>
        </p:nvSpPr>
        <p:spPr>
          <a:xfrm>
            <a:off x="7991856" y="1271016"/>
            <a:ext cx="326440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sketching a roadmap on a whiteboard or large notebook, arrows and milestones.</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0292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INSIDE THE EXPERIENCE · 8 OF 8</a:t>
            </a:r>
            <a:endParaRPr lang="en-US" sz="1200" dirty="0"/>
          </a:p>
        </p:txBody>
      </p:sp>
      <p:sp>
        <p:nvSpPr>
          <p:cNvPr id="3" name="Text 1"/>
          <p:cNvSpPr txBox="1"/>
          <p:nvPr/>
        </p:nvSpPr>
        <p:spPr>
          <a:xfrm>
            <a:off x="640080" y="868680"/>
            <a:ext cx="6583680" cy="1097280"/>
          </a:xfrm>
          <a:prstGeom prst="rect">
            <a:avLst/>
          </a:prstGeom>
          <a:noFill/>
          <a:ln/>
        </p:spPr>
        <p:txBody>
          <a:bodyPr wrap="square" lIns="0" tIns="0" rIns="0" bIns="0" rtlCol="0" anchor="b">
            <a:normAutofit/>
          </a:bodyPr>
          <a:lstStyle/>
          <a:p>
            <a:pPr algn="l" indent="0" marL="0">
              <a:lnSpc>
                <a:spcPct val="95000"/>
              </a:lnSpc>
              <a:buNone/>
            </a:pPr>
            <a:r>
              <a:rPr lang="en-US" sz="3800" b="1" dirty="0">
                <a:solidFill>
                  <a:srgbClr val="1B2B2B"/>
                </a:solidFill>
                <a:latin typeface="Cormorant Garamond" pitchFamily="34" charset="0"/>
                <a:ea typeface="Cormorant Garamond" pitchFamily="34" charset="-122"/>
                <a:cs typeface="Cormorant Garamond" pitchFamily="34" charset="-120"/>
              </a:rPr>
              <a:t>Private Community</a:t>
            </a:r>
            <a:endParaRPr lang="en-US" sz="3800" dirty="0"/>
          </a:p>
        </p:txBody>
      </p:sp>
      <p:sp>
        <p:nvSpPr>
          <p:cNvPr id="4" name="Text 2"/>
          <p:cNvSpPr txBox="1"/>
          <p:nvPr/>
        </p:nvSpPr>
        <p:spPr>
          <a:xfrm>
            <a:off x="640080" y="224028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WHAT IT IS</a:t>
            </a:r>
            <a:endParaRPr lang="en-US" sz="1200" dirty="0"/>
          </a:p>
        </p:txBody>
      </p:sp>
      <p:sp>
        <p:nvSpPr>
          <p:cNvPr id="5" name="Text 3"/>
          <p:cNvSpPr txBox="1"/>
          <p:nvPr/>
        </p:nvSpPr>
        <p:spPr>
          <a:xfrm>
            <a:off x="640080" y="2606040"/>
            <a:ext cx="6492240" cy="1188720"/>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B2B2B"/>
                </a:solidFill>
                <a:latin typeface="DM Sans" pitchFamily="34" charset="0"/>
                <a:ea typeface="DM Sans" pitchFamily="34" charset="-122"/>
                <a:cs typeface="DM Sans" pitchFamily="34" charset="-120"/>
              </a:rPr>
              <a:t>A community of ambitious professional women sharing wins, practicing courageous conversations and holding each other accountable.</a:t>
            </a:r>
            <a:endParaRPr lang="en-US" sz="1700" dirty="0"/>
          </a:p>
        </p:txBody>
      </p:sp>
      <p:sp>
        <p:nvSpPr>
          <p:cNvPr id="6" name="Text 4"/>
          <p:cNvSpPr txBox="1"/>
          <p:nvPr/>
        </p:nvSpPr>
        <p:spPr>
          <a:xfrm>
            <a:off x="640080" y="388620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WHY IT MATTERS</a:t>
            </a:r>
            <a:endParaRPr lang="en-US" sz="1200" dirty="0"/>
          </a:p>
        </p:txBody>
      </p:sp>
      <p:sp>
        <p:nvSpPr>
          <p:cNvPr id="7" name="Text 5"/>
          <p:cNvSpPr txBox="1"/>
          <p:nvPr/>
        </p:nvSpPr>
        <p:spPr>
          <a:xfrm>
            <a:off x="640080" y="4251960"/>
            <a:ext cx="6492240" cy="1005840"/>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B2B2B"/>
                </a:solidFill>
                <a:latin typeface="DM Sans" pitchFamily="34" charset="0"/>
                <a:ea typeface="DM Sans" pitchFamily="34" charset="-122"/>
                <a:cs typeface="DM Sans" pitchFamily="34" charset="-120"/>
              </a:rPr>
              <a:t>You stop doing this alone. For a lot of women, that's the part that changes everything.</a:t>
            </a:r>
            <a:endParaRPr lang="en-US" sz="1700" dirty="0"/>
          </a:p>
        </p:txBody>
      </p:sp>
      <p:sp>
        <p:nvSpPr>
          <p:cNvPr id="8" name="Shape 6"/>
          <p:cNvSpPr/>
          <p:nvPr/>
        </p:nvSpPr>
        <p:spPr>
          <a:xfrm>
            <a:off x="640080" y="5486400"/>
            <a:ext cx="4023360" cy="548640"/>
          </a:xfrm>
          <a:prstGeom prst="roundRect">
            <a:avLst>
              <a:gd name="adj" fmla="val 50000"/>
            </a:avLst>
          </a:prstGeom>
          <a:solidFill>
            <a:srgbClr val="1E4A4A"/>
          </a:solidFill>
          <a:ln w="12700">
            <a:solidFill>
              <a:srgbClr val="1E4A4A"/>
            </a:solidFill>
            <a:prstDash val="solid"/>
          </a:ln>
        </p:spPr>
      </p:sp>
      <p:sp>
        <p:nvSpPr>
          <p:cNvPr id="9" name="Text 7"/>
          <p:cNvSpPr txBox="1"/>
          <p:nvPr/>
        </p:nvSpPr>
        <p:spPr>
          <a:xfrm>
            <a:off x="822960" y="5486400"/>
            <a:ext cx="365760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10" name="Shape 8"/>
          <p:cNvSpPr/>
          <p:nvPr/>
        </p:nvSpPr>
        <p:spPr>
          <a:xfrm>
            <a:off x="7680960" y="548640"/>
            <a:ext cx="3886200" cy="5760720"/>
          </a:xfrm>
          <a:prstGeom prst="roundRect">
            <a:avLst>
              <a:gd name="adj" fmla="val 2824"/>
            </a:avLst>
          </a:prstGeom>
          <a:solidFill>
            <a:srgbClr val="E1F5EE"/>
          </a:solidFill>
          <a:ln w="15875">
            <a:solidFill>
              <a:srgbClr val="8AAF8A"/>
            </a:solidFill>
            <a:prstDash val="dash"/>
          </a:ln>
        </p:spPr>
      </p:sp>
      <p:sp>
        <p:nvSpPr>
          <p:cNvPr id="11" name="Text 9"/>
          <p:cNvSpPr txBox="1"/>
          <p:nvPr/>
        </p:nvSpPr>
        <p:spPr>
          <a:xfrm>
            <a:off x="7991856" y="859536"/>
            <a:ext cx="326440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12" name="Text 10"/>
          <p:cNvSpPr txBox="1"/>
          <p:nvPr/>
        </p:nvSpPr>
        <p:spPr>
          <a:xfrm>
            <a:off x="7991856" y="1271016"/>
            <a:ext cx="326440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Small group of women at a dinner table or in a virtual room, laughing, clearly close.</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0292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BONUS</a:t>
            </a:r>
            <a:endParaRPr lang="en-US" sz="1200" dirty="0"/>
          </a:p>
        </p:txBody>
      </p:sp>
      <p:sp>
        <p:nvSpPr>
          <p:cNvPr id="3" name="Text 1"/>
          <p:cNvSpPr txBox="1"/>
          <p:nvPr/>
        </p:nvSpPr>
        <p:spPr>
          <a:xfrm>
            <a:off x="640080" y="868680"/>
            <a:ext cx="6583680" cy="1097280"/>
          </a:xfrm>
          <a:prstGeom prst="rect">
            <a:avLst/>
          </a:prstGeom>
          <a:noFill/>
          <a:ln/>
        </p:spPr>
        <p:txBody>
          <a:bodyPr wrap="square" lIns="0" tIns="0" rIns="0" bIns="0" rtlCol="0" anchor="b">
            <a:normAutofit/>
          </a:bodyPr>
          <a:lstStyle/>
          <a:p>
            <a:pPr algn="l" indent="0" marL="0">
              <a:lnSpc>
                <a:spcPct val="95000"/>
              </a:lnSpc>
              <a:buNone/>
            </a:pPr>
            <a:r>
              <a:rPr lang="en-US" sz="1600" b="1" dirty="0">
                <a:solidFill>
                  <a:srgbClr val="B85042"/>
                </a:solidFill>
                <a:latin typeface="DM Sans" pitchFamily="34" charset="0"/>
                <a:ea typeface="DM Sans" pitchFamily="34" charset="-122"/>
                <a:cs typeface="DM Sans" pitchFamily="34" charset="-120"/>
              </a:rPr>
              <a:t>[PLACEHOLDER: Bonus]</a:t>
            </a:r>
            <a:endParaRPr lang="en-US" sz="1600" dirty="0"/>
          </a:p>
        </p:txBody>
      </p:sp>
      <p:sp>
        <p:nvSpPr>
          <p:cNvPr id="4" name="Text 2"/>
          <p:cNvSpPr txBox="1"/>
          <p:nvPr/>
        </p:nvSpPr>
        <p:spPr>
          <a:xfrm>
            <a:off x="640080" y="224028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WHAT IT IS</a:t>
            </a:r>
            <a:endParaRPr lang="en-US" sz="1200" dirty="0"/>
          </a:p>
        </p:txBody>
      </p:sp>
      <p:sp>
        <p:nvSpPr>
          <p:cNvPr id="5" name="Text 3"/>
          <p:cNvSpPr txBox="1"/>
          <p:nvPr/>
        </p:nvSpPr>
        <p:spPr>
          <a:xfrm>
            <a:off x="640080" y="2606040"/>
            <a:ext cx="6492240" cy="1188720"/>
          </a:xfrm>
          <a:prstGeom prst="rect">
            <a:avLst/>
          </a:prstGeom>
          <a:noFill/>
          <a:ln/>
        </p:spPr>
        <p:txBody>
          <a:bodyPr wrap="square" lIns="0" tIns="0" rIns="0" bIns="0" rtlCol="0" anchor="t">
            <a:normAutofit/>
          </a:bodyPr>
          <a:lstStyle/>
          <a:p>
            <a:pPr algn="l" indent="0" marL="0">
              <a:lnSpc>
                <a:spcPct val="115000"/>
              </a:lnSpc>
              <a:buNone/>
            </a:pPr>
            <a:r>
              <a:rPr lang="en-US" sz="1600" b="1" dirty="0">
                <a:solidFill>
                  <a:srgbClr val="B85042"/>
                </a:solidFill>
                <a:latin typeface="DM Sans" pitchFamily="34" charset="0"/>
                <a:ea typeface="DM Sans" pitchFamily="34" charset="-122"/>
                <a:cs typeface="DM Sans" pitchFamily="34" charset="-120"/>
              </a:rPr>
              <a:t>[PLACEHOLDER: bonus name and description. Intake Q30 is blank. Possible fit: The Courage to Ask Blueprint, if Tamara wants to include it.]</a:t>
            </a:r>
            <a:endParaRPr lang="en-US" sz="1600" dirty="0"/>
          </a:p>
        </p:txBody>
      </p:sp>
      <p:sp>
        <p:nvSpPr>
          <p:cNvPr id="6" name="Text 4"/>
          <p:cNvSpPr txBox="1"/>
          <p:nvPr/>
        </p:nvSpPr>
        <p:spPr>
          <a:xfrm>
            <a:off x="640080" y="3886200"/>
            <a:ext cx="36576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WHY IT MATTERS</a:t>
            </a:r>
            <a:endParaRPr lang="en-US" sz="1200" dirty="0"/>
          </a:p>
        </p:txBody>
      </p:sp>
      <p:sp>
        <p:nvSpPr>
          <p:cNvPr id="7" name="Text 5"/>
          <p:cNvSpPr txBox="1"/>
          <p:nvPr/>
        </p:nvSpPr>
        <p:spPr>
          <a:xfrm>
            <a:off x="640080" y="4251960"/>
            <a:ext cx="6492240" cy="1005840"/>
          </a:xfrm>
          <a:prstGeom prst="rect">
            <a:avLst/>
          </a:prstGeom>
          <a:noFill/>
          <a:ln/>
        </p:spPr>
        <p:txBody>
          <a:bodyPr wrap="square" lIns="0" tIns="0" rIns="0" bIns="0" rtlCol="0" anchor="t">
            <a:normAutofit/>
          </a:bodyPr>
          <a:lstStyle/>
          <a:p>
            <a:pPr algn="l" indent="0" marL="0">
              <a:lnSpc>
                <a:spcPct val="115000"/>
              </a:lnSpc>
              <a:buNone/>
            </a:pPr>
            <a:r>
              <a:rPr lang="en-US" sz="1600" b="1" dirty="0">
                <a:solidFill>
                  <a:srgbClr val="B85042"/>
                </a:solidFill>
                <a:latin typeface="DM Sans" pitchFamily="34" charset="0"/>
                <a:ea typeface="DM Sans" pitchFamily="34" charset="-122"/>
                <a:cs typeface="DM Sans" pitchFamily="34" charset="-120"/>
              </a:rPr>
              <a:t>[PLACEHOLDER]</a:t>
            </a:r>
            <a:endParaRPr lang="en-US" sz="1600" dirty="0"/>
          </a:p>
        </p:txBody>
      </p:sp>
      <p:sp>
        <p:nvSpPr>
          <p:cNvPr id="8" name="Shape 6"/>
          <p:cNvSpPr/>
          <p:nvPr/>
        </p:nvSpPr>
        <p:spPr>
          <a:xfrm>
            <a:off x="640080" y="5486400"/>
            <a:ext cx="4023360" cy="548640"/>
          </a:xfrm>
          <a:prstGeom prst="roundRect">
            <a:avLst>
              <a:gd name="adj" fmla="val 50000"/>
            </a:avLst>
          </a:prstGeom>
          <a:solidFill>
            <a:srgbClr val="1E4A4A"/>
          </a:solidFill>
          <a:ln w="12700">
            <a:solidFill>
              <a:srgbClr val="1E4A4A"/>
            </a:solidFill>
            <a:prstDash val="solid"/>
          </a:ln>
        </p:spPr>
      </p:sp>
      <p:sp>
        <p:nvSpPr>
          <p:cNvPr id="9" name="Text 7"/>
          <p:cNvSpPr txBox="1"/>
          <p:nvPr/>
        </p:nvSpPr>
        <p:spPr>
          <a:xfrm>
            <a:off x="822960" y="5486400"/>
            <a:ext cx="365760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10" name="Shape 8"/>
          <p:cNvSpPr/>
          <p:nvPr/>
        </p:nvSpPr>
        <p:spPr>
          <a:xfrm>
            <a:off x="7680960" y="548640"/>
            <a:ext cx="3886200" cy="5760720"/>
          </a:xfrm>
          <a:prstGeom prst="roundRect">
            <a:avLst>
              <a:gd name="adj" fmla="val 2824"/>
            </a:avLst>
          </a:prstGeom>
          <a:solidFill>
            <a:srgbClr val="E1F5EE"/>
          </a:solidFill>
          <a:ln w="15875">
            <a:solidFill>
              <a:srgbClr val="8AAF8A"/>
            </a:solidFill>
            <a:prstDash val="dash"/>
          </a:ln>
        </p:spPr>
      </p:sp>
      <p:sp>
        <p:nvSpPr>
          <p:cNvPr id="11" name="Text 9"/>
          <p:cNvSpPr txBox="1"/>
          <p:nvPr/>
        </p:nvSpPr>
        <p:spPr>
          <a:xfrm>
            <a:off x="7991856" y="859536"/>
            <a:ext cx="326440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12" name="Text 10"/>
          <p:cNvSpPr txBox="1"/>
          <p:nvPr/>
        </p:nvSpPr>
        <p:spPr>
          <a:xfrm>
            <a:off x="7991856" y="1271016"/>
            <a:ext cx="326440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Bonus asset mockup. </a:t>
            </a:r>
            <a:pPr algn="l" indent="0" marL="0">
              <a:lnSpc>
                <a:spcPct val="110000"/>
              </a:lnSpc>
              <a:buNone/>
            </a:pPr>
            <a:r>
              <a:rPr lang="en-US" sz="1200" b="1" i="1" dirty="0">
                <a:solidFill>
                  <a:srgbClr val="B85042"/>
                </a:solidFill>
                <a:latin typeface="DM Sans" pitchFamily="34" charset="0"/>
                <a:ea typeface="DM Sans" pitchFamily="34" charset="-122"/>
                <a:cs typeface="DM Sans" pitchFamily="34" charset="-120"/>
              </a:rPr>
              <a:t>[PLACEHOLDER]</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914400"/>
          </a:xfrm>
          <a:prstGeom prst="rect">
            <a:avLst/>
          </a:prstGeom>
          <a:noFill/>
          <a:ln/>
        </p:spPr>
        <p:txBody>
          <a:bodyPr wrap="square" lIns="0" tIns="0" rIns="0" bIns="0" rtlCol="0" anchor="b">
            <a:normAutofit/>
          </a:bodyPr>
          <a:lstStyle/>
          <a:p>
            <a:pPr algn="l" indent="0" marL="0">
              <a:lnSpc>
                <a:spcPct val="95000"/>
              </a:lnSpc>
              <a:buNone/>
            </a:pPr>
            <a:r>
              <a:rPr lang="en-US" sz="4000" b="1" dirty="0">
                <a:solidFill>
                  <a:srgbClr val="FFFFFF"/>
                </a:solidFill>
                <a:latin typeface="Cormorant Garamond" pitchFamily="34" charset="0"/>
                <a:ea typeface="Cormorant Garamond" pitchFamily="34" charset="-122"/>
                <a:cs typeface="Cormorant Garamond" pitchFamily="34" charset="-120"/>
              </a:rPr>
              <a:t>Here's </a:t>
            </a:r>
            <a:pPr algn="l" indent="0" marL="0">
              <a:lnSpc>
                <a:spcPct val="95000"/>
              </a:lnSpc>
              <a:buNone/>
            </a:pPr>
            <a:r>
              <a:rPr lang="en-US" sz="4000" b="1" dirty="0">
                <a:solidFill>
                  <a:srgbClr val="B7D3B7"/>
                </a:solidFill>
                <a:latin typeface="Cormorant Garamond" pitchFamily="34" charset="0"/>
                <a:ea typeface="Cormorant Garamond" pitchFamily="34" charset="-122"/>
                <a:cs typeface="Cormorant Garamond" pitchFamily="34" charset="-120"/>
              </a:rPr>
              <a:t>everything you get</a:t>
            </a:r>
            <a:endParaRPr lang="en-US" sz="4000" dirty="0"/>
          </a:p>
        </p:txBody>
      </p:sp>
      <p:sp>
        <p:nvSpPr>
          <p:cNvPr id="3" name="Shape 1"/>
          <p:cNvSpPr/>
          <p:nvPr/>
        </p:nvSpPr>
        <p:spPr>
          <a:xfrm>
            <a:off x="640080" y="1691640"/>
            <a:ext cx="411480" cy="411480"/>
          </a:xfrm>
          <a:prstGeom prst="ellipse">
            <a:avLst/>
          </a:prstGeom>
          <a:solidFill>
            <a:srgbClr val="8AAF8A"/>
          </a:solidFill>
          <a:ln w="12700">
            <a:solidFill>
              <a:srgbClr val="8AAF8A"/>
            </a:solidFill>
            <a:prstDash val="solid"/>
          </a:ln>
        </p:spPr>
      </p:sp>
      <p:sp>
        <p:nvSpPr>
          <p:cNvPr id="4" name="Text 2"/>
          <p:cNvSpPr txBox="1"/>
          <p:nvPr/>
        </p:nvSpPr>
        <p:spPr>
          <a:xfrm>
            <a:off x="640080" y="1691640"/>
            <a:ext cx="411480" cy="41148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5" name="Text 3"/>
          <p:cNvSpPr txBox="1"/>
          <p:nvPr/>
        </p:nvSpPr>
        <p:spPr>
          <a:xfrm>
            <a:off x="1234440" y="1645920"/>
            <a:ext cx="4754880" cy="50292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Weekly Live Executive Coaching</a:t>
            </a:r>
            <a:endParaRPr lang="en-US" sz="1800" dirty="0"/>
          </a:p>
        </p:txBody>
      </p:sp>
      <p:sp>
        <p:nvSpPr>
          <p:cNvPr id="6" name="Shape 4"/>
          <p:cNvSpPr/>
          <p:nvPr/>
        </p:nvSpPr>
        <p:spPr>
          <a:xfrm>
            <a:off x="640080" y="2423160"/>
            <a:ext cx="411480" cy="411480"/>
          </a:xfrm>
          <a:prstGeom prst="ellipse">
            <a:avLst/>
          </a:prstGeom>
          <a:solidFill>
            <a:srgbClr val="8AAF8A"/>
          </a:solidFill>
          <a:ln w="12700">
            <a:solidFill>
              <a:srgbClr val="8AAF8A"/>
            </a:solidFill>
            <a:prstDash val="solid"/>
          </a:ln>
        </p:spPr>
      </p:sp>
      <p:sp>
        <p:nvSpPr>
          <p:cNvPr id="7" name="Text 5"/>
          <p:cNvSpPr txBox="1"/>
          <p:nvPr/>
        </p:nvSpPr>
        <p:spPr>
          <a:xfrm>
            <a:off x="640080" y="2423160"/>
            <a:ext cx="411480" cy="41148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8" name="Text 6"/>
          <p:cNvSpPr txBox="1"/>
          <p:nvPr/>
        </p:nvSpPr>
        <p:spPr>
          <a:xfrm>
            <a:off x="1234440" y="2377440"/>
            <a:ext cx="4754880" cy="50292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The V.O.I.C.E. Curriculum</a:t>
            </a:r>
            <a:endParaRPr lang="en-US" sz="1800" dirty="0"/>
          </a:p>
        </p:txBody>
      </p:sp>
      <p:sp>
        <p:nvSpPr>
          <p:cNvPr id="9" name="Shape 7"/>
          <p:cNvSpPr/>
          <p:nvPr/>
        </p:nvSpPr>
        <p:spPr>
          <a:xfrm>
            <a:off x="640080" y="3154680"/>
            <a:ext cx="411480" cy="411480"/>
          </a:xfrm>
          <a:prstGeom prst="ellipse">
            <a:avLst/>
          </a:prstGeom>
          <a:solidFill>
            <a:srgbClr val="8AAF8A"/>
          </a:solidFill>
          <a:ln w="12700">
            <a:solidFill>
              <a:srgbClr val="8AAF8A"/>
            </a:solidFill>
            <a:prstDash val="solid"/>
          </a:ln>
        </p:spPr>
      </p:sp>
      <p:sp>
        <p:nvSpPr>
          <p:cNvPr id="10" name="Text 8"/>
          <p:cNvSpPr txBox="1"/>
          <p:nvPr/>
        </p:nvSpPr>
        <p:spPr>
          <a:xfrm>
            <a:off x="640080" y="3154680"/>
            <a:ext cx="411480" cy="41148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11" name="Text 9"/>
          <p:cNvSpPr txBox="1"/>
          <p:nvPr/>
        </p:nvSpPr>
        <p:spPr>
          <a:xfrm>
            <a:off x="1234440" y="3108960"/>
            <a:ext cx="4754880" cy="50292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Hot Seat Coaching</a:t>
            </a:r>
            <a:endParaRPr lang="en-US" sz="1800" dirty="0"/>
          </a:p>
        </p:txBody>
      </p:sp>
      <p:sp>
        <p:nvSpPr>
          <p:cNvPr id="12" name="Shape 10"/>
          <p:cNvSpPr/>
          <p:nvPr/>
        </p:nvSpPr>
        <p:spPr>
          <a:xfrm>
            <a:off x="640080" y="3886200"/>
            <a:ext cx="411480" cy="411480"/>
          </a:xfrm>
          <a:prstGeom prst="ellipse">
            <a:avLst/>
          </a:prstGeom>
          <a:solidFill>
            <a:srgbClr val="8AAF8A"/>
          </a:solidFill>
          <a:ln w="12700">
            <a:solidFill>
              <a:srgbClr val="8AAF8A"/>
            </a:solidFill>
            <a:prstDash val="solid"/>
          </a:ln>
        </p:spPr>
      </p:sp>
      <p:sp>
        <p:nvSpPr>
          <p:cNvPr id="13" name="Text 11"/>
          <p:cNvSpPr txBox="1"/>
          <p:nvPr/>
        </p:nvSpPr>
        <p:spPr>
          <a:xfrm>
            <a:off x="640080" y="3886200"/>
            <a:ext cx="411480" cy="41148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14" name="Text 12"/>
          <p:cNvSpPr txBox="1"/>
          <p:nvPr/>
        </p:nvSpPr>
        <p:spPr>
          <a:xfrm>
            <a:off x="1234440" y="3840480"/>
            <a:ext cx="4754880" cy="50292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Negotiation Strategy Sessions</a:t>
            </a:r>
            <a:endParaRPr lang="en-US" sz="1800" dirty="0"/>
          </a:p>
        </p:txBody>
      </p:sp>
      <p:sp>
        <p:nvSpPr>
          <p:cNvPr id="15" name="Shape 13"/>
          <p:cNvSpPr/>
          <p:nvPr/>
        </p:nvSpPr>
        <p:spPr>
          <a:xfrm>
            <a:off x="640080" y="4617720"/>
            <a:ext cx="411480" cy="411480"/>
          </a:xfrm>
          <a:prstGeom prst="ellipse">
            <a:avLst/>
          </a:prstGeom>
          <a:solidFill>
            <a:srgbClr val="8AAF8A"/>
          </a:solidFill>
          <a:ln w="12700">
            <a:solidFill>
              <a:srgbClr val="8AAF8A"/>
            </a:solidFill>
            <a:prstDash val="solid"/>
          </a:ln>
        </p:spPr>
      </p:sp>
      <p:sp>
        <p:nvSpPr>
          <p:cNvPr id="16" name="Text 14"/>
          <p:cNvSpPr txBox="1"/>
          <p:nvPr/>
        </p:nvSpPr>
        <p:spPr>
          <a:xfrm>
            <a:off x="640080" y="4617720"/>
            <a:ext cx="411480" cy="41148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17" name="Text 15"/>
          <p:cNvSpPr txBox="1"/>
          <p:nvPr/>
        </p:nvSpPr>
        <p:spPr>
          <a:xfrm>
            <a:off x="1234440" y="4572000"/>
            <a:ext cx="4754880" cy="50292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Live Role Playing</a:t>
            </a:r>
            <a:endParaRPr lang="en-US" sz="1800" dirty="0"/>
          </a:p>
        </p:txBody>
      </p:sp>
      <p:sp>
        <p:nvSpPr>
          <p:cNvPr id="18" name="Shape 16"/>
          <p:cNvSpPr/>
          <p:nvPr/>
        </p:nvSpPr>
        <p:spPr>
          <a:xfrm>
            <a:off x="6217920" y="1691640"/>
            <a:ext cx="411480" cy="411480"/>
          </a:xfrm>
          <a:prstGeom prst="ellipse">
            <a:avLst/>
          </a:prstGeom>
          <a:solidFill>
            <a:srgbClr val="8AAF8A"/>
          </a:solidFill>
          <a:ln w="12700">
            <a:solidFill>
              <a:srgbClr val="8AAF8A"/>
            </a:solidFill>
            <a:prstDash val="solid"/>
          </a:ln>
        </p:spPr>
      </p:sp>
      <p:sp>
        <p:nvSpPr>
          <p:cNvPr id="19" name="Text 17"/>
          <p:cNvSpPr txBox="1"/>
          <p:nvPr/>
        </p:nvSpPr>
        <p:spPr>
          <a:xfrm>
            <a:off x="6217920" y="1691640"/>
            <a:ext cx="411480" cy="41148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20" name="Text 18"/>
          <p:cNvSpPr txBox="1"/>
          <p:nvPr/>
        </p:nvSpPr>
        <p:spPr>
          <a:xfrm>
            <a:off x="6812280" y="1645920"/>
            <a:ext cx="4754880" cy="50292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Executive Communication Coaching</a:t>
            </a:r>
            <a:endParaRPr lang="en-US" sz="1800" dirty="0"/>
          </a:p>
        </p:txBody>
      </p:sp>
      <p:sp>
        <p:nvSpPr>
          <p:cNvPr id="21" name="Shape 19"/>
          <p:cNvSpPr/>
          <p:nvPr/>
        </p:nvSpPr>
        <p:spPr>
          <a:xfrm>
            <a:off x="6217920" y="2423160"/>
            <a:ext cx="411480" cy="411480"/>
          </a:xfrm>
          <a:prstGeom prst="ellipse">
            <a:avLst/>
          </a:prstGeom>
          <a:solidFill>
            <a:srgbClr val="8AAF8A"/>
          </a:solidFill>
          <a:ln w="12700">
            <a:solidFill>
              <a:srgbClr val="8AAF8A"/>
            </a:solidFill>
            <a:prstDash val="solid"/>
          </a:ln>
        </p:spPr>
      </p:sp>
      <p:sp>
        <p:nvSpPr>
          <p:cNvPr id="22" name="Text 20"/>
          <p:cNvSpPr txBox="1"/>
          <p:nvPr/>
        </p:nvSpPr>
        <p:spPr>
          <a:xfrm>
            <a:off x="6217920" y="2423160"/>
            <a:ext cx="411480" cy="41148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23" name="Text 21"/>
          <p:cNvSpPr txBox="1"/>
          <p:nvPr/>
        </p:nvSpPr>
        <p:spPr>
          <a:xfrm>
            <a:off x="6812280" y="2377440"/>
            <a:ext cx="4754880" cy="50292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Career Strategy</a:t>
            </a:r>
            <a:endParaRPr lang="en-US" sz="1800" dirty="0"/>
          </a:p>
        </p:txBody>
      </p:sp>
      <p:sp>
        <p:nvSpPr>
          <p:cNvPr id="24" name="Shape 22"/>
          <p:cNvSpPr/>
          <p:nvPr/>
        </p:nvSpPr>
        <p:spPr>
          <a:xfrm>
            <a:off x="6217920" y="3154680"/>
            <a:ext cx="411480" cy="411480"/>
          </a:xfrm>
          <a:prstGeom prst="ellipse">
            <a:avLst/>
          </a:prstGeom>
          <a:solidFill>
            <a:srgbClr val="8AAF8A"/>
          </a:solidFill>
          <a:ln w="12700">
            <a:solidFill>
              <a:srgbClr val="8AAF8A"/>
            </a:solidFill>
            <a:prstDash val="solid"/>
          </a:ln>
        </p:spPr>
      </p:sp>
      <p:sp>
        <p:nvSpPr>
          <p:cNvPr id="25" name="Text 23"/>
          <p:cNvSpPr txBox="1"/>
          <p:nvPr/>
        </p:nvSpPr>
        <p:spPr>
          <a:xfrm>
            <a:off x="6217920" y="3154680"/>
            <a:ext cx="411480" cy="41148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26" name="Text 24"/>
          <p:cNvSpPr txBox="1"/>
          <p:nvPr/>
        </p:nvSpPr>
        <p:spPr>
          <a:xfrm>
            <a:off x="6812280" y="3108960"/>
            <a:ext cx="4754880" cy="50292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Private Community</a:t>
            </a:r>
            <a:endParaRPr lang="en-US" sz="1800" dirty="0"/>
          </a:p>
        </p:txBody>
      </p:sp>
      <p:sp>
        <p:nvSpPr>
          <p:cNvPr id="27" name="Shape 25"/>
          <p:cNvSpPr/>
          <p:nvPr/>
        </p:nvSpPr>
        <p:spPr>
          <a:xfrm>
            <a:off x="6217920" y="3886200"/>
            <a:ext cx="411480" cy="411480"/>
          </a:xfrm>
          <a:prstGeom prst="ellipse">
            <a:avLst/>
          </a:prstGeom>
          <a:solidFill>
            <a:srgbClr val="8AAF8A"/>
          </a:solidFill>
          <a:ln w="12700">
            <a:solidFill>
              <a:srgbClr val="8AAF8A"/>
            </a:solidFill>
            <a:prstDash val="solid"/>
          </a:ln>
        </p:spPr>
      </p:sp>
      <p:sp>
        <p:nvSpPr>
          <p:cNvPr id="28" name="Text 26"/>
          <p:cNvSpPr txBox="1"/>
          <p:nvPr/>
        </p:nvSpPr>
        <p:spPr>
          <a:xfrm>
            <a:off x="6217920" y="3886200"/>
            <a:ext cx="411480" cy="41148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29" name="Text 27"/>
          <p:cNvSpPr txBox="1"/>
          <p:nvPr/>
        </p:nvSpPr>
        <p:spPr>
          <a:xfrm>
            <a:off x="6812280" y="3840480"/>
            <a:ext cx="4754880" cy="502920"/>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F2B8A8"/>
                </a:solidFill>
                <a:latin typeface="DM Sans" pitchFamily="34" charset="0"/>
                <a:ea typeface="DM Sans" pitchFamily="34" charset="-122"/>
                <a:cs typeface="DM Sans" pitchFamily="34" charset="-120"/>
              </a:rPr>
              <a:t>[PLACEHOLDER: Bonus]</a:t>
            </a:r>
            <a:endParaRPr lang="en-US" sz="1600" dirty="0"/>
          </a:p>
        </p:txBody>
      </p:sp>
      <p:sp>
        <p:nvSpPr>
          <p:cNvPr id="30" name="Shape 28"/>
          <p:cNvSpPr/>
          <p:nvPr/>
        </p:nvSpPr>
        <p:spPr>
          <a:xfrm>
            <a:off x="640080" y="5486400"/>
            <a:ext cx="5486400" cy="731520"/>
          </a:xfrm>
          <a:prstGeom prst="roundRect">
            <a:avLst>
              <a:gd name="adj" fmla="val 15000"/>
            </a:avLst>
          </a:prstGeom>
          <a:solidFill>
            <a:srgbClr val="E1F5EE"/>
          </a:solidFill>
          <a:ln w="12700">
            <a:solidFill>
              <a:srgbClr val="E1F5EE"/>
            </a:solidFill>
            <a:prstDash val="solid"/>
          </a:ln>
        </p:spPr>
      </p:sp>
      <p:sp>
        <p:nvSpPr>
          <p:cNvPr id="31" name="Text 29"/>
          <p:cNvSpPr txBox="1"/>
          <p:nvPr/>
        </p:nvSpPr>
        <p:spPr>
          <a:xfrm>
            <a:off x="914400" y="5486400"/>
            <a:ext cx="5120640" cy="731520"/>
          </a:xfrm>
          <a:prstGeom prst="rect">
            <a:avLst/>
          </a:prstGeom>
          <a:noFill/>
          <a:ln/>
        </p:spPr>
        <p:txBody>
          <a:bodyPr wrap="square" lIns="0" tIns="0" rIns="0" bIns="0" rtlCol="0" anchor="ctr">
            <a:normAutofit/>
          </a:bodyPr>
          <a:lstStyle/>
          <a:p>
            <a:pPr algn="l" indent="0" marL="0">
              <a:lnSpc>
                <a:spcPct val="100000"/>
              </a:lnSpc>
              <a:buNone/>
            </a:pPr>
            <a:r>
              <a:rPr lang="en-US" sz="2400" b="1" dirty="0">
                <a:solidFill>
                  <a:srgbClr val="1E4A4A"/>
                </a:solidFill>
                <a:latin typeface="Cormorant Garamond" pitchFamily="34" charset="0"/>
                <a:ea typeface="Cormorant Garamond" pitchFamily="34" charset="-122"/>
                <a:cs typeface="Cormorant Garamond" pitchFamily="34" charset="-120"/>
              </a:rPr>
              <a:t>Total value: </a:t>
            </a:r>
            <a:pPr algn="l" indent="0" marL="0">
              <a:lnSpc>
                <a:spcPct val="100000"/>
              </a:lnSpc>
              <a:buNone/>
            </a:pPr>
            <a:r>
              <a:rPr lang="en-US" sz="1600" b="1" dirty="0">
                <a:solidFill>
                  <a:srgbClr val="B85042"/>
                </a:solidFill>
                <a:latin typeface="DM Sans" pitchFamily="34" charset="0"/>
                <a:ea typeface="DM Sans" pitchFamily="34" charset="-122"/>
                <a:cs typeface="DM Sans" pitchFamily="34" charset="-120"/>
              </a:rPr>
              <a:t>[PLACEHOLDER]</a:t>
            </a:r>
            <a:endParaRPr lang="en-US" sz="2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Your investment</a:t>
            </a:r>
            <a:endParaRPr lang="en-US" sz="30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B85042"/>
                </a:solidFill>
                <a:latin typeface="DM Sans" pitchFamily="34" charset="0"/>
                <a:ea typeface="DM Sans" pitchFamily="34" charset="-122"/>
                <a:cs typeface="DM Sans" pitchFamily="34" charset="-120"/>
              </a:rPr>
              <a:t>[PLACEHOLDER: price]</a:t>
            </a:r>
            <a:endParaRPr lang="en-US" sz="16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One successful negotiation can return many times this investment. And you keep the skills for the rest of your career.</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Calm shot of a woman at her desk reviewing a new offer letter, a small smile.</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 candid, serious expression, speaking directly to camera.</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4000" b="1" dirty="0">
                <a:solidFill>
                  <a:srgbClr val="1B2B2B"/>
                </a:solidFill>
                <a:latin typeface="Cormorant Garamond" pitchFamily="34" charset="0"/>
                <a:ea typeface="Cormorant Garamond" pitchFamily="34" charset="-122"/>
                <a:cs typeface="Cormorant Garamond" pitchFamily="34" charset="-120"/>
              </a:rPr>
              <a:t>What I </a:t>
            </a:r>
            <a:pPr algn="l" indent="0" marL="0">
              <a:lnSpc>
                <a:spcPct val="95000"/>
              </a:lnSpc>
              <a:buNone/>
            </a:pPr>
            <a:r>
              <a:rPr lang="en-US" sz="4000" b="1" dirty="0">
                <a:solidFill>
                  <a:srgbClr val="1B2B2B"/>
                </a:solidFill>
                <a:highlight>
                  <a:srgbClr val="CFE3CF"/>
                </a:highlight>
                <a:latin typeface="Cormorant Garamond" pitchFamily="34" charset="0"/>
                <a:ea typeface="Cormorant Garamond" pitchFamily="34" charset="-122"/>
                <a:cs typeface="Cormorant Garamond" pitchFamily="34" charset="-120"/>
              </a:rPr>
              <a:t>can't</a:t>
            </a:r>
            <a:pPr algn="l" indent="0" marL="0">
              <a:lnSpc>
                <a:spcPct val="95000"/>
              </a:lnSpc>
              <a:buNone/>
            </a:pPr>
            <a:r>
              <a:rPr lang="en-US" sz="4000" b="1" dirty="0">
                <a:solidFill>
                  <a:srgbClr val="1B2B2B"/>
                </a:solidFill>
                <a:latin typeface="Cormorant Garamond" pitchFamily="34" charset="0"/>
                <a:ea typeface="Cormorant Garamond" pitchFamily="34" charset="-122"/>
                <a:cs typeface="Cormorant Garamond" pitchFamily="34" charset="-120"/>
              </a:rPr>
              <a:t> promise you</a:t>
            </a:r>
            <a:endParaRPr lang="en-US" sz="40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I can't guarantee how another person or organization will respond. Anyone who tells you otherwise is selling you something.</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1097280" y="1097280"/>
            <a:ext cx="9997135" cy="2926080"/>
          </a:xfrm>
          <a:prstGeom prst="rect">
            <a:avLst/>
          </a:prstGeom>
          <a:noFill/>
          <a:ln/>
        </p:spPr>
        <p:txBody>
          <a:bodyPr wrap="square" lIns="0" tIns="0" rIns="0" bIns="0" rtlCol="0" anchor="b">
            <a:normAutofit/>
          </a:bodyPr>
          <a:lstStyle/>
          <a:p>
            <a:pPr algn="ctr" indent="0" marL="0">
              <a:lnSpc>
                <a:spcPct val="95000"/>
              </a:lnSpc>
              <a:buNone/>
            </a:pPr>
            <a:r>
              <a:rPr lang="en-US" sz="4800" b="1" dirty="0">
                <a:solidFill>
                  <a:srgbClr val="FFFFFF"/>
                </a:solidFill>
                <a:latin typeface="Cormorant Garamond" pitchFamily="34" charset="0"/>
                <a:ea typeface="Cormorant Garamond" pitchFamily="34" charset="-122"/>
                <a:cs typeface="Cormorant Garamond" pitchFamily="34" charset="-120"/>
              </a:rPr>
              <a:t>What I </a:t>
            </a:r>
            <a:pPr algn="ctr" indent="0" marL="0">
              <a:lnSpc>
                <a:spcPct val="95000"/>
              </a:lnSpc>
              <a:buNone/>
            </a:pPr>
            <a:r>
              <a:rPr lang="en-US" sz="4800" b="1" dirty="0">
                <a:solidFill>
                  <a:srgbClr val="B7D3B7"/>
                </a:solidFill>
                <a:latin typeface="Cormorant Garamond" pitchFamily="34" charset="0"/>
                <a:ea typeface="Cormorant Garamond" pitchFamily="34" charset="-122"/>
                <a:cs typeface="Cormorant Garamond" pitchFamily="34" charset="-120"/>
              </a:rPr>
              <a:t>can</a:t>
            </a:r>
            <a:pPr algn="ctr" indent="0" marL="0">
              <a:lnSpc>
                <a:spcPct val="95000"/>
              </a:lnSpc>
              <a:buNone/>
            </a:pPr>
            <a:r>
              <a:rPr lang="en-US" sz="4800" b="1" dirty="0">
                <a:solidFill>
                  <a:srgbClr val="FFFFFF"/>
                </a:solidFill>
                <a:latin typeface="Cormorant Garamond" pitchFamily="34" charset="0"/>
                <a:ea typeface="Cormorant Garamond" pitchFamily="34" charset="-122"/>
                <a:cs typeface="Cormorant Garamond" pitchFamily="34" charset="-120"/>
              </a:rPr>
              <a:t> promise you</a:t>
            </a:r>
            <a:endParaRPr lang="en-US" sz="4800" dirty="0"/>
          </a:p>
        </p:txBody>
      </p:sp>
      <p:sp>
        <p:nvSpPr>
          <p:cNvPr id="3" name="Text 1"/>
          <p:cNvSpPr txBox="1"/>
          <p:nvPr/>
        </p:nvSpPr>
        <p:spPr>
          <a:xfrm>
            <a:off x="1645920" y="4297680"/>
            <a:ext cx="8899855" cy="146304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You will leave this experience thinking differently, communicating differently and showing up differently than when you arrived.</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 with an arm around a client's shoulder after a session, both smiling.</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4000" b="1" dirty="0">
                <a:solidFill>
                  <a:srgbClr val="1B2B2B"/>
                </a:solidFill>
                <a:latin typeface="Cormorant Garamond" pitchFamily="34" charset="0"/>
                <a:ea typeface="Cormorant Garamond" pitchFamily="34" charset="-122"/>
                <a:cs typeface="Cormorant Garamond" pitchFamily="34" charset="-120"/>
              </a:rPr>
              <a:t>My </a:t>
            </a:r>
            <a:pPr algn="l" indent="0" marL="0">
              <a:lnSpc>
                <a:spcPct val="95000"/>
              </a:lnSpc>
              <a:buNone/>
            </a:pPr>
            <a:r>
              <a:rPr lang="en-US" sz="4000" b="1" dirty="0">
                <a:solidFill>
                  <a:srgbClr val="1B2B2B"/>
                </a:solidFill>
                <a:highlight>
                  <a:srgbClr val="CFE3CF"/>
                </a:highlight>
                <a:latin typeface="Cormorant Garamond" pitchFamily="34" charset="0"/>
                <a:ea typeface="Cormorant Garamond" pitchFamily="34" charset="-122"/>
                <a:cs typeface="Cormorant Garamond" pitchFamily="34" charset="-120"/>
              </a:rPr>
              <a:t>commitment</a:t>
            </a:r>
            <a:pPr algn="l" indent="0" marL="0">
              <a:lnSpc>
                <a:spcPct val="95000"/>
              </a:lnSpc>
              <a:buNone/>
            </a:pPr>
            <a:r>
              <a:rPr lang="en-US" sz="4000" b="1" dirty="0">
                <a:solidFill>
                  <a:srgbClr val="1B2B2B"/>
                </a:solidFill>
                <a:latin typeface="Cormorant Garamond" pitchFamily="34" charset="0"/>
                <a:ea typeface="Cormorant Garamond" pitchFamily="34" charset="-122"/>
                <a:cs typeface="Cormorant Garamond" pitchFamily="34" charset="-120"/>
              </a:rPr>
              <a:t> to you</a:t>
            </a:r>
            <a:endParaRPr lang="en-US" sz="40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If you show up, do the work, participate in the coaching and fully engage, I'll be there every step of the way to challenge you and support you. Transformation is something we create together.</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2600" b="1" dirty="0">
                <a:solidFill>
                  <a:srgbClr val="1B2B2B"/>
                </a:solidFill>
                <a:latin typeface="Cormorant Garamond" pitchFamily="34" charset="0"/>
                <a:ea typeface="Cormorant Garamond" pitchFamily="34" charset="-122"/>
                <a:cs typeface="Cormorant Garamond" pitchFamily="34" charset="-120"/>
              </a:rPr>
              <a:t>The cohort is </a:t>
            </a:r>
            <a:pPr algn="l" indent="0" marL="0">
              <a:lnSpc>
                <a:spcPct val="95000"/>
              </a:lnSpc>
              <a:buNone/>
            </a:pPr>
            <a:r>
              <a:rPr lang="en-US" sz="2600" b="1" dirty="0">
                <a:solidFill>
                  <a:srgbClr val="1B2B2B"/>
                </a:solidFill>
                <a:highlight>
                  <a:srgbClr val="CFE3CF"/>
                </a:highlight>
                <a:latin typeface="Cormorant Garamond" pitchFamily="34" charset="0"/>
                <a:ea typeface="Cormorant Garamond" pitchFamily="34" charset="-122"/>
                <a:cs typeface="Cormorant Garamond" pitchFamily="34" charset="-120"/>
              </a:rPr>
              <a:t>intentionally small</a:t>
            </a:r>
            <a:endParaRPr lang="en-US" sz="26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B85042"/>
                </a:solidFill>
                <a:latin typeface="DM Sans" pitchFamily="34" charset="0"/>
                <a:ea typeface="DM Sans" pitchFamily="34" charset="-122"/>
                <a:cs typeface="DM Sans" pitchFamily="34" charset="-120"/>
              </a:rPr>
              <a:t>[PLACEHOLDER: # seats]</a:t>
            </a:r>
            <a:endParaRPr lang="en-US" sz="16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So I can personally coach every woman in the room. Once the seats are filled, enrollment closes.</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Intimate small group of women around a table, clearly only a handful of seats.</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The next cohort begins</a:t>
            </a:r>
            <a:endParaRPr lang="en-US" sz="30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B85042"/>
                </a:solidFill>
                <a:latin typeface="DM Sans" pitchFamily="34" charset="0"/>
                <a:ea typeface="DM Sans" pitchFamily="34" charset="-122"/>
                <a:cs typeface="DM Sans" pitchFamily="34" charset="-120"/>
              </a:rPr>
              <a:t>[PLACEHOLDER: start date]</a:t>
            </a:r>
            <a:endParaRPr lang="en-US" sz="16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Applications are reviewed in the order they come in.</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Desk calendar with a date circled in pen, a coffee cup beside it.</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looking at her watch in a busy office corridor, people passing in a blur.</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And every month you wait, the pattern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gets more expensive.</a:t>
            </a:r>
            <a:endParaRPr lang="en-US" sz="34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600" b="1" dirty="0">
                <a:solidFill>
                  <a:srgbClr val="B85042"/>
                </a:solidFill>
                <a:latin typeface="DM Sans" pitchFamily="34" charset="0"/>
                <a:ea typeface="DM Sans" pitchFamily="34" charset="-122"/>
                <a:cs typeface="DM Sans" pitchFamily="34" charset="-120"/>
              </a:rPr>
              <a:t>[PLACEHOLDER: current cohort price and note that future cohorts will be priced higher, if still true]</a:t>
            </a:r>
            <a:endParaRPr lang="en-US" sz="1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at a laptop, chin in hand, thinking hard, a half-finished application on screen.</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Let's talk about what's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going through your head right now.</a:t>
            </a:r>
            <a:endParaRPr lang="en-US" sz="3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38912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374904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374904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Montage: hospital corridor, law office, tech startup, trading floor.</a:t>
            </a:r>
            <a:endParaRPr lang="en-US" sz="1200" dirty="0"/>
          </a:p>
        </p:txBody>
      </p:sp>
      <p:sp>
        <p:nvSpPr>
          <p:cNvPr id="5" name="Text 3"/>
          <p:cNvSpPr txBox="1"/>
          <p:nvPr/>
        </p:nvSpPr>
        <p:spPr>
          <a:xfrm>
            <a:off x="4937760" y="73152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WHAT YOU MIGHT BE THINKING</a:t>
            </a:r>
            <a:endParaRPr lang="en-US" sz="1200" dirty="0"/>
          </a:p>
        </p:txBody>
      </p:sp>
      <p:sp>
        <p:nvSpPr>
          <p:cNvPr id="6" name="Text 4"/>
          <p:cNvSpPr txBox="1"/>
          <p:nvPr/>
        </p:nvSpPr>
        <p:spPr>
          <a:xfrm>
            <a:off x="4937760" y="1097280"/>
            <a:ext cx="6675120" cy="2194560"/>
          </a:xfrm>
          <a:prstGeom prst="rect">
            <a:avLst/>
          </a:prstGeom>
          <a:noFill/>
          <a:ln/>
        </p:spPr>
        <p:txBody>
          <a:bodyPr wrap="square" lIns="0" tIns="0" rIns="0" bIns="0" rtlCol="0" anchor="b">
            <a:normAutofit/>
          </a:bodyPr>
          <a:lstStyle/>
          <a:p>
            <a:pPr algn="l" indent="0" marL="0">
              <a:lnSpc>
                <a:spcPct val="95000"/>
              </a:lnSpc>
              <a:buNone/>
            </a:pPr>
            <a:r>
              <a:rPr lang="en-US" sz="3800" b="1" i="1" dirty="0">
                <a:solidFill>
                  <a:srgbClr val="1B2B2B"/>
                </a:solidFill>
                <a:latin typeface="Cormorant Garamond" pitchFamily="34" charset="0"/>
                <a:ea typeface="Cormorant Garamond" pitchFamily="34" charset="-122"/>
                <a:cs typeface="Cormorant Garamond" pitchFamily="34" charset="-120"/>
              </a:rPr>
              <a:t>"My industry is different."</a:t>
            </a:r>
            <a:endParaRPr lang="en-US" sz="3800" dirty="0"/>
          </a:p>
        </p:txBody>
      </p:sp>
      <p:sp>
        <p:nvSpPr>
          <p:cNvPr id="7" name="Shape 5"/>
          <p:cNvSpPr/>
          <p:nvPr/>
        </p:nvSpPr>
        <p:spPr>
          <a:xfrm>
            <a:off x="4937760" y="3566160"/>
            <a:ext cx="6629400" cy="2560320"/>
          </a:xfrm>
          <a:prstGeom prst="roundRect">
            <a:avLst>
              <a:gd name="adj" fmla="val 4286"/>
            </a:avLst>
          </a:prstGeom>
          <a:solidFill>
            <a:srgbClr val="E1F5EE"/>
          </a:solidFill>
          <a:ln w="12700">
            <a:solidFill>
              <a:srgbClr val="E1F5EE"/>
            </a:solidFill>
            <a:prstDash val="solid"/>
          </a:ln>
        </p:spPr>
      </p:sp>
      <p:sp>
        <p:nvSpPr>
          <p:cNvPr id="8" name="Text 6"/>
          <p:cNvSpPr txBox="1"/>
          <p:nvPr/>
        </p:nvSpPr>
        <p:spPr>
          <a:xfrm>
            <a:off x="5257800" y="3840480"/>
            <a:ext cx="6035040" cy="2103120"/>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1B2B2B"/>
                </a:solidFill>
                <a:latin typeface="DM Sans" pitchFamily="34" charset="0"/>
                <a:ea typeface="DM Sans" pitchFamily="34" charset="-122"/>
                <a:cs typeface="DM Sans" pitchFamily="34" charset="-120"/>
              </a:rPr>
              <a:t>Your industry sets what you're worth and how pay is structured. Knowing your value, communicating it and advocating for yourself works in every industry.</a:t>
            </a:r>
            <a:endParaRPr lang="en-US" sz="18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38912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374904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374904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and her manager in a relaxed one-on-one, coffee cups on the table.</a:t>
            </a:r>
            <a:endParaRPr lang="en-US" sz="1200" dirty="0"/>
          </a:p>
        </p:txBody>
      </p:sp>
      <p:sp>
        <p:nvSpPr>
          <p:cNvPr id="5" name="Text 3"/>
          <p:cNvSpPr txBox="1"/>
          <p:nvPr/>
        </p:nvSpPr>
        <p:spPr>
          <a:xfrm>
            <a:off x="4937760" y="73152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WHAT YOU MIGHT BE THINKING</a:t>
            </a:r>
            <a:endParaRPr lang="en-US" sz="1200" dirty="0"/>
          </a:p>
        </p:txBody>
      </p:sp>
      <p:sp>
        <p:nvSpPr>
          <p:cNvPr id="6" name="Text 4"/>
          <p:cNvSpPr txBox="1"/>
          <p:nvPr/>
        </p:nvSpPr>
        <p:spPr>
          <a:xfrm>
            <a:off x="4937760" y="1097280"/>
            <a:ext cx="6675120" cy="2194560"/>
          </a:xfrm>
          <a:prstGeom prst="rect">
            <a:avLst/>
          </a:prstGeom>
          <a:noFill/>
          <a:ln/>
        </p:spPr>
        <p:txBody>
          <a:bodyPr wrap="square" lIns="0" tIns="0" rIns="0" bIns="0" rtlCol="0" anchor="b">
            <a:normAutofit/>
          </a:bodyPr>
          <a:lstStyle/>
          <a:p>
            <a:pPr algn="l" indent="0" marL="0">
              <a:lnSpc>
                <a:spcPct val="95000"/>
              </a:lnSpc>
              <a:buNone/>
            </a:pPr>
            <a:r>
              <a:rPr lang="en-US" sz="3300" b="1" i="1" dirty="0">
                <a:solidFill>
                  <a:srgbClr val="1B2B2B"/>
                </a:solidFill>
                <a:latin typeface="Cormorant Garamond" pitchFamily="34" charset="0"/>
                <a:ea typeface="Cormorant Garamond" pitchFamily="34" charset="-122"/>
                <a:cs typeface="Cormorant Garamond" pitchFamily="34" charset="-120"/>
              </a:rPr>
              <a:t>"I'm not good at negotiating, and I hate asking for favors."</a:t>
            </a:r>
            <a:endParaRPr lang="en-US" sz="3300" dirty="0"/>
          </a:p>
        </p:txBody>
      </p:sp>
      <p:sp>
        <p:nvSpPr>
          <p:cNvPr id="7" name="Shape 5"/>
          <p:cNvSpPr/>
          <p:nvPr/>
        </p:nvSpPr>
        <p:spPr>
          <a:xfrm>
            <a:off x="4937760" y="3566160"/>
            <a:ext cx="6629400" cy="2560320"/>
          </a:xfrm>
          <a:prstGeom prst="roundRect">
            <a:avLst>
              <a:gd name="adj" fmla="val 4286"/>
            </a:avLst>
          </a:prstGeom>
          <a:solidFill>
            <a:srgbClr val="E1F5EE"/>
          </a:solidFill>
          <a:ln w="12700">
            <a:solidFill>
              <a:srgbClr val="E1F5EE"/>
            </a:solidFill>
            <a:prstDash val="solid"/>
          </a:ln>
        </p:spPr>
      </p:sp>
      <p:sp>
        <p:nvSpPr>
          <p:cNvPr id="8" name="Text 6"/>
          <p:cNvSpPr txBox="1"/>
          <p:nvPr/>
        </p:nvSpPr>
        <p:spPr>
          <a:xfrm>
            <a:off x="5257800" y="3840480"/>
            <a:ext cx="6035040" cy="2103120"/>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1B2B2B"/>
                </a:solidFill>
                <a:latin typeface="DM Sans" pitchFamily="34" charset="0"/>
                <a:ea typeface="DM Sans" pitchFamily="34" charset="-122"/>
                <a:cs typeface="DM Sans" pitchFamily="34" charset="-120"/>
              </a:rPr>
              <a:t>Negotiating is a business conversation about the value you create. Keeping talented people matters to your company too, because replacing them is expensive.</a:t>
            </a:r>
            <a:endParaRPr lang="en-US" sz="18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38912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374904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374904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looking at an overloaded calendar on her phone, eyebrows raised.</a:t>
            </a:r>
            <a:endParaRPr lang="en-US" sz="1200" dirty="0"/>
          </a:p>
        </p:txBody>
      </p:sp>
      <p:sp>
        <p:nvSpPr>
          <p:cNvPr id="5" name="Text 3"/>
          <p:cNvSpPr txBox="1"/>
          <p:nvPr/>
        </p:nvSpPr>
        <p:spPr>
          <a:xfrm>
            <a:off x="4937760" y="73152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WHAT YOU MIGHT BE THINKING</a:t>
            </a:r>
            <a:endParaRPr lang="en-US" sz="1200" dirty="0"/>
          </a:p>
        </p:txBody>
      </p:sp>
      <p:sp>
        <p:nvSpPr>
          <p:cNvPr id="6" name="Text 4"/>
          <p:cNvSpPr txBox="1"/>
          <p:nvPr/>
        </p:nvSpPr>
        <p:spPr>
          <a:xfrm>
            <a:off x="4937760" y="1097280"/>
            <a:ext cx="6675120" cy="2194560"/>
          </a:xfrm>
          <a:prstGeom prst="rect">
            <a:avLst/>
          </a:prstGeom>
          <a:noFill/>
          <a:ln/>
        </p:spPr>
        <p:txBody>
          <a:bodyPr wrap="square" lIns="0" tIns="0" rIns="0" bIns="0" rtlCol="0" anchor="b">
            <a:normAutofit/>
          </a:bodyPr>
          <a:lstStyle/>
          <a:p>
            <a:pPr algn="l" indent="0" marL="0">
              <a:lnSpc>
                <a:spcPct val="95000"/>
              </a:lnSpc>
              <a:buNone/>
            </a:pPr>
            <a:r>
              <a:rPr lang="en-US" sz="3800" b="1" i="1" dirty="0">
                <a:solidFill>
                  <a:srgbClr val="1B2B2B"/>
                </a:solidFill>
                <a:latin typeface="Cormorant Garamond" pitchFamily="34" charset="0"/>
                <a:ea typeface="Cormorant Garamond" pitchFamily="34" charset="-122"/>
                <a:cs typeface="Cormorant Garamond" pitchFamily="34" charset="-120"/>
              </a:rPr>
              <a:t>"I don't have time."</a:t>
            </a:r>
            <a:endParaRPr lang="en-US" sz="3800" dirty="0"/>
          </a:p>
        </p:txBody>
      </p:sp>
      <p:sp>
        <p:nvSpPr>
          <p:cNvPr id="7" name="Shape 5"/>
          <p:cNvSpPr/>
          <p:nvPr/>
        </p:nvSpPr>
        <p:spPr>
          <a:xfrm>
            <a:off x="4937760" y="3566160"/>
            <a:ext cx="6629400" cy="2560320"/>
          </a:xfrm>
          <a:prstGeom prst="roundRect">
            <a:avLst>
              <a:gd name="adj" fmla="val 4286"/>
            </a:avLst>
          </a:prstGeom>
          <a:solidFill>
            <a:srgbClr val="E1F5EE"/>
          </a:solidFill>
          <a:ln w="12700">
            <a:solidFill>
              <a:srgbClr val="E1F5EE"/>
            </a:solidFill>
            <a:prstDash val="solid"/>
          </a:ln>
        </p:spPr>
      </p:sp>
      <p:sp>
        <p:nvSpPr>
          <p:cNvPr id="8" name="Text 6"/>
          <p:cNvSpPr txBox="1"/>
          <p:nvPr/>
        </p:nvSpPr>
        <p:spPr>
          <a:xfrm>
            <a:off x="5257800" y="3840480"/>
            <a:ext cx="6035040" cy="2103120"/>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1B2B2B"/>
                </a:solidFill>
                <a:latin typeface="DM Sans" pitchFamily="34" charset="0"/>
                <a:ea typeface="DM Sans" pitchFamily="34" charset="-122"/>
                <a:cs typeface="DM Sans" pitchFamily="34" charset="-120"/>
              </a:rPr>
              <a:t>You're already stretched. But staying where you are costs far more than the time it takes to change. One courageous conversation can change the trajectory of a career.</a:t>
            </a:r>
            <a:endParaRPr lang="en-US" sz="18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38912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374904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374904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Two colleagues shaking hands at the end of a meeting, both relaxed.</a:t>
            </a:r>
            <a:endParaRPr lang="en-US" sz="1200" dirty="0"/>
          </a:p>
        </p:txBody>
      </p:sp>
      <p:sp>
        <p:nvSpPr>
          <p:cNvPr id="5" name="Text 3"/>
          <p:cNvSpPr txBox="1"/>
          <p:nvPr/>
        </p:nvSpPr>
        <p:spPr>
          <a:xfrm>
            <a:off x="4937760" y="73152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WHAT YOU MIGHT BE THINKING</a:t>
            </a:r>
            <a:endParaRPr lang="en-US" sz="1200" dirty="0"/>
          </a:p>
        </p:txBody>
      </p:sp>
      <p:sp>
        <p:nvSpPr>
          <p:cNvPr id="6" name="Text 4"/>
          <p:cNvSpPr txBox="1"/>
          <p:nvPr/>
        </p:nvSpPr>
        <p:spPr>
          <a:xfrm>
            <a:off x="4937760" y="1097280"/>
            <a:ext cx="6675120" cy="2194560"/>
          </a:xfrm>
          <a:prstGeom prst="rect">
            <a:avLst/>
          </a:prstGeom>
          <a:noFill/>
          <a:ln/>
        </p:spPr>
        <p:txBody>
          <a:bodyPr wrap="square" lIns="0" tIns="0" rIns="0" bIns="0" rtlCol="0" anchor="b">
            <a:normAutofit/>
          </a:bodyPr>
          <a:lstStyle/>
          <a:p>
            <a:pPr algn="l" indent="0" marL="0">
              <a:lnSpc>
                <a:spcPct val="95000"/>
              </a:lnSpc>
              <a:buNone/>
            </a:pPr>
            <a:r>
              <a:rPr lang="en-US" sz="2800" b="1" i="1" dirty="0">
                <a:solidFill>
                  <a:srgbClr val="1B2B2B"/>
                </a:solidFill>
                <a:latin typeface="Cormorant Garamond" pitchFamily="34" charset="0"/>
                <a:ea typeface="Cormorant Garamond" pitchFamily="34" charset="-122"/>
                <a:cs typeface="Cormorant Garamond" pitchFamily="34" charset="-120"/>
              </a:rPr>
              <a:t>"What if they say no? I don't want to damage the relationship with my boss."</a:t>
            </a:r>
            <a:endParaRPr lang="en-US" sz="2800" dirty="0"/>
          </a:p>
        </p:txBody>
      </p:sp>
      <p:sp>
        <p:nvSpPr>
          <p:cNvPr id="7" name="Shape 5"/>
          <p:cNvSpPr/>
          <p:nvPr/>
        </p:nvSpPr>
        <p:spPr>
          <a:xfrm>
            <a:off x="4937760" y="3566160"/>
            <a:ext cx="6629400" cy="2560320"/>
          </a:xfrm>
          <a:prstGeom prst="roundRect">
            <a:avLst>
              <a:gd name="adj" fmla="val 4286"/>
            </a:avLst>
          </a:prstGeom>
          <a:solidFill>
            <a:srgbClr val="E1F5EE"/>
          </a:solidFill>
          <a:ln w="12700">
            <a:solidFill>
              <a:srgbClr val="E1F5EE"/>
            </a:solidFill>
            <a:prstDash val="solid"/>
          </a:ln>
        </p:spPr>
      </p:sp>
      <p:sp>
        <p:nvSpPr>
          <p:cNvPr id="8" name="Text 6"/>
          <p:cNvSpPr txBox="1"/>
          <p:nvPr/>
        </p:nvSpPr>
        <p:spPr>
          <a:xfrm>
            <a:off x="5257800" y="3840480"/>
            <a:ext cx="6035040" cy="2103120"/>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1B2B2B"/>
                </a:solidFill>
                <a:latin typeface="DM Sans" pitchFamily="34" charset="0"/>
                <a:ea typeface="DM Sans" pitchFamily="34" charset="-122"/>
                <a:cs typeface="DM Sans" pitchFamily="34" charset="-120"/>
              </a:rPr>
              <a:t>A well-prepared, professional conversation shouldn't damage a healthy relationship. And a no is information about what's possible, what needs to happen next, and whether this is still the right place for you.</a:t>
            </a:r>
            <a:endParaRPr lang="en-US" sz="18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38912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374904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374904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Close-up of a woman reviewing a pay stub with a noticeably higher number, pen resting on it.</a:t>
            </a:r>
            <a:endParaRPr lang="en-US" sz="1200" dirty="0"/>
          </a:p>
        </p:txBody>
      </p:sp>
      <p:sp>
        <p:nvSpPr>
          <p:cNvPr id="5" name="Text 3"/>
          <p:cNvSpPr txBox="1"/>
          <p:nvPr/>
        </p:nvSpPr>
        <p:spPr>
          <a:xfrm>
            <a:off x="4937760" y="73152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WHAT YOU MIGHT BE THINKING</a:t>
            </a:r>
            <a:endParaRPr lang="en-US" sz="1200" dirty="0"/>
          </a:p>
        </p:txBody>
      </p:sp>
      <p:sp>
        <p:nvSpPr>
          <p:cNvPr id="6" name="Text 4"/>
          <p:cNvSpPr txBox="1"/>
          <p:nvPr/>
        </p:nvSpPr>
        <p:spPr>
          <a:xfrm>
            <a:off x="4937760" y="1097280"/>
            <a:ext cx="6675120" cy="2194560"/>
          </a:xfrm>
          <a:prstGeom prst="rect">
            <a:avLst/>
          </a:prstGeom>
          <a:noFill/>
          <a:ln/>
        </p:spPr>
        <p:txBody>
          <a:bodyPr wrap="square" lIns="0" tIns="0" rIns="0" bIns="0" rtlCol="0" anchor="b">
            <a:normAutofit/>
          </a:bodyPr>
          <a:lstStyle/>
          <a:p>
            <a:pPr algn="l" indent="0" marL="0">
              <a:lnSpc>
                <a:spcPct val="95000"/>
              </a:lnSpc>
              <a:buNone/>
            </a:pPr>
            <a:r>
              <a:rPr lang="en-US" sz="3300" b="1" i="1" dirty="0">
                <a:solidFill>
                  <a:srgbClr val="1B2B2B"/>
                </a:solidFill>
                <a:latin typeface="Cormorant Garamond" pitchFamily="34" charset="0"/>
                <a:ea typeface="Cormorant Garamond" pitchFamily="34" charset="-122"/>
                <a:cs typeface="Cormorant Garamond" pitchFamily="34" charset="-120"/>
              </a:rPr>
              <a:t>"Is it really worth the investment?"</a:t>
            </a:r>
            <a:endParaRPr lang="en-US" sz="3300" dirty="0"/>
          </a:p>
        </p:txBody>
      </p:sp>
      <p:sp>
        <p:nvSpPr>
          <p:cNvPr id="7" name="Shape 5"/>
          <p:cNvSpPr/>
          <p:nvPr/>
        </p:nvSpPr>
        <p:spPr>
          <a:xfrm>
            <a:off x="4937760" y="3566160"/>
            <a:ext cx="6629400" cy="2560320"/>
          </a:xfrm>
          <a:prstGeom prst="roundRect">
            <a:avLst>
              <a:gd name="adj" fmla="val 4286"/>
            </a:avLst>
          </a:prstGeom>
          <a:solidFill>
            <a:srgbClr val="E1F5EE"/>
          </a:solidFill>
          <a:ln w="12700">
            <a:solidFill>
              <a:srgbClr val="E1F5EE"/>
            </a:solidFill>
            <a:prstDash val="solid"/>
          </a:ln>
        </p:spPr>
      </p:sp>
      <p:sp>
        <p:nvSpPr>
          <p:cNvPr id="8" name="Text 6"/>
          <p:cNvSpPr txBox="1"/>
          <p:nvPr/>
        </p:nvSpPr>
        <p:spPr>
          <a:xfrm>
            <a:off x="5257800" y="3840480"/>
            <a:ext cx="6035040" cy="2103120"/>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1B2B2B"/>
                </a:solidFill>
                <a:latin typeface="DM Sans" pitchFamily="34" charset="0"/>
                <a:ea typeface="DM Sans" pitchFamily="34" charset="-122"/>
                <a:cs typeface="DM Sans" pitchFamily="34" charset="-120"/>
              </a:rPr>
              <a:t>A single successful negotiation can produce a return many times greater than the investment. The skills keep paying for the rest of your career.</a:t>
            </a:r>
            <a:endParaRPr lang="en-US" sz="18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38912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374904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374904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looking at a wall of her framed diplomas and awards, a little wistful.</a:t>
            </a:r>
            <a:endParaRPr lang="en-US" sz="1200" dirty="0"/>
          </a:p>
        </p:txBody>
      </p:sp>
      <p:sp>
        <p:nvSpPr>
          <p:cNvPr id="5" name="Text 3"/>
          <p:cNvSpPr txBox="1"/>
          <p:nvPr/>
        </p:nvSpPr>
        <p:spPr>
          <a:xfrm>
            <a:off x="4937760" y="73152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WHAT YOU MIGHT BE THINKING</a:t>
            </a:r>
            <a:endParaRPr lang="en-US" sz="1200" dirty="0"/>
          </a:p>
        </p:txBody>
      </p:sp>
      <p:sp>
        <p:nvSpPr>
          <p:cNvPr id="6" name="Text 4"/>
          <p:cNvSpPr txBox="1"/>
          <p:nvPr/>
        </p:nvSpPr>
        <p:spPr>
          <a:xfrm>
            <a:off x="4937760" y="1097280"/>
            <a:ext cx="6675120" cy="2194560"/>
          </a:xfrm>
          <a:prstGeom prst="rect">
            <a:avLst/>
          </a:prstGeom>
          <a:noFill/>
          <a:ln/>
        </p:spPr>
        <p:txBody>
          <a:bodyPr wrap="square" lIns="0" tIns="0" rIns="0" bIns="0" rtlCol="0" anchor="b">
            <a:normAutofit/>
          </a:bodyPr>
          <a:lstStyle/>
          <a:p>
            <a:pPr algn="l" indent="0" marL="0">
              <a:lnSpc>
                <a:spcPct val="95000"/>
              </a:lnSpc>
              <a:buNone/>
            </a:pPr>
            <a:r>
              <a:rPr lang="en-US" sz="3300" b="1" i="1" dirty="0">
                <a:solidFill>
                  <a:srgbClr val="1B2B2B"/>
                </a:solidFill>
                <a:latin typeface="Cormorant Garamond" pitchFamily="34" charset="0"/>
                <a:ea typeface="Cormorant Garamond" pitchFamily="34" charset="-122"/>
                <a:cs typeface="Cormorant Garamond" pitchFamily="34" charset="-120"/>
              </a:rPr>
              <a:t>"I feel like I still have to earn the right to ask."</a:t>
            </a:r>
            <a:endParaRPr lang="en-US" sz="3300" dirty="0"/>
          </a:p>
        </p:txBody>
      </p:sp>
      <p:sp>
        <p:nvSpPr>
          <p:cNvPr id="7" name="Shape 5"/>
          <p:cNvSpPr/>
          <p:nvPr/>
        </p:nvSpPr>
        <p:spPr>
          <a:xfrm>
            <a:off x="4937760" y="3566160"/>
            <a:ext cx="6629400" cy="2560320"/>
          </a:xfrm>
          <a:prstGeom prst="roundRect">
            <a:avLst>
              <a:gd name="adj" fmla="val 4286"/>
            </a:avLst>
          </a:prstGeom>
          <a:solidFill>
            <a:srgbClr val="E1F5EE"/>
          </a:solidFill>
          <a:ln w="12700">
            <a:solidFill>
              <a:srgbClr val="E1F5EE"/>
            </a:solidFill>
            <a:prstDash val="solid"/>
          </a:ln>
        </p:spPr>
      </p:sp>
      <p:sp>
        <p:nvSpPr>
          <p:cNvPr id="8" name="Text 6"/>
          <p:cNvSpPr txBox="1"/>
          <p:nvPr/>
        </p:nvSpPr>
        <p:spPr>
          <a:xfrm>
            <a:off x="5257800" y="3840480"/>
            <a:ext cx="6035040" cy="2103120"/>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1B2B2B"/>
                </a:solidFill>
                <a:latin typeface="DM Sans" pitchFamily="34" charset="0"/>
                <a:ea typeface="DM Sans" pitchFamily="34" charset="-122"/>
                <a:cs typeface="DM Sans" pitchFamily="34" charset="-120"/>
              </a:rPr>
              <a:t>You earned it a long time ago. The belief that you haven't is exactly what the V.O.I.C.E. Framework is built to change.</a:t>
            </a:r>
            <a:endParaRPr lang="en-US" sz="18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38912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374904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374904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Man in a suit closing a glass office door behind him, a woman at her desk outside.</a:t>
            </a:r>
            <a:endParaRPr lang="en-US" sz="1200" dirty="0"/>
          </a:p>
        </p:txBody>
      </p:sp>
      <p:sp>
        <p:nvSpPr>
          <p:cNvPr id="5" name="Text 3"/>
          <p:cNvSpPr txBox="1"/>
          <p:nvPr/>
        </p:nvSpPr>
        <p:spPr>
          <a:xfrm>
            <a:off x="4937760" y="73152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WHAT YOU MIGHT BE THINKING</a:t>
            </a:r>
            <a:endParaRPr lang="en-US" sz="1200" dirty="0"/>
          </a:p>
        </p:txBody>
      </p:sp>
      <p:sp>
        <p:nvSpPr>
          <p:cNvPr id="6" name="Text 4"/>
          <p:cNvSpPr txBox="1"/>
          <p:nvPr/>
        </p:nvSpPr>
        <p:spPr>
          <a:xfrm>
            <a:off x="4937760" y="1097280"/>
            <a:ext cx="6675120" cy="2194560"/>
          </a:xfrm>
          <a:prstGeom prst="rect">
            <a:avLst/>
          </a:prstGeom>
          <a:noFill/>
          <a:ln/>
        </p:spPr>
        <p:txBody>
          <a:bodyPr wrap="square" lIns="0" tIns="0" rIns="0" bIns="0" rtlCol="0" anchor="b">
            <a:normAutofit/>
          </a:bodyPr>
          <a:lstStyle/>
          <a:p>
            <a:pPr algn="l" indent="0" marL="0">
              <a:lnSpc>
                <a:spcPct val="95000"/>
              </a:lnSpc>
              <a:buNone/>
            </a:pPr>
            <a:r>
              <a:rPr lang="en-US" sz="3300" b="1" i="1" dirty="0">
                <a:solidFill>
                  <a:srgbClr val="1B2B2B"/>
                </a:solidFill>
                <a:latin typeface="Cormorant Garamond" pitchFamily="34" charset="0"/>
                <a:ea typeface="Cormorant Garamond" pitchFamily="34" charset="-122"/>
                <a:cs typeface="Cormorant Garamond" pitchFamily="34" charset="-120"/>
              </a:rPr>
              <a:t>"I don't want to seem greedy, difficult or ungrateful."</a:t>
            </a:r>
            <a:endParaRPr lang="en-US" sz="3300" dirty="0"/>
          </a:p>
        </p:txBody>
      </p:sp>
      <p:sp>
        <p:nvSpPr>
          <p:cNvPr id="7" name="Shape 5"/>
          <p:cNvSpPr/>
          <p:nvPr/>
        </p:nvSpPr>
        <p:spPr>
          <a:xfrm>
            <a:off x="4937760" y="3566160"/>
            <a:ext cx="6629400" cy="2560320"/>
          </a:xfrm>
          <a:prstGeom prst="roundRect">
            <a:avLst>
              <a:gd name="adj" fmla="val 4286"/>
            </a:avLst>
          </a:prstGeom>
          <a:solidFill>
            <a:srgbClr val="E1F5EE"/>
          </a:solidFill>
          <a:ln w="12700">
            <a:solidFill>
              <a:srgbClr val="E1F5EE"/>
            </a:solidFill>
            <a:prstDash val="solid"/>
          </a:ln>
        </p:spPr>
      </p:sp>
      <p:sp>
        <p:nvSpPr>
          <p:cNvPr id="8" name="Text 6"/>
          <p:cNvSpPr txBox="1"/>
          <p:nvPr/>
        </p:nvSpPr>
        <p:spPr>
          <a:xfrm>
            <a:off x="5257800" y="3840480"/>
            <a:ext cx="6035040" cy="2103120"/>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1B2B2B"/>
                </a:solidFill>
                <a:latin typeface="DM Sans" pitchFamily="34" charset="0"/>
                <a:ea typeface="DM Sans" pitchFamily="34" charset="-122"/>
                <a:cs typeface="DM Sans" pitchFamily="34" charset="-120"/>
              </a:rPr>
              <a:t>Asking to be paid for the value you create is professional. The men down the hall have been doing it for years, behind closed doors.</a:t>
            </a:r>
            <a:endParaRPr lang="en-US" sz="18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38912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374904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374904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standing in an elevator alone, catching her own eye in the mirrored wall.</a:t>
            </a:r>
            <a:endParaRPr lang="en-US" sz="1200" dirty="0"/>
          </a:p>
        </p:txBody>
      </p:sp>
      <p:sp>
        <p:nvSpPr>
          <p:cNvPr id="5" name="Text 3"/>
          <p:cNvSpPr txBox="1"/>
          <p:nvPr/>
        </p:nvSpPr>
        <p:spPr>
          <a:xfrm>
            <a:off x="4937760" y="73152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WHAT YOU MIGHT BE THINKING</a:t>
            </a:r>
            <a:endParaRPr lang="en-US" sz="1200" dirty="0"/>
          </a:p>
        </p:txBody>
      </p:sp>
      <p:sp>
        <p:nvSpPr>
          <p:cNvPr id="6" name="Text 4"/>
          <p:cNvSpPr txBox="1"/>
          <p:nvPr/>
        </p:nvSpPr>
        <p:spPr>
          <a:xfrm>
            <a:off x="4937760" y="1097280"/>
            <a:ext cx="6675120" cy="2194560"/>
          </a:xfrm>
          <a:prstGeom prst="rect">
            <a:avLst/>
          </a:prstGeom>
          <a:noFill/>
          <a:ln/>
        </p:spPr>
        <p:txBody>
          <a:bodyPr wrap="square" lIns="0" tIns="0" rIns="0" bIns="0" rtlCol="0" anchor="b">
            <a:normAutofit/>
          </a:bodyPr>
          <a:lstStyle/>
          <a:p>
            <a:pPr algn="l" indent="0" marL="0">
              <a:lnSpc>
                <a:spcPct val="95000"/>
              </a:lnSpc>
              <a:buNone/>
            </a:pPr>
            <a:r>
              <a:rPr lang="en-US" sz="2800" b="1" i="1" dirty="0">
                <a:solidFill>
                  <a:srgbClr val="1B2B2B"/>
                </a:solidFill>
                <a:latin typeface="Cormorant Garamond" pitchFamily="34" charset="0"/>
                <a:ea typeface="Cormorant Garamond" pitchFamily="34" charset="-122"/>
                <a:cs typeface="Cormorant Garamond" pitchFamily="34" charset="-120"/>
              </a:rPr>
              <a:t>"What if I get found out? What if I'm not as good as they think?"</a:t>
            </a:r>
            <a:endParaRPr lang="en-US" sz="2800" dirty="0"/>
          </a:p>
        </p:txBody>
      </p:sp>
      <p:sp>
        <p:nvSpPr>
          <p:cNvPr id="7" name="Shape 5"/>
          <p:cNvSpPr/>
          <p:nvPr/>
        </p:nvSpPr>
        <p:spPr>
          <a:xfrm>
            <a:off x="4937760" y="3566160"/>
            <a:ext cx="6629400" cy="2560320"/>
          </a:xfrm>
          <a:prstGeom prst="roundRect">
            <a:avLst>
              <a:gd name="adj" fmla="val 4286"/>
            </a:avLst>
          </a:prstGeom>
          <a:solidFill>
            <a:srgbClr val="E1F5EE"/>
          </a:solidFill>
          <a:ln w="12700">
            <a:solidFill>
              <a:srgbClr val="E1F5EE"/>
            </a:solidFill>
            <a:prstDash val="solid"/>
          </a:ln>
        </p:spPr>
      </p:sp>
      <p:sp>
        <p:nvSpPr>
          <p:cNvPr id="8" name="Text 6"/>
          <p:cNvSpPr txBox="1"/>
          <p:nvPr/>
        </p:nvSpPr>
        <p:spPr>
          <a:xfrm>
            <a:off x="5257800" y="3840480"/>
            <a:ext cx="6035040" cy="2103120"/>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1B2B2B"/>
                </a:solidFill>
                <a:latin typeface="DM Sans" pitchFamily="34" charset="0"/>
                <a:ea typeface="DM Sans" pitchFamily="34" charset="-122"/>
                <a:cs typeface="DM Sans" pitchFamily="34" charset="-120"/>
              </a:rPr>
              <a:t>Almost every high achiever I've worked with has felt this, including me. The results you've already delivered are real, and it's safe to own them.</a:t>
            </a:r>
            <a:endParaRPr lang="en-US" sz="18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38912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374904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374904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at a busy desk, sticky notes everywhere, glancing at the clock.</a:t>
            </a:r>
            <a:endParaRPr lang="en-US" sz="1200" dirty="0"/>
          </a:p>
        </p:txBody>
      </p:sp>
      <p:sp>
        <p:nvSpPr>
          <p:cNvPr id="5" name="Text 3"/>
          <p:cNvSpPr txBox="1"/>
          <p:nvPr/>
        </p:nvSpPr>
        <p:spPr>
          <a:xfrm>
            <a:off x="4937760" y="731520"/>
            <a:ext cx="6400800" cy="320040"/>
          </a:xfrm>
          <a:prstGeom prst="rect">
            <a:avLst/>
          </a:prstGeom>
          <a:noFill/>
          <a:ln/>
        </p:spPr>
        <p:txBody>
          <a:bodyPr wrap="square" lIns="0" tIns="0" rIns="0" bIns="0" rtlCol="0" anchor="ctr">
            <a:normAutofit/>
          </a:bodyPr>
          <a:lstStyle/>
          <a:p>
            <a:pPr algn="l" indent="0" marL="0">
              <a:lnSpc>
                <a:spcPct val="100000"/>
              </a:lnSpc>
              <a:buNone/>
            </a:pPr>
            <a:r>
              <a:rPr lang="en-US" sz="1200" b="1" spc="300" kern="0" dirty="0">
                <a:solidFill>
                  <a:srgbClr val="8AAF8A"/>
                </a:solidFill>
                <a:latin typeface="DM Sans" pitchFamily="34" charset="0"/>
                <a:ea typeface="DM Sans" pitchFamily="34" charset="-122"/>
                <a:cs typeface="DM Sans" pitchFamily="34" charset="-120"/>
              </a:rPr>
              <a:t>WHAT YOU MIGHT BE THINKING</a:t>
            </a:r>
            <a:endParaRPr lang="en-US" sz="1200" dirty="0"/>
          </a:p>
        </p:txBody>
      </p:sp>
      <p:sp>
        <p:nvSpPr>
          <p:cNvPr id="6" name="Text 4"/>
          <p:cNvSpPr txBox="1"/>
          <p:nvPr/>
        </p:nvSpPr>
        <p:spPr>
          <a:xfrm>
            <a:off x="4937760" y="1097280"/>
            <a:ext cx="6675120" cy="2194560"/>
          </a:xfrm>
          <a:prstGeom prst="rect">
            <a:avLst/>
          </a:prstGeom>
          <a:noFill/>
          <a:ln/>
        </p:spPr>
        <p:txBody>
          <a:bodyPr wrap="square" lIns="0" tIns="0" rIns="0" bIns="0" rtlCol="0" anchor="b">
            <a:normAutofit/>
          </a:bodyPr>
          <a:lstStyle/>
          <a:p>
            <a:pPr algn="l" indent="0" marL="0">
              <a:lnSpc>
                <a:spcPct val="95000"/>
              </a:lnSpc>
              <a:buNone/>
            </a:pPr>
            <a:r>
              <a:rPr lang="en-US" sz="3300" b="1" i="1" dirty="0">
                <a:solidFill>
                  <a:srgbClr val="1B2B2B"/>
                </a:solidFill>
                <a:latin typeface="Cormorant Garamond" pitchFamily="34" charset="0"/>
                <a:ea typeface="Cormorant Garamond" pitchFamily="34" charset="-122"/>
                <a:cs typeface="Cormorant Garamond" pitchFamily="34" charset="-120"/>
              </a:rPr>
              <a:t>"I'll do it when things calm down."</a:t>
            </a:r>
            <a:endParaRPr lang="en-US" sz="3300" dirty="0"/>
          </a:p>
        </p:txBody>
      </p:sp>
      <p:sp>
        <p:nvSpPr>
          <p:cNvPr id="7" name="Shape 5"/>
          <p:cNvSpPr/>
          <p:nvPr/>
        </p:nvSpPr>
        <p:spPr>
          <a:xfrm>
            <a:off x="4937760" y="3566160"/>
            <a:ext cx="6629400" cy="2560320"/>
          </a:xfrm>
          <a:prstGeom prst="roundRect">
            <a:avLst>
              <a:gd name="adj" fmla="val 4286"/>
            </a:avLst>
          </a:prstGeom>
          <a:solidFill>
            <a:srgbClr val="E1F5EE"/>
          </a:solidFill>
          <a:ln w="12700">
            <a:solidFill>
              <a:srgbClr val="E1F5EE"/>
            </a:solidFill>
            <a:prstDash val="solid"/>
          </a:ln>
        </p:spPr>
      </p:sp>
      <p:sp>
        <p:nvSpPr>
          <p:cNvPr id="8" name="Text 6"/>
          <p:cNvSpPr txBox="1"/>
          <p:nvPr/>
        </p:nvSpPr>
        <p:spPr>
          <a:xfrm>
            <a:off x="5257800" y="3840480"/>
            <a:ext cx="6035040" cy="2103120"/>
          </a:xfrm>
          <a:prstGeom prst="rect">
            <a:avLst/>
          </a:prstGeom>
          <a:noFill/>
          <a:ln/>
        </p:spPr>
        <p:txBody>
          <a:bodyPr wrap="square" lIns="0" tIns="0" rIns="0" bIns="0" rtlCol="0" anchor="t">
            <a:normAutofit/>
          </a:bodyPr>
          <a:lstStyle/>
          <a:p>
            <a:pPr algn="l" indent="0" marL="0">
              <a:lnSpc>
                <a:spcPct val="115000"/>
              </a:lnSpc>
              <a:buNone/>
            </a:pPr>
            <a:r>
              <a:rPr lang="en-US" sz="1800" dirty="0">
                <a:solidFill>
                  <a:srgbClr val="1B2B2B"/>
                </a:solidFill>
                <a:latin typeface="DM Sans" pitchFamily="34" charset="0"/>
                <a:ea typeface="DM Sans" pitchFamily="34" charset="-122"/>
                <a:cs typeface="DM Sans" pitchFamily="34" charset="-120"/>
              </a:rPr>
              <a:t>Things don't calm down. Waiting for the right time is the same pattern that got you here, dressed up as patience.</a:t>
            </a:r>
            <a:endParaRPr lang="en-US" sz="18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9144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Here's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everything we just covered</a:t>
            </a:r>
            <a:endParaRPr lang="en-US" sz="3400" dirty="0"/>
          </a:p>
        </p:txBody>
      </p:sp>
      <p:sp>
        <p:nvSpPr>
          <p:cNvPr id="3" name="Shape 1"/>
          <p:cNvSpPr/>
          <p:nvPr/>
        </p:nvSpPr>
        <p:spPr>
          <a:xfrm>
            <a:off x="640080" y="1737360"/>
            <a:ext cx="548640" cy="548640"/>
          </a:xfrm>
          <a:prstGeom prst="ellipse">
            <a:avLst/>
          </a:prstGeom>
          <a:solidFill>
            <a:srgbClr val="1E4A4A"/>
          </a:solidFill>
          <a:ln w="12700">
            <a:solidFill>
              <a:srgbClr val="1E4A4A"/>
            </a:solidFill>
            <a:prstDash val="solid"/>
          </a:ln>
        </p:spPr>
      </p:sp>
      <p:sp>
        <p:nvSpPr>
          <p:cNvPr id="4" name="Text 2"/>
          <p:cNvSpPr txBox="1"/>
          <p:nvPr/>
        </p:nvSpPr>
        <p:spPr>
          <a:xfrm>
            <a:off x="640080" y="173736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FFFFFF"/>
                </a:solidFill>
                <a:latin typeface="Cormorant Garamond" pitchFamily="34" charset="0"/>
                <a:ea typeface="Cormorant Garamond" pitchFamily="34" charset="-122"/>
                <a:cs typeface="Cormorant Garamond" pitchFamily="34" charset="-120"/>
              </a:rPr>
              <a:t>✓</a:t>
            </a:r>
            <a:endParaRPr lang="en-US" sz="2000" dirty="0"/>
          </a:p>
        </p:txBody>
      </p:sp>
      <p:sp>
        <p:nvSpPr>
          <p:cNvPr id="5" name="Text 3"/>
          <p:cNvSpPr txBox="1"/>
          <p:nvPr/>
        </p:nvSpPr>
        <p:spPr>
          <a:xfrm>
            <a:off x="1463040" y="1691640"/>
            <a:ext cx="10058400" cy="640080"/>
          </a:xfrm>
          <a:prstGeom prst="rect">
            <a:avLst/>
          </a:prstGeom>
          <a:noFill/>
          <a:ln/>
        </p:spPr>
        <p:txBody>
          <a:bodyPr wrap="square" lIns="0" tIns="0" rIns="0" bIns="0" rtlCol="0" anchor="ctr">
            <a:normAutofit/>
          </a:bodyPr>
          <a:lstStyle/>
          <a:p>
            <a:pPr algn="l" indent="0" marL="0">
              <a:lnSpc>
                <a:spcPct val="100000"/>
              </a:lnSpc>
              <a:buNone/>
            </a:pPr>
            <a:r>
              <a:rPr lang="en-US" sz="2000" dirty="0">
                <a:solidFill>
                  <a:srgbClr val="1B2B2B"/>
                </a:solidFill>
                <a:latin typeface="DM Sans" pitchFamily="34" charset="0"/>
                <a:ea typeface="DM Sans" pitchFamily="34" charset="-122"/>
                <a:cs typeface="DM Sans" pitchFamily="34" charset="-120"/>
              </a:rPr>
              <a:t>You don't have a negotiation problem. You have an identity problem.</a:t>
            </a:r>
            <a:endParaRPr lang="en-US" sz="2000" dirty="0"/>
          </a:p>
        </p:txBody>
      </p:sp>
      <p:sp>
        <p:nvSpPr>
          <p:cNvPr id="6" name="Shape 4"/>
          <p:cNvSpPr/>
          <p:nvPr/>
        </p:nvSpPr>
        <p:spPr>
          <a:xfrm>
            <a:off x="640080" y="2651760"/>
            <a:ext cx="548640" cy="548640"/>
          </a:xfrm>
          <a:prstGeom prst="ellipse">
            <a:avLst/>
          </a:prstGeom>
          <a:solidFill>
            <a:srgbClr val="1E4A4A"/>
          </a:solidFill>
          <a:ln w="12700">
            <a:solidFill>
              <a:srgbClr val="1E4A4A"/>
            </a:solidFill>
            <a:prstDash val="solid"/>
          </a:ln>
        </p:spPr>
      </p:sp>
      <p:sp>
        <p:nvSpPr>
          <p:cNvPr id="7" name="Text 5"/>
          <p:cNvSpPr txBox="1"/>
          <p:nvPr/>
        </p:nvSpPr>
        <p:spPr>
          <a:xfrm>
            <a:off x="640080" y="265176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FFFFFF"/>
                </a:solidFill>
                <a:latin typeface="Cormorant Garamond" pitchFamily="34" charset="0"/>
                <a:ea typeface="Cormorant Garamond" pitchFamily="34" charset="-122"/>
                <a:cs typeface="Cormorant Garamond" pitchFamily="34" charset="-120"/>
              </a:rPr>
              <a:t>✓</a:t>
            </a:r>
            <a:endParaRPr lang="en-US" sz="2000" dirty="0"/>
          </a:p>
        </p:txBody>
      </p:sp>
      <p:sp>
        <p:nvSpPr>
          <p:cNvPr id="8" name="Text 6"/>
          <p:cNvSpPr txBox="1"/>
          <p:nvPr/>
        </p:nvSpPr>
        <p:spPr>
          <a:xfrm>
            <a:off x="1463040" y="2606040"/>
            <a:ext cx="10058400" cy="640080"/>
          </a:xfrm>
          <a:prstGeom prst="rect">
            <a:avLst/>
          </a:prstGeom>
          <a:noFill/>
          <a:ln/>
        </p:spPr>
        <p:txBody>
          <a:bodyPr wrap="square" lIns="0" tIns="0" rIns="0" bIns="0" rtlCol="0" anchor="ctr">
            <a:normAutofit/>
          </a:bodyPr>
          <a:lstStyle/>
          <a:p>
            <a:pPr algn="l" indent="0" marL="0">
              <a:lnSpc>
                <a:spcPct val="100000"/>
              </a:lnSpc>
              <a:buNone/>
            </a:pPr>
            <a:r>
              <a:rPr lang="en-US" sz="2000" dirty="0">
                <a:solidFill>
                  <a:srgbClr val="1B2B2B"/>
                </a:solidFill>
                <a:latin typeface="DM Sans" pitchFamily="34" charset="0"/>
                <a:ea typeface="DM Sans" pitchFamily="34" charset="-122"/>
                <a:cs typeface="DM Sans" pitchFamily="34" charset="-120"/>
              </a:rPr>
              <a:t>Working harder and waiting to be noticed is the old way, and it's costing you</a:t>
            </a:r>
            <a:endParaRPr lang="en-US" sz="2000" dirty="0"/>
          </a:p>
        </p:txBody>
      </p:sp>
      <p:sp>
        <p:nvSpPr>
          <p:cNvPr id="9" name="Shape 7"/>
          <p:cNvSpPr/>
          <p:nvPr/>
        </p:nvSpPr>
        <p:spPr>
          <a:xfrm>
            <a:off x="640080" y="3566160"/>
            <a:ext cx="548640" cy="548640"/>
          </a:xfrm>
          <a:prstGeom prst="ellipse">
            <a:avLst/>
          </a:prstGeom>
          <a:solidFill>
            <a:srgbClr val="1E4A4A"/>
          </a:solidFill>
          <a:ln w="12700">
            <a:solidFill>
              <a:srgbClr val="1E4A4A"/>
            </a:solidFill>
            <a:prstDash val="solid"/>
          </a:ln>
        </p:spPr>
      </p:sp>
      <p:sp>
        <p:nvSpPr>
          <p:cNvPr id="10" name="Text 8"/>
          <p:cNvSpPr txBox="1"/>
          <p:nvPr/>
        </p:nvSpPr>
        <p:spPr>
          <a:xfrm>
            <a:off x="640080" y="356616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FFFFFF"/>
                </a:solidFill>
                <a:latin typeface="Cormorant Garamond" pitchFamily="34" charset="0"/>
                <a:ea typeface="Cormorant Garamond" pitchFamily="34" charset="-122"/>
                <a:cs typeface="Cormorant Garamond" pitchFamily="34" charset="-120"/>
              </a:rPr>
              <a:t>✓</a:t>
            </a:r>
            <a:endParaRPr lang="en-US" sz="2000" dirty="0"/>
          </a:p>
        </p:txBody>
      </p:sp>
      <p:sp>
        <p:nvSpPr>
          <p:cNvPr id="11" name="Text 9"/>
          <p:cNvSpPr txBox="1"/>
          <p:nvPr/>
        </p:nvSpPr>
        <p:spPr>
          <a:xfrm>
            <a:off x="1463040" y="3520440"/>
            <a:ext cx="10058400" cy="640080"/>
          </a:xfrm>
          <a:prstGeom prst="rect">
            <a:avLst/>
          </a:prstGeom>
          <a:noFill/>
          <a:ln/>
        </p:spPr>
        <p:txBody>
          <a:bodyPr wrap="square" lIns="0" tIns="0" rIns="0" bIns="0" rtlCol="0" anchor="ctr">
            <a:normAutofit/>
          </a:bodyPr>
          <a:lstStyle/>
          <a:p>
            <a:pPr algn="l" indent="0" marL="0">
              <a:lnSpc>
                <a:spcPct val="100000"/>
              </a:lnSpc>
              <a:buNone/>
            </a:pPr>
            <a:r>
              <a:rPr lang="en-US" sz="2000" dirty="0">
                <a:solidFill>
                  <a:srgbClr val="1B2B2B"/>
                </a:solidFill>
                <a:latin typeface="DM Sans" pitchFamily="34" charset="0"/>
                <a:ea typeface="DM Sans" pitchFamily="34" charset="-122"/>
                <a:cs typeface="DM Sans" pitchFamily="34" charset="-120"/>
              </a:rPr>
              <a:t>The cost of waiting compounds, financially and emotionally</a:t>
            </a:r>
            <a:endParaRPr lang="en-US" sz="2000" dirty="0"/>
          </a:p>
        </p:txBody>
      </p:sp>
      <p:sp>
        <p:nvSpPr>
          <p:cNvPr id="12" name="Shape 10"/>
          <p:cNvSpPr/>
          <p:nvPr/>
        </p:nvSpPr>
        <p:spPr>
          <a:xfrm>
            <a:off x="640080" y="4480560"/>
            <a:ext cx="548640" cy="548640"/>
          </a:xfrm>
          <a:prstGeom prst="ellipse">
            <a:avLst/>
          </a:prstGeom>
          <a:solidFill>
            <a:srgbClr val="1E4A4A"/>
          </a:solidFill>
          <a:ln w="12700">
            <a:solidFill>
              <a:srgbClr val="1E4A4A"/>
            </a:solidFill>
            <a:prstDash val="solid"/>
          </a:ln>
        </p:spPr>
      </p:sp>
      <p:sp>
        <p:nvSpPr>
          <p:cNvPr id="13" name="Text 11"/>
          <p:cNvSpPr txBox="1"/>
          <p:nvPr/>
        </p:nvSpPr>
        <p:spPr>
          <a:xfrm>
            <a:off x="640080" y="448056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FFFFFF"/>
                </a:solidFill>
                <a:latin typeface="Cormorant Garamond" pitchFamily="34" charset="0"/>
                <a:ea typeface="Cormorant Garamond" pitchFamily="34" charset="-122"/>
                <a:cs typeface="Cormorant Garamond" pitchFamily="34" charset="-120"/>
              </a:rPr>
              <a:t>✓</a:t>
            </a:r>
            <a:endParaRPr lang="en-US" sz="2000" dirty="0"/>
          </a:p>
        </p:txBody>
      </p:sp>
      <p:sp>
        <p:nvSpPr>
          <p:cNvPr id="14" name="Text 12"/>
          <p:cNvSpPr txBox="1"/>
          <p:nvPr/>
        </p:nvSpPr>
        <p:spPr>
          <a:xfrm>
            <a:off x="1463040" y="4434840"/>
            <a:ext cx="10058400" cy="640080"/>
          </a:xfrm>
          <a:prstGeom prst="rect">
            <a:avLst/>
          </a:prstGeom>
          <a:noFill/>
          <a:ln/>
        </p:spPr>
        <p:txBody>
          <a:bodyPr wrap="square" lIns="0" tIns="0" rIns="0" bIns="0" rtlCol="0" anchor="ctr">
            <a:normAutofit/>
          </a:bodyPr>
          <a:lstStyle/>
          <a:p>
            <a:pPr algn="l" indent="0" marL="0">
              <a:lnSpc>
                <a:spcPct val="100000"/>
              </a:lnSpc>
              <a:buNone/>
            </a:pPr>
            <a:r>
              <a:rPr lang="en-US" sz="2000" dirty="0">
                <a:solidFill>
                  <a:srgbClr val="1B2B2B"/>
                </a:solidFill>
                <a:latin typeface="DM Sans" pitchFamily="34" charset="0"/>
                <a:ea typeface="DM Sans" pitchFamily="34" charset="-122"/>
                <a:cs typeface="DM Sans" pitchFamily="34" charset="-120"/>
              </a:rPr>
              <a:t>The V.O.I.C.E. Framework: Value, Ownership, Identity, Communication, Execution</a:t>
            </a:r>
            <a:endParaRPr lang="en-US" sz="2000" dirty="0"/>
          </a:p>
        </p:txBody>
      </p:sp>
      <p:sp>
        <p:nvSpPr>
          <p:cNvPr id="15" name="Shape 13"/>
          <p:cNvSpPr/>
          <p:nvPr/>
        </p:nvSpPr>
        <p:spPr>
          <a:xfrm>
            <a:off x="640080" y="5394960"/>
            <a:ext cx="548640" cy="548640"/>
          </a:xfrm>
          <a:prstGeom prst="ellipse">
            <a:avLst/>
          </a:prstGeom>
          <a:solidFill>
            <a:srgbClr val="1E4A4A"/>
          </a:solidFill>
          <a:ln w="12700">
            <a:solidFill>
              <a:srgbClr val="1E4A4A"/>
            </a:solidFill>
            <a:prstDash val="solid"/>
          </a:ln>
        </p:spPr>
      </p:sp>
      <p:sp>
        <p:nvSpPr>
          <p:cNvPr id="16" name="Text 14"/>
          <p:cNvSpPr txBox="1"/>
          <p:nvPr/>
        </p:nvSpPr>
        <p:spPr>
          <a:xfrm>
            <a:off x="640080" y="539496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FFFFFF"/>
                </a:solidFill>
                <a:latin typeface="Cormorant Garamond" pitchFamily="34" charset="0"/>
                <a:ea typeface="Cormorant Garamond" pitchFamily="34" charset="-122"/>
                <a:cs typeface="Cormorant Garamond" pitchFamily="34" charset="-120"/>
              </a:rPr>
              <a:t>✓</a:t>
            </a:r>
            <a:endParaRPr lang="en-US" sz="2000" dirty="0"/>
          </a:p>
        </p:txBody>
      </p:sp>
      <p:sp>
        <p:nvSpPr>
          <p:cNvPr id="17" name="Text 15"/>
          <p:cNvSpPr txBox="1"/>
          <p:nvPr/>
        </p:nvSpPr>
        <p:spPr>
          <a:xfrm>
            <a:off x="1463040" y="5349240"/>
            <a:ext cx="10058400" cy="640080"/>
          </a:xfrm>
          <a:prstGeom prst="rect">
            <a:avLst/>
          </a:prstGeom>
          <a:noFill/>
          <a:ln/>
        </p:spPr>
        <p:txBody>
          <a:bodyPr wrap="square" lIns="0" tIns="0" rIns="0" bIns="0" rtlCol="0" anchor="ctr">
            <a:normAutofit/>
          </a:bodyPr>
          <a:lstStyle/>
          <a:p>
            <a:pPr algn="l" indent="0" marL="0">
              <a:lnSpc>
                <a:spcPct val="100000"/>
              </a:lnSpc>
              <a:buNone/>
            </a:pPr>
            <a:r>
              <a:rPr lang="en-US" sz="2000" dirty="0">
                <a:solidFill>
                  <a:srgbClr val="1B2B2B"/>
                </a:solidFill>
                <a:latin typeface="DM Sans" pitchFamily="34" charset="0"/>
                <a:ea typeface="DM Sans" pitchFamily="34" charset="-122"/>
                <a:cs typeface="DM Sans" pitchFamily="34" charset="-120"/>
              </a:rPr>
              <a:t>Shelly, Nina and Erica closed the gap, and the money followed</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Woman's hand on a conference room door handle, about to push it open. Warm light from inside.</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You already have the capability. </a:t>
            </a:r>
            <a:pPr algn="l" indent="0" marL="0">
              <a:lnSpc>
                <a:spcPct val="95000"/>
              </a:lnSpc>
              <a:buNone/>
            </a:pPr>
            <a:r>
              <a:rPr lang="en-US" sz="3000" b="1" dirty="0">
                <a:solidFill>
                  <a:srgbClr val="1B2B2B"/>
                </a:solidFill>
                <a:highlight>
                  <a:srgbClr val="CFE3CF"/>
                </a:highlight>
                <a:latin typeface="Cormorant Garamond" pitchFamily="34" charset="0"/>
                <a:ea typeface="Cormorant Garamond" pitchFamily="34" charset="-122"/>
                <a:cs typeface="Cormorant Garamond" pitchFamily="34" charset="-120"/>
              </a:rPr>
              <a:t>The open question is who walks into the room.</a:t>
            </a:r>
            <a:endParaRPr lang="en-US" sz="3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640080" y="457200"/>
            <a:ext cx="6675120" cy="155448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FFFFFF"/>
                </a:solidFill>
                <a:latin typeface="Cormorant Garamond" pitchFamily="34" charset="0"/>
                <a:ea typeface="Cormorant Garamond" pitchFamily="34" charset="-122"/>
                <a:cs typeface="Cormorant Garamond" pitchFamily="34" charset="-120"/>
              </a:rPr>
              <a:t>Apply for the </a:t>
            </a:r>
            <a:pPr algn="l" indent="0" marL="0">
              <a:lnSpc>
                <a:spcPct val="95000"/>
              </a:lnSpc>
              <a:buNone/>
            </a:pPr>
            <a:r>
              <a:rPr lang="en-US" sz="3400" b="1" dirty="0">
                <a:solidFill>
                  <a:srgbClr val="B7D3B7"/>
                </a:solidFill>
                <a:latin typeface="Cormorant Garamond" pitchFamily="34" charset="0"/>
                <a:ea typeface="Cormorant Garamond" pitchFamily="34" charset="-122"/>
                <a:cs typeface="Cormorant Garamond" pitchFamily="34" charset="-120"/>
              </a:rPr>
              <a:t>Amplify Your V.O.I.C.E. Experience</a:t>
            </a:r>
            <a:endParaRPr lang="en-US" sz="3400" dirty="0"/>
          </a:p>
        </p:txBody>
      </p:sp>
      <p:sp>
        <p:nvSpPr>
          <p:cNvPr id="3" name="Shape 1"/>
          <p:cNvSpPr/>
          <p:nvPr/>
        </p:nvSpPr>
        <p:spPr>
          <a:xfrm>
            <a:off x="640080" y="2331720"/>
            <a:ext cx="502920" cy="502920"/>
          </a:xfrm>
          <a:prstGeom prst="ellipse">
            <a:avLst/>
          </a:prstGeom>
          <a:solidFill>
            <a:srgbClr val="8AAF8A"/>
          </a:solidFill>
          <a:ln w="12700">
            <a:solidFill>
              <a:srgbClr val="8AAF8A"/>
            </a:solidFill>
            <a:prstDash val="solid"/>
          </a:ln>
        </p:spPr>
      </p:sp>
      <p:sp>
        <p:nvSpPr>
          <p:cNvPr id="4" name="Text 2"/>
          <p:cNvSpPr txBox="1"/>
          <p:nvPr/>
        </p:nvSpPr>
        <p:spPr>
          <a:xfrm>
            <a:off x="640080" y="233172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1E4A4A"/>
                </a:solidFill>
                <a:latin typeface="Cormorant Garamond" pitchFamily="34" charset="0"/>
                <a:ea typeface="Cormorant Garamond" pitchFamily="34" charset="-122"/>
                <a:cs typeface="Cormorant Garamond" pitchFamily="34" charset="-120"/>
              </a:rPr>
              <a:t>1</a:t>
            </a:r>
            <a:endParaRPr lang="en-US" sz="1800" dirty="0"/>
          </a:p>
        </p:txBody>
      </p:sp>
      <p:sp>
        <p:nvSpPr>
          <p:cNvPr id="5" name="Text 3"/>
          <p:cNvSpPr txBox="1"/>
          <p:nvPr/>
        </p:nvSpPr>
        <p:spPr>
          <a:xfrm>
            <a:off x="1371600" y="2240280"/>
            <a:ext cx="5852160" cy="822960"/>
          </a:xfrm>
          <a:prstGeom prst="rect">
            <a:avLst/>
          </a:prstGeom>
          <a:noFill/>
          <a:ln/>
        </p:spPr>
        <p:txBody>
          <a:bodyPr wrap="square" lIns="0" tIns="0" rIns="0" bIns="0" rtlCol="0" anchor="ctr">
            <a:normAutofit/>
          </a:bodyPr>
          <a:lstStyle/>
          <a:p>
            <a:pPr algn="l" indent="0" marL="0">
              <a:lnSpc>
                <a:spcPct val="100000"/>
              </a:lnSpc>
              <a:buNone/>
            </a:pPr>
            <a:r>
              <a:rPr lang="en-US" sz="1600" dirty="0">
                <a:solidFill>
                  <a:srgbClr val="E1F5EE"/>
                </a:solidFill>
                <a:latin typeface="DM Sans" pitchFamily="34" charset="0"/>
                <a:ea typeface="DM Sans" pitchFamily="34" charset="-122"/>
                <a:cs typeface="DM Sans" pitchFamily="34" charset="-120"/>
              </a:rPr>
              <a:t>Complete a short application: where you are in your career, what's keeping you stuck and what you want</a:t>
            </a:r>
            <a:endParaRPr lang="en-US" sz="1600" dirty="0"/>
          </a:p>
        </p:txBody>
      </p:sp>
      <p:sp>
        <p:nvSpPr>
          <p:cNvPr id="6" name="Shape 4"/>
          <p:cNvSpPr/>
          <p:nvPr/>
        </p:nvSpPr>
        <p:spPr>
          <a:xfrm>
            <a:off x="640080" y="3291840"/>
            <a:ext cx="502920" cy="502920"/>
          </a:xfrm>
          <a:prstGeom prst="ellipse">
            <a:avLst/>
          </a:prstGeom>
          <a:solidFill>
            <a:srgbClr val="8AAF8A"/>
          </a:solidFill>
          <a:ln w="12700">
            <a:solidFill>
              <a:srgbClr val="8AAF8A"/>
            </a:solidFill>
            <a:prstDash val="solid"/>
          </a:ln>
        </p:spPr>
      </p:sp>
      <p:sp>
        <p:nvSpPr>
          <p:cNvPr id="7" name="Text 5"/>
          <p:cNvSpPr txBox="1"/>
          <p:nvPr/>
        </p:nvSpPr>
        <p:spPr>
          <a:xfrm>
            <a:off x="640080" y="329184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1E4A4A"/>
                </a:solidFill>
                <a:latin typeface="Cormorant Garamond" pitchFamily="34" charset="0"/>
                <a:ea typeface="Cormorant Garamond" pitchFamily="34" charset="-122"/>
                <a:cs typeface="Cormorant Garamond" pitchFamily="34" charset="-120"/>
              </a:rPr>
              <a:t>2</a:t>
            </a:r>
            <a:endParaRPr lang="en-US" sz="1800" dirty="0"/>
          </a:p>
        </p:txBody>
      </p:sp>
      <p:sp>
        <p:nvSpPr>
          <p:cNvPr id="8" name="Text 6"/>
          <p:cNvSpPr txBox="1"/>
          <p:nvPr/>
        </p:nvSpPr>
        <p:spPr>
          <a:xfrm>
            <a:off x="1371600" y="3200400"/>
            <a:ext cx="5852160" cy="822960"/>
          </a:xfrm>
          <a:prstGeom prst="rect">
            <a:avLst/>
          </a:prstGeom>
          <a:noFill/>
          <a:ln/>
        </p:spPr>
        <p:txBody>
          <a:bodyPr wrap="square" lIns="0" tIns="0" rIns="0" bIns="0" rtlCol="0" anchor="ctr">
            <a:normAutofit/>
          </a:bodyPr>
          <a:lstStyle/>
          <a:p>
            <a:pPr algn="l" indent="0" marL="0">
              <a:lnSpc>
                <a:spcPct val="100000"/>
              </a:lnSpc>
              <a:buNone/>
            </a:pPr>
            <a:r>
              <a:rPr lang="en-US" sz="1600" dirty="0">
                <a:solidFill>
                  <a:srgbClr val="E1F5EE"/>
                </a:solidFill>
                <a:latin typeface="DM Sans" pitchFamily="34" charset="0"/>
                <a:ea typeface="DM Sans" pitchFamily="34" charset="-122"/>
                <a:cs typeface="DM Sans" pitchFamily="34" charset="-120"/>
              </a:rPr>
              <a:t>I review every application personally</a:t>
            </a:r>
            <a:endParaRPr lang="en-US" sz="1600" dirty="0"/>
          </a:p>
        </p:txBody>
      </p:sp>
      <p:sp>
        <p:nvSpPr>
          <p:cNvPr id="9" name="Shape 7"/>
          <p:cNvSpPr/>
          <p:nvPr/>
        </p:nvSpPr>
        <p:spPr>
          <a:xfrm>
            <a:off x="640080" y="4251960"/>
            <a:ext cx="502920" cy="502920"/>
          </a:xfrm>
          <a:prstGeom prst="ellipse">
            <a:avLst/>
          </a:prstGeom>
          <a:solidFill>
            <a:srgbClr val="8AAF8A"/>
          </a:solidFill>
          <a:ln w="12700">
            <a:solidFill>
              <a:srgbClr val="8AAF8A"/>
            </a:solidFill>
            <a:prstDash val="solid"/>
          </a:ln>
        </p:spPr>
      </p:sp>
      <p:sp>
        <p:nvSpPr>
          <p:cNvPr id="10" name="Text 8"/>
          <p:cNvSpPr txBox="1"/>
          <p:nvPr/>
        </p:nvSpPr>
        <p:spPr>
          <a:xfrm>
            <a:off x="640080" y="425196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1E4A4A"/>
                </a:solidFill>
                <a:latin typeface="Cormorant Garamond" pitchFamily="34" charset="0"/>
                <a:ea typeface="Cormorant Garamond" pitchFamily="34" charset="-122"/>
                <a:cs typeface="Cormorant Garamond" pitchFamily="34" charset="-120"/>
              </a:rPr>
              <a:t>3</a:t>
            </a:r>
            <a:endParaRPr lang="en-US" sz="1800" dirty="0"/>
          </a:p>
        </p:txBody>
      </p:sp>
      <p:sp>
        <p:nvSpPr>
          <p:cNvPr id="11" name="Text 9"/>
          <p:cNvSpPr txBox="1"/>
          <p:nvPr/>
        </p:nvSpPr>
        <p:spPr>
          <a:xfrm>
            <a:off x="1371600" y="4160520"/>
            <a:ext cx="5852160" cy="822960"/>
          </a:xfrm>
          <a:prstGeom prst="rect">
            <a:avLst/>
          </a:prstGeom>
          <a:noFill/>
          <a:ln/>
        </p:spPr>
        <p:txBody>
          <a:bodyPr wrap="square" lIns="0" tIns="0" rIns="0" bIns="0" rtlCol="0" anchor="ctr">
            <a:normAutofit/>
          </a:bodyPr>
          <a:lstStyle/>
          <a:p>
            <a:pPr algn="l" indent="0" marL="0">
              <a:lnSpc>
                <a:spcPct val="100000"/>
              </a:lnSpc>
              <a:buNone/>
            </a:pPr>
            <a:r>
              <a:rPr lang="en-US" sz="1600" dirty="0">
                <a:solidFill>
                  <a:srgbClr val="E1F5EE"/>
                </a:solidFill>
                <a:latin typeface="DM Sans" pitchFamily="34" charset="0"/>
                <a:ea typeface="DM Sans" pitchFamily="34" charset="-122"/>
                <a:cs typeface="DM Sans" pitchFamily="34" charset="-120"/>
              </a:rPr>
              <a:t>If it looks like a fit, we'll invite you to a conversation to explore whether the program is right for you</a:t>
            </a:r>
            <a:endParaRPr lang="en-US" sz="1600" dirty="0"/>
          </a:p>
        </p:txBody>
      </p:sp>
      <p:sp>
        <p:nvSpPr>
          <p:cNvPr id="12" name="Shape 10"/>
          <p:cNvSpPr/>
          <p:nvPr/>
        </p:nvSpPr>
        <p:spPr>
          <a:xfrm>
            <a:off x="640080" y="5394960"/>
            <a:ext cx="6492240" cy="731520"/>
          </a:xfrm>
          <a:prstGeom prst="roundRect">
            <a:avLst>
              <a:gd name="adj" fmla="val 15000"/>
            </a:avLst>
          </a:prstGeom>
          <a:solidFill>
            <a:srgbClr val="E1F5EE"/>
          </a:solidFill>
          <a:ln w="12700">
            <a:solidFill>
              <a:srgbClr val="E1F5EE"/>
            </a:solidFill>
            <a:prstDash val="solid"/>
          </a:ln>
        </p:spPr>
      </p:sp>
      <p:sp>
        <p:nvSpPr>
          <p:cNvPr id="13" name="Text 11"/>
          <p:cNvSpPr txBox="1"/>
          <p:nvPr/>
        </p:nvSpPr>
        <p:spPr>
          <a:xfrm>
            <a:off x="914400" y="5394960"/>
            <a:ext cx="6035040" cy="731520"/>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B85042"/>
                </a:solidFill>
                <a:latin typeface="DM Sans" pitchFamily="34" charset="0"/>
                <a:ea typeface="DM Sans" pitchFamily="34" charset="-122"/>
                <a:cs typeface="DM Sans" pitchFamily="34" charset="-120"/>
              </a:rPr>
              <a:t>[PLACEHOLDER: application URL]</a:t>
            </a:r>
            <a:endParaRPr lang="en-US" sz="1600" dirty="0"/>
          </a:p>
        </p:txBody>
      </p:sp>
      <p:sp>
        <p:nvSpPr>
          <p:cNvPr id="14" name="Shape 12"/>
          <p:cNvSpPr/>
          <p:nvPr/>
        </p:nvSpPr>
        <p:spPr>
          <a:xfrm>
            <a:off x="7680960" y="548640"/>
            <a:ext cx="3886200" cy="5760720"/>
          </a:xfrm>
          <a:prstGeom prst="roundRect">
            <a:avLst>
              <a:gd name="adj" fmla="val 2824"/>
            </a:avLst>
          </a:prstGeom>
          <a:solidFill>
            <a:srgbClr val="2B5C5C"/>
          </a:solidFill>
          <a:ln w="15875">
            <a:solidFill>
              <a:srgbClr val="8AAF8A"/>
            </a:solidFill>
            <a:prstDash val="dash"/>
          </a:ln>
        </p:spPr>
      </p:sp>
      <p:sp>
        <p:nvSpPr>
          <p:cNvPr id="15" name="Text 13"/>
          <p:cNvSpPr txBox="1"/>
          <p:nvPr/>
        </p:nvSpPr>
        <p:spPr>
          <a:xfrm>
            <a:off x="7991856" y="859536"/>
            <a:ext cx="326440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16" name="Text 14"/>
          <p:cNvSpPr txBox="1"/>
          <p:nvPr/>
        </p:nvSpPr>
        <p:spPr>
          <a:xfrm>
            <a:off x="7991856" y="1271016"/>
            <a:ext cx="326440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Screenshot of the application page. </a:t>
            </a:r>
            <a:pPr algn="l" indent="0" marL="0">
              <a:lnSpc>
                <a:spcPct val="110000"/>
              </a:lnSpc>
              <a:buNone/>
            </a:pPr>
            <a:r>
              <a:rPr lang="en-US" sz="1200" b="1" i="1" dirty="0">
                <a:solidFill>
                  <a:srgbClr val="B85042"/>
                </a:solidFill>
                <a:latin typeface="DM Sans" pitchFamily="34" charset="0"/>
                <a:ea typeface="DM Sans" pitchFamily="34" charset="-122"/>
                <a:cs typeface="DM Sans" pitchFamily="34" charset="-120"/>
              </a:rPr>
              <a:t>[PLACEHOLDER]</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Calendar booking screenshot showing available call slots. </a:t>
            </a:r>
            <a:pPr algn="l" indent="0" marL="0">
              <a:lnSpc>
                <a:spcPct val="110000"/>
              </a:lnSpc>
              <a:buNone/>
            </a:pPr>
            <a:r>
              <a:rPr lang="en-US" sz="1200" b="1" i="1" dirty="0">
                <a:solidFill>
                  <a:srgbClr val="B85042"/>
                </a:solidFill>
                <a:latin typeface="DM Sans" pitchFamily="34" charset="0"/>
                <a:ea typeface="DM Sans" pitchFamily="34" charset="-122"/>
                <a:cs typeface="DM Sans" pitchFamily="34" charset="-120"/>
              </a:rPr>
              <a:t>[PLACEHOLDER]</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The seats are limited.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Apply now.</a:t>
            </a:r>
            <a:endParaRPr lang="en-US" sz="34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600" b="1" dirty="0">
                <a:solidFill>
                  <a:srgbClr val="B85042"/>
                </a:solidFill>
                <a:latin typeface="DM Sans" pitchFamily="34" charset="0"/>
                <a:ea typeface="DM Sans" pitchFamily="34" charset="-122"/>
                <a:cs typeface="DM Sans" pitchFamily="34" charset="-120"/>
              </a:rPr>
              <a:t>[PLACEHOLDER: application URL]</a:t>
            </a:r>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 · Next cohort: </a:t>
            </a:r>
            <a:pPr algn="l" indent="0" marL="0">
              <a:lnSpc>
                <a:spcPct val="115000"/>
              </a:lnSpc>
              <a:buNone/>
            </a:pPr>
            <a:r>
              <a:rPr lang="en-US" sz="1600" b="1" dirty="0">
                <a:solidFill>
                  <a:srgbClr val="B85042"/>
                </a:solidFill>
                <a:latin typeface="DM Sans" pitchFamily="34" charset="0"/>
                <a:ea typeface="DM Sans" pitchFamily="34" charset="-122"/>
                <a:cs typeface="DM Sans" pitchFamily="34" charset="-120"/>
              </a:rPr>
              <a:t>[PLACEHOLDER: start date]</a:t>
            </a:r>
            <a:endParaRPr lang="en-US" sz="1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6949440" y="0"/>
            <a:ext cx="5242255" cy="6858000"/>
          </a:xfrm>
          <a:prstGeom prst="rect">
            <a:avLst/>
          </a:prstGeom>
          <a:solidFill>
            <a:srgbClr val="2B5C5C"/>
          </a:solidFill>
          <a:ln w="15875">
            <a:solidFill>
              <a:srgbClr val="8AAF8A"/>
            </a:solidFill>
            <a:prstDash val="dash"/>
          </a:ln>
        </p:spPr>
      </p:sp>
      <p:sp>
        <p:nvSpPr>
          <p:cNvPr id="3" name="Text 1"/>
          <p:cNvSpPr txBox="1"/>
          <p:nvPr/>
        </p:nvSpPr>
        <p:spPr>
          <a:xfrm>
            <a:off x="7269480" y="320040"/>
            <a:ext cx="460217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269480" y="731520"/>
            <a:ext cx="460217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Tamara, warm closing portrait. Smiling, relaxed, looking right at the viewer. Same setting as the title slide for bookends.</a:t>
            </a:r>
            <a:endParaRPr lang="en-US" sz="1200" dirty="0"/>
          </a:p>
        </p:txBody>
      </p:sp>
      <p:sp>
        <p:nvSpPr>
          <p:cNvPr id="5" name="Text 3"/>
          <p:cNvSpPr txBox="1"/>
          <p:nvPr/>
        </p:nvSpPr>
        <p:spPr>
          <a:xfrm>
            <a:off x="640080" y="822960"/>
            <a:ext cx="5943600" cy="2834640"/>
          </a:xfrm>
          <a:prstGeom prst="rect">
            <a:avLst/>
          </a:prstGeom>
          <a:noFill/>
          <a:ln/>
        </p:spPr>
        <p:txBody>
          <a:bodyPr wrap="square" lIns="0" tIns="0" rIns="0" bIns="0" rtlCol="0" anchor="b">
            <a:normAutofit/>
          </a:bodyPr>
          <a:lstStyle/>
          <a:p>
            <a:pPr algn="l" indent="0" marL="0">
              <a:lnSpc>
                <a:spcPct val="95000"/>
              </a:lnSpc>
              <a:buNone/>
            </a:pPr>
            <a:r>
              <a:rPr lang="en-US" sz="4300" b="1" dirty="0">
                <a:solidFill>
                  <a:srgbClr val="FFFFFF"/>
                </a:solidFill>
                <a:latin typeface="Cormorant Garamond" pitchFamily="34" charset="0"/>
                <a:ea typeface="Cormorant Garamond" pitchFamily="34" charset="-122"/>
                <a:cs typeface="Cormorant Garamond" pitchFamily="34" charset="-120"/>
              </a:rPr>
              <a:t>When is it going to be </a:t>
            </a:r>
            <a:pPr algn="l" indent="0" marL="0">
              <a:lnSpc>
                <a:spcPct val="95000"/>
              </a:lnSpc>
              <a:buNone/>
            </a:pPr>
            <a:r>
              <a:rPr lang="en-US" sz="4300" b="1" dirty="0">
                <a:solidFill>
                  <a:srgbClr val="B7D3B7"/>
                </a:solidFill>
                <a:latin typeface="Cormorant Garamond" pitchFamily="34" charset="0"/>
                <a:ea typeface="Cormorant Garamond" pitchFamily="34" charset="-122"/>
                <a:cs typeface="Cormorant Garamond" pitchFamily="34" charset="-120"/>
              </a:rPr>
              <a:t>your turn?</a:t>
            </a:r>
            <a:endParaRPr lang="en-US" sz="4300" dirty="0"/>
          </a:p>
        </p:txBody>
      </p:sp>
      <p:sp>
        <p:nvSpPr>
          <p:cNvPr id="6" name="Text 4"/>
          <p:cNvSpPr txBox="1"/>
          <p:nvPr/>
        </p:nvSpPr>
        <p:spPr>
          <a:xfrm>
            <a:off x="640080" y="3886200"/>
            <a:ext cx="5852160" cy="1188720"/>
          </a:xfrm>
          <a:prstGeom prst="rect">
            <a:avLst/>
          </a:prstGeom>
          <a:noFill/>
          <a:ln/>
        </p:spPr>
        <p:txBody>
          <a:bodyPr wrap="square" lIns="0" tIns="0" rIns="0" bIns="0" rtlCol="0" anchor="t">
            <a:normAutofit/>
          </a:bodyPr>
          <a:lstStyle/>
          <a:p>
            <a:pPr algn="l" indent="0" marL="0">
              <a:lnSpc>
                <a:spcPct val="110000"/>
              </a:lnSpc>
              <a:buNone/>
            </a:pPr>
            <a:r>
              <a:rPr lang="en-US" sz="2000" dirty="0">
                <a:solidFill>
                  <a:srgbClr val="E1F5EE"/>
                </a:solidFill>
                <a:latin typeface="DM Sans" pitchFamily="34" charset="0"/>
                <a:ea typeface="DM Sans" pitchFamily="34" charset="-122"/>
                <a:cs typeface="DM Sans" pitchFamily="34" charset="-120"/>
              </a:rPr>
              <a:t>I'm rooting for you.</a:t>
            </a:r>
            <a:endParaRPr lang="en-US" sz="2000" dirty="0"/>
          </a:p>
        </p:txBody>
      </p:sp>
      <p:sp>
        <p:nvSpPr>
          <p:cNvPr id="7" name="Text 5"/>
          <p:cNvSpPr txBox="1"/>
          <p:nvPr/>
        </p:nvSpPr>
        <p:spPr>
          <a:xfrm>
            <a:off x="640080" y="5303520"/>
            <a:ext cx="5852160" cy="731520"/>
          </a:xfrm>
          <a:prstGeom prst="rect">
            <a:avLst/>
          </a:prstGeom>
          <a:noFill/>
          <a:ln/>
        </p:spPr>
        <p:txBody>
          <a:bodyPr wrap="square" lIns="0" tIns="0" rIns="0" bIns="0" rtlCol="0" anchor="t">
            <a:normAutofit/>
          </a:bodyPr>
          <a:lstStyle/>
          <a:p>
            <a:pPr algn="l" indent="0" marL="0">
              <a:lnSpc>
                <a:spcPct val="100000"/>
              </a:lnSpc>
              <a:buNone/>
            </a:pPr>
            <a:r>
              <a:rPr lang="en-US" sz="1400" b="1" spc="100" kern="0" dirty="0">
                <a:solidFill>
                  <a:srgbClr val="8AAF8A"/>
                </a:solidFill>
                <a:latin typeface="DM Sans" pitchFamily="34" charset="0"/>
                <a:ea typeface="DM Sans" pitchFamily="34" charset="-122"/>
                <a:cs typeface="DM Sans" pitchFamily="34" charset="-120"/>
              </a:rPr>
              <a:t>Tamara Lashchyk · tamaralashchyk.com</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112</Slides>
  <Notes>112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112</vt:i4>
      </vt:variant>
    </vt:vector>
  </HeadingPairs>
  <TitlesOfParts>
    <vt:vector size="1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Done Waiting Your Turn: Tamara Lashchyk Masterclass</dc:title>
  <dc:subject>PptxGenJS Presentation</dc:subject>
  <dc:creator>Beacon Media</dc:creator>
  <cp:lastModifiedBy>Beacon Media</cp:lastModifiedBy>
  <cp:revision>1</cp:revision>
  <dcterms:created xsi:type="dcterms:W3CDTF">2026-09-23T20:10:40Z</dcterms:created>
  <dcterms:modified xsi:type="dcterms:W3CDTF">2026-09-23T20:10:40Z</dcterms:modified>
</cp:coreProperties>
</file>