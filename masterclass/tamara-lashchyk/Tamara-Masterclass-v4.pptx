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Lst>
  <p:notesMasterIdLst>
    <p:notesMasterId r:id="rId1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notesMaster" Target="notesMasters/notesMaster1.xml"/><Relationship Id="rId123" Type="http://schemas.openxmlformats.org/officeDocument/2006/relationships/presProps" Target="presProps.xml"/><Relationship Id="rId124" Type="http://schemas.openxmlformats.org/officeDocument/2006/relationships/viewProps" Target="viewProps.xml"/><Relationship Id="rId125" Type="http://schemas.openxmlformats.org/officeDocument/2006/relationships/theme" Target="theme/theme1.xml"/><Relationship Id="rId1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HOOK  [~0:00]
Hi, and welcome. I'm Tamara Lashchyk, and I'm really glad you're here. Grab a coffee, or a glass of wine, depending on what time it is where you are. I'm not judging. Over the next hour I'm going to show you why so many smart, capable women stay underpaid, and I promise the reason isn't the one you've been told. Stay with me to the end, because that's where it all comes together. Let's start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TITLE + HOOK
Let me paint a picture, and you tell me if it sounds familiar. It's six in the morning. You're at the gym, finally doing something for yourself, and your boss calls. He's got a call with Asia and he doesn't have the numbers. So you jump on. You save his bacon. Then you shower, head into the office, and nobody there ever hears about it. Your boss certainly doesn't bring it up in your review. And you tell yourself that's fine. I'll just keep working hard, and my work will speak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TITLE + HOOK
Be honest with me. How many of you have said this one out loud? I know I'm probably underpaid, but I hate negotiating. And right behind it come the others. What if they say no? I don't want to make things awkward. I don't want to damage the relationship with my boss. (Pause.) I said every one of those for years. I was a vice president on Wall Street, and my palms still sweated walking into my boss's office. Smart women aren't bad at this because they aren't smart enough. Something else is going on, and we'll get to it. So if you're nodding right now, you're in good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TITLE + HOOK
Nine o'clock team meeting. You put an idea on the table. Crickets. Then Office Bro rolls in late, looking like the cat dragged him in, coffee in one hand and a bagel in the other. He chews for a while, then he lobs out your idea, basically, only dumber. And the room lights up. You're sitting there thinking, you have got to be kidding me. And you say nothing, because you don't want to look petty, or difficult, or like you're keeping score. When is it going to be my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TITLE + HOOK
You finally get home around eight thirty. Uber Eats shows up and they forgot your side salad. You don't call. You say nothing, same as you said nothing when that guy jumped into your cab this morning. Another long day, and still no promotion, no raise, no recognition. And later, lying there, the thought you don't say out loud: I want more. This can't be all there is. (Pause.) If any of these four landed a little too close to home, you're in exactly the right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TITLE + HOOK
So before we go any further, I want to tell you something most experts won't tell you about being underpaid. (Pause. Let it land.) Being underpaid isn't a money problem. It's a playing-small problem. You can be brilliant, prepared and great at your job, and still play small. From what I've seen, the most capable women are often the best at it. And playing small is an identity problem. Let me say that one more way, because everything tonight builds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TITLE + HOOK
You don't have a negotiation problem. You have an identity problem. (Pause.) I know. You came here thinking I'd hand you a better script, and part of you is a little annoyed with me right now. That's fine. Stay with me, because by the end of this hour I think you'll see your whole career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TITLE + HOOK
Here's my promise for tonight. You've grown. Your skills, your judgment and your results have all grown. But the way you see yourself hasn't kept pace, and the people across the table can feel it. They can't name it, but they feel it. They feel the woman who's asking, instead of the woman who expects. When you close that gap, you stop asking for permission. You start commanding your worth, and the raises and promotions tend to follow. So let me show you where we're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WHAT I'M COVERING  [~4:52]
Here's the roadmap. First, why working harder stopped working for you. Second, what waiting is really costing you, and it's more than money. Third, I'll walk you through my V.O.I.C.E. Framework and why it starts with identity. Then you'll meet Shelly, Nina and Erica, three women who closed this gap. And at the end, I'll tell you how you can work with me if you want to go further. I'm going to give you a lot tonight, and I'm going to be honest with you, even when it's a little uncomfortable. That's kind of my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WHAT I'M COVERING
But first, I want to know who's here with me. Look at these three and type 1, 2 or 3 in the chat. One, you've never negotiated and you know you're underpaid. Two, you've negotiated, but you're still underpaid and you want more. Three, you're winning, but your pay doesn't reflect it. (Read a few answers out loud and react to them.) Wherever you are, you're in the right room. By the end of tonight, I want every one of you thinking about what it takes to get to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WHAT I'M COVERING
One favor before we start. A lot of what I'm going to say won't sound like normal career advice. You got where you are by being tough and rational and never letting them see you sweat. I get it. I lived that for twenty-six years. For the next hour, loosen your grip a little. Close the other tabs, turn your phone face down, and listen with an open mind and an open heart. You can go back to being tough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RESULTS DISCLAIMER  [~6:47]
Quick housekeeping. The client results I'm going to share are real, but everyone's situation is different, and nobody can promise you a specific number. Including me. Okay. Now let me tell you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WHO I AM  [~7:02]  {BUILD 1/5}
So who am I to talk about this? I spent twenty-six years on Wall Street. I negotiated deals with a lot of zeros on them. And I led global talent initiatives, which means I also sat on the other side of the table, deciding who got paid what. I've been the woman asking for the raise, and I've been the person deciding whether she got it. Very few people get to see both sides of that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WHO I AM  {BUILD 2/5}
J.P. Morgan. Merrill Lynch, which became Bank of America. Deutsche Bank. I know how these places decide compensation, because I was in the rooms where it got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WHO I AM  {BUILD 3/5}
And by the end of my Wall Street career, I was the highest-paid person in my U.S. division. Man or woman. (Pause.) I want you to hear that, because it didn't start that way. I'll tell you how it started in a minute, and it was ugly.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WHO I AM  {BUILD 4/5}
Along the way I wrote a book called Lose the Gum. It's a survival guide for women on Wall Street, Main Street and every street in between. And yes, the title comes from a real story. Buy me a drink sometime and 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WHO I AM  {BUILD 5/5}
I received the Women of Wall Street Award for helping advance women's careers in financial services, and a Special Congressional Recognition for my contributions to banking and finance. I'm proud of both. But neither of them is the most useful thing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WHO I AM
Most people who teach negotiation studied it. I did it, for twenty-six years, across a real desk with real money on the line. Then I did something most bankers would call insane. I walked away and spent five years on the inside work. The combination of those two things is what I bring to you tonight. But before I tell you that story, I want to do something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VISUALIZATION PREFACE  [~9:15]
Before we go any further, I'd like to do a short exercise with you. It's something I did for myself when I was rebuilding my own life, and honestly, I still do it. It takes about two minutes. Just stay with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VISUALIZATION  [~9:33]
The late Bob Proctor used to say, "If you can see it in your mind, you will hold it in your hand." What he meant is that you can't move toward something you can't see. So get comfortable. If you're somewhere safe to do it, close your eyes. (Slow down. Soft voice. Pause between lines.)
Take a deep breath in. And let it go.
Picture a morning about a year from now. You walk into the office and you feel different. Lighter. You're not bracing for anything.
There's a meeting on your calendar today. It's the conversation about your compensation. And notice how you feel about it. You're calm. You've done the work. You know exactly what you're worth.
You walk into that room and you feel like you belong there. You sit down, and you speak clearly. You don't over-explain. You don't apologize. You sound like a woman who knows her worth, because you do.
Notice how the person across the table looks at you. They're taking you seriously. Because you're taking yourself seriously.
Now picture a team meeting a few weeks later. You put an idea on the table, and this time it lands. It has your name on it. Office Bro is still eating his bagel, and nobody's looking at him.
Now picture coming home that night. Your shoulders drop. You have energy left for the people you love. And when someone takes you for granted, at work or at home, you say something. Kindly. Clearly.
Notice the woman in that picture. How she's standing. How she's breathing. She isn't waiting for anyone's permission.
(Pause.) That woman already exists inside you. Everything we talk about tonight is about becoming her.
Take one more breath. And when you're ready, open your eyes.
(Pause.) How did that feel? Hold on to that picture. You just took the first step, because you can't move toward something you can't see. Now let me tell you how I found my way to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ORIGIN STORY  [~11:54]
I grew up in a house with no savings. We weren't poor, exactly. But there was nothing in the bank, the credit cards were maxed out, and there were nights the lights went off because the bill didn't get paid. If you're wondering where my relationship with money started, it started right there, in the dark. Money was something we didn't talk about, except when it was a crisis. So I learned early that money meant stress, and asking for it meant trouble. It took me decades to see how much that little girl was still sitting in on my negotiations.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ORIGIN STORY
When I was eighteen, my mother died suddenly. Soon after, my father declared bankruptcy. So I put myself through college, and I walked out with more than fifty thousand dollars of student debt. That's north of a hundred thousand today. And I graduated straight into a recession. No safety net, no family connections, no mentors and no fancy school on my résumé. Just a lot of debt and a lot of nerve.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ORIGIN STORY
I had two Wall Street internships on my résumé, and nobody was hiring. So I bagged groceries at the Acme. Honestly, best education I ever got. You learn a lot about people when you're the one bagging their groceries. Who says thank you, and who looks right through you. I've never forgotten it. But I didn't let go of Wall Street. There was money to be made there and I wanted a piece of it. I sent J.P. Morgan hundreds of résumés. Hundreds. Eventually they said yes, probably just to make me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ORIGIN STORY
My career took off. People inside the firm and across the industry knew my name. And I was underpaid. There is nothing more demoralizing than working that hard and not being recognized for it. I was the one staying late, fixing the problems, making my boss look good. And every year I'd sit in my review, nod politely and say thank you for whatever number they gave me. I remember sitting in my aunt's bedroom one night, crying, completely wiped out. And she asked me one simple question. Why don't you ask for a raise? I said, "We don't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ORIGIN STORY
She snapped right back. (Slowly.) "Men do it all the time, and they do it behind closed doors, which is why you never hear about it." And then the line I still hear in my head. "If you want to play with the big boys, you'd better learn to ask for what you want." (Pause four full seconds.) She was absolutely right. And that one sentence changed the entire trajectory of my career, and honestly, my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ORIGIN STORY
So the next day I asked for a meeting with my boss. And I blew it. I was nervous, I fumbled, and I asked for way too little. Did I get a raise? Yes. Did I walk out looking like a mature, skilled professional? Absolutely not. I looked like a rookie. I'd spent weeks proving my value to everyone except the one person who mattered in that moment, which was me. That meeting started a lifelong obsession with negotiation, and more than anything with the psychology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ORIGIN STORY
Fast forward twenty-six years. I'm the highest-paid person in my division, at the top of my game. And I get fired by my boss, two days before she retires. A classic Wall Street F.U. I'd given that world decades of my life, and it ended in one short meeting. That's not how I wanted my story to end. I started a coaching business, and the first year made good money. But something was off, and I couldn't shake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28  |  ORIGIN STORY
When the title goes, you find out how much of you was the title. I had to look at myself in a dust-free mirror. So I spent five years in Costa Rica and India, stripping it all away, the titles and the business cards included. I did the inner work I'd been too busy to do for twenty-five years. I sat with things I had never let myself feel. I looked hard at the stories I'd been telling myself about money and about what I deserved. It was the hardest work I've ever done, and I've done some very hard deals. And what I found underneath was something no bonus ever gave me: a real sense of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29  |  ORIGIN STORY
Those five years changed how I think about success. I believe success without fulfillment is failure. I believe your life will rarely go past the identity you've accepted for yourself. And I believe your greatest asset isn't in your portfolio. It's in the mirror. (Pause.) Hold on to that. Now let's talk about why the plan you were handed keeps letting you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30  |  THE OLD WAY  [~17:35]
Part one. Why working harder stopped working. I want to start with what isn't working, because I don't want you spending another year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31  |  THE OLD WAY
Here's the plan most of us were handed. Work harder and wait to be noticed. Wait for the annual performance review. Hope your boss recognizes what you did. Ask a mentor or a friend what they would do. Memorize a better script. Every one of these makes sense, and I did most of them myself. But every one of them leaves the decision about your worth in somebody else's hands. Let's look at the beliefs underneath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32  |  THE OLD WAY
Myth number one. Most women think, "I have a negotiation problem. I need better tactics and the right words." So they buy the book, watch the video, memorize a line, and nothing changes. The reality is that your capability has outgrown the identity you've accepted. A better script can't close that gap, because the words were never what was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33  |  THE OLD WAY
Myth number two. "My work will speak for itself." Here's the thing. Your work has never once walked into a comp meeting and argued for you. Somebody talks about it in that room. The question is whether it's you, or whether you're relying on your boss's memory in December. Trust me, you don't want to rely on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34  |  THE OLD WAY
Myth number three. "I have to earn the right to ask for more." Think about how long you've already been doing the job at the level above your title. Months? Years? You're not early. If anything, you're late. Honey, you earned it years ago. You're waiting on a permission slip, and I promise nobody in HR is walking around with a pen looking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35  |  THE OLD WAY
Myth number four. "Asking will make me look greedy, difficult or ungrateful." Remember my aunt? Men do it all the time, behind closed doors. Nobody calls them greedy. They call them good at business. Asking for what you're worth shows the people above you that you take the business, and yourself, seriously. You get to be good at business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36  |  THE OLD WAY
And myth number five. "The right script will fix this." I sat on the other side of the table for years. Someone would walk in with a beautiful script, and I could usually tell within a few seconds whether they believed a word of it. People buy the woman before they buy the words. The room hears the doubt before it hears the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37  |  THE OLD WAY
So day to day, the gap looks something like this. You minimize what you've actually accomplished. Oh, it was a team effort. You hesitate to ask for more. You over-explain, which in a negotiation reads as doubt. And you avoid the conversations you know you need to have, until they're unavoidable, or until it's too late. You don't have to raise your hand for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38  |  THE OLD WAY
The part people don't expect is how far it travels. The mechanic who pads the bill. The landscaper. The housekeeper. Sometimes your own husband and kids, taking you for granted. That's how I know we're dealing with identity. A skills problem would stay at the office. This one follows you home. And it gets more expensive every year. Let me show you how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39  |  WHY NOW  [~21:26]
Part two. What waiting really costs. I'm a finance person, so let's talk numbers for a minute. And then let's talk about the cost that never shows up on a pay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40  |  WHY NOW
Sixty-four percent of women never negotiate their salary. Never. Not once. If you're in that group, no judgment. I was almost in that group myself. But you should know that you're leaving money on the table, and somebody else is picking it up. And in my experience, the women who never ask are rarely the weakest performers. They're often the ones everyone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41  |  WHY NOW  {BUILD 1/3}
Here's the math nobody shows you. Say you skip one negotiation and leave five thousand dollars on the table. Your raises are percentages of your base, so that missing five thousand grows every year, about three percent a year. After ten years, the one conversation you didn't have has cost you about fifty-seven thousand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42  |  WHY NOW  {BUILD 2/3}
After twenty years, about a hundred and thirty-four thousand. And that's before your bonus and your retirement match, which are percentages of the same number. It's also before your next employer asks what you're making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43  |  WHY NOW  {BUILD 3/3}
Over a thirty-year career: two hundred thirty-seven thousand, eight hundred seventy-seven dollars. (Pause.) From one missed conversation. I spent my career watching compounding make people rich. It works just as hard against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44  |  WHY NOW
But honestly, the money isn't what worries me most. Every time you say nothing, you're rehearsing. You're getting better at being the woman who says nothing. From the outside your life looks great. On the inside you can't figure out why it still doesn't feel like enough. That weight compounds faster than any salary does. And it leaks into everything: your patience, your energy, your relationships. You can't play small for fifty hours a week and then play big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45  |  WHY NOW
And the market just shifted. With AI, being the smartest person in the room, the one with all the answers, is worth less every month. The machine has answers. I could be wrong about how fast this happens, but I'd bet my bonus on the direction. What AI can't do is exercise judgment, build real relationships, communicate with influence, advocate for your ideas and lead people with confidence. Those are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46  |  WHY NOW
So executive presence is becoming the competitive advantage. The people who thrive over the next decade will be the ones who know what makes them unique and how to get paid for it. And that starts with knowing yourself. Which brings me to the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47  |  THE V.O.I.C.E. FRAMEWORK  [~24:24]
Part three. I spent years figuring out how to close the gap between who you are and who you're showing up as, first on Wall Street and then on the inside. I put everything I learned into one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48  |  THE V.O.I.C.E. FRAMEWORK
It's called the V.O.I.C.E. Framework. Value. Ownership. Identity. Communication. Execution. Five parts, and the order matters. Value comes first, because you can't communicate what you can't see. Identity sits right in the middle, because it holds everything else up. Tonight I'm going to walk you through what each one is and why it matters. The detailed how-to is what we do together inside the program. Tonight is about seeing the whole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49  |  THE V.O.I.C.E. FRAMEWORK
One thing before we start. Negotiation is the vehicle. Transformation is the destination. A raise is one way you'll measure this work. But where you're really going is seeing yourself differently, and once that shifts, the negotiation gets a whole lot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50  |  THE V.O.I.C.E. FRAMEWORK
V is for Value. Learn to see your value before you ask others to. Most of the women I work with are brilliant at their jobs and terrible at seeing it. Long hours, weekends, saving your boss's bacon at six in the morning. It feels like value because it costs you so much. We were taught to measure ourselves in hours, while everyone else measures us in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51  |  THE V.O.I.C.E. FRAMEWORK
Here's the belief we break. "My value is how hard I work." The reality is that companies pay for value. Effort alone never makes it into the comp discussion. Nobody on a comp committee ever said, well, she seemed really 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52  |  THE V.O.I.C.E. FRAMEWORK
And women who prepare are seventy-four percent more likely to earn a raise. Preparation starts with seeing your own value clearly. Most women skip that part, because they don't know where to start, or because they quietly resist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53  |  THE V.O.I.C.E. FRAMEWORK
So ask yourself this. If your work had to speak for itself in a comp meeting tomorrow, what would it actually say? (Pause.) Sit with that for a second. Most women realize they've never done that math for themselves. Your value is measurable, and until you can see it, you're asking someone else to do math you haven't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54  |  THE V.O.I.C.E. FRAMEWORK
When this piece clicks, she knows her value and can articulate it with confidence. You stop apologizing for your wins. You know your market value before anyone names a number. You talk about your work in terms of results. And review season stops being where you find out what you're worth. You'll probably notice these shifts before your boss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55  |  THE V.O.I.C.E. FRAMEWORK
O is for Ownership. If you want a bigger job, make your job bigger. That one comes straight from my Wall Street years. I noticed something about the people who got ahead. They didn't wait for a job description to tell them what they were allowed to do. They took on the bigger problem, and the title came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56  |  THE V.O.I.C.E. FRAMEWORK
When is it going to be my turn? I hear that one constantly, and notice what's baked into it. It assumes somebody else is running the line. The belief we break here is, "If I do great work, someone will notice and promote me." The hard truth is that nobody is coming to hand it to you. You're the CEO of your career, and right now the CEO is waiting in the lobby.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57  |  THE V.O.I.C.E. FRAMEWORK
So where in your career are you still waiting to be chosen? (Pause.) Waiting feels safe. But it's still a strategy, and it's a bad one. The women who move up take ownership of where they're going. They create the opportunity instead of applying for it. Men figured this out a long time ago, behind closed doors, just like my aunt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58  |  THE V.O.I.C.E. FRAMEWORK
When this piece clicks, she stops waiting to be chosen and starts choosing herself. She creates opportunities instead of applying for them. She raises her hand long before review season. Her influence grows past her job description. And she decides where her career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59  |  THE V.O.I.C.E. FRAMEWORK
I is for Identity. This is the heart of it, and it's the piece you won't find in any negotiation book. Become the woman first. Everything else in the framework stands on this one. You can know your value, take ownership and say all the right words, but if the woman saying them doesn't believe them, the room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60  |  THE V.O.I.C.E. FRAMEWORK
Here's how it plays out. The woman who sees herself as lucky to be here negotiates very differently from the woman who sees herself as an asset. The woman who fears rejection hints and hopes. The woman who knows her power asks clearly, without apologizing. And the woman who believes her value has to be earned will overdeliver forever and stay underpaid. Same skills, different identity, and a very different paycheck.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61  |  THE V.O.I.C.E. FRAMEWORK
Your identity is the operating system running underneath everything else. (Read slowly, one line at a time.) If you feel invisible, you stay quiet. If you feel replaceable, you settle. If you believe you're unworthy, you stay underpaid. Now flip it. If you feel valuable, you ask for more. If you feel powerful, you show up differently. (Pause.) Which line felt true for you? You don't have to say it. Just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62  |  THE V.O.I.C.E. FRAMEWORK
Every negotiation feels like a referendum on whether you're enough, and that's why it's so emotional. The belief we break here is, "I'll feel confident once I get the title and the number." It works the other way around. Your career will rarely exceed the identity you've accepted for yourself. You have to become her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63  |  THE V.O.I.C.E. FRAMEWORK
And here's the good news, which is the reason I do this work. Identity is not fixed. Identity is constructed. Which means you can rebuild it, on purpose. I did it at eighteen. I did it again when I left Wall Street. And I watch women do it in every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64  |  THE V.O.I.C.E. FRAMEWORK
So ask yourself this one. What did you learn about money before you were ten years old? (Pause.) For me it was a house with no savings and the lights getting shut off. You have your own version. You don't have to answer out loud. Just notice what comes up, because whatever it is, it has probably been sitting in on your negotiations.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65  |  THE V.O.I.C.E. FRAMEWORK
When this piece clicks, she no longer questions whether she deserves more. She expects it. She stops asking whether she deserves it. She takes a compliment without deflecting it. A no stops feeling like a verdict on her. And she walks into the room and feels like she belongs there. So many of you have told me that's what you want. This is where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66  |  THE V.O.I.C.E. FRAMEWORK
C is for Communication. Make your value impossible to ignore. So many of you have told me, "I want people to take me seriously." This is where that happens. In a room full of people, the clearest, calmest voice usually wins, even when it isn't the loudest.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67  |  THE V.O.I.C.E. FRAMEWORK
The belief we break is, "I just need the perfect words." Look, words matter. I'm not going to pretend otherwise. But people respond to who's saying the words far more than to the words themselves. When your identity shifts, your communication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68  |  THE V.O.I.C.E. FRAMEWORK
So ask yourself. When you over-explain, who are you really trying to convince? (Pause.) Over-explaining reads as doubt to the person across the table. And in my experience, the person we're really trying to convince is usually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69  |  THE V.O.I.C.E. FRAMEWORK
When this piece clicks, her communication finally reflects her capability. Her ideas get credited to her. She speaks with authority without feeling like she's performing. She gets through the hard conversation without over-explaining. And decision makers start coming to her. Yes, that includes the meeting where Office Bro tries to pitch her idea back to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70  |  THE V.O.I.C.E. FRAMEWORK
And E is for Execution. Courage in action. Ideas without action are just hopes and dreams. This is where everything we've talked about stops being a nice idea and starts showing up on your pay stub.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71  |  THE V.O.I.C.E. FRAMEWORK
The belief we break is, "I'll act when I feel ready." What I've seen over and over is that the confidence comes after you do the scary thing. Almost never before. If you wait until you feel ready, you'll be waiting at your retirement party.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72  |  THE V.O.I.C.E. FRAMEWORK
And does doing this work mean you stop being afraid? No. I'm afraid every day. But I do it anyway. Fear always comes along for the ride. You just become a woman who isn't stopped by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73  |  THE V.O.I.C.E. FRAMEWORK
So ask yourself. What conversation have you been putting off? (Pause.) You probably thought of one immediately. That's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74  |  THE V.O.I.C.E. FRAMEWORK
When this piece clicks, she builds the confidence that only comes from action. She has the conversation instead of rehearsing it in the shower. She practices before it counts, with people in her corner. Discomfort stops being a reason to wait. And every time, she collects a little more proof that she can do hard things. Confidence stacks, a bit like compounding.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75  |  THE V.O.I.C.E. FRAMEWORK
So put it all together. She knows her value. She chooses herself. She expects more. Her words match her capability. And she acts, even when it's uncomfortable. That's the woman who commands her worth. And here's why I built it this way. Most negotiation programs start and end at communication. Here are the words. We start with who you are, so the words actually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76  |  THE V.O.I.C.E. FRAMEWORK
Let's make this interactive. Which letter hit you hardest? Type V, O, I, C or E in the chat. (Read a few answers out loud and react.) In my experience most people say I. That's usually the one that stings. Now let me show you what this looks like in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77  |  CLIENT STORIES  [~35:50]
Part four. Enough theory. I'm going to introduce you to three women. Different fields, very different salaries. What they had in common was the gap we've been talking about all night. Their results are theirs, and yours will be your own. But I'd bet you recognize yourself in at least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78  |  CLIENT STORIES
Meet Shelly. Shelly was a highly accomplished executive, and she knew she was underpaid. Like so many of you, she believed her work should speak for itself. Negotiating made her skin crawl. So she kept delivering and kept hoping someone would notice. She was doing the old way perfectly, and it was costing her a fortune.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79  |  CLIENT STORIES
We worked on her strategy, sure. But mostly we worked on how she saw herself and the value she brought to that organization. Once she understood her market value, she could say it, clearly and with confidence. Notice what changed first: how she saw herself. Her résumé and her title stayed the same. The conversation followed.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80  |  CLIENT STORIES
Her compensation went from two hundred twenty-five thousand to four hundred thirty-five thousand. (Pause.) And the number isn't the part I'm proudest of. Shelly stopped waiting for permission. She makes every career decision from ownership now, instead of fear. That shift is what she gets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81  |  CLIENT STORIES
Meet Nina. Nina did exceptional work, consistently. And she kept getting passed over for the bigger opportunities. "I don't understand why I keep getting overlooked." That was Nina, almost word for word. Oh, it was a team effort, she'd say, every single time. And every single time, somebody else got the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82  |  CLIENT STORIES
She learned to clearly articulate the business impact she was creating. She started communicating with more authority and stopped shrinking her wins. When she stopped minimizing, people started hearing her. Same work, same woman, completely different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83  |  CLIENT STORIES
Her compensation went from one eighty-five to two fifteen, and she's now positioned for executive leadership. The real change? She stopped seeing herself as someone hoping to be noticed. She started acting like the leader she already was, and the title is catching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84  |  CLIENT STORIES
And meet Erica. Erica's story is a little different, and I include it on purpose. She dramatically underestimated her market value. She had no idea what the market was willing to pay for what she did. And when you don't know what you're worth, any offer sounds like a gift.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85  |  CLIENT STORIES
Once she understood what the market would actually pay, and built the confidence to negotiate, she approached every opportunity completely differently. That's Value and Identity working together. Knowing the number, and believing she was allowed to ask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86  |  CLIENT STORIES
She went from twenty-eight thousand to eighty thousand. Nearly triple. And underneath it, she stopped asking whether she deserved more and started expecting to be paid for the value she creates. Which, if you remember, is the Identity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87  |  CLIENT STORIES
That's the thread through all three stories. None of them waited for permission to go first. The money is one result. What they walked away with is a different way of seeing themselves, and they take that into every room for the rest of their careers. So how do you do this without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88  |  THE PROGRAM  [~39:36]
That's exactly why I created the Amplify Your V.O.I.C.E. Experience. It's an intimate, high-touch, eight-week executive coaching experience for ambitious corporate women. A small group, and a lot of me. I built it because I watched so many brilliant women learn the right things and still not use them. Information was never what they were missing. They needed to become the woman who acts on it, and that takes coaching, practice and people in your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89  |  THE PROGRAM
I want to be clear about who this is for. It's for ambitious corporate women who know they can play a bigger game, who are ready to go deeper than tactics, and who are willing to invest in themselves. If you want a résumé review or a script library, there are cheaper places to get one, and I'll happily save you the time. This isn't for tire-kickers.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90  |  THE PROGRAM  {BUILD 1/8}
So here's what's included. Every week we meet live. Each session builds on the last one, and we combine executive career strategy with the identity work, applied to what's actually happening in your job that week. It's live and interactive, and you're going to talk. No hiding behind a muted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91  |  THE PROGRAM  {BUILD 2/8}
You get the full V.O.I.C.E. curriculum. Tonight you got the map. Inside, you get the turn-by-turn directions, all five parts, taught in depth. We go especially deep on Identity, because that's where the real shift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92  |  THE PROGRAM  {BUILD 3/8}
Hot seat coaching. You bring your actual situation and we work it, live. You'll be surprised how much you learn from watching someone else's hot seat, too. Her boss is your boss with a different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93  |  THE PROGRAM  {BUILD 4/8}
Negotiation strategy sessions. We build your personal strategy for whatever is on your plate: salary, promotion, bonus, equity, flexible work, a new offer or an executive opportunity. This is where my twenty-six years on the Street go to work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94  |  THE PROGRAM  {BUILD 5/8}
Live role playing. I know, everyone groans. But remember my first negotiation? I fumbled because I'd never practiced. You get to fumble in front of us, where it's safe, so you don't fumble where it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95  |  THE PROGRAM  {BUILD 6/8}
Executive communication coaching. Presence, authority, influencing decision makers, and handling the difficult conversations without over-explaining. So the way you speak finally matches the level you perform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96  |  THE PROGRAM  {BUILD 7/8}
Career strategy. We build your long-term roadmap, because this is about the next ten years of your career, and the next raise is only one step in it. Where do you want to be in five years, and what kind of woman gets there? We work backward from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97  |  THE PROGRAM  {BUILD 8/8}
And a private community of ambitious women doing the same work. You'll share wins, practice courageous conversations together and hold each other accountable. Lovingly. Mostly. For a lot of women, not doing this alone anymore is the part that changes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98  |  THE PROGRAM
[PLACEHOLDER: script for the bonus once it's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99  |  THE PROGRAM
So here's everything together. Weekly live executive coaching. The full V.O.I.C.E. curriculum. Hot seat coaching. Negotiation strategy sessions. Live role playing. Executive communication coaching. Career strategy. The private community. And [PLACEHOLDER: bonus]. The total value comes to [PLACEHOLDER: total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100  |  THE PROGRAM
Your investment is [PLACEHOLDER: price]. I'm a finance person, so let's look at it like one. One successful negotiation can pay this back many times over. Shelly's increase was two hundred and ten thousand dollars in a single year. And after the first raise, you keep knowing how to do this, for every negotiation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101  |  MY COMMITMENT  [~43:38]
Now, I'm going to be straight with you, because that's who I am. I can't guarantee what your boss or your company will do. Nobody can. If someone promises you a specific number,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102  |  MY COMMITMENT
But here's what I can promise. If you do the work, you will leave thinking differently, communicating differently and showing up differently than when you walked in. I've watched it happen too many times to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103  |  MY COMMITMENT
And here's my commitment to you. Show up, do the work, participate in the coaching and fully engage, and I will be right there with you every step of the way. I'll challenge you, I'll support you, and I'll tell you what you need to hear even when you don't want to hear it. I can't do this for you. We do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104  |  URGENCY  [~44:36]
I keep this group small on purpose. I want to personally coach every woman in it, and I can't do that with a hundred people. There are [PLACEHOLDER: number] seats. When they're gone, enrollment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105  |  URGENCY
The next cohort starts [PLACEHOLDER: start date]. We review applications in the order they come in, so if you already know this is for you, don't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106  |  URGENCY
And remember, waiting is the most expensive choice you can make. Every future raise gets built on a lower base. Your bonus and retirement contributions get calculated from it. And you spend another year saying nothing, and getting better at it. [PLACEHOLDER: future cohorts priced higher, if still true.] The deadline that matters most is the one that pattern is quietly setting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107  |  YOUR QUESTIONS  [~45:30]
Now, I know what's going on in your head right now, because I've heard all of it. Let's go through the questions I hear most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108  |  YOUR QUESTIONS
"My industry is different." Sure. Your industry determines the numbers and how compensation gets structured. But knowing your value and advocating for yourself works whether you're in healthcare, tech, law or banking. I've seen it across all of them. The rules change from industry to industry. The woman playing the game is what we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109  |  YOUR QUESTIONS
"I'm not good at negotiating, and I hate asking for favors." I hear this one all the time. Try this reframe: what you're actually having is a business conversation about value. And your company knows exactly how expensive it would be to replace you, even if nobody ever says it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110  |  YOUR QUESTIONS
"I don't have time." I know. You're doing the work of three people. That's kind of the point. Staying where you are is costing you more than eight weeks ever will. One courageous conversation can change where your whole career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111  |  YOUR QUESTIONS
"What if they say no? I don't want to damage the relationship with my boss." Then you've learned something. A no tells you what's possible, what needs to happen next, and sometimes whether you're in the right place at all. A professional, well-prepared conversation doesn't wreck a healthy relationship. And if it does, that tells you something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112  |  YOUR QUESTIONS
"Is it really worth the investment?" Do the math on one conversation. Then remember you'll have more of them: salary, bonus, promotion, the next job offer. You'll use this for the rest of your career.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113  |  YOUR QUESTIONS
"Will the inner-work stuff really help my career?" Fair question from a room full of rational, successful women. I spent twenty-six years on Wall Street. I'm not going to ask you to hug a tree. The identity work is what makes the strategy land, and you just saw what it did for Shelly, Nina and Erica.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114  |  YOUR QUESTIONS
"What if I get found out? What if I'm not as good as they think?" This is the one nobody says out loud. I felt it as the highest-paid person in my division. It's incredibly common, and from what I've seen it hits the most capable people hardest. Your results are real. We work on letting you actually own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115  |  RECAP  [~48:14]
Let's recap. You don't have a negotiation problem. You have an identity problem. You saw the five myths that keep smart women underpaid, and why waiting costs you money and a lot more than money. You saw the V.O.I.C.E. Framework. And you saw what happened for Shelly, Nina and Erica when they closed the gap. That's a lot. Take a breath. You've already done something most women never do. You looked at it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116  |  RECAP
You already have the capability. I know you do, or you wouldn't be here. The open question is who walks into that room next time: the old version of you, or the woman you pictured at the start of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117  |  APPLY  [~49:03]
So you have two options. Option one, you keep going alone. Same plan, and another year of waiting to be noticed. You already know where that goes. Option two, you apply for the Amplify Your V.O.I.C.E. Experience and close the gap with me and a small group of women who get it. (Pause.) Which of these two can you see yourself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118  |  APPLY
If you apply, here's what happens on the call. We'll look at where you are in your career. We'll talk about what's keeping you stuck and get clear on what you want next. And we'll see if the program is the right fit, for both of us. It's a real conversation, with no pressure. If it's not the right fit, 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119  |  APPLY
Here's how to apply. Go to [PLACEHOLDER: application URL]. Answer a few short questions about your career. I review every application personally. And if it looks like a fit, we'll invite you to a conversation. The group is small and the seats go in order, so if you felt something tonight, that's your cue. My aunt was right. If you want to play with the big boys, you'd better learn to ask for what you want. This is me asking you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120  |  APPLY
Thank you for spending this hour with me. I know what it takes to show up for yourself when you're already running on empty. Remember the woman you pictured at the start of tonight, walking into that room like she belongs there? She already lives inside you. When is it going to be your turn? You get to decide that. I want to thank you for coming, and I'd also like you to thank yourself. Go apply, and I'll see you on the other side. (Open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160020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LIVE MASTERCLASS</a:t>
            </a:r>
            <a:endParaRPr lang="en-US" sz="1200" dirty="0"/>
          </a:p>
        </p:txBody>
      </p:sp>
      <p:sp>
        <p:nvSpPr>
          <p:cNvPr id="4" name="Shape 2"/>
          <p:cNvSpPr/>
          <p:nvPr/>
        </p:nvSpPr>
        <p:spPr>
          <a:xfrm>
            <a:off x="5730088" y="2057400"/>
            <a:ext cx="731520" cy="0"/>
          </a:xfrm>
          <a:prstGeom prst="line">
            <a:avLst/>
          </a:prstGeom>
          <a:noFill/>
          <a:ln w="19050">
            <a:solidFill>
              <a:srgbClr val="8AAF8A"/>
            </a:solidFill>
            <a:prstDash val="solid"/>
          </a:ln>
        </p:spPr>
      </p:sp>
      <p:sp>
        <p:nvSpPr>
          <p:cNvPr id="5" name="Text 3"/>
          <p:cNvSpPr txBox="1"/>
          <p:nvPr/>
        </p:nvSpPr>
        <p:spPr>
          <a:xfrm>
            <a:off x="914400" y="2286000"/>
            <a:ext cx="10362895" cy="1280160"/>
          </a:xfrm>
          <a:prstGeom prst="rect">
            <a:avLst/>
          </a:prstGeom>
          <a:noFill/>
          <a:ln/>
        </p:spPr>
        <p:txBody>
          <a:bodyPr wrap="square" lIns="0" tIns="0" rIns="0" bIns="0" rtlCol="0" anchor="ctr">
            <a:normAutofit/>
          </a:bodyPr>
          <a:lstStyle/>
          <a:p>
            <a:pPr algn="ctr" indent="0" marL="0">
              <a:lnSpc>
                <a:spcPct val="105000"/>
              </a:lnSpc>
              <a:buNone/>
            </a:pPr>
            <a:r>
              <a:rPr lang="en-US" sz="6000" dirty="0">
                <a:solidFill>
                  <a:srgbClr val="FFFFFF"/>
                </a:solidFill>
                <a:latin typeface="Cormorant Garamond" pitchFamily="34" charset="0"/>
                <a:ea typeface="Cormorant Garamond" pitchFamily="34" charset="-122"/>
                <a:cs typeface="Cormorant Garamond" pitchFamily="34" charset="-120"/>
              </a:rPr>
              <a:t>Done Waiting </a:t>
            </a:r>
            <a:pPr algn="ctr" indent="0" marL="0">
              <a:lnSpc>
                <a:spcPct val="105000"/>
              </a:lnSpc>
              <a:buNone/>
            </a:pPr>
            <a:r>
              <a:rPr lang="en-US" sz="6000" b="1" dirty="0">
                <a:solidFill>
                  <a:srgbClr val="B7D3B7"/>
                </a:solidFill>
                <a:latin typeface="Cormorant Garamond" pitchFamily="34" charset="0"/>
                <a:ea typeface="Cormorant Garamond" pitchFamily="34" charset="-122"/>
                <a:cs typeface="Cormorant Garamond" pitchFamily="34" charset="-120"/>
              </a:rPr>
              <a:t>Your Turn</a:t>
            </a:r>
            <a:endParaRPr lang="en-US" sz="6000" dirty="0"/>
          </a:p>
        </p:txBody>
      </p:sp>
      <p:sp>
        <p:nvSpPr>
          <p:cNvPr id="6" name="Text 4"/>
          <p:cNvSpPr txBox="1"/>
          <p:nvPr/>
        </p:nvSpPr>
        <p:spPr>
          <a:xfrm>
            <a:off x="2011680" y="3749040"/>
            <a:ext cx="8168335" cy="914400"/>
          </a:xfrm>
          <a:prstGeom prst="rect">
            <a:avLst/>
          </a:prstGeom>
          <a:noFill/>
          <a:ln/>
        </p:spPr>
        <p:txBody>
          <a:bodyPr wrap="square" lIns="0" tIns="0" rIns="0" bIns="0" rtlCol="0" anchor="t">
            <a:normAutofit/>
          </a:bodyPr>
          <a:lstStyle/>
          <a:p>
            <a:pPr algn="ctr" indent="0" marL="0">
              <a:lnSpc>
                <a:spcPct val="105000"/>
              </a:lnSpc>
              <a:buNone/>
            </a:pPr>
            <a:r>
              <a:rPr lang="en-US" sz="2400" b="1" i="1" dirty="0">
                <a:solidFill>
                  <a:srgbClr val="B7D3B7"/>
                </a:solidFill>
                <a:latin typeface="Cormorant Garamond" pitchFamily="34" charset="0"/>
                <a:ea typeface="Cormorant Garamond" pitchFamily="34" charset="-122"/>
                <a:cs typeface="Cormorant Garamond" pitchFamily="34" charset="-120"/>
              </a:rPr>
              <a:t>Why smart, capable women stay underpaid, and the identity shift that changes it</a:t>
            </a:r>
            <a:endParaRPr lang="en-US" sz="2400" dirty="0"/>
          </a:p>
        </p:txBody>
      </p:sp>
      <p:sp>
        <p:nvSpPr>
          <p:cNvPr id="7" name="Text 5"/>
          <p:cNvSpPr txBox="1"/>
          <p:nvPr/>
        </p:nvSpPr>
        <p:spPr>
          <a:xfrm>
            <a:off x="914400" y="4937760"/>
            <a:ext cx="10362895" cy="365760"/>
          </a:xfrm>
          <a:prstGeom prst="rect">
            <a:avLst/>
          </a:prstGeom>
          <a:noFill/>
          <a:ln/>
        </p:spPr>
        <p:txBody>
          <a:bodyPr wrap="square" lIns="0" tIns="0" rIns="0" bIns="0" rtlCol="0" anchor="t">
            <a:normAutofit/>
          </a:bodyPr>
          <a:lstStyle/>
          <a:p>
            <a:pPr algn="ctr" indent="0" marL="0">
              <a:lnSpc>
                <a:spcPct val="105000"/>
              </a:lnSpc>
              <a:buNone/>
            </a:pPr>
            <a:r>
              <a:rPr lang="en-US" sz="1300" dirty="0">
                <a:solidFill>
                  <a:srgbClr val="E1F5EE"/>
                </a:solidFill>
                <a:latin typeface="DM Sans" pitchFamily="34" charset="0"/>
                <a:ea typeface="DM Sans" pitchFamily="34" charset="-122"/>
                <a:cs typeface="DM Sans" pitchFamily="34" charset="-120"/>
              </a:rPr>
              <a:t>with Tamara Lashchyk</a:t>
            </a:r>
            <a:endParaRPr lang="en-US" sz="13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14300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SOUND FAMILIAR?</a:t>
            </a:r>
            <a:endParaRPr lang="en-US" sz="1200" dirty="0"/>
          </a:p>
        </p:txBody>
      </p:sp>
      <p:sp>
        <p:nvSpPr>
          <p:cNvPr id="3" name="Text 1"/>
          <p:cNvSpPr txBox="1"/>
          <p:nvPr/>
        </p:nvSpPr>
        <p:spPr>
          <a:xfrm>
            <a:off x="914400" y="1508760"/>
            <a:ext cx="10362895" cy="1188720"/>
          </a:xfrm>
          <a:prstGeom prst="rect">
            <a:avLst/>
          </a:prstGeom>
          <a:noFill/>
          <a:ln/>
        </p:spPr>
        <p:txBody>
          <a:bodyPr wrap="square" lIns="0" tIns="0" rIns="0" bIns="0" rtlCol="0" anchor="t">
            <a:normAutofit/>
          </a:bodyPr>
          <a:lstStyle/>
          <a:p>
            <a:pPr algn="ctr" indent="0" marL="0">
              <a:lnSpc>
                <a:spcPct val="105000"/>
              </a:lnSpc>
              <a:buNone/>
            </a:pPr>
            <a:r>
              <a:rPr lang="en-US" sz="12000" b="1" dirty="0">
                <a:solidFill>
                  <a:srgbClr val="8AAF8A"/>
                </a:solidFill>
                <a:latin typeface="Cormorant Garamond" pitchFamily="34" charset="0"/>
                <a:ea typeface="Cormorant Garamond" pitchFamily="34" charset="-122"/>
                <a:cs typeface="Cormorant Garamond" pitchFamily="34" charset="-120"/>
              </a:rPr>
              <a:t>“</a:t>
            </a:r>
            <a:endParaRPr lang="en-US" sz="12000" dirty="0"/>
          </a:p>
        </p:txBody>
      </p:sp>
      <p:sp>
        <p:nvSpPr>
          <p:cNvPr id="4" name="Text 2"/>
          <p:cNvSpPr txBox="1"/>
          <p:nvPr/>
        </p:nvSpPr>
        <p:spPr>
          <a:xfrm>
            <a:off x="1280160" y="2651760"/>
            <a:ext cx="9631375" cy="2377440"/>
          </a:xfrm>
          <a:prstGeom prst="rect">
            <a:avLst/>
          </a:prstGeom>
          <a:noFill/>
          <a:ln/>
        </p:spPr>
        <p:txBody>
          <a:bodyPr wrap="square" lIns="0" tIns="0" rIns="0" bIns="0" rtlCol="0" anchor="t">
            <a:normAutofit/>
          </a:bodyPr>
          <a:lstStyle/>
          <a:p>
            <a:pPr algn="ctr" indent="0" marL="0">
              <a:lnSpc>
                <a:spcPct val="100000"/>
              </a:lnSpc>
              <a:buNone/>
            </a:pPr>
            <a:r>
              <a:rPr lang="en-US" sz="3800" i="1" dirty="0">
                <a:solidFill>
                  <a:srgbClr val="1E4A4A"/>
                </a:solidFill>
                <a:latin typeface="Cormorant Garamond" pitchFamily="34" charset="0"/>
                <a:ea typeface="Cormorant Garamond" pitchFamily="34" charset="-122"/>
                <a:cs typeface="Cormorant Garamond" pitchFamily="34" charset="-120"/>
              </a:rPr>
              <a:t>I'll just keep working hard, and </a:t>
            </a:r>
            <a:pPr algn="ctr" indent="0" marL="0">
              <a:lnSpc>
                <a:spcPct val="100000"/>
              </a:lnSpc>
              <a:buNone/>
            </a:pPr>
            <a:r>
              <a:rPr lang="en-US" sz="3800" b="1" i="1" dirty="0">
                <a:solidFill>
                  <a:srgbClr val="5C8A64"/>
                </a:solidFill>
                <a:latin typeface="Cormorant Garamond" pitchFamily="34" charset="0"/>
                <a:ea typeface="Cormorant Garamond" pitchFamily="34" charset="-122"/>
                <a:cs typeface="Cormorant Garamond" pitchFamily="34" charset="-120"/>
              </a:rPr>
              <a:t>my work will speak for itself.</a:t>
            </a:r>
            <a:endParaRPr lang="en-US" sz="38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14300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SOUND FAMILIAR?</a:t>
            </a:r>
            <a:endParaRPr lang="en-US" sz="1200" dirty="0"/>
          </a:p>
        </p:txBody>
      </p:sp>
      <p:sp>
        <p:nvSpPr>
          <p:cNvPr id="3" name="Text 1"/>
          <p:cNvSpPr txBox="1"/>
          <p:nvPr/>
        </p:nvSpPr>
        <p:spPr>
          <a:xfrm>
            <a:off x="914400" y="1508760"/>
            <a:ext cx="10362895" cy="1188720"/>
          </a:xfrm>
          <a:prstGeom prst="rect">
            <a:avLst/>
          </a:prstGeom>
          <a:noFill/>
          <a:ln/>
        </p:spPr>
        <p:txBody>
          <a:bodyPr wrap="square" lIns="0" tIns="0" rIns="0" bIns="0" rtlCol="0" anchor="t">
            <a:normAutofit/>
          </a:bodyPr>
          <a:lstStyle/>
          <a:p>
            <a:pPr algn="ctr" indent="0" marL="0">
              <a:lnSpc>
                <a:spcPct val="105000"/>
              </a:lnSpc>
              <a:buNone/>
            </a:pPr>
            <a:r>
              <a:rPr lang="en-US" sz="12000" b="1" dirty="0">
                <a:solidFill>
                  <a:srgbClr val="8AAF8A"/>
                </a:solidFill>
                <a:latin typeface="Cormorant Garamond" pitchFamily="34" charset="0"/>
                <a:ea typeface="Cormorant Garamond" pitchFamily="34" charset="-122"/>
                <a:cs typeface="Cormorant Garamond" pitchFamily="34" charset="-120"/>
              </a:rPr>
              <a:t>“</a:t>
            </a:r>
            <a:endParaRPr lang="en-US" sz="12000" dirty="0"/>
          </a:p>
        </p:txBody>
      </p:sp>
      <p:sp>
        <p:nvSpPr>
          <p:cNvPr id="4" name="Text 2"/>
          <p:cNvSpPr txBox="1"/>
          <p:nvPr/>
        </p:nvSpPr>
        <p:spPr>
          <a:xfrm>
            <a:off x="1280160" y="2651760"/>
            <a:ext cx="9631375" cy="2377440"/>
          </a:xfrm>
          <a:prstGeom prst="rect">
            <a:avLst/>
          </a:prstGeom>
          <a:noFill/>
          <a:ln/>
        </p:spPr>
        <p:txBody>
          <a:bodyPr wrap="square" lIns="0" tIns="0" rIns="0" bIns="0" rtlCol="0" anchor="t">
            <a:normAutofit/>
          </a:bodyPr>
          <a:lstStyle/>
          <a:p>
            <a:pPr algn="ctr" indent="0" marL="0">
              <a:lnSpc>
                <a:spcPct val="100000"/>
              </a:lnSpc>
              <a:buNone/>
            </a:pPr>
            <a:r>
              <a:rPr lang="en-US" sz="4400" i="1" dirty="0">
                <a:solidFill>
                  <a:srgbClr val="1E4A4A"/>
                </a:solidFill>
                <a:latin typeface="Cormorant Garamond" pitchFamily="34" charset="0"/>
                <a:ea typeface="Cormorant Garamond" pitchFamily="34" charset="-122"/>
                <a:cs typeface="Cormorant Garamond" pitchFamily="34" charset="-120"/>
              </a:rPr>
              <a:t>I know I'm probably underpaid, but </a:t>
            </a:r>
            <a:pPr algn="ctr" indent="0" marL="0">
              <a:lnSpc>
                <a:spcPct val="100000"/>
              </a:lnSpc>
              <a:buNone/>
            </a:pPr>
            <a:r>
              <a:rPr lang="en-US" sz="4400" b="1" i="1" dirty="0">
                <a:solidFill>
                  <a:srgbClr val="5C8A64"/>
                </a:solidFill>
                <a:latin typeface="Cormorant Garamond" pitchFamily="34" charset="0"/>
                <a:ea typeface="Cormorant Garamond" pitchFamily="34" charset="-122"/>
                <a:cs typeface="Cormorant Garamond" pitchFamily="34" charset="-120"/>
              </a:rPr>
              <a:t>I hate negotiating.</a:t>
            </a:r>
            <a:endParaRPr lang="en-US" sz="4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14300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SOUND FAMILIAR?</a:t>
            </a:r>
            <a:endParaRPr lang="en-US" sz="1200" dirty="0"/>
          </a:p>
        </p:txBody>
      </p:sp>
      <p:sp>
        <p:nvSpPr>
          <p:cNvPr id="3" name="Text 1"/>
          <p:cNvSpPr txBox="1"/>
          <p:nvPr/>
        </p:nvSpPr>
        <p:spPr>
          <a:xfrm>
            <a:off x="914400" y="1508760"/>
            <a:ext cx="10362895" cy="1188720"/>
          </a:xfrm>
          <a:prstGeom prst="rect">
            <a:avLst/>
          </a:prstGeom>
          <a:noFill/>
          <a:ln/>
        </p:spPr>
        <p:txBody>
          <a:bodyPr wrap="square" lIns="0" tIns="0" rIns="0" bIns="0" rtlCol="0" anchor="t">
            <a:normAutofit/>
          </a:bodyPr>
          <a:lstStyle/>
          <a:p>
            <a:pPr algn="ctr" indent="0" marL="0">
              <a:lnSpc>
                <a:spcPct val="105000"/>
              </a:lnSpc>
              <a:buNone/>
            </a:pPr>
            <a:r>
              <a:rPr lang="en-US" sz="12000" b="1" dirty="0">
                <a:solidFill>
                  <a:srgbClr val="8AAF8A"/>
                </a:solidFill>
                <a:latin typeface="Cormorant Garamond" pitchFamily="34" charset="0"/>
                <a:ea typeface="Cormorant Garamond" pitchFamily="34" charset="-122"/>
                <a:cs typeface="Cormorant Garamond" pitchFamily="34" charset="-120"/>
              </a:rPr>
              <a:t>“</a:t>
            </a:r>
            <a:endParaRPr lang="en-US" sz="12000" dirty="0"/>
          </a:p>
        </p:txBody>
      </p:sp>
      <p:sp>
        <p:nvSpPr>
          <p:cNvPr id="4" name="Text 2"/>
          <p:cNvSpPr txBox="1"/>
          <p:nvPr/>
        </p:nvSpPr>
        <p:spPr>
          <a:xfrm>
            <a:off x="1280160" y="2651760"/>
            <a:ext cx="9631375" cy="2377440"/>
          </a:xfrm>
          <a:prstGeom prst="rect">
            <a:avLst/>
          </a:prstGeom>
          <a:noFill/>
          <a:ln/>
        </p:spPr>
        <p:txBody>
          <a:bodyPr wrap="square" lIns="0" tIns="0" rIns="0" bIns="0" rtlCol="0" anchor="t">
            <a:normAutofit/>
          </a:bodyPr>
          <a:lstStyle/>
          <a:p>
            <a:pPr algn="ctr" indent="0" marL="0">
              <a:lnSpc>
                <a:spcPct val="100000"/>
              </a:lnSpc>
              <a:buNone/>
            </a:pPr>
            <a:r>
              <a:rPr lang="en-US" sz="4400" i="1" dirty="0">
                <a:solidFill>
                  <a:srgbClr val="1E4A4A"/>
                </a:solidFill>
                <a:latin typeface="Cormorant Garamond" pitchFamily="34" charset="0"/>
                <a:ea typeface="Cormorant Garamond" pitchFamily="34" charset="-122"/>
                <a:cs typeface="Cormorant Garamond" pitchFamily="34" charset="-120"/>
              </a:rPr>
              <a:t>When is it going to be </a:t>
            </a:r>
            <a:pPr algn="ctr" indent="0" marL="0">
              <a:lnSpc>
                <a:spcPct val="100000"/>
              </a:lnSpc>
              <a:buNone/>
            </a:pPr>
            <a:r>
              <a:rPr lang="en-US" sz="4400" b="1" i="1" dirty="0">
                <a:solidFill>
                  <a:srgbClr val="5C8A64"/>
                </a:solidFill>
                <a:latin typeface="Cormorant Garamond" pitchFamily="34" charset="0"/>
                <a:ea typeface="Cormorant Garamond" pitchFamily="34" charset="-122"/>
                <a:cs typeface="Cormorant Garamond" pitchFamily="34" charset="-120"/>
              </a:rPr>
              <a:t>my turn?</a:t>
            </a:r>
            <a:endParaRPr lang="en-US" sz="4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14300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SOUND FAMILIAR?</a:t>
            </a:r>
            <a:endParaRPr lang="en-US" sz="1200" dirty="0"/>
          </a:p>
        </p:txBody>
      </p:sp>
      <p:sp>
        <p:nvSpPr>
          <p:cNvPr id="3" name="Text 1"/>
          <p:cNvSpPr txBox="1"/>
          <p:nvPr/>
        </p:nvSpPr>
        <p:spPr>
          <a:xfrm>
            <a:off x="914400" y="1508760"/>
            <a:ext cx="10362895" cy="1188720"/>
          </a:xfrm>
          <a:prstGeom prst="rect">
            <a:avLst/>
          </a:prstGeom>
          <a:noFill/>
          <a:ln/>
        </p:spPr>
        <p:txBody>
          <a:bodyPr wrap="square" lIns="0" tIns="0" rIns="0" bIns="0" rtlCol="0" anchor="t">
            <a:normAutofit/>
          </a:bodyPr>
          <a:lstStyle/>
          <a:p>
            <a:pPr algn="ctr" indent="0" marL="0">
              <a:lnSpc>
                <a:spcPct val="105000"/>
              </a:lnSpc>
              <a:buNone/>
            </a:pPr>
            <a:r>
              <a:rPr lang="en-US" sz="12000" b="1" dirty="0">
                <a:solidFill>
                  <a:srgbClr val="8AAF8A"/>
                </a:solidFill>
                <a:latin typeface="Cormorant Garamond" pitchFamily="34" charset="0"/>
                <a:ea typeface="Cormorant Garamond" pitchFamily="34" charset="-122"/>
                <a:cs typeface="Cormorant Garamond" pitchFamily="34" charset="-120"/>
              </a:rPr>
              <a:t>“</a:t>
            </a:r>
            <a:endParaRPr lang="en-US" sz="12000" dirty="0"/>
          </a:p>
        </p:txBody>
      </p:sp>
      <p:sp>
        <p:nvSpPr>
          <p:cNvPr id="4" name="Text 2"/>
          <p:cNvSpPr txBox="1"/>
          <p:nvPr/>
        </p:nvSpPr>
        <p:spPr>
          <a:xfrm>
            <a:off x="1280160" y="2651760"/>
            <a:ext cx="9631375" cy="2377440"/>
          </a:xfrm>
          <a:prstGeom prst="rect">
            <a:avLst/>
          </a:prstGeom>
          <a:noFill/>
          <a:ln/>
        </p:spPr>
        <p:txBody>
          <a:bodyPr wrap="square" lIns="0" tIns="0" rIns="0" bIns="0" rtlCol="0" anchor="t">
            <a:normAutofit/>
          </a:bodyPr>
          <a:lstStyle/>
          <a:p>
            <a:pPr algn="ctr" indent="0" marL="0">
              <a:lnSpc>
                <a:spcPct val="100000"/>
              </a:lnSpc>
              <a:buNone/>
            </a:pPr>
            <a:r>
              <a:rPr lang="en-US" sz="4400" i="1" dirty="0">
                <a:solidFill>
                  <a:srgbClr val="1E4A4A"/>
                </a:solidFill>
                <a:latin typeface="Cormorant Garamond" pitchFamily="34" charset="0"/>
                <a:ea typeface="Cormorant Garamond" pitchFamily="34" charset="-122"/>
                <a:cs typeface="Cormorant Garamond" pitchFamily="34" charset="-120"/>
              </a:rPr>
              <a:t>I want more. </a:t>
            </a:r>
            <a:pPr algn="ctr" indent="0" marL="0">
              <a:lnSpc>
                <a:spcPct val="100000"/>
              </a:lnSpc>
              <a:buNone/>
            </a:pPr>
            <a:r>
              <a:rPr lang="en-US" sz="4400" b="1" i="1" dirty="0">
                <a:solidFill>
                  <a:srgbClr val="5C8A64"/>
                </a:solidFill>
                <a:latin typeface="Cormorant Garamond" pitchFamily="34" charset="0"/>
                <a:ea typeface="Cormorant Garamond" pitchFamily="34" charset="-122"/>
                <a:cs typeface="Cormorant Garamond" pitchFamily="34" charset="-120"/>
              </a:rPr>
              <a:t>This can't be all there is.</a:t>
            </a:r>
            <a:endParaRPr lang="en-US" sz="4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MOST EXPERTS WON'T TELL YOU</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500" dirty="0">
                <a:solidFill>
                  <a:srgbClr val="1E4A4A"/>
                </a:solidFill>
                <a:latin typeface="Cormorant Garamond" pitchFamily="34" charset="0"/>
                <a:ea typeface="Cormorant Garamond" pitchFamily="34" charset="-122"/>
                <a:cs typeface="Cormorant Garamond" pitchFamily="34" charset="-120"/>
              </a:rPr>
              <a:t>Being underpaid isn't a money problem. </a:t>
            </a:r>
            <a:pPr algn="ctr" indent="0" marL="0">
              <a:lnSpc>
                <a:spcPct val="100000"/>
              </a:lnSpc>
              <a:buNone/>
            </a:pPr>
            <a:r>
              <a:rPr lang="en-US" sz="3500" b="1" dirty="0">
                <a:solidFill>
                  <a:srgbClr val="5C8A64"/>
                </a:solidFill>
                <a:latin typeface="Cormorant Garamond" pitchFamily="34" charset="0"/>
                <a:ea typeface="Cormorant Garamond" pitchFamily="34" charset="-122"/>
                <a:cs typeface="Cormorant Garamond" pitchFamily="34" charset="-120"/>
              </a:rPr>
              <a:t>It's a playing-small problem.</a:t>
            </a:r>
            <a:endParaRPr lang="en-US" sz="3500" dirty="0"/>
          </a:p>
        </p:txBody>
      </p:sp>
      <p:sp>
        <p:nvSpPr>
          <p:cNvPr id="5" name="Text 3"/>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And playing small is an identity problem.</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5730088" y="1828800"/>
            <a:ext cx="731520" cy="0"/>
          </a:xfrm>
          <a:prstGeom prst="line">
            <a:avLst/>
          </a:prstGeom>
          <a:noFill/>
          <a:ln w="19050">
            <a:solidFill>
              <a:srgbClr val="8AAF8A"/>
            </a:solidFill>
            <a:prstDash val="solid"/>
          </a:ln>
        </p:spPr>
      </p:sp>
      <p:sp>
        <p:nvSpPr>
          <p:cNvPr id="3" name="Text 1"/>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500" dirty="0">
                <a:solidFill>
                  <a:srgbClr val="1E4A4A"/>
                </a:solidFill>
                <a:latin typeface="Cormorant Garamond" pitchFamily="34" charset="0"/>
                <a:ea typeface="Cormorant Garamond" pitchFamily="34" charset="-122"/>
                <a:cs typeface="Cormorant Garamond" pitchFamily="34" charset="-120"/>
              </a:rPr>
              <a:t>You don't have a negotiation problem. You have </a:t>
            </a:r>
            <a:pPr algn="ctr" indent="0" marL="0">
              <a:lnSpc>
                <a:spcPct val="100000"/>
              </a:lnSpc>
              <a:buNone/>
            </a:pPr>
            <a:r>
              <a:rPr lang="en-US" sz="3500" b="1" dirty="0">
                <a:solidFill>
                  <a:srgbClr val="5C8A64"/>
                </a:solidFill>
                <a:latin typeface="Cormorant Garamond" pitchFamily="34" charset="0"/>
                <a:ea typeface="Cormorant Garamond" pitchFamily="34" charset="-122"/>
                <a:cs typeface="Cormorant Garamond" pitchFamily="34" charset="-120"/>
              </a:rPr>
              <a:t>an identity problem.</a:t>
            </a:r>
            <a:endParaRPr lang="en-US" sz="3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EEF4EC"/>
          </a:solidFill>
          <a:ln w="12700">
            <a:solidFill>
              <a:srgbClr val="8AAF8A"/>
            </a:solidFill>
            <a:prstDash val="dash"/>
          </a:ln>
        </p:spPr>
      </p:sp>
      <p:sp>
        <p:nvSpPr>
          <p:cNvPr id="3" name="Text 1"/>
          <p:cNvSpPr txBox="1"/>
          <p:nvPr/>
        </p:nvSpPr>
        <p:spPr>
          <a:xfrm>
            <a:off x="274320"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274320"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Woman in her late 40s looking at her reflection in a floor-to-ceiling office window at dusk. Composed, thoughtful, city behind the glass.</a:t>
            </a:r>
            <a:endParaRPr lang="en-US" sz="1050" dirty="0"/>
          </a:p>
        </p:txBody>
      </p:sp>
      <p:sp>
        <p:nvSpPr>
          <p:cNvPr id="5" name="Shape 3"/>
          <p:cNvSpPr/>
          <p:nvPr/>
        </p:nvSpPr>
        <p:spPr>
          <a:xfrm>
            <a:off x="8092440" y="1828800"/>
            <a:ext cx="731520" cy="0"/>
          </a:xfrm>
          <a:prstGeom prst="line">
            <a:avLst/>
          </a:prstGeom>
          <a:noFill/>
          <a:ln w="19050">
            <a:solidFill>
              <a:srgbClr val="8AAF8A"/>
            </a:solidFill>
            <a:prstDash val="solid"/>
          </a:ln>
        </p:spPr>
      </p:sp>
      <p:sp>
        <p:nvSpPr>
          <p:cNvPr id="6" name="Text 4"/>
          <p:cNvSpPr txBox="1"/>
          <p:nvPr/>
        </p:nvSpPr>
        <p:spPr>
          <a:xfrm>
            <a:off x="548640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3700" dirty="0">
                <a:solidFill>
                  <a:srgbClr val="1E4A4A"/>
                </a:solidFill>
                <a:latin typeface="Cormorant Garamond" pitchFamily="34" charset="0"/>
                <a:ea typeface="Cormorant Garamond" pitchFamily="34" charset="-122"/>
                <a:cs typeface="Cormorant Garamond" pitchFamily="34" charset="-120"/>
              </a:rPr>
              <a:t>Your capability has outgrown the woman </a:t>
            </a:r>
            <a:pPr algn="ctr" indent="0" marL="0">
              <a:lnSpc>
                <a:spcPct val="100000"/>
              </a:lnSpc>
              <a:buNone/>
            </a:pPr>
            <a:r>
              <a:rPr lang="en-US" sz="3700" b="1" dirty="0">
                <a:solidFill>
                  <a:srgbClr val="5C8A64"/>
                </a:solidFill>
                <a:latin typeface="Cormorant Garamond" pitchFamily="34" charset="0"/>
                <a:ea typeface="Cormorant Garamond" pitchFamily="34" charset="-122"/>
                <a:cs typeface="Cormorant Garamond" pitchFamily="34" charset="-120"/>
              </a:rPr>
              <a:t>you think you are.</a:t>
            </a:r>
            <a:endParaRPr lang="en-US" sz="3700" dirty="0"/>
          </a:p>
        </p:txBody>
      </p:sp>
      <p:sp>
        <p:nvSpPr>
          <p:cNvPr id="7" name="Text 5"/>
          <p:cNvSpPr txBox="1"/>
          <p:nvPr/>
        </p:nvSpPr>
        <p:spPr>
          <a:xfrm>
            <a:off x="576072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Tonight is about closing that gap, so you become the woman who commands her worth and plays a bigger game.</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IN THIS MASTERCLASS, YOU'LL DISCOVER</a:t>
            </a:r>
            <a:endParaRPr lang="en-US" sz="1300" dirty="0"/>
          </a:p>
        </p:txBody>
      </p:sp>
      <p:sp>
        <p:nvSpPr>
          <p:cNvPr id="5" name="Shape 3"/>
          <p:cNvSpPr/>
          <p:nvPr/>
        </p:nvSpPr>
        <p:spPr>
          <a:xfrm>
            <a:off x="1463040" y="1234440"/>
            <a:ext cx="502920" cy="502920"/>
          </a:xfrm>
          <a:prstGeom prst="ellipse">
            <a:avLst/>
          </a:prstGeom>
          <a:solidFill>
            <a:srgbClr val="1E4A4A"/>
          </a:solidFill>
          <a:ln w="12700">
            <a:solidFill>
              <a:srgbClr val="1E4A4A"/>
            </a:solidFill>
            <a:prstDash val="solid"/>
          </a:ln>
        </p:spPr>
      </p:sp>
      <p:sp>
        <p:nvSpPr>
          <p:cNvPr id="6" name="Text 4"/>
          <p:cNvSpPr txBox="1"/>
          <p:nvPr/>
        </p:nvSpPr>
        <p:spPr>
          <a:xfrm>
            <a:off x="1463040" y="123444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1</a:t>
            </a:r>
            <a:endParaRPr lang="en-US" sz="1600" dirty="0"/>
          </a:p>
        </p:txBody>
      </p:sp>
      <p:sp>
        <p:nvSpPr>
          <p:cNvPr id="7" name="Text 5"/>
          <p:cNvSpPr txBox="1"/>
          <p:nvPr/>
        </p:nvSpPr>
        <p:spPr>
          <a:xfrm>
            <a:off x="2240280" y="118872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Why working harder stopped working for you</a:t>
            </a:r>
            <a:endParaRPr lang="en-US" sz="2100" dirty="0"/>
          </a:p>
        </p:txBody>
      </p:sp>
      <p:sp>
        <p:nvSpPr>
          <p:cNvPr id="8" name="Shape 6"/>
          <p:cNvSpPr/>
          <p:nvPr/>
        </p:nvSpPr>
        <p:spPr>
          <a:xfrm>
            <a:off x="1463040" y="2240280"/>
            <a:ext cx="502920" cy="502920"/>
          </a:xfrm>
          <a:prstGeom prst="ellipse">
            <a:avLst/>
          </a:prstGeom>
          <a:solidFill>
            <a:srgbClr val="1E4A4A"/>
          </a:solidFill>
          <a:ln w="12700">
            <a:solidFill>
              <a:srgbClr val="1E4A4A"/>
            </a:solidFill>
            <a:prstDash val="solid"/>
          </a:ln>
        </p:spPr>
      </p:sp>
      <p:sp>
        <p:nvSpPr>
          <p:cNvPr id="9" name="Text 7"/>
          <p:cNvSpPr txBox="1"/>
          <p:nvPr/>
        </p:nvSpPr>
        <p:spPr>
          <a:xfrm>
            <a:off x="1463040" y="224028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2</a:t>
            </a:r>
            <a:endParaRPr lang="en-US" sz="1600" dirty="0"/>
          </a:p>
        </p:txBody>
      </p:sp>
      <p:sp>
        <p:nvSpPr>
          <p:cNvPr id="10" name="Text 8"/>
          <p:cNvSpPr txBox="1"/>
          <p:nvPr/>
        </p:nvSpPr>
        <p:spPr>
          <a:xfrm>
            <a:off x="2240280" y="219456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What waiting is really costing you (hint: more than money)</a:t>
            </a:r>
            <a:endParaRPr lang="en-US" sz="2100" dirty="0"/>
          </a:p>
        </p:txBody>
      </p:sp>
      <p:sp>
        <p:nvSpPr>
          <p:cNvPr id="11" name="Shape 9"/>
          <p:cNvSpPr/>
          <p:nvPr/>
        </p:nvSpPr>
        <p:spPr>
          <a:xfrm>
            <a:off x="1463040" y="3246120"/>
            <a:ext cx="502920" cy="502920"/>
          </a:xfrm>
          <a:prstGeom prst="ellipse">
            <a:avLst/>
          </a:prstGeom>
          <a:solidFill>
            <a:srgbClr val="1E4A4A"/>
          </a:solidFill>
          <a:ln w="12700">
            <a:solidFill>
              <a:srgbClr val="1E4A4A"/>
            </a:solidFill>
            <a:prstDash val="solid"/>
          </a:ln>
        </p:spPr>
      </p:sp>
      <p:sp>
        <p:nvSpPr>
          <p:cNvPr id="12" name="Text 10"/>
          <p:cNvSpPr txBox="1"/>
          <p:nvPr/>
        </p:nvSpPr>
        <p:spPr>
          <a:xfrm>
            <a:off x="1463040" y="324612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3</a:t>
            </a:r>
            <a:endParaRPr lang="en-US" sz="1600" dirty="0"/>
          </a:p>
        </p:txBody>
      </p:sp>
      <p:sp>
        <p:nvSpPr>
          <p:cNvPr id="13" name="Text 11"/>
          <p:cNvSpPr txBox="1"/>
          <p:nvPr/>
        </p:nvSpPr>
        <p:spPr>
          <a:xfrm>
            <a:off x="2240280" y="320040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The V.O.I.C.E. Framework, and why it starts with identity</a:t>
            </a:r>
            <a:endParaRPr lang="en-US" sz="2100" dirty="0"/>
          </a:p>
        </p:txBody>
      </p:sp>
      <p:sp>
        <p:nvSpPr>
          <p:cNvPr id="14" name="Shape 12"/>
          <p:cNvSpPr/>
          <p:nvPr/>
        </p:nvSpPr>
        <p:spPr>
          <a:xfrm>
            <a:off x="1463040" y="4251960"/>
            <a:ext cx="502920" cy="502920"/>
          </a:xfrm>
          <a:prstGeom prst="ellipse">
            <a:avLst/>
          </a:prstGeom>
          <a:solidFill>
            <a:srgbClr val="1E4A4A"/>
          </a:solidFill>
          <a:ln w="12700">
            <a:solidFill>
              <a:srgbClr val="1E4A4A"/>
            </a:solidFill>
            <a:prstDash val="solid"/>
          </a:ln>
        </p:spPr>
      </p:sp>
      <p:sp>
        <p:nvSpPr>
          <p:cNvPr id="15" name="Text 13"/>
          <p:cNvSpPr txBox="1"/>
          <p:nvPr/>
        </p:nvSpPr>
        <p:spPr>
          <a:xfrm>
            <a:off x="1463040" y="425196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4</a:t>
            </a:r>
            <a:endParaRPr lang="en-US" sz="1600" dirty="0"/>
          </a:p>
        </p:txBody>
      </p:sp>
      <p:sp>
        <p:nvSpPr>
          <p:cNvPr id="16" name="Text 14"/>
          <p:cNvSpPr txBox="1"/>
          <p:nvPr/>
        </p:nvSpPr>
        <p:spPr>
          <a:xfrm>
            <a:off x="2240280" y="420624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What changed for Shelly, Nina and Erica</a:t>
            </a:r>
            <a:endParaRPr lang="en-US" sz="2100" dirty="0"/>
          </a:p>
        </p:txBody>
      </p:sp>
      <p:sp>
        <p:nvSpPr>
          <p:cNvPr id="17" name="Shape 15"/>
          <p:cNvSpPr/>
          <p:nvPr/>
        </p:nvSpPr>
        <p:spPr>
          <a:xfrm>
            <a:off x="1463040" y="5257800"/>
            <a:ext cx="502920" cy="502920"/>
          </a:xfrm>
          <a:prstGeom prst="ellipse">
            <a:avLst/>
          </a:prstGeom>
          <a:solidFill>
            <a:srgbClr val="1E4A4A"/>
          </a:solidFill>
          <a:ln w="12700">
            <a:solidFill>
              <a:srgbClr val="1E4A4A"/>
            </a:solidFill>
            <a:prstDash val="solid"/>
          </a:ln>
        </p:spPr>
      </p:sp>
      <p:sp>
        <p:nvSpPr>
          <p:cNvPr id="18" name="Text 16"/>
          <p:cNvSpPr txBox="1"/>
          <p:nvPr/>
        </p:nvSpPr>
        <p:spPr>
          <a:xfrm>
            <a:off x="1463040" y="525780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5</a:t>
            </a:r>
            <a:endParaRPr lang="en-US" sz="1600" dirty="0"/>
          </a:p>
        </p:txBody>
      </p:sp>
      <p:sp>
        <p:nvSpPr>
          <p:cNvPr id="19" name="Text 17"/>
          <p:cNvSpPr txBox="1"/>
          <p:nvPr/>
        </p:nvSpPr>
        <p:spPr>
          <a:xfrm>
            <a:off x="2240280" y="521208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How you can work with me if you want to go further</a:t>
            </a:r>
            <a:endParaRPr lang="en-US" sz="2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QUICK POLL</a:t>
            </a:r>
            <a:endParaRPr lang="en-US" sz="1300" dirty="0"/>
          </a:p>
        </p:txBody>
      </p:sp>
      <p:sp>
        <p:nvSpPr>
          <p:cNvPr id="5" name="Text 3"/>
          <p:cNvSpPr txBox="1"/>
          <p:nvPr/>
        </p:nvSpPr>
        <p:spPr>
          <a:xfrm>
            <a:off x="914400" y="1005840"/>
            <a:ext cx="10362895" cy="914400"/>
          </a:xfrm>
          <a:prstGeom prst="rect">
            <a:avLst/>
          </a:prstGeom>
          <a:noFill/>
          <a:ln/>
        </p:spPr>
        <p:txBody>
          <a:bodyPr wrap="square" lIns="0" tIns="0" rIns="0" bIns="0" rtlCol="0" anchor="ctr">
            <a:normAutofit/>
          </a:bodyPr>
          <a:lstStyle/>
          <a:p>
            <a:pPr algn="ctr" indent="0" marL="0">
              <a:lnSpc>
                <a:spcPct val="105000"/>
              </a:lnSpc>
              <a:buNone/>
            </a:pPr>
            <a:r>
              <a:rPr lang="en-US" sz="4400" dirty="0">
                <a:solidFill>
                  <a:srgbClr val="1E4A4A"/>
                </a:solidFill>
                <a:latin typeface="Cormorant Garamond" pitchFamily="34" charset="0"/>
                <a:ea typeface="Cormorant Garamond" pitchFamily="34" charset="-122"/>
                <a:cs typeface="Cormorant Garamond" pitchFamily="34" charset="-120"/>
              </a:rPr>
              <a:t>Where are you </a:t>
            </a:r>
            <a:pPr algn="ctr" indent="0" marL="0">
              <a:lnSpc>
                <a:spcPct val="105000"/>
              </a:lnSpc>
              <a:buNone/>
            </a:pPr>
            <a:r>
              <a:rPr lang="en-US" sz="4400" b="1" dirty="0">
                <a:solidFill>
                  <a:srgbClr val="5C8A64"/>
                </a:solidFill>
                <a:latin typeface="Cormorant Garamond" pitchFamily="34" charset="0"/>
                <a:ea typeface="Cormorant Garamond" pitchFamily="34" charset="-122"/>
                <a:cs typeface="Cormorant Garamond" pitchFamily="34" charset="-120"/>
              </a:rPr>
              <a:t>right now?</a:t>
            </a:r>
            <a:endParaRPr lang="en-US" sz="4400" dirty="0"/>
          </a:p>
        </p:txBody>
      </p:sp>
      <p:sp>
        <p:nvSpPr>
          <p:cNvPr id="6" name="Shape 4"/>
          <p:cNvSpPr/>
          <p:nvPr/>
        </p:nvSpPr>
        <p:spPr>
          <a:xfrm>
            <a:off x="1463040" y="2286000"/>
            <a:ext cx="9265615" cy="777240"/>
          </a:xfrm>
          <a:prstGeom prst="rect">
            <a:avLst/>
          </a:prstGeom>
          <a:solidFill>
            <a:srgbClr val="FFFFFF"/>
          </a:solidFill>
          <a:ln w="12700">
            <a:solidFill>
              <a:srgbClr val="D9D2C5"/>
            </a:solidFill>
            <a:prstDash val="solid"/>
          </a:ln>
        </p:spPr>
      </p:sp>
      <p:sp>
        <p:nvSpPr>
          <p:cNvPr id="7" name="Shape 5"/>
          <p:cNvSpPr/>
          <p:nvPr/>
        </p:nvSpPr>
        <p:spPr>
          <a:xfrm>
            <a:off x="1691640" y="2423160"/>
            <a:ext cx="502920" cy="502920"/>
          </a:xfrm>
          <a:prstGeom prst="ellipse">
            <a:avLst/>
          </a:prstGeom>
          <a:solidFill>
            <a:srgbClr val="1E4A4A"/>
          </a:solidFill>
          <a:ln w="12700">
            <a:solidFill>
              <a:srgbClr val="1E4A4A"/>
            </a:solidFill>
            <a:prstDash val="solid"/>
          </a:ln>
        </p:spPr>
      </p:sp>
      <p:sp>
        <p:nvSpPr>
          <p:cNvPr id="8" name="Text 6"/>
          <p:cNvSpPr txBox="1"/>
          <p:nvPr/>
        </p:nvSpPr>
        <p:spPr>
          <a:xfrm>
            <a:off x="1691640" y="242316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1</a:t>
            </a:r>
            <a:endParaRPr lang="en-US" sz="1600" dirty="0"/>
          </a:p>
        </p:txBody>
      </p:sp>
      <p:sp>
        <p:nvSpPr>
          <p:cNvPr id="9" name="Text 7"/>
          <p:cNvSpPr txBox="1"/>
          <p:nvPr/>
        </p:nvSpPr>
        <p:spPr>
          <a:xfrm>
            <a:off x="2468880" y="2286000"/>
            <a:ext cx="7985455" cy="7772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I've never negotiated, and I know I'm underpaid</a:t>
            </a:r>
            <a:endParaRPr lang="en-US" sz="2000" dirty="0"/>
          </a:p>
        </p:txBody>
      </p:sp>
      <p:sp>
        <p:nvSpPr>
          <p:cNvPr id="10" name="Shape 8"/>
          <p:cNvSpPr/>
          <p:nvPr/>
        </p:nvSpPr>
        <p:spPr>
          <a:xfrm>
            <a:off x="1463040" y="3246120"/>
            <a:ext cx="9265615" cy="777240"/>
          </a:xfrm>
          <a:prstGeom prst="rect">
            <a:avLst/>
          </a:prstGeom>
          <a:solidFill>
            <a:srgbClr val="FFFFFF"/>
          </a:solidFill>
          <a:ln w="12700">
            <a:solidFill>
              <a:srgbClr val="D9D2C5"/>
            </a:solidFill>
            <a:prstDash val="solid"/>
          </a:ln>
        </p:spPr>
      </p:sp>
      <p:sp>
        <p:nvSpPr>
          <p:cNvPr id="11" name="Shape 9"/>
          <p:cNvSpPr/>
          <p:nvPr/>
        </p:nvSpPr>
        <p:spPr>
          <a:xfrm>
            <a:off x="1691640" y="3383280"/>
            <a:ext cx="502920" cy="502920"/>
          </a:xfrm>
          <a:prstGeom prst="ellipse">
            <a:avLst/>
          </a:prstGeom>
          <a:solidFill>
            <a:srgbClr val="1E4A4A"/>
          </a:solidFill>
          <a:ln w="12700">
            <a:solidFill>
              <a:srgbClr val="1E4A4A"/>
            </a:solidFill>
            <a:prstDash val="solid"/>
          </a:ln>
        </p:spPr>
      </p:sp>
      <p:sp>
        <p:nvSpPr>
          <p:cNvPr id="12" name="Text 10"/>
          <p:cNvSpPr txBox="1"/>
          <p:nvPr/>
        </p:nvSpPr>
        <p:spPr>
          <a:xfrm>
            <a:off x="1691640" y="338328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2</a:t>
            </a:r>
            <a:endParaRPr lang="en-US" sz="1600" dirty="0"/>
          </a:p>
        </p:txBody>
      </p:sp>
      <p:sp>
        <p:nvSpPr>
          <p:cNvPr id="13" name="Text 11"/>
          <p:cNvSpPr txBox="1"/>
          <p:nvPr/>
        </p:nvSpPr>
        <p:spPr>
          <a:xfrm>
            <a:off x="2468880" y="3246120"/>
            <a:ext cx="7985455" cy="7772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I've negotiated, but I'm still underpaid and I want more</a:t>
            </a:r>
            <a:endParaRPr lang="en-US" sz="2000" dirty="0"/>
          </a:p>
        </p:txBody>
      </p:sp>
      <p:sp>
        <p:nvSpPr>
          <p:cNvPr id="14" name="Shape 12"/>
          <p:cNvSpPr/>
          <p:nvPr/>
        </p:nvSpPr>
        <p:spPr>
          <a:xfrm>
            <a:off x="1463040" y="4206240"/>
            <a:ext cx="9265615" cy="777240"/>
          </a:xfrm>
          <a:prstGeom prst="rect">
            <a:avLst/>
          </a:prstGeom>
          <a:solidFill>
            <a:srgbClr val="FFFFFF"/>
          </a:solidFill>
          <a:ln w="12700">
            <a:solidFill>
              <a:srgbClr val="D9D2C5"/>
            </a:solidFill>
            <a:prstDash val="solid"/>
          </a:ln>
        </p:spPr>
      </p:sp>
      <p:sp>
        <p:nvSpPr>
          <p:cNvPr id="15" name="Shape 13"/>
          <p:cNvSpPr/>
          <p:nvPr/>
        </p:nvSpPr>
        <p:spPr>
          <a:xfrm>
            <a:off x="1691640" y="4343400"/>
            <a:ext cx="502920" cy="502920"/>
          </a:xfrm>
          <a:prstGeom prst="ellipse">
            <a:avLst/>
          </a:prstGeom>
          <a:solidFill>
            <a:srgbClr val="1E4A4A"/>
          </a:solidFill>
          <a:ln w="12700">
            <a:solidFill>
              <a:srgbClr val="1E4A4A"/>
            </a:solidFill>
            <a:prstDash val="solid"/>
          </a:ln>
        </p:spPr>
      </p:sp>
      <p:sp>
        <p:nvSpPr>
          <p:cNvPr id="16" name="Text 14"/>
          <p:cNvSpPr txBox="1"/>
          <p:nvPr/>
        </p:nvSpPr>
        <p:spPr>
          <a:xfrm>
            <a:off x="1691640" y="434340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3</a:t>
            </a:r>
            <a:endParaRPr lang="en-US" sz="1600" dirty="0"/>
          </a:p>
        </p:txBody>
      </p:sp>
      <p:sp>
        <p:nvSpPr>
          <p:cNvPr id="17" name="Text 15"/>
          <p:cNvSpPr txBox="1"/>
          <p:nvPr/>
        </p:nvSpPr>
        <p:spPr>
          <a:xfrm>
            <a:off x="2468880" y="4206240"/>
            <a:ext cx="7985455" cy="7772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I'm winning, but my pay doesn't reflect it</a:t>
            </a:r>
            <a:endParaRPr lang="en-US" sz="2000" dirty="0"/>
          </a:p>
        </p:txBody>
      </p:sp>
      <p:sp>
        <p:nvSpPr>
          <p:cNvPr id="18" name="Text 16"/>
          <p:cNvSpPr txBox="1"/>
          <p:nvPr/>
        </p:nvSpPr>
        <p:spPr>
          <a:xfrm>
            <a:off x="914400" y="539496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700" b="1" dirty="0">
                <a:solidFill>
                  <a:srgbClr val="5C8A64"/>
                </a:solidFill>
                <a:latin typeface="DM Sans" pitchFamily="34" charset="0"/>
                <a:ea typeface="DM Sans" pitchFamily="34" charset="-122"/>
                <a:cs typeface="DM Sans" pitchFamily="34" charset="-120"/>
              </a:rPr>
              <a:t>Type 1, 2 or 3 in the chat</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253935" y="0"/>
            <a:ext cx="4937760" cy="6858000"/>
          </a:xfrm>
          <a:prstGeom prst="rect">
            <a:avLst/>
          </a:prstGeom>
          <a:solidFill>
            <a:srgbClr val="EEF4EC"/>
          </a:solidFill>
          <a:ln w="12700">
            <a:solidFill>
              <a:srgbClr val="8AAF8A"/>
            </a:solidFill>
            <a:prstDash val="dash"/>
          </a:ln>
        </p:spPr>
      </p:sp>
      <p:sp>
        <p:nvSpPr>
          <p:cNvPr id="3" name="Text 1"/>
          <p:cNvSpPr txBox="1"/>
          <p:nvPr/>
        </p:nvSpPr>
        <p:spPr>
          <a:xfrm>
            <a:off x="7528255"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7528255"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Close-up: a woman's hands wrapped around a coffee mug on a desk, notebook open next to her. Soft morning light.</a:t>
            </a:r>
            <a:endParaRPr lang="en-US" sz="1050" dirty="0"/>
          </a:p>
        </p:txBody>
      </p:sp>
      <p:sp>
        <p:nvSpPr>
          <p:cNvPr id="5" name="Shape 3"/>
          <p:cNvSpPr/>
          <p:nvPr/>
        </p:nvSpPr>
        <p:spPr>
          <a:xfrm>
            <a:off x="3337560" y="1828800"/>
            <a:ext cx="731520" cy="0"/>
          </a:xfrm>
          <a:prstGeom prst="line">
            <a:avLst/>
          </a:prstGeom>
          <a:noFill/>
          <a:ln w="19050">
            <a:solidFill>
              <a:srgbClr val="8AAF8A"/>
            </a:solidFill>
            <a:prstDash val="solid"/>
          </a:ln>
        </p:spPr>
      </p:sp>
      <p:sp>
        <p:nvSpPr>
          <p:cNvPr id="6" name="Text 4"/>
          <p:cNvSpPr txBox="1"/>
          <p:nvPr/>
        </p:nvSpPr>
        <p:spPr>
          <a:xfrm>
            <a:off x="73152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4200" dirty="0">
                <a:solidFill>
                  <a:srgbClr val="1E4A4A"/>
                </a:solidFill>
                <a:latin typeface="Cormorant Garamond" pitchFamily="34" charset="0"/>
                <a:ea typeface="Cormorant Garamond" pitchFamily="34" charset="-122"/>
                <a:cs typeface="Cormorant Garamond" pitchFamily="34" charset="-120"/>
              </a:rPr>
              <a:t>One ask </a:t>
            </a:r>
            <a:pPr algn="ctr" indent="0" marL="0">
              <a:lnSpc>
                <a:spcPct val="100000"/>
              </a:lnSpc>
              <a:buNone/>
            </a:pPr>
            <a:r>
              <a:rPr lang="en-US" sz="4200" b="1" dirty="0">
                <a:solidFill>
                  <a:srgbClr val="5C8A64"/>
                </a:solidFill>
                <a:latin typeface="Cormorant Garamond" pitchFamily="34" charset="0"/>
                <a:ea typeface="Cormorant Garamond" pitchFamily="34" charset="-122"/>
                <a:cs typeface="Cormorant Garamond" pitchFamily="34" charset="-120"/>
              </a:rPr>
              <a:t>before we start</a:t>
            </a:r>
            <a:endParaRPr lang="en-US" sz="4200" dirty="0"/>
          </a:p>
        </p:txBody>
      </p:sp>
      <p:sp>
        <p:nvSpPr>
          <p:cNvPr id="7" name="Text 5"/>
          <p:cNvSpPr txBox="1"/>
          <p:nvPr/>
        </p:nvSpPr>
        <p:spPr>
          <a:xfrm>
            <a:off x="100584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Some of this is going to feel foreign. You've spent decades being rewarded for being tough, rational and in control. Give me the next hour with an open mind and an open heart.</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82880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A QUICK NOTE ON RESULTS</a:t>
            </a:r>
            <a:endParaRPr lang="en-US" sz="1200" dirty="0"/>
          </a:p>
        </p:txBody>
      </p:sp>
      <p:sp>
        <p:nvSpPr>
          <p:cNvPr id="3" name="Shape 1"/>
          <p:cNvSpPr/>
          <p:nvPr/>
        </p:nvSpPr>
        <p:spPr>
          <a:xfrm>
            <a:off x="5730088" y="2331720"/>
            <a:ext cx="731520" cy="0"/>
          </a:xfrm>
          <a:prstGeom prst="line">
            <a:avLst/>
          </a:prstGeom>
          <a:noFill/>
          <a:ln w="19050">
            <a:solidFill>
              <a:srgbClr val="8AAF8A"/>
            </a:solidFill>
            <a:prstDash val="solid"/>
          </a:ln>
        </p:spPr>
      </p:sp>
      <p:sp>
        <p:nvSpPr>
          <p:cNvPr id="4" name="Text 2"/>
          <p:cNvSpPr txBox="1"/>
          <p:nvPr/>
        </p:nvSpPr>
        <p:spPr>
          <a:xfrm>
            <a:off x="2011680" y="2606040"/>
            <a:ext cx="8168335" cy="2377440"/>
          </a:xfrm>
          <a:prstGeom prst="rect">
            <a:avLst/>
          </a:prstGeom>
          <a:noFill/>
          <a:ln/>
        </p:spPr>
        <p:txBody>
          <a:bodyPr wrap="square" lIns="0" tIns="0" rIns="0" bIns="0" rtlCol="0" anchor="t">
            <a:normAutofit/>
          </a:bodyPr>
          <a:lstStyle/>
          <a:p>
            <a:pPr algn="ctr" indent="0" marL="0">
              <a:lnSpc>
                <a:spcPct val="130000"/>
              </a:lnSpc>
              <a:buNone/>
            </a:pPr>
            <a:r>
              <a:rPr lang="en-US" sz="1500" dirty="0">
                <a:solidFill>
                  <a:srgbClr val="5E6B68"/>
                </a:solidFill>
                <a:latin typeface="DM Sans" pitchFamily="34" charset="0"/>
                <a:ea typeface="DM Sans" pitchFamily="34" charset="-122"/>
                <a:cs typeface="DM Sans" pitchFamily="34" charset="-120"/>
              </a:rPr>
              <a:t>The client results shared in this presentation are real, but they are not typical and they are not a promise. Outcomes depend on your effort, your situation, your employer and your market, and no one can guarantee how another person or organization will respond. Nothing here is financial, legal or employment advice. </a:t>
            </a:r>
            <a:pPr algn="ctr" indent="0" marL="0">
              <a:lnSpc>
                <a:spcPct val="130000"/>
              </a:lnSpc>
              <a:buNone/>
            </a:pPr>
            <a:r>
              <a:rPr lang="en-US" sz="1500" b="1" dirty="0">
                <a:solidFill>
                  <a:srgbClr val="B85042"/>
                </a:solidFill>
                <a:latin typeface="DM Sans" pitchFamily="34" charset="0"/>
                <a:ea typeface="DM Sans" pitchFamily="34" charset="-122"/>
                <a:cs typeface="DM Sans" pitchFamily="34" charset="-120"/>
              </a:rPr>
              <a:t>[PLACEHOLDER: have compliance/legal review final disclaimer wording]</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WHO AM I?</a:t>
            </a:r>
            <a:endParaRPr lang="en-US" sz="1300" dirty="0"/>
          </a:p>
        </p:txBody>
      </p:sp>
      <p:sp>
        <p:nvSpPr>
          <p:cNvPr id="5" name="Shape 3"/>
          <p:cNvSpPr/>
          <p:nvPr/>
        </p:nvSpPr>
        <p:spPr>
          <a:xfrm>
            <a:off x="548640" y="1005840"/>
            <a:ext cx="4023360" cy="5303520"/>
          </a:xfrm>
          <a:prstGeom prst="rect">
            <a:avLst/>
          </a:prstGeom>
          <a:solidFill>
            <a:srgbClr val="EEF4EC"/>
          </a:solidFill>
          <a:ln w="12700">
            <a:solidFill>
              <a:srgbClr val="8AAF8A"/>
            </a:solidFill>
            <a:prstDash val="dash"/>
          </a:ln>
        </p:spPr>
      </p:sp>
      <p:sp>
        <p:nvSpPr>
          <p:cNvPr id="6" name="Text 4"/>
          <p:cNvSpPr txBox="1"/>
          <p:nvPr/>
        </p:nvSpPr>
        <p:spPr>
          <a:xfrm>
            <a:off x="822960" y="1280160"/>
            <a:ext cx="34747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7" name="Text 5"/>
          <p:cNvSpPr txBox="1"/>
          <p:nvPr/>
        </p:nvSpPr>
        <p:spPr>
          <a:xfrm>
            <a:off x="822960" y="1600200"/>
            <a:ext cx="34747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Tamara early in her Wall Street career. An archival photo from her personal collection: trading floor, big hair era, suit and badge.</a:t>
            </a:r>
            <a:endParaRPr lang="en-US" sz="1050" dirty="0"/>
          </a:p>
        </p:txBody>
      </p:sp>
      <p:sp>
        <p:nvSpPr>
          <p:cNvPr id="8" name="Text 6"/>
          <p:cNvSpPr txBox="1"/>
          <p:nvPr/>
        </p:nvSpPr>
        <p:spPr>
          <a:xfrm>
            <a:off x="5029200" y="1280160"/>
            <a:ext cx="6583680" cy="822960"/>
          </a:xfrm>
          <a:prstGeom prst="rect">
            <a:avLst/>
          </a:prstGeom>
          <a:noFill/>
          <a:ln/>
        </p:spPr>
        <p:txBody>
          <a:bodyPr wrap="square" lIns="0" tIns="0" rIns="0" bIns="0" rtlCol="0" anchor="ctr">
            <a:normAutofit/>
          </a:bodyPr>
          <a:lstStyle/>
          <a:p>
            <a:pPr algn="ctr"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So who am I to talk about this?</a:t>
            </a:r>
            <a:endParaRPr lang="en-US" sz="3000" dirty="0"/>
          </a:p>
        </p:txBody>
      </p:sp>
      <p:sp>
        <p:nvSpPr>
          <p:cNvPr id="9" name="Text 7"/>
          <p:cNvSpPr txBox="1"/>
          <p:nvPr/>
        </p:nvSpPr>
        <p:spPr>
          <a:xfrm>
            <a:off x="5029200" y="2194560"/>
            <a:ext cx="6583680" cy="1737360"/>
          </a:xfrm>
          <a:prstGeom prst="rect">
            <a:avLst/>
          </a:prstGeom>
          <a:noFill/>
          <a:ln/>
        </p:spPr>
        <p:txBody>
          <a:bodyPr wrap="square" lIns="0" tIns="0" rIns="0" bIns="0" rtlCol="0" anchor="ctr">
            <a:normAutofit/>
          </a:bodyPr>
          <a:lstStyle/>
          <a:p>
            <a:pPr algn="ctr" indent="0" marL="0">
              <a:lnSpc>
                <a:spcPct val="105000"/>
              </a:lnSpc>
              <a:buNone/>
            </a:pPr>
            <a:r>
              <a:rPr lang="en-US" sz="9600" b="1" dirty="0">
                <a:solidFill>
                  <a:srgbClr val="5C8A64"/>
                </a:solidFill>
                <a:latin typeface="Cormorant Garamond" pitchFamily="34" charset="0"/>
                <a:ea typeface="Cormorant Garamond" pitchFamily="34" charset="-122"/>
                <a:cs typeface="Cormorant Garamond" pitchFamily="34" charset="-120"/>
              </a:rPr>
              <a:t>26 years</a:t>
            </a:r>
            <a:endParaRPr lang="en-US" sz="9600" dirty="0"/>
          </a:p>
        </p:txBody>
      </p:sp>
      <p:sp>
        <p:nvSpPr>
          <p:cNvPr id="10" name="Shape 8"/>
          <p:cNvSpPr/>
          <p:nvPr/>
        </p:nvSpPr>
        <p:spPr>
          <a:xfrm>
            <a:off x="7955280" y="4160520"/>
            <a:ext cx="731520" cy="0"/>
          </a:xfrm>
          <a:prstGeom prst="line">
            <a:avLst/>
          </a:prstGeom>
          <a:noFill/>
          <a:ln w="19050">
            <a:solidFill>
              <a:srgbClr val="8AAF8A"/>
            </a:solidFill>
            <a:prstDash val="solid"/>
          </a:ln>
        </p:spPr>
      </p:sp>
      <p:sp>
        <p:nvSpPr>
          <p:cNvPr id="11" name="Text 9"/>
          <p:cNvSpPr txBox="1"/>
          <p:nvPr/>
        </p:nvSpPr>
        <p:spPr>
          <a:xfrm>
            <a:off x="5394960" y="4389120"/>
            <a:ext cx="5852160" cy="1463040"/>
          </a:xfrm>
          <a:prstGeom prst="rect">
            <a:avLst/>
          </a:prstGeom>
          <a:noFill/>
          <a:ln/>
        </p:spPr>
        <p:txBody>
          <a:bodyPr wrap="square" lIns="0" tIns="0" rIns="0" bIns="0" rtlCol="0" anchor="t">
            <a:normAutofit/>
          </a:bodyPr>
          <a:lstStyle/>
          <a:p>
            <a:pPr algn="ctr" indent="0" marL="0">
              <a:lnSpc>
                <a:spcPct val="120000"/>
              </a:lnSpc>
              <a:buNone/>
            </a:pPr>
            <a:r>
              <a:rPr lang="en-US" sz="1800" dirty="0">
                <a:solidFill>
                  <a:srgbClr val="1E4A4A"/>
                </a:solidFill>
                <a:latin typeface="DM Sans" pitchFamily="34" charset="0"/>
                <a:ea typeface="DM Sans" pitchFamily="34" charset="-122"/>
                <a:cs typeface="DM Sans" pitchFamily="34" charset="-120"/>
              </a:rPr>
              <a:t>negotiating high-stakes deals on Wall Street</a:t>
            </a:r>
            <a:endParaRPr lang="en-US" sz="18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WHO AM I?</a:t>
            </a:r>
            <a:endParaRPr lang="en-US" sz="1300" dirty="0"/>
          </a:p>
        </p:txBody>
      </p:sp>
      <p:sp>
        <p:nvSpPr>
          <p:cNvPr id="5" name="Shape 3"/>
          <p:cNvSpPr/>
          <p:nvPr/>
        </p:nvSpPr>
        <p:spPr>
          <a:xfrm>
            <a:off x="548640" y="1005840"/>
            <a:ext cx="4023360" cy="5303520"/>
          </a:xfrm>
          <a:prstGeom prst="rect">
            <a:avLst/>
          </a:prstGeom>
          <a:solidFill>
            <a:srgbClr val="EEF4EC"/>
          </a:solidFill>
          <a:ln w="12700">
            <a:solidFill>
              <a:srgbClr val="8AAF8A"/>
            </a:solidFill>
            <a:prstDash val="dash"/>
          </a:ln>
        </p:spPr>
      </p:sp>
      <p:sp>
        <p:nvSpPr>
          <p:cNvPr id="6" name="Text 4"/>
          <p:cNvSpPr txBox="1"/>
          <p:nvPr/>
        </p:nvSpPr>
        <p:spPr>
          <a:xfrm>
            <a:off x="822960" y="1280160"/>
            <a:ext cx="34747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7" name="Text 5"/>
          <p:cNvSpPr txBox="1"/>
          <p:nvPr/>
        </p:nvSpPr>
        <p:spPr>
          <a:xfrm>
            <a:off x="822960" y="1600200"/>
            <a:ext cx="34747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Row of firm logos (J.P. Morgan, Merrill Lynch / Bank of America, Deutsche Bank). Confirm logo usage rights. Alternate: Tamara in front of a bank's HQ.</a:t>
            </a:r>
            <a:endParaRPr lang="en-US" sz="1050" dirty="0"/>
          </a:p>
        </p:txBody>
      </p:sp>
      <p:sp>
        <p:nvSpPr>
          <p:cNvPr id="8" name="Text 6"/>
          <p:cNvSpPr txBox="1"/>
          <p:nvPr/>
        </p:nvSpPr>
        <p:spPr>
          <a:xfrm>
            <a:off x="5029200" y="1280160"/>
            <a:ext cx="6583680" cy="822960"/>
          </a:xfrm>
          <a:prstGeom prst="rect">
            <a:avLst/>
          </a:prstGeom>
          <a:noFill/>
          <a:ln/>
        </p:spPr>
        <p:txBody>
          <a:bodyPr wrap="square" lIns="0" tIns="0" rIns="0" bIns="0" rtlCol="0" anchor="ctr">
            <a:normAutofit/>
          </a:bodyPr>
          <a:lstStyle/>
          <a:p>
            <a:pPr algn="ctr"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Some of the world's leading investment banks</a:t>
            </a:r>
            <a:endParaRPr lang="en-US" sz="2600" dirty="0"/>
          </a:p>
        </p:txBody>
      </p:sp>
      <p:sp>
        <p:nvSpPr>
          <p:cNvPr id="9" name="Text 7"/>
          <p:cNvSpPr txBox="1"/>
          <p:nvPr/>
        </p:nvSpPr>
        <p:spPr>
          <a:xfrm>
            <a:off x="5029200" y="2194560"/>
            <a:ext cx="6583680" cy="1737360"/>
          </a:xfrm>
          <a:prstGeom prst="rect">
            <a:avLst/>
          </a:prstGeom>
          <a:noFill/>
          <a:ln/>
        </p:spPr>
        <p:txBody>
          <a:bodyPr wrap="square" lIns="0" tIns="0" rIns="0" bIns="0" rtlCol="0" anchor="ctr">
            <a:normAutofit/>
          </a:bodyPr>
          <a:lstStyle/>
          <a:p>
            <a:pPr algn="ctr" indent="0" marL="0">
              <a:lnSpc>
                <a:spcPct val="105000"/>
              </a:lnSpc>
              <a:buNone/>
            </a:pPr>
            <a:r>
              <a:rPr lang="en-US" sz="3300" b="1" dirty="0">
                <a:solidFill>
                  <a:srgbClr val="5C8A64"/>
                </a:solidFill>
                <a:latin typeface="Cormorant Garamond" pitchFamily="34" charset="0"/>
                <a:ea typeface="Cormorant Garamond" pitchFamily="34" charset="-122"/>
                <a:cs typeface="Cormorant Garamond" pitchFamily="34" charset="-120"/>
              </a:rPr>
              <a:t>J.P. Morgan · Merrill Lynch / Bank of America · Deutsche Bank</a:t>
            </a:r>
            <a:endParaRPr lang="en-US" sz="3300" dirty="0"/>
          </a:p>
        </p:txBody>
      </p:sp>
      <p:sp>
        <p:nvSpPr>
          <p:cNvPr id="10" name="Shape 8"/>
          <p:cNvSpPr/>
          <p:nvPr/>
        </p:nvSpPr>
        <p:spPr>
          <a:xfrm>
            <a:off x="7955280" y="4160520"/>
            <a:ext cx="731520" cy="0"/>
          </a:xfrm>
          <a:prstGeom prst="line">
            <a:avLst/>
          </a:prstGeom>
          <a:noFill/>
          <a:ln w="19050">
            <a:solidFill>
              <a:srgbClr val="8AAF8A"/>
            </a:solidFill>
            <a:prstDash val="solid"/>
          </a:ln>
        </p:spPr>
      </p:sp>
      <p:sp>
        <p:nvSpPr>
          <p:cNvPr id="11" name="Text 9"/>
          <p:cNvSpPr txBox="1"/>
          <p:nvPr/>
        </p:nvSpPr>
        <p:spPr>
          <a:xfrm>
            <a:off x="5394960" y="4389120"/>
            <a:ext cx="5852160" cy="1463040"/>
          </a:xfrm>
          <a:prstGeom prst="rect">
            <a:avLst/>
          </a:prstGeom>
          <a:noFill/>
          <a:ln/>
        </p:spPr>
        <p:txBody>
          <a:bodyPr wrap="square" lIns="0" tIns="0" rIns="0" bIns="0" rtlCol="0" anchor="t">
            <a:normAutofit/>
          </a:bodyPr>
          <a:lstStyle/>
          <a:p>
            <a:pPr algn="ctr" indent="0" marL="0">
              <a:lnSpc>
                <a:spcPct val="120000"/>
              </a:lnSpc>
              <a:buNone/>
            </a:pPr>
            <a:r>
              <a:rPr lang="en-US" sz="1800" dirty="0">
                <a:solidFill>
                  <a:srgbClr val="1E4A4A"/>
                </a:solidFill>
                <a:latin typeface="DM Sans" pitchFamily="34" charset="0"/>
                <a:ea typeface="DM Sans" pitchFamily="34" charset="-122"/>
                <a:cs typeface="DM Sans" pitchFamily="34" charset="-120"/>
              </a:rPr>
              <a:t>Negotiating deals, leading global talent initiatives, advising senior executives</a:t>
            </a:r>
            <a:endParaRPr lang="en-US" sz="18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WHO AM I?</a:t>
            </a:r>
            <a:endParaRPr lang="en-US" sz="1300" dirty="0"/>
          </a:p>
        </p:txBody>
      </p:sp>
      <p:sp>
        <p:nvSpPr>
          <p:cNvPr id="5" name="Shape 3"/>
          <p:cNvSpPr/>
          <p:nvPr/>
        </p:nvSpPr>
        <p:spPr>
          <a:xfrm>
            <a:off x="548640" y="1005840"/>
            <a:ext cx="4023360" cy="5303520"/>
          </a:xfrm>
          <a:prstGeom prst="rect">
            <a:avLst/>
          </a:prstGeom>
          <a:solidFill>
            <a:srgbClr val="EEF4EC"/>
          </a:solidFill>
          <a:ln w="12700">
            <a:solidFill>
              <a:srgbClr val="8AAF8A"/>
            </a:solidFill>
            <a:prstDash val="dash"/>
          </a:ln>
        </p:spPr>
      </p:sp>
      <p:sp>
        <p:nvSpPr>
          <p:cNvPr id="6" name="Text 4"/>
          <p:cNvSpPr txBox="1"/>
          <p:nvPr/>
        </p:nvSpPr>
        <p:spPr>
          <a:xfrm>
            <a:off x="822960" y="1280160"/>
            <a:ext cx="34747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7" name="Text 5"/>
          <p:cNvSpPr txBox="1"/>
          <p:nvPr/>
        </p:nvSpPr>
        <p:spPr>
          <a:xfrm>
            <a:off x="822960" y="1600200"/>
            <a:ext cx="34747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Tamara in a corner office or at a leadership offsite, mid-conversation, confident posture.</a:t>
            </a:r>
            <a:endParaRPr lang="en-US" sz="1050" dirty="0"/>
          </a:p>
        </p:txBody>
      </p:sp>
      <p:sp>
        <p:nvSpPr>
          <p:cNvPr id="8" name="Text 6"/>
          <p:cNvSpPr txBox="1"/>
          <p:nvPr/>
        </p:nvSpPr>
        <p:spPr>
          <a:xfrm>
            <a:off x="5029200" y="1280160"/>
            <a:ext cx="6583680" cy="822960"/>
          </a:xfrm>
          <a:prstGeom prst="rect">
            <a:avLst/>
          </a:prstGeom>
          <a:noFill/>
          <a:ln/>
        </p:spPr>
        <p:txBody>
          <a:bodyPr wrap="square" lIns="0" tIns="0" rIns="0" bIns="0" rtlCol="0" anchor="ctr">
            <a:normAutofit/>
          </a:bodyPr>
          <a:lstStyle/>
          <a:p>
            <a:pPr algn="ctr"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By the end of my Wall Street career</a:t>
            </a:r>
            <a:endParaRPr lang="en-US" sz="2600" dirty="0"/>
          </a:p>
        </p:txBody>
      </p:sp>
      <p:sp>
        <p:nvSpPr>
          <p:cNvPr id="9" name="Text 7"/>
          <p:cNvSpPr txBox="1"/>
          <p:nvPr/>
        </p:nvSpPr>
        <p:spPr>
          <a:xfrm>
            <a:off x="5029200" y="2194560"/>
            <a:ext cx="6583680" cy="1737360"/>
          </a:xfrm>
          <a:prstGeom prst="rect">
            <a:avLst/>
          </a:prstGeom>
          <a:noFill/>
          <a:ln/>
        </p:spPr>
        <p:txBody>
          <a:bodyPr wrap="square" lIns="0" tIns="0" rIns="0" bIns="0" rtlCol="0" anchor="ctr">
            <a:normAutofit/>
          </a:bodyPr>
          <a:lstStyle/>
          <a:p>
            <a:pPr algn="ctr" indent="0" marL="0">
              <a:lnSpc>
                <a:spcPct val="105000"/>
              </a:lnSpc>
              <a:buNone/>
            </a:pPr>
            <a:r>
              <a:rPr lang="en-US" sz="9600" b="1" dirty="0">
                <a:solidFill>
                  <a:srgbClr val="5C8A64"/>
                </a:solidFill>
                <a:latin typeface="Cormorant Garamond" pitchFamily="34" charset="0"/>
                <a:ea typeface="Cormorant Garamond" pitchFamily="34" charset="-122"/>
                <a:cs typeface="Cormorant Garamond" pitchFamily="34" charset="-120"/>
              </a:rPr>
              <a:t>#1</a:t>
            </a:r>
            <a:endParaRPr lang="en-US" sz="9600" dirty="0"/>
          </a:p>
        </p:txBody>
      </p:sp>
      <p:sp>
        <p:nvSpPr>
          <p:cNvPr id="10" name="Shape 8"/>
          <p:cNvSpPr/>
          <p:nvPr/>
        </p:nvSpPr>
        <p:spPr>
          <a:xfrm>
            <a:off x="7955280" y="4160520"/>
            <a:ext cx="731520" cy="0"/>
          </a:xfrm>
          <a:prstGeom prst="line">
            <a:avLst/>
          </a:prstGeom>
          <a:noFill/>
          <a:ln w="19050">
            <a:solidFill>
              <a:srgbClr val="8AAF8A"/>
            </a:solidFill>
            <a:prstDash val="solid"/>
          </a:ln>
        </p:spPr>
      </p:sp>
      <p:sp>
        <p:nvSpPr>
          <p:cNvPr id="11" name="Text 9"/>
          <p:cNvSpPr txBox="1"/>
          <p:nvPr/>
        </p:nvSpPr>
        <p:spPr>
          <a:xfrm>
            <a:off x="5394960" y="4389120"/>
            <a:ext cx="5852160" cy="1463040"/>
          </a:xfrm>
          <a:prstGeom prst="rect">
            <a:avLst/>
          </a:prstGeom>
          <a:noFill/>
          <a:ln/>
        </p:spPr>
        <p:txBody>
          <a:bodyPr wrap="square" lIns="0" tIns="0" rIns="0" bIns="0" rtlCol="0" anchor="t">
            <a:normAutofit/>
          </a:bodyPr>
          <a:lstStyle/>
          <a:p>
            <a:pPr algn="ctr" indent="0" marL="0">
              <a:lnSpc>
                <a:spcPct val="120000"/>
              </a:lnSpc>
              <a:buNone/>
            </a:pPr>
            <a:r>
              <a:rPr lang="en-US" sz="1800" dirty="0">
                <a:solidFill>
                  <a:srgbClr val="1E4A4A"/>
                </a:solidFill>
                <a:latin typeface="DM Sans" pitchFamily="34" charset="0"/>
                <a:ea typeface="DM Sans" pitchFamily="34" charset="-122"/>
                <a:cs typeface="DM Sans" pitchFamily="34" charset="-120"/>
              </a:rPr>
              <a:t>The highest-paid person in my U.S. division. </a:t>
            </a:r>
            <a:pPr algn="ctr" indent="0" marL="0">
              <a:lnSpc>
                <a:spcPct val="120000"/>
              </a:lnSpc>
              <a:buNone/>
            </a:pPr>
            <a:r>
              <a:rPr lang="en-US" sz="1800" b="1" dirty="0">
                <a:solidFill>
                  <a:srgbClr val="5C8A64"/>
                </a:solidFill>
                <a:latin typeface="DM Sans" pitchFamily="34" charset="0"/>
                <a:ea typeface="DM Sans" pitchFamily="34" charset="-122"/>
                <a:cs typeface="DM Sans" pitchFamily="34" charset="-120"/>
              </a:rPr>
              <a:t>Man or woman.</a:t>
            </a:r>
            <a:endParaRPr lang="en-US" sz="18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WHO AM I?</a:t>
            </a:r>
            <a:endParaRPr lang="en-US" sz="1300" dirty="0"/>
          </a:p>
        </p:txBody>
      </p:sp>
      <p:sp>
        <p:nvSpPr>
          <p:cNvPr id="5" name="Shape 3"/>
          <p:cNvSpPr/>
          <p:nvPr/>
        </p:nvSpPr>
        <p:spPr>
          <a:xfrm>
            <a:off x="548640" y="1005840"/>
            <a:ext cx="4023360" cy="5303520"/>
          </a:xfrm>
          <a:prstGeom prst="rect">
            <a:avLst/>
          </a:prstGeom>
          <a:solidFill>
            <a:srgbClr val="EEF4EC"/>
          </a:solidFill>
          <a:ln w="12700">
            <a:solidFill>
              <a:srgbClr val="8AAF8A"/>
            </a:solidFill>
            <a:prstDash val="dash"/>
          </a:ln>
        </p:spPr>
      </p:sp>
      <p:sp>
        <p:nvSpPr>
          <p:cNvPr id="6" name="Text 4"/>
          <p:cNvSpPr txBox="1"/>
          <p:nvPr/>
        </p:nvSpPr>
        <p:spPr>
          <a:xfrm>
            <a:off x="822960" y="1280160"/>
            <a:ext cx="34747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7" name="Text 5"/>
          <p:cNvSpPr txBox="1"/>
          <p:nvPr/>
        </p:nvSpPr>
        <p:spPr>
          <a:xfrm>
            <a:off x="822960" y="1600200"/>
            <a:ext cx="34747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Book cover of Lose the Gum, shot on a desk or held by Tamara.</a:t>
            </a:r>
            <a:endParaRPr lang="en-US" sz="1050" dirty="0"/>
          </a:p>
        </p:txBody>
      </p:sp>
      <p:sp>
        <p:nvSpPr>
          <p:cNvPr id="8" name="Text 6"/>
          <p:cNvSpPr txBox="1"/>
          <p:nvPr/>
        </p:nvSpPr>
        <p:spPr>
          <a:xfrm>
            <a:off x="5029200" y="1280160"/>
            <a:ext cx="6583680" cy="822960"/>
          </a:xfrm>
          <a:prstGeom prst="rect">
            <a:avLst/>
          </a:prstGeom>
          <a:noFill/>
          <a:ln/>
        </p:spPr>
        <p:txBody>
          <a:bodyPr wrap="square" lIns="0" tIns="0" rIns="0" bIns="0" rtlCol="0" anchor="ctr">
            <a:normAutofit/>
          </a:bodyPr>
          <a:lstStyle/>
          <a:p>
            <a:pPr algn="ctr"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I wrote the book on it. Literally.</a:t>
            </a:r>
            <a:endParaRPr lang="en-US" sz="2600" dirty="0"/>
          </a:p>
        </p:txBody>
      </p:sp>
      <p:sp>
        <p:nvSpPr>
          <p:cNvPr id="9" name="Text 7"/>
          <p:cNvSpPr txBox="1"/>
          <p:nvPr/>
        </p:nvSpPr>
        <p:spPr>
          <a:xfrm>
            <a:off x="5029200" y="2194560"/>
            <a:ext cx="6583680" cy="1737360"/>
          </a:xfrm>
          <a:prstGeom prst="rect">
            <a:avLst/>
          </a:prstGeom>
          <a:noFill/>
          <a:ln/>
        </p:spPr>
        <p:txBody>
          <a:bodyPr wrap="square" lIns="0" tIns="0" rIns="0" bIns="0" rtlCol="0" anchor="ctr">
            <a:normAutofit/>
          </a:bodyPr>
          <a:lstStyle/>
          <a:p>
            <a:pPr algn="ctr" indent="0" marL="0">
              <a:lnSpc>
                <a:spcPct val="105000"/>
              </a:lnSpc>
              <a:buNone/>
            </a:pPr>
            <a:r>
              <a:rPr lang="en-US" sz="4400" b="1" dirty="0">
                <a:solidFill>
                  <a:srgbClr val="5C8A64"/>
                </a:solidFill>
                <a:latin typeface="Cormorant Garamond" pitchFamily="34" charset="0"/>
                <a:ea typeface="Cormorant Garamond" pitchFamily="34" charset="-122"/>
                <a:cs typeface="Cormorant Garamond" pitchFamily="34" charset="-120"/>
              </a:rPr>
              <a:t>Lose the Gum</a:t>
            </a:r>
            <a:endParaRPr lang="en-US" sz="4400" dirty="0"/>
          </a:p>
        </p:txBody>
      </p:sp>
      <p:sp>
        <p:nvSpPr>
          <p:cNvPr id="10" name="Shape 8"/>
          <p:cNvSpPr/>
          <p:nvPr/>
        </p:nvSpPr>
        <p:spPr>
          <a:xfrm>
            <a:off x="7955280" y="4160520"/>
            <a:ext cx="731520" cy="0"/>
          </a:xfrm>
          <a:prstGeom prst="line">
            <a:avLst/>
          </a:prstGeom>
          <a:noFill/>
          <a:ln w="19050">
            <a:solidFill>
              <a:srgbClr val="8AAF8A"/>
            </a:solidFill>
            <a:prstDash val="solid"/>
          </a:ln>
        </p:spPr>
      </p:sp>
      <p:sp>
        <p:nvSpPr>
          <p:cNvPr id="11" name="Text 9"/>
          <p:cNvSpPr txBox="1"/>
          <p:nvPr/>
        </p:nvSpPr>
        <p:spPr>
          <a:xfrm>
            <a:off x="5394960" y="4389120"/>
            <a:ext cx="5852160" cy="1463040"/>
          </a:xfrm>
          <a:prstGeom prst="rect">
            <a:avLst/>
          </a:prstGeom>
          <a:noFill/>
          <a:ln/>
        </p:spPr>
        <p:txBody>
          <a:bodyPr wrap="square" lIns="0" tIns="0" rIns="0" bIns="0" rtlCol="0" anchor="t">
            <a:normAutofit/>
          </a:bodyPr>
          <a:lstStyle/>
          <a:p>
            <a:pPr algn="ctr" indent="0" marL="0">
              <a:lnSpc>
                <a:spcPct val="120000"/>
              </a:lnSpc>
              <a:buNone/>
            </a:pPr>
            <a:r>
              <a:rPr lang="en-US" sz="1800" dirty="0">
                <a:solidFill>
                  <a:srgbClr val="1E4A4A"/>
                </a:solidFill>
                <a:latin typeface="DM Sans" pitchFamily="34" charset="0"/>
                <a:ea typeface="DM Sans" pitchFamily="34" charset="-122"/>
                <a:cs typeface="DM Sans" pitchFamily="34" charset="-120"/>
              </a:rPr>
              <a:t>A Survival Guide for Women on Wall Street, Main Street and Every Street in Between</a:t>
            </a:r>
            <a:endParaRPr lang="en-US" sz="18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WHO AM I?</a:t>
            </a:r>
            <a:endParaRPr lang="en-US" sz="1300" dirty="0"/>
          </a:p>
        </p:txBody>
      </p:sp>
      <p:sp>
        <p:nvSpPr>
          <p:cNvPr id="5" name="Shape 3"/>
          <p:cNvSpPr/>
          <p:nvPr/>
        </p:nvSpPr>
        <p:spPr>
          <a:xfrm>
            <a:off x="548640" y="1005840"/>
            <a:ext cx="4023360" cy="5303520"/>
          </a:xfrm>
          <a:prstGeom prst="rect">
            <a:avLst/>
          </a:prstGeom>
          <a:solidFill>
            <a:srgbClr val="EEF4EC"/>
          </a:solidFill>
          <a:ln w="12700">
            <a:solidFill>
              <a:srgbClr val="8AAF8A"/>
            </a:solidFill>
            <a:prstDash val="dash"/>
          </a:ln>
        </p:spPr>
      </p:sp>
      <p:sp>
        <p:nvSpPr>
          <p:cNvPr id="6" name="Text 4"/>
          <p:cNvSpPr txBox="1"/>
          <p:nvPr/>
        </p:nvSpPr>
        <p:spPr>
          <a:xfrm>
            <a:off x="822960" y="1280160"/>
            <a:ext cx="34747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7" name="Text 5"/>
          <p:cNvSpPr txBox="1"/>
          <p:nvPr/>
        </p:nvSpPr>
        <p:spPr>
          <a:xfrm>
            <a:off x="822960" y="1600200"/>
            <a:ext cx="34747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Tamara receiving the Women of Wall Street Award, or the award and the congressional recognition framed on a wall.</a:t>
            </a:r>
            <a:endParaRPr lang="en-US" sz="1050" dirty="0"/>
          </a:p>
        </p:txBody>
      </p:sp>
      <p:sp>
        <p:nvSpPr>
          <p:cNvPr id="8" name="Text 6"/>
          <p:cNvSpPr txBox="1"/>
          <p:nvPr/>
        </p:nvSpPr>
        <p:spPr>
          <a:xfrm>
            <a:off x="5029200" y="1280160"/>
            <a:ext cx="6583680" cy="822960"/>
          </a:xfrm>
          <a:prstGeom prst="rect">
            <a:avLst/>
          </a:prstGeom>
          <a:noFill/>
          <a:ln/>
        </p:spPr>
        <p:txBody>
          <a:bodyPr wrap="square" lIns="0" tIns="0" rIns="0" bIns="0" rtlCol="0" anchor="ctr">
            <a:normAutofit/>
          </a:bodyPr>
          <a:lstStyle/>
          <a:p>
            <a:pPr algn="ctr"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Recognized for advancing women in finance</a:t>
            </a:r>
            <a:endParaRPr lang="en-US" sz="2600" dirty="0"/>
          </a:p>
        </p:txBody>
      </p:sp>
      <p:sp>
        <p:nvSpPr>
          <p:cNvPr id="9" name="Text 7"/>
          <p:cNvSpPr txBox="1"/>
          <p:nvPr/>
        </p:nvSpPr>
        <p:spPr>
          <a:xfrm>
            <a:off x="5029200" y="2194560"/>
            <a:ext cx="6583680" cy="1737360"/>
          </a:xfrm>
          <a:prstGeom prst="rect">
            <a:avLst/>
          </a:prstGeom>
          <a:noFill/>
          <a:ln/>
        </p:spPr>
        <p:txBody>
          <a:bodyPr wrap="square" lIns="0" tIns="0" rIns="0" bIns="0" rtlCol="0" anchor="ctr">
            <a:normAutofit/>
          </a:bodyPr>
          <a:lstStyle/>
          <a:p>
            <a:pPr algn="ctr" indent="0" marL="0">
              <a:lnSpc>
                <a:spcPct val="105000"/>
              </a:lnSpc>
              <a:buNone/>
            </a:pPr>
            <a:r>
              <a:rPr lang="en-US" sz="4400" b="1" dirty="0">
                <a:solidFill>
                  <a:srgbClr val="5C8A64"/>
                </a:solidFill>
                <a:latin typeface="Cormorant Garamond" pitchFamily="34" charset="0"/>
                <a:ea typeface="Cormorant Garamond" pitchFamily="34" charset="-122"/>
                <a:cs typeface="Cormorant Garamond" pitchFamily="34" charset="-120"/>
              </a:rPr>
              <a:t>Women of Wall Street Award</a:t>
            </a:r>
            <a:endParaRPr lang="en-US" sz="4400" dirty="0"/>
          </a:p>
        </p:txBody>
      </p:sp>
      <p:sp>
        <p:nvSpPr>
          <p:cNvPr id="10" name="Shape 8"/>
          <p:cNvSpPr/>
          <p:nvPr/>
        </p:nvSpPr>
        <p:spPr>
          <a:xfrm>
            <a:off x="7955280" y="4160520"/>
            <a:ext cx="731520" cy="0"/>
          </a:xfrm>
          <a:prstGeom prst="line">
            <a:avLst/>
          </a:prstGeom>
          <a:noFill/>
          <a:ln w="19050">
            <a:solidFill>
              <a:srgbClr val="8AAF8A"/>
            </a:solidFill>
            <a:prstDash val="solid"/>
          </a:ln>
        </p:spPr>
      </p:sp>
      <p:sp>
        <p:nvSpPr>
          <p:cNvPr id="11" name="Text 9"/>
          <p:cNvSpPr txBox="1"/>
          <p:nvPr/>
        </p:nvSpPr>
        <p:spPr>
          <a:xfrm>
            <a:off x="5394960" y="4389120"/>
            <a:ext cx="5852160" cy="1463040"/>
          </a:xfrm>
          <a:prstGeom prst="rect">
            <a:avLst/>
          </a:prstGeom>
          <a:noFill/>
          <a:ln/>
        </p:spPr>
        <p:txBody>
          <a:bodyPr wrap="square" lIns="0" tIns="0" rIns="0" bIns="0" rtlCol="0" anchor="t">
            <a:normAutofit/>
          </a:bodyPr>
          <a:lstStyle/>
          <a:p>
            <a:pPr algn="ctr" indent="0" marL="0">
              <a:lnSpc>
                <a:spcPct val="120000"/>
              </a:lnSpc>
              <a:buNone/>
            </a:pPr>
            <a:r>
              <a:rPr lang="en-US" sz="1800" dirty="0">
                <a:solidFill>
                  <a:srgbClr val="1E4A4A"/>
                </a:solidFill>
                <a:latin typeface="DM Sans" pitchFamily="34" charset="0"/>
                <a:ea typeface="DM Sans" pitchFamily="34" charset="-122"/>
                <a:cs typeface="DM Sans" pitchFamily="34" charset="-120"/>
              </a:rPr>
              <a:t>Plus a Special Congressional Recognition for contributions to the banking, finance and investment communities</a:t>
            </a:r>
            <a:endParaRPr lang="en-US" sz="18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253935" y="0"/>
            <a:ext cx="4937760" cy="6858000"/>
          </a:xfrm>
          <a:prstGeom prst="rect">
            <a:avLst/>
          </a:prstGeom>
          <a:solidFill>
            <a:srgbClr val="EEF4EC"/>
          </a:solidFill>
          <a:ln w="12700">
            <a:solidFill>
              <a:srgbClr val="8AAF8A"/>
            </a:solidFill>
            <a:prstDash val="dash"/>
          </a:ln>
        </p:spPr>
      </p:sp>
      <p:sp>
        <p:nvSpPr>
          <p:cNvPr id="3" name="Text 1"/>
          <p:cNvSpPr txBox="1"/>
          <p:nvPr/>
        </p:nvSpPr>
        <p:spPr>
          <a:xfrm>
            <a:off x="7528255"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7528255"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Split image: left half Tamara in a suit on Wall Street, right half Tamara barefoot on a beach in Costa Rica. Two chapters, one woman.</a:t>
            </a:r>
            <a:endParaRPr lang="en-US" sz="1050" dirty="0"/>
          </a:p>
        </p:txBody>
      </p:sp>
      <p:sp>
        <p:nvSpPr>
          <p:cNvPr id="5" name="Shape 3"/>
          <p:cNvSpPr/>
          <p:nvPr/>
        </p:nvSpPr>
        <p:spPr>
          <a:xfrm>
            <a:off x="3337560" y="1828800"/>
            <a:ext cx="731520" cy="0"/>
          </a:xfrm>
          <a:prstGeom prst="line">
            <a:avLst/>
          </a:prstGeom>
          <a:noFill/>
          <a:ln w="19050">
            <a:solidFill>
              <a:srgbClr val="8AAF8A"/>
            </a:solidFill>
            <a:prstDash val="solid"/>
          </a:ln>
        </p:spPr>
      </p:sp>
      <p:sp>
        <p:nvSpPr>
          <p:cNvPr id="6" name="Text 4"/>
          <p:cNvSpPr txBox="1"/>
          <p:nvPr/>
        </p:nvSpPr>
        <p:spPr>
          <a:xfrm>
            <a:off x="73152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3200" dirty="0">
                <a:solidFill>
                  <a:srgbClr val="1E4A4A"/>
                </a:solidFill>
                <a:latin typeface="Cormorant Garamond" pitchFamily="34" charset="0"/>
                <a:ea typeface="Cormorant Garamond" pitchFamily="34" charset="-122"/>
                <a:cs typeface="Cormorant Garamond" pitchFamily="34" charset="-120"/>
              </a:rPr>
              <a:t>I learned negotiation across a real desk, with </a:t>
            </a:r>
            <a:pPr algn="ctr" indent="0" marL="0">
              <a:lnSpc>
                <a:spcPct val="100000"/>
              </a:lnSpc>
              <a:buNone/>
            </a:pPr>
            <a:r>
              <a:rPr lang="en-US" sz="3200" b="1" dirty="0">
                <a:solidFill>
                  <a:srgbClr val="5C8A64"/>
                </a:solidFill>
                <a:latin typeface="Cormorant Garamond" pitchFamily="34" charset="0"/>
                <a:ea typeface="Cormorant Garamond" pitchFamily="34" charset="-122"/>
                <a:cs typeface="Cormorant Garamond" pitchFamily="34" charset="-120"/>
              </a:rPr>
              <a:t>real money on the line.</a:t>
            </a:r>
            <a:endParaRPr lang="en-US" sz="3200" dirty="0"/>
          </a:p>
        </p:txBody>
      </p:sp>
      <p:sp>
        <p:nvSpPr>
          <p:cNvPr id="7" name="Text 5"/>
          <p:cNvSpPr txBox="1"/>
          <p:nvPr/>
        </p:nvSpPr>
        <p:spPr>
          <a:xfrm>
            <a:off x="100584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Then I spent five years learning the part nobody on Wall Street teaches.</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5730088" y="1828800"/>
            <a:ext cx="731520" cy="0"/>
          </a:xfrm>
          <a:prstGeom prst="line">
            <a:avLst/>
          </a:prstGeom>
          <a:noFill/>
          <a:ln w="19050">
            <a:solidFill>
              <a:srgbClr val="8AAF8A"/>
            </a:solidFill>
            <a:prstDash val="solid"/>
          </a:ln>
        </p:spPr>
      </p:sp>
      <p:sp>
        <p:nvSpPr>
          <p:cNvPr id="3" name="Text 1"/>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600" dirty="0">
                <a:solidFill>
                  <a:srgbClr val="1E4A4A"/>
                </a:solidFill>
                <a:latin typeface="Cormorant Garamond" pitchFamily="34" charset="0"/>
                <a:ea typeface="Cormorant Garamond" pitchFamily="34" charset="-122"/>
                <a:cs typeface="Cormorant Garamond" pitchFamily="34" charset="-120"/>
              </a:rPr>
              <a:t>Before we </a:t>
            </a:r>
            <a:pPr algn="ctr" indent="0" marL="0">
              <a:lnSpc>
                <a:spcPct val="100000"/>
              </a:lnSpc>
              <a:buNone/>
            </a:pPr>
            <a:r>
              <a:rPr lang="en-US" sz="4600" b="1" dirty="0">
                <a:solidFill>
                  <a:srgbClr val="5C8A64"/>
                </a:solidFill>
                <a:latin typeface="Cormorant Garamond" pitchFamily="34" charset="0"/>
                <a:ea typeface="Cormorant Garamond" pitchFamily="34" charset="-122"/>
                <a:cs typeface="Cormorant Garamond" pitchFamily="34" charset="-120"/>
              </a:rPr>
              <a:t>begin.</a:t>
            </a:r>
            <a:endParaRPr lang="en-US" sz="4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EEF4EC"/>
          </a:solidFill>
          <a:ln w="12700">
            <a:solidFill>
              <a:srgbClr val="8AAF8A"/>
            </a:solidFill>
            <a:prstDash val="dash"/>
          </a:ln>
        </p:spPr>
      </p:sp>
      <p:sp>
        <p:nvSpPr>
          <p:cNvPr id="3" name="Text 1"/>
          <p:cNvSpPr txBox="1"/>
          <p:nvPr/>
        </p:nvSpPr>
        <p:spPr>
          <a:xfrm>
            <a:off x="274320"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274320"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Bob Proctor, black-and-white portrait. </a:t>
            </a:r>
            <a:pPr algn="l" indent="0" marL="0">
              <a:lnSpc>
                <a:spcPct val="110000"/>
              </a:lnSpc>
              <a:buNone/>
            </a:pPr>
            <a:r>
              <a:rPr lang="en-US" sz="1050" b="1" dirty="0">
                <a:solidFill>
                  <a:srgbClr val="B85042"/>
                </a:solidFill>
                <a:latin typeface="DM Sans" pitchFamily="34" charset="0"/>
                <a:ea typeface="DM Sans" pitchFamily="34" charset="-122"/>
                <a:cs typeface="DM Sans" pitchFamily="34" charset="-120"/>
              </a:rPr>
              <a:t>[PLACEHOLDER: confirm image rights or license a photo]</a:t>
            </a:r>
            <a:endParaRPr lang="en-US" sz="1050" dirty="0"/>
          </a:p>
        </p:txBody>
      </p:sp>
      <p:sp>
        <p:nvSpPr>
          <p:cNvPr id="5" name="Text 3"/>
          <p:cNvSpPr txBox="1"/>
          <p:nvPr/>
        </p:nvSpPr>
        <p:spPr>
          <a:xfrm>
            <a:off x="5577840" y="1097280"/>
            <a:ext cx="6035040" cy="3840480"/>
          </a:xfrm>
          <a:prstGeom prst="rect">
            <a:avLst/>
          </a:prstGeom>
          <a:noFill/>
          <a:ln/>
        </p:spPr>
        <p:txBody>
          <a:bodyPr wrap="square" lIns="0" tIns="0" rIns="0" bIns="0" rtlCol="0" anchor="ctr">
            <a:normAutofit/>
          </a:bodyPr>
          <a:lstStyle/>
          <a:p>
            <a:pPr algn="l" indent="0" marL="0">
              <a:lnSpc>
                <a:spcPct val="105000"/>
              </a:lnSpc>
              <a:buNone/>
            </a:pPr>
            <a:r>
              <a:rPr lang="en-US" sz="4000" i="1" dirty="0">
                <a:solidFill>
                  <a:srgbClr val="1E4A4A"/>
                </a:solidFill>
                <a:latin typeface="Cormorant Garamond" pitchFamily="34" charset="0"/>
                <a:ea typeface="Cormorant Garamond" pitchFamily="34" charset="-122"/>
                <a:cs typeface="Cormorant Garamond" pitchFamily="34" charset="-120"/>
              </a:rPr>
              <a:t>Thoughts become things. If you can see it in your mind, </a:t>
            </a:r>
            <a:pPr algn="l" indent="0" marL="0">
              <a:lnSpc>
                <a:spcPct val="105000"/>
              </a:lnSpc>
              <a:buNone/>
            </a:pPr>
            <a:r>
              <a:rPr lang="en-US" sz="4000" b="1" i="1" dirty="0">
                <a:solidFill>
                  <a:srgbClr val="5C8A64"/>
                </a:solidFill>
                <a:latin typeface="Cormorant Garamond" pitchFamily="34" charset="0"/>
                <a:ea typeface="Cormorant Garamond" pitchFamily="34" charset="-122"/>
                <a:cs typeface="Cormorant Garamond" pitchFamily="34" charset="-120"/>
              </a:rPr>
              <a:t>you will hold it in your hand.</a:t>
            </a:r>
            <a:endParaRPr lang="en-US" sz="4000" dirty="0"/>
          </a:p>
        </p:txBody>
      </p:sp>
      <p:sp>
        <p:nvSpPr>
          <p:cNvPr id="6" name="Shape 4"/>
          <p:cNvSpPr/>
          <p:nvPr/>
        </p:nvSpPr>
        <p:spPr>
          <a:xfrm>
            <a:off x="5577840" y="5257800"/>
            <a:ext cx="731520" cy="0"/>
          </a:xfrm>
          <a:prstGeom prst="line">
            <a:avLst/>
          </a:prstGeom>
          <a:noFill/>
          <a:ln w="19050">
            <a:solidFill>
              <a:srgbClr val="8AAF8A"/>
            </a:solidFill>
            <a:prstDash val="solid"/>
          </a:ln>
        </p:spPr>
      </p:sp>
      <p:sp>
        <p:nvSpPr>
          <p:cNvPr id="7" name="Text 5"/>
          <p:cNvSpPr txBox="1"/>
          <p:nvPr/>
        </p:nvSpPr>
        <p:spPr>
          <a:xfrm>
            <a:off x="5577840" y="5440680"/>
            <a:ext cx="5852160" cy="457200"/>
          </a:xfrm>
          <a:prstGeom prst="rect">
            <a:avLst/>
          </a:prstGeom>
          <a:noFill/>
          <a:ln/>
        </p:spPr>
        <p:txBody>
          <a:bodyPr wrap="square" lIns="0" tIns="0" rIns="0" bIns="0" rtlCol="0" anchor="t">
            <a:normAutofit/>
          </a:bodyPr>
          <a:lstStyle/>
          <a:p>
            <a:pPr algn="l" indent="0" marL="0">
              <a:lnSpc>
                <a:spcPct val="105000"/>
              </a:lnSpc>
              <a:buNone/>
            </a:pPr>
            <a:r>
              <a:rPr lang="en-US" sz="2400" dirty="0">
                <a:solidFill>
                  <a:srgbClr val="1E4A4A"/>
                </a:solidFill>
                <a:latin typeface="Cormorant Garamond" pitchFamily="34" charset="0"/>
                <a:ea typeface="Cormorant Garamond" pitchFamily="34" charset="-122"/>
                <a:cs typeface="Cormorant Garamond" pitchFamily="34" charset="-120"/>
              </a:rPr>
              <a:t>Bob Proctor</a:t>
            </a:r>
            <a:endParaRPr lang="en-US" sz="2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EEF4EC"/>
          </a:solidFill>
          <a:ln w="12700">
            <a:solidFill>
              <a:srgbClr val="8AAF8A"/>
            </a:solidFill>
            <a:prstDash val="dash"/>
          </a:ln>
        </p:spPr>
      </p:sp>
      <p:sp>
        <p:nvSpPr>
          <p:cNvPr id="3" name="Text 1"/>
          <p:cNvSpPr txBox="1"/>
          <p:nvPr/>
        </p:nvSpPr>
        <p:spPr>
          <a:xfrm>
            <a:off x="274320"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274320"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Childhood photo of Tamara from her family album. Ordinary suburban house, 1970s/80s snapshot feel.</a:t>
            </a:r>
            <a:endParaRPr lang="en-US" sz="1050" dirty="0"/>
          </a:p>
        </p:txBody>
      </p:sp>
      <p:sp>
        <p:nvSpPr>
          <p:cNvPr id="5" name="Shape 3"/>
          <p:cNvSpPr/>
          <p:nvPr/>
        </p:nvSpPr>
        <p:spPr>
          <a:xfrm>
            <a:off x="8092440" y="1828800"/>
            <a:ext cx="731520" cy="0"/>
          </a:xfrm>
          <a:prstGeom prst="line">
            <a:avLst/>
          </a:prstGeom>
          <a:noFill/>
          <a:ln w="19050">
            <a:solidFill>
              <a:srgbClr val="8AAF8A"/>
            </a:solidFill>
            <a:prstDash val="solid"/>
          </a:ln>
        </p:spPr>
      </p:sp>
      <p:sp>
        <p:nvSpPr>
          <p:cNvPr id="6" name="Text 4"/>
          <p:cNvSpPr txBox="1"/>
          <p:nvPr/>
        </p:nvSpPr>
        <p:spPr>
          <a:xfrm>
            <a:off x="548640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3700" dirty="0">
                <a:solidFill>
                  <a:srgbClr val="1E4A4A"/>
                </a:solidFill>
                <a:latin typeface="Cormorant Garamond" pitchFamily="34" charset="0"/>
                <a:ea typeface="Cormorant Garamond" pitchFamily="34" charset="-122"/>
                <a:cs typeface="Cormorant Garamond" pitchFamily="34" charset="-120"/>
              </a:rPr>
              <a:t>I grew up in a house </a:t>
            </a:r>
            <a:pPr algn="ctr" indent="0" marL="0">
              <a:lnSpc>
                <a:spcPct val="100000"/>
              </a:lnSpc>
              <a:buNone/>
            </a:pPr>
            <a:r>
              <a:rPr lang="en-US" sz="3700" b="1" dirty="0">
                <a:solidFill>
                  <a:srgbClr val="5C8A64"/>
                </a:solidFill>
                <a:latin typeface="Cormorant Garamond" pitchFamily="34" charset="0"/>
                <a:ea typeface="Cormorant Garamond" pitchFamily="34" charset="-122"/>
                <a:cs typeface="Cormorant Garamond" pitchFamily="34" charset="-120"/>
              </a:rPr>
              <a:t>with no savings.</a:t>
            </a:r>
            <a:endParaRPr lang="en-US" sz="3700" dirty="0"/>
          </a:p>
        </p:txBody>
      </p:sp>
      <p:sp>
        <p:nvSpPr>
          <p:cNvPr id="7" name="Text 5"/>
          <p:cNvSpPr txBox="1"/>
          <p:nvPr/>
        </p:nvSpPr>
        <p:spPr>
          <a:xfrm>
            <a:off x="576072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We weren't poor, but there was no money in the bank. My parents carried heaps of credit card debt, and some months the electricity got turned off.</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253935" y="0"/>
            <a:ext cx="4937760" cy="6858000"/>
          </a:xfrm>
          <a:prstGeom prst="rect">
            <a:avLst/>
          </a:prstGeom>
          <a:solidFill>
            <a:srgbClr val="EEF4EC"/>
          </a:solidFill>
          <a:ln w="12700">
            <a:solidFill>
              <a:srgbClr val="8AAF8A"/>
            </a:solidFill>
            <a:prstDash val="dash"/>
          </a:ln>
        </p:spPr>
      </p:sp>
      <p:sp>
        <p:nvSpPr>
          <p:cNvPr id="3" name="Text 1"/>
          <p:cNvSpPr txBox="1"/>
          <p:nvPr/>
        </p:nvSpPr>
        <p:spPr>
          <a:xfrm>
            <a:off x="7528255"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7528255"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Tamara's college graduation photo, cap and gown. Or a photo of Tamara with her mother, if she's comfortable sharing it.</a:t>
            </a:r>
            <a:endParaRPr lang="en-US" sz="1050" dirty="0"/>
          </a:p>
        </p:txBody>
      </p:sp>
      <p:sp>
        <p:nvSpPr>
          <p:cNvPr id="5" name="Shape 3"/>
          <p:cNvSpPr/>
          <p:nvPr/>
        </p:nvSpPr>
        <p:spPr>
          <a:xfrm>
            <a:off x="3337560" y="1828800"/>
            <a:ext cx="731520" cy="0"/>
          </a:xfrm>
          <a:prstGeom prst="line">
            <a:avLst/>
          </a:prstGeom>
          <a:noFill/>
          <a:ln w="19050">
            <a:solidFill>
              <a:srgbClr val="8AAF8A"/>
            </a:solidFill>
            <a:prstDash val="solid"/>
          </a:ln>
        </p:spPr>
      </p:sp>
      <p:sp>
        <p:nvSpPr>
          <p:cNvPr id="6" name="Text 4"/>
          <p:cNvSpPr txBox="1"/>
          <p:nvPr/>
        </p:nvSpPr>
        <p:spPr>
          <a:xfrm>
            <a:off x="73152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3700" dirty="0">
                <a:solidFill>
                  <a:srgbClr val="1E4A4A"/>
                </a:solidFill>
                <a:latin typeface="Cormorant Garamond" pitchFamily="34" charset="0"/>
                <a:ea typeface="Cormorant Garamond" pitchFamily="34" charset="-122"/>
                <a:cs typeface="Cormorant Garamond" pitchFamily="34" charset="-120"/>
              </a:rPr>
              <a:t>At 18, I lost my mother. </a:t>
            </a:r>
            <a:pPr algn="ctr" indent="0" marL="0">
              <a:lnSpc>
                <a:spcPct val="100000"/>
              </a:lnSpc>
              <a:buNone/>
            </a:pPr>
            <a:r>
              <a:rPr lang="en-US" sz="3700" b="1" dirty="0">
                <a:solidFill>
                  <a:srgbClr val="5C8A64"/>
                </a:solidFill>
                <a:latin typeface="Cormorant Garamond" pitchFamily="34" charset="0"/>
                <a:ea typeface="Cormorant Garamond" pitchFamily="34" charset="-122"/>
                <a:cs typeface="Cormorant Garamond" pitchFamily="34" charset="-120"/>
              </a:rPr>
              <a:t>Then my father declared bankruptcy.</a:t>
            </a:r>
            <a:endParaRPr lang="en-US" sz="3700" dirty="0"/>
          </a:p>
        </p:txBody>
      </p:sp>
      <p:sp>
        <p:nvSpPr>
          <p:cNvPr id="7" name="Text 5"/>
          <p:cNvSpPr txBox="1"/>
          <p:nvPr/>
        </p:nvSpPr>
        <p:spPr>
          <a:xfrm>
            <a:off x="100584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I paid for college on my own and graduated with more than $50,000 in student loans, well over $100,000 in today's dollars.</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EEF4EC"/>
          </a:solidFill>
          <a:ln w="12700">
            <a:solidFill>
              <a:srgbClr val="8AAF8A"/>
            </a:solidFill>
            <a:prstDash val="dash"/>
          </a:ln>
        </p:spPr>
      </p:sp>
      <p:sp>
        <p:nvSpPr>
          <p:cNvPr id="3" name="Text 1"/>
          <p:cNvSpPr txBox="1"/>
          <p:nvPr/>
        </p:nvSpPr>
        <p:spPr>
          <a:xfrm>
            <a:off x="274320"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274320"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Grocery store checkout lane, paper bags, 1990s feel. Could be a stylized stock shot or a recreation.</a:t>
            </a:r>
            <a:endParaRPr lang="en-US" sz="1050" dirty="0"/>
          </a:p>
        </p:txBody>
      </p:sp>
      <p:sp>
        <p:nvSpPr>
          <p:cNvPr id="5" name="Shape 3"/>
          <p:cNvSpPr/>
          <p:nvPr/>
        </p:nvSpPr>
        <p:spPr>
          <a:xfrm>
            <a:off x="8092440" y="1828800"/>
            <a:ext cx="731520" cy="0"/>
          </a:xfrm>
          <a:prstGeom prst="line">
            <a:avLst/>
          </a:prstGeom>
          <a:noFill/>
          <a:ln w="19050">
            <a:solidFill>
              <a:srgbClr val="8AAF8A"/>
            </a:solidFill>
            <a:prstDash val="solid"/>
          </a:ln>
        </p:spPr>
      </p:sp>
      <p:sp>
        <p:nvSpPr>
          <p:cNvPr id="6" name="Text 4"/>
          <p:cNvSpPr txBox="1"/>
          <p:nvPr/>
        </p:nvSpPr>
        <p:spPr>
          <a:xfrm>
            <a:off x="548640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3200" dirty="0">
                <a:solidFill>
                  <a:srgbClr val="1E4A4A"/>
                </a:solidFill>
                <a:latin typeface="Cormorant Garamond" pitchFamily="34" charset="0"/>
                <a:ea typeface="Cormorant Garamond" pitchFamily="34" charset="-122"/>
                <a:cs typeface="Cormorant Garamond" pitchFamily="34" charset="-120"/>
              </a:rPr>
              <a:t>Two Wall Street internships, then a recession. </a:t>
            </a:r>
            <a:pPr algn="ctr" indent="0" marL="0">
              <a:lnSpc>
                <a:spcPct val="100000"/>
              </a:lnSpc>
              <a:buNone/>
            </a:pPr>
            <a:r>
              <a:rPr lang="en-US" sz="3200" b="1" dirty="0">
                <a:solidFill>
                  <a:srgbClr val="5C8A64"/>
                </a:solidFill>
                <a:latin typeface="Cormorant Garamond" pitchFamily="34" charset="0"/>
                <a:ea typeface="Cormorant Garamond" pitchFamily="34" charset="-122"/>
                <a:cs typeface="Cormorant Garamond" pitchFamily="34" charset="-120"/>
              </a:rPr>
              <a:t>So I bagged groceries.</a:t>
            </a:r>
            <a:endParaRPr lang="en-US" sz="3200" dirty="0"/>
          </a:p>
        </p:txBody>
      </p:sp>
      <p:sp>
        <p:nvSpPr>
          <p:cNvPr id="7" name="Text 5"/>
          <p:cNvSpPr txBox="1"/>
          <p:nvPr/>
        </p:nvSpPr>
        <p:spPr>
          <a:xfrm>
            <a:off x="576072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I paid my bills at my local Acme and learned humility, along with a lot of other lessons. Then I sent hundreds of résumés to the one firm I wanted: J.P. Morgan.</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253935" y="0"/>
            <a:ext cx="4937760" cy="6858000"/>
          </a:xfrm>
          <a:prstGeom prst="rect">
            <a:avLst/>
          </a:prstGeom>
          <a:solidFill>
            <a:srgbClr val="EEF4EC"/>
          </a:solidFill>
          <a:ln w="12700">
            <a:solidFill>
              <a:srgbClr val="8AAF8A"/>
            </a:solidFill>
            <a:prstDash val="dash"/>
          </a:ln>
        </p:spPr>
      </p:sp>
      <p:sp>
        <p:nvSpPr>
          <p:cNvPr id="3" name="Text 1"/>
          <p:cNvSpPr txBox="1"/>
          <p:nvPr/>
        </p:nvSpPr>
        <p:spPr>
          <a:xfrm>
            <a:off x="7528255"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7528255"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Moody, quiet shot: a woman sitting on the edge of a bed in work clothes, heels kicked off, head in her hands. Soft window light.</a:t>
            </a:r>
            <a:endParaRPr lang="en-US" sz="1050" dirty="0"/>
          </a:p>
        </p:txBody>
      </p:sp>
      <p:sp>
        <p:nvSpPr>
          <p:cNvPr id="5" name="Shape 3"/>
          <p:cNvSpPr/>
          <p:nvPr/>
        </p:nvSpPr>
        <p:spPr>
          <a:xfrm>
            <a:off x="3337560" y="1828800"/>
            <a:ext cx="731520" cy="0"/>
          </a:xfrm>
          <a:prstGeom prst="line">
            <a:avLst/>
          </a:prstGeom>
          <a:noFill/>
          <a:ln w="19050">
            <a:solidFill>
              <a:srgbClr val="8AAF8A"/>
            </a:solidFill>
            <a:prstDash val="solid"/>
          </a:ln>
        </p:spPr>
      </p:sp>
      <p:sp>
        <p:nvSpPr>
          <p:cNvPr id="6" name="Text 4"/>
          <p:cNvSpPr txBox="1"/>
          <p:nvPr/>
        </p:nvSpPr>
        <p:spPr>
          <a:xfrm>
            <a:off x="73152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3700" dirty="0">
                <a:solidFill>
                  <a:srgbClr val="1E4A4A"/>
                </a:solidFill>
                <a:latin typeface="Cormorant Garamond" pitchFamily="34" charset="0"/>
                <a:ea typeface="Cormorant Garamond" pitchFamily="34" charset="-122"/>
                <a:cs typeface="Cormorant Garamond" pitchFamily="34" charset="-120"/>
              </a:rPr>
              <a:t>I made my mark. </a:t>
            </a:r>
            <a:pPr algn="ctr" indent="0" marL="0">
              <a:lnSpc>
                <a:spcPct val="100000"/>
              </a:lnSpc>
              <a:buNone/>
            </a:pPr>
            <a:r>
              <a:rPr lang="en-US" sz="3700" b="1" dirty="0">
                <a:solidFill>
                  <a:srgbClr val="5C8A64"/>
                </a:solidFill>
                <a:latin typeface="Cormorant Garamond" pitchFamily="34" charset="0"/>
                <a:ea typeface="Cormorant Garamond" pitchFamily="34" charset="-122"/>
                <a:cs typeface="Cormorant Garamond" pitchFamily="34" charset="-120"/>
              </a:rPr>
              <a:t>And I was underpaid.</a:t>
            </a:r>
            <a:endParaRPr lang="en-US" sz="3700" dirty="0"/>
          </a:p>
        </p:txBody>
      </p:sp>
      <p:sp>
        <p:nvSpPr>
          <p:cNvPr id="7" name="Text 5"/>
          <p:cNvSpPr txBox="1"/>
          <p:nvPr/>
        </p:nvSpPr>
        <p:spPr>
          <a:xfrm>
            <a:off x="100584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I came home exhausted after weeks of long hours and broke down in tears in my aunt's bedroom.</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EEF4EC"/>
          </a:solidFill>
          <a:ln w="12700">
            <a:solidFill>
              <a:srgbClr val="8AAF8A"/>
            </a:solidFill>
            <a:prstDash val="dash"/>
          </a:ln>
        </p:spPr>
      </p:sp>
      <p:sp>
        <p:nvSpPr>
          <p:cNvPr id="3" name="Text 1"/>
          <p:cNvSpPr txBox="1"/>
          <p:nvPr/>
        </p:nvSpPr>
        <p:spPr>
          <a:xfrm>
            <a:off x="274320" y="274320"/>
            <a:ext cx="402336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274320" y="594360"/>
            <a:ext cx="402336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Photo of Tamara's aunt, or Tamara and her aunt together.</a:t>
            </a:r>
            <a:endParaRPr lang="en-US" sz="1050" dirty="0"/>
          </a:p>
        </p:txBody>
      </p:sp>
      <p:sp>
        <p:nvSpPr>
          <p:cNvPr id="5" name="Text 3"/>
          <p:cNvSpPr txBox="1"/>
          <p:nvPr/>
        </p:nvSpPr>
        <p:spPr>
          <a:xfrm>
            <a:off x="5212080" y="822960"/>
            <a:ext cx="1097280" cy="1097280"/>
          </a:xfrm>
          <a:prstGeom prst="rect">
            <a:avLst/>
          </a:prstGeom>
          <a:noFill/>
          <a:ln/>
        </p:spPr>
        <p:txBody>
          <a:bodyPr wrap="square" lIns="0" tIns="0" rIns="0" bIns="0" rtlCol="0" anchor="t">
            <a:normAutofit/>
          </a:bodyPr>
          <a:lstStyle/>
          <a:p>
            <a:pPr algn="l" indent="0" marL="0">
              <a:lnSpc>
                <a:spcPct val="105000"/>
              </a:lnSpc>
              <a:buNone/>
            </a:pPr>
            <a:r>
              <a:rPr lang="en-US" sz="10000" b="1" dirty="0">
                <a:solidFill>
                  <a:srgbClr val="8AAF8A"/>
                </a:solidFill>
                <a:latin typeface="Cormorant Garamond" pitchFamily="34" charset="0"/>
                <a:ea typeface="Cormorant Garamond" pitchFamily="34" charset="-122"/>
                <a:cs typeface="Cormorant Garamond" pitchFamily="34" charset="-120"/>
              </a:rPr>
              <a:t>“</a:t>
            </a:r>
            <a:endParaRPr lang="en-US" sz="10000" dirty="0"/>
          </a:p>
        </p:txBody>
      </p:sp>
      <p:sp>
        <p:nvSpPr>
          <p:cNvPr id="6" name="Text 4"/>
          <p:cNvSpPr txBox="1"/>
          <p:nvPr/>
        </p:nvSpPr>
        <p:spPr>
          <a:xfrm>
            <a:off x="5212080" y="1828800"/>
            <a:ext cx="6400800" cy="2926080"/>
          </a:xfrm>
          <a:prstGeom prst="rect">
            <a:avLst/>
          </a:prstGeom>
          <a:noFill/>
          <a:ln/>
        </p:spPr>
        <p:txBody>
          <a:bodyPr wrap="square" lIns="0" tIns="0" rIns="0" bIns="0" rtlCol="0" anchor="ctr">
            <a:normAutofit/>
          </a:bodyPr>
          <a:lstStyle/>
          <a:p>
            <a:pPr algn="l" indent="0" marL="0">
              <a:lnSpc>
                <a:spcPct val="105000"/>
              </a:lnSpc>
              <a:buNone/>
            </a:pPr>
            <a:r>
              <a:rPr lang="en-US" sz="2200" i="1" dirty="0">
                <a:solidFill>
                  <a:srgbClr val="1E4A4A"/>
                </a:solidFill>
                <a:latin typeface="Cormorant Garamond" pitchFamily="34" charset="0"/>
                <a:ea typeface="Cormorant Garamond" pitchFamily="34" charset="-122"/>
                <a:cs typeface="Cormorant Garamond" pitchFamily="34" charset="-120"/>
              </a:rPr>
              <a:t>Men do it all the time, and they do it behind closed doors. If you want to play with the big boys, you'd better learn to </a:t>
            </a:r>
            <a:pPr algn="l" indent="0" marL="0">
              <a:lnSpc>
                <a:spcPct val="105000"/>
              </a:lnSpc>
              <a:buNone/>
            </a:pPr>
            <a:r>
              <a:rPr lang="en-US" sz="2200" b="1" i="1" dirty="0">
                <a:solidFill>
                  <a:srgbClr val="5C8A64"/>
                </a:solidFill>
                <a:latin typeface="Cormorant Garamond" pitchFamily="34" charset="0"/>
                <a:ea typeface="Cormorant Garamond" pitchFamily="34" charset="-122"/>
                <a:cs typeface="Cormorant Garamond" pitchFamily="34" charset="-120"/>
              </a:rPr>
              <a:t>ask for what you want.</a:t>
            </a:r>
            <a:endParaRPr lang="en-US" sz="2200" dirty="0"/>
          </a:p>
        </p:txBody>
      </p:sp>
      <p:sp>
        <p:nvSpPr>
          <p:cNvPr id="7" name="Shape 5"/>
          <p:cNvSpPr/>
          <p:nvPr/>
        </p:nvSpPr>
        <p:spPr>
          <a:xfrm>
            <a:off x="5212080" y="5074920"/>
            <a:ext cx="731520" cy="0"/>
          </a:xfrm>
          <a:prstGeom prst="line">
            <a:avLst/>
          </a:prstGeom>
          <a:noFill/>
          <a:ln w="19050">
            <a:solidFill>
              <a:srgbClr val="8AAF8A"/>
            </a:solidFill>
            <a:prstDash val="solid"/>
          </a:ln>
        </p:spPr>
      </p:sp>
      <p:sp>
        <p:nvSpPr>
          <p:cNvPr id="8" name="Text 6"/>
          <p:cNvSpPr txBox="1"/>
          <p:nvPr/>
        </p:nvSpPr>
        <p:spPr>
          <a:xfrm>
            <a:off x="5212080" y="5257800"/>
            <a:ext cx="6309360" cy="731520"/>
          </a:xfrm>
          <a:prstGeom prst="rect">
            <a:avLst/>
          </a:prstGeom>
          <a:noFill/>
          <a:ln/>
        </p:spPr>
        <p:txBody>
          <a:bodyPr wrap="square" lIns="0" tIns="0" rIns="0" bIns="0" rtlCol="0" anchor="t">
            <a:normAutofit/>
          </a:bodyPr>
          <a:lstStyle/>
          <a:p>
            <a:pPr algn="l" indent="0" marL="0">
              <a:lnSpc>
                <a:spcPct val="105000"/>
              </a:lnSpc>
              <a:buNone/>
            </a:pPr>
            <a:r>
              <a:rPr lang="en-US" sz="1300" dirty="0">
                <a:solidFill>
                  <a:srgbClr val="5E6B68"/>
                </a:solidFill>
                <a:latin typeface="DM Sans" pitchFamily="34" charset="0"/>
                <a:ea typeface="DM Sans" pitchFamily="34" charset="-122"/>
                <a:cs typeface="DM Sans" pitchFamily="34" charset="-120"/>
              </a:rPr>
              <a:t>My aunt, after I told her "we don't do that"</a:t>
            </a:r>
            <a:endParaRPr lang="en-US" sz="13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4937760" cy="6858000"/>
          </a:xfrm>
          <a:prstGeom prst="rect">
            <a:avLst/>
          </a:prstGeom>
          <a:solidFill>
            <a:srgbClr val="EEF4EC"/>
          </a:solidFill>
          <a:ln w="12700">
            <a:solidFill>
              <a:srgbClr val="8AAF8A"/>
            </a:solidFill>
            <a:prstDash val="dash"/>
          </a:ln>
        </p:spPr>
      </p:sp>
      <p:sp>
        <p:nvSpPr>
          <p:cNvPr id="3" name="Text 1"/>
          <p:cNvSpPr txBox="1"/>
          <p:nvPr/>
        </p:nvSpPr>
        <p:spPr>
          <a:xfrm>
            <a:off x="274320"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274320"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A woman across a desk from her male boss, shoulders slightly hunched, papers clutched in her lap. 1990s office.</a:t>
            </a:r>
            <a:endParaRPr lang="en-US" sz="1050" dirty="0"/>
          </a:p>
        </p:txBody>
      </p:sp>
      <p:sp>
        <p:nvSpPr>
          <p:cNvPr id="5" name="Shape 3"/>
          <p:cNvSpPr/>
          <p:nvPr/>
        </p:nvSpPr>
        <p:spPr>
          <a:xfrm>
            <a:off x="8092440" y="1828800"/>
            <a:ext cx="731520" cy="0"/>
          </a:xfrm>
          <a:prstGeom prst="line">
            <a:avLst/>
          </a:prstGeom>
          <a:noFill/>
          <a:ln w="19050">
            <a:solidFill>
              <a:srgbClr val="8AAF8A"/>
            </a:solidFill>
            <a:prstDash val="solid"/>
          </a:ln>
        </p:spPr>
      </p:sp>
      <p:sp>
        <p:nvSpPr>
          <p:cNvPr id="6" name="Text 4"/>
          <p:cNvSpPr txBox="1"/>
          <p:nvPr/>
        </p:nvSpPr>
        <p:spPr>
          <a:xfrm>
            <a:off x="548640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3700" dirty="0">
                <a:solidFill>
                  <a:srgbClr val="1E4A4A"/>
                </a:solidFill>
                <a:latin typeface="Cormorant Garamond" pitchFamily="34" charset="0"/>
                <a:ea typeface="Cormorant Garamond" pitchFamily="34" charset="-122"/>
                <a:cs typeface="Cormorant Garamond" pitchFamily="34" charset="-120"/>
              </a:rPr>
              <a:t>My first negotiation was </a:t>
            </a:r>
            <a:pPr algn="ctr" indent="0" marL="0">
              <a:lnSpc>
                <a:spcPct val="100000"/>
              </a:lnSpc>
              <a:buNone/>
            </a:pPr>
            <a:r>
              <a:rPr lang="en-US" sz="3700" b="1" dirty="0">
                <a:solidFill>
                  <a:srgbClr val="5C8A64"/>
                </a:solidFill>
                <a:latin typeface="Cormorant Garamond" pitchFamily="34" charset="0"/>
                <a:ea typeface="Cormorant Garamond" pitchFamily="34" charset="-122"/>
                <a:cs typeface="Cormorant Garamond" pitchFamily="34" charset="-120"/>
              </a:rPr>
              <a:t>a disaster.</a:t>
            </a:r>
            <a:endParaRPr lang="en-US" sz="3700" dirty="0"/>
          </a:p>
        </p:txBody>
      </p:sp>
      <p:sp>
        <p:nvSpPr>
          <p:cNvPr id="7" name="Text 5"/>
          <p:cNvSpPr txBox="1"/>
          <p:nvPr/>
        </p:nvSpPr>
        <p:spPr>
          <a:xfrm>
            <a:off x="576072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I was nervous, unprepared, and asked for too little. I got the raise and damaged my credibility in the same meeting. I showed up like a rookie.</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253935" y="0"/>
            <a:ext cx="4937760" cy="6858000"/>
          </a:xfrm>
          <a:prstGeom prst="rect">
            <a:avLst/>
          </a:prstGeom>
          <a:solidFill>
            <a:srgbClr val="EEF4EC"/>
          </a:solidFill>
          <a:ln w="12700">
            <a:solidFill>
              <a:srgbClr val="8AAF8A"/>
            </a:solidFill>
            <a:prstDash val="dash"/>
          </a:ln>
        </p:spPr>
      </p:sp>
      <p:sp>
        <p:nvSpPr>
          <p:cNvPr id="3" name="Text 1"/>
          <p:cNvSpPr txBox="1"/>
          <p:nvPr/>
        </p:nvSpPr>
        <p:spPr>
          <a:xfrm>
            <a:off x="7528255" y="274320"/>
            <a:ext cx="4389120"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7528255" y="594360"/>
            <a:ext cx="4389120"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Tamara carrying a box of desk belongings out of an office tower, sunglasses on, chin up. A little wry, a little defiant.</a:t>
            </a:r>
            <a:endParaRPr lang="en-US" sz="1050" dirty="0"/>
          </a:p>
        </p:txBody>
      </p:sp>
      <p:sp>
        <p:nvSpPr>
          <p:cNvPr id="5" name="Shape 3"/>
          <p:cNvSpPr/>
          <p:nvPr/>
        </p:nvSpPr>
        <p:spPr>
          <a:xfrm>
            <a:off x="3337560" y="1828800"/>
            <a:ext cx="731520" cy="0"/>
          </a:xfrm>
          <a:prstGeom prst="line">
            <a:avLst/>
          </a:prstGeom>
          <a:noFill/>
          <a:ln w="19050">
            <a:solidFill>
              <a:srgbClr val="8AAF8A"/>
            </a:solidFill>
            <a:prstDash val="solid"/>
          </a:ln>
        </p:spPr>
      </p:sp>
      <p:sp>
        <p:nvSpPr>
          <p:cNvPr id="6" name="Text 4"/>
          <p:cNvSpPr txBox="1"/>
          <p:nvPr/>
        </p:nvSpPr>
        <p:spPr>
          <a:xfrm>
            <a:off x="731520" y="2057400"/>
            <a:ext cx="5943600" cy="2103120"/>
          </a:xfrm>
          <a:prstGeom prst="rect">
            <a:avLst/>
          </a:prstGeom>
          <a:noFill/>
          <a:ln/>
        </p:spPr>
        <p:txBody>
          <a:bodyPr wrap="square" lIns="0" tIns="0" rIns="0" bIns="0" rtlCol="0" anchor="ctr">
            <a:normAutofit/>
          </a:bodyPr>
          <a:lstStyle/>
          <a:p>
            <a:pPr algn="ctr" indent="0" marL="0">
              <a:lnSpc>
                <a:spcPct val="100000"/>
              </a:lnSpc>
              <a:buNone/>
            </a:pPr>
            <a:r>
              <a:rPr lang="en-US" sz="3700" dirty="0">
                <a:solidFill>
                  <a:srgbClr val="1E4A4A"/>
                </a:solidFill>
                <a:latin typeface="Cormorant Garamond" pitchFamily="34" charset="0"/>
                <a:ea typeface="Cormorant Garamond" pitchFamily="34" charset="-122"/>
                <a:cs typeface="Cormorant Garamond" pitchFamily="34" charset="-120"/>
              </a:rPr>
              <a:t>Twenty-six years later I was at the top. </a:t>
            </a:r>
            <a:pPr algn="ctr" indent="0" marL="0">
              <a:lnSpc>
                <a:spcPct val="100000"/>
              </a:lnSpc>
              <a:buNone/>
            </a:pPr>
            <a:r>
              <a:rPr lang="en-US" sz="3700" b="1" dirty="0">
                <a:solidFill>
                  <a:srgbClr val="5C8A64"/>
                </a:solidFill>
                <a:latin typeface="Cormorant Garamond" pitchFamily="34" charset="0"/>
                <a:ea typeface="Cormorant Garamond" pitchFamily="34" charset="-122"/>
                <a:cs typeface="Cormorant Garamond" pitchFamily="34" charset="-120"/>
              </a:rPr>
              <a:t>Then I got fired.</a:t>
            </a:r>
            <a:endParaRPr lang="en-US" sz="3700" dirty="0"/>
          </a:p>
        </p:txBody>
      </p:sp>
      <p:sp>
        <p:nvSpPr>
          <p:cNvPr id="7" name="Text 5"/>
          <p:cNvSpPr txBox="1"/>
          <p:nvPr/>
        </p:nvSpPr>
        <p:spPr>
          <a:xfrm>
            <a:off x="1005840" y="4389120"/>
            <a:ext cx="5394960" cy="1645920"/>
          </a:xfrm>
          <a:prstGeom prst="rect">
            <a:avLst/>
          </a:prstGeom>
          <a:noFill/>
          <a:ln/>
        </p:spPr>
        <p:txBody>
          <a:bodyPr wrap="square" lIns="0" tIns="0" rIns="0" bIns="0" rtlCol="0" anchor="t">
            <a:normAutofit/>
          </a:bodyPr>
          <a:lstStyle/>
          <a:p>
            <a:pPr algn="ctr" indent="0" marL="0">
              <a:lnSpc>
                <a:spcPct val="120000"/>
              </a:lnSpc>
              <a:buNone/>
            </a:pPr>
            <a:r>
              <a:rPr lang="en-US" sz="1600" dirty="0">
                <a:solidFill>
                  <a:srgbClr val="5E6B68"/>
                </a:solidFill>
                <a:latin typeface="DM Sans" pitchFamily="34" charset="0"/>
                <a:ea typeface="DM Sans" pitchFamily="34" charset="-122"/>
                <a:cs typeface="DM Sans" pitchFamily="34" charset="-120"/>
              </a:rPr>
              <a:t>Two days before my boss retired. A typical Wall Street F.U.</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EF4EC"/>
          </a:solidFill>
          <a:ln w="12700">
            <a:solidFill>
              <a:srgbClr val="8AAF8A"/>
            </a:solidFill>
            <a:prstDash val="dash"/>
          </a:ln>
        </p:spPr>
      </p:sp>
      <p:sp>
        <p:nvSpPr>
          <p:cNvPr id="3" name="Text 1"/>
          <p:cNvSpPr txBox="1"/>
          <p:nvPr/>
        </p:nvSpPr>
        <p:spPr>
          <a:xfrm>
            <a:off x="274320" y="274320"/>
            <a:ext cx="11643055"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274320" y="594360"/>
            <a:ext cx="11643055"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Tamara in Costa Rica or India. Jungle, ocean, or temple setting. Casual clothes, no makeup, genuinely at ease.</a:t>
            </a:r>
            <a:endParaRPr lang="en-US" sz="1050" dirty="0"/>
          </a:p>
        </p:txBody>
      </p:sp>
      <p:sp>
        <p:nvSpPr>
          <p:cNvPr id="5" name="Shape 3"/>
          <p:cNvSpPr/>
          <p:nvPr/>
        </p:nvSpPr>
        <p:spPr>
          <a:xfrm>
            <a:off x="2011680" y="3291840"/>
            <a:ext cx="8168335" cy="2651760"/>
          </a:xfrm>
          <a:prstGeom prst="rect">
            <a:avLst/>
          </a:prstGeom>
          <a:solidFill>
            <a:srgbClr val="1E4A4A"/>
          </a:solidFill>
          <a:ln w="12700">
            <a:solidFill>
              <a:srgbClr val="1E4A4A"/>
            </a:solidFill>
            <a:prstDash val="solid"/>
          </a:ln>
        </p:spPr>
      </p:sp>
      <p:sp>
        <p:nvSpPr>
          <p:cNvPr id="6" name="Shape 4"/>
          <p:cNvSpPr/>
          <p:nvPr/>
        </p:nvSpPr>
        <p:spPr>
          <a:xfrm>
            <a:off x="5730088" y="3611880"/>
            <a:ext cx="731520" cy="0"/>
          </a:xfrm>
          <a:prstGeom prst="line">
            <a:avLst/>
          </a:prstGeom>
          <a:noFill/>
          <a:ln w="19050">
            <a:solidFill>
              <a:srgbClr val="8AAF8A"/>
            </a:solidFill>
            <a:prstDash val="solid"/>
          </a:ln>
        </p:spPr>
      </p:sp>
      <p:sp>
        <p:nvSpPr>
          <p:cNvPr id="7" name="Text 5"/>
          <p:cNvSpPr txBox="1"/>
          <p:nvPr/>
        </p:nvSpPr>
        <p:spPr>
          <a:xfrm>
            <a:off x="2377440" y="3749040"/>
            <a:ext cx="7436815" cy="1188720"/>
          </a:xfrm>
          <a:prstGeom prst="rect">
            <a:avLst/>
          </a:prstGeom>
          <a:noFill/>
          <a:ln/>
        </p:spPr>
        <p:txBody>
          <a:bodyPr wrap="square" lIns="0" tIns="0" rIns="0" bIns="0" rtlCol="0" anchor="ctr">
            <a:normAutofit/>
          </a:bodyPr>
          <a:lstStyle/>
          <a:p>
            <a:pPr algn="ctr" indent="0" marL="0">
              <a:lnSpc>
                <a:spcPct val="105000"/>
              </a:lnSpc>
              <a:buNone/>
            </a:pPr>
            <a:r>
              <a:rPr lang="en-US" sz="3300" dirty="0">
                <a:solidFill>
                  <a:srgbClr val="FFFFFF"/>
                </a:solidFill>
                <a:latin typeface="Cormorant Garamond" pitchFamily="34" charset="0"/>
                <a:ea typeface="Cormorant Garamond" pitchFamily="34" charset="-122"/>
                <a:cs typeface="Cormorant Garamond" pitchFamily="34" charset="-120"/>
              </a:rPr>
              <a:t>Five years in Costa Rica and India, </a:t>
            </a:r>
            <a:pPr algn="ctr" indent="0" marL="0">
              <a:lnSpc>
                <a:spcPct val="105000"/>
              </a:lnSpc>
              <a:buNone/>
            </a:pPr>
            <a:r>
              <a:rPr lang="en-US" sz="3300" b="1" dirty="0">
                <a:solidFill>
                  <a:srgbClr val="B7D3B7"/>
                </a:solidFill>
                <a:latin typeface="Cormorant Garamond" pitchFamily="34" charset="0"/>
                <a:ea typeface="Cormorant Garamond" pitchFamily="34" charset="-122"/>
                <a:cs typeface="Cormorant Garamond" pitchFamily="34" charset="-120"/>
              </a:rPr>
              <a:t>with no titles.</a:t>
            </a:r>
            <a:endParaRPr lang="en-US" sz="3300" dirty="0"/>
          </a:p>
        </p:txBody>
      </p:sp>
      <p:sp>
        <p:nvSpPr>
          <p:cNvPr id="8" name="Text 6"/>
          <p:cNvSpPr txBox="1"/>
          <p:nvPr/>
        </p:nvSpPr>
        <p:spPr>
          <a:xfrm>
            <a:off x="2560320" y="4983480"/>
            <a:ext cx="7071055" cy="822960"/>
          </a:xfrm>
          <a:prstGeom prst="rect">
            <a:avLst/>
          </a:prstGeom>
          <a:noFill/>
          <a:ln/>
        </p:spPr>
        <p:txBody>
          <a:bodyPr wrap="square" lIns="0" tIns="0" rIns="0" bIns="0" rtlCol="0" anchor="t">
            <a:normAutofit/>
          </a:bodyPr>
          <a:lstStyle/>
          <a:p>
            <a:pPr algn="ctr" indent="0" marL="0">
              <a:lnSpc>
                <a:spcPct val="105000"/>
              </a:lnSpc>
              <a:buNone/>
            </a:pPr>
            <a:r>
              <a:rPr lang="en-US" sz="1500" dirty="0">
                <a:solidFill>
                  <a:srgbClr val="E1F5EE"/>
                </a:solidFill>
                <a:latin typeface="DM Sans" pitchFamily="34" charset="0"/>
                <a:ea typeface="DM Sans" pitchFamily="34" charset="-122"/>
                <a:cs typeface="DM Sans" pitchFamily="34" charset="-120"/>
              </a:rPr>
              <a:t>I had lost the identity I'd spent decades building. So I went looking for the woman underneath it.</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5730088" y="1828800"/>
            <a:ext cx="731520" cy="0"/>
          </a:xfrm>
          <a:prstGeom prst="line">
            <a:avLst/>
          </a:prstGeom>
          <a:noFill/>
          <a:ln w="19050">
            <a:solidFill>
              <a:srgbClr val="8AAF8A"/>
            </a:solidFill>
            <a:prstDash val="solid"/>
          </a:ln>
        </p:spPr>
      </p:sp>
      <p:sp>
        <p:nvSpPr>
          <p:cNvPr id="3" name="Text 1"/>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500" dirty="0">
                <a:solidFill>
                  <a:srgbClr val="1E4A4A"/>
                </a:solidFill>
                <a:latin typeface="Cormorant Garamond" pitchFamily="34" charset="0"/>
                <a:ea typeface="Cormorant Garamond" pitchFamily="34" charset="-122"/>
                <a:cs typeface="Cormorant Garamond" pitchFamily="34" charset="-120"/>
              </a:rPr>
              <a:t>Your greatest asset isn't in your portfolio. </a:t>
            </a:r>
            <a:pPr algn="ctr" indent="0" marL="0">
              <a:lnSpc>
                <a:spcPct val="100000"/>
              </a:lnSpc>
              <a:buNone/>
            </a:pPr>
            <a:r>
              <a:rPr lang="en-US" sz="3500" b="1" dirty="0">
                <a:solidFill>
                  <a:srgbClr val="5C8A64"/>
                </a:solidFill>
                <a:latin typeface="Cormorant Garamond" pitchFamily="34" charset="0"/>
                <a:ea typeface="Cormorant Garamond" pitchFamily="34" charset="-122"/>
                <a:cs typeface="Cormorant Garamond" pitchFamily="34" charset="-120"/>
              </a:rPr>
              <a:t>It's in the mirror.</a:t>
            </a:r>
            <a:endParaRPr lang="en-US" sz="3500" dirty="0"/>
          </a:p>
        </p:txBody>
      </p:sp>
      <p:sp>
        <p:nvSpPr>
          <p:cNvPr id="4" name="Text 2"/>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Success without fulfillment is failure. And your life will rarely exceed the identity you've accepted for yourself.</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214884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PART ONE</a:t>
            </a:r>
            <a:endParaRPr lang="en-US" sz="1200" dirty="0"/>
          </a:p>
        </p:txBody>
      </p:sp>
      <p:sp>
        <p:nvSpPr>
          <p:cNvPr id="4" name="Shape 2"/>
          <p:cNvSpPr/>
          <p:nvPr/>
        </p:nvSpPr>
        <p:spPr>
          <a:xfrm>
            <a:off x="5730088" y="2606040"/>
            <a:ext cx="731520" cy="0"/>
          </a:xfrm>
          <a:prstGeom prst="line">
            <a:avLst/>
          </a:prstGeom>
          <a:noFill/>
          <a:ln w="19050">
            <a:solidFill>
              <a:srgbClr val="8AAF8A"/>
            </a:solidFill>
            <a:prstDash val="solid"/>
          </a:ln>
        </p:spPr>
      </p:sp>
      <p:sp>
        <p:nvSpPr>
          <p:cNvPr id="5" name="Text 3"/>
          <p:cNvSpPr txBox="1"/>
          <p:nvPr/>
        </p:nvSpPr>
        <p:spPr>
          <a:xfrm>
            <a:off x="1097280" y="2788920"/>
            <a:ext cx="9997135" cy="1371600"/>
          </a:xfrm>
          <a:prstGeom prst="rect">
            <a:avLst/>
          </a:prstGeom>
          <a:noFill/>
          <a:ln/>
        </p:spPr>
        <p:txBody>
          <a:bodyPr wrap="square" lIns="0" tIns="0" rIns="0" bIns="0" rtlCol="0" anchor="ctr">
            <a:normAutofit/>
          </a:bodyPr>
          <a:lstStyle/>
          <a:p>
            <a:pPr algn="ctr" indent="0" marL="0">
              <a:lnSpc>
                <a:spcPct val="105000"/>
              </a:lnSpc>
              <a:buNone/>
            </a:pPr>
            <a:r>
              <a:rPr lang="en-US" sz="4400" dirty="0">
                <a:solidFill>
                  <a:srgbClr val="FFFFFF"/>
                </a:solidFill>
                <a:latin typeface="Cormorant Garamond" pitchFamily="34" charset="0"/>
                <a:ea typeface="Cormorant Garamond" pitchFamily="34" charset="-122"/>
                <a:cs typeface="Cormorant Garamond" pitchFamily="34" charset="-120"/>
              </a:rPr>
              <a:t>Why Working Harder Stopped Working</a:t>
            </a:r>
            <a:endParaRPr lang="en-US" sz="4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THE OLD WAY</a:t>
            </a:r>
            <a:endParaRPr lang="en-US" sz="1300" dirty="0"/>
          </a:p>
        </p:txBody>
      </p:sp>
      <p:sp>
        <p:nvSpPr>
          <p:cNvPr id="5" name="Text 3"/>
          <p:cNvSpPr txBox="1"/>
          <p:nvPr/>
        </p:nvSpPr>
        <p:spPr>
          <a:xfrm>
            <a:off x="2103120" y="1325880"/>
            <a:ext cx="457200" cy="594360"/>
          </a:xfrm>
          <a:prstGeom prst="rect">
            <a:avLst/>
          </a:prstGeom>
          <a:noFill/>
          <a:ln/>
        </p:spPr>
        <p:txBody>
          <a:bodyPr wrap="square" lIns="0" tIns="0" rIns="0" bIns="0" rtlCol="0" anchor="ctr">
            <a:normAutofit/>
          </a:bodyPr>
          <a:lstStyle/>
          <a:p>
            <a:pPr algn="ctr" indent="0" marL="0">
              <a:lnSpc>
                <a:spcPct val="105000"/>
              </a:lnSpc>
              <a:buNone/>
            </a:pPr>
            <a:r>
              <a:rPr lang="en-US" sz="2000" b="1" dirty="0">
                <a:solidFill>
                  <a:srgbClr val="5C8A64"/>
                </a:solidFill>
                <a:latin typeface="DM Sans" pitchFamily="34" charset="0"/>
                <a:ea typeface="DM Sans" pitchFamily="34" charset="-122"/>
                <a:cs typeface="DM Sans" pitchFamily="34" charset="-120"/>
              </a:rPr>
              <a:t>✕</a:t>
            </a:r>
            <a:endParaRPr lang="en-US" sz="2000" dirty="0"/>
          </a:p>
        </p:txBody>
      </p:sp>
      <p:sp>
        <p:nvSpPr>
          <p:cNvPr id="6" name="Text 4"/>
          <p:cNvSpPr txBox="1"/>
          <p:nvPr/>
        </p:nvSpPr>
        <p:spPr>
          <a:xfrm>
            <a:off x="2743200" y="1325880"/>
            <a:ext cx="7772400" cy="594360"/>
          </a:xfrm>
          <a:prstGeom prst="rect">
            <a:avLst/>
          </a:prstGeom>
          <a:noFill/>
          <a:ln/>
        </p:spPr>
        <p:txBody>
          <a:bodyPr wrap="square" lIns="0" tIns="0" rIns="0" bIns="0" rtlCol="0" anchor="ctr">
            <a:normAutofit/>
          </a:bodyPr>
          <a:lstStyle/>
          <a:p>
            <a:pPr algn="l" indent="0" marL="0">
              <a:lnSpc>
                <a:spcPct val="105000"/>
              </a:lnSpc>
              <a:buNone/>
            </a:pPr>
            <a:r>
              <a:rPr lang="en-US" sz="2200" dirty="0">
                <a:solidFill>
                  <a:srgbClr val="1E4A4A"/>
                </a:solidFill>
                <a:latin typeface="DM Sans" pitchFamily="34" charset="0"/>
                <a:ea typeface="DM Sans" pitchFamily="34" charset="-122"/>
                <a:cs typeface="DM Sans" pitchFamily="34" charset="-120"/>
              </a:rPr>
              <a:t>Working harder and waiting to be noticed</a:t>
            </a:r>
            <a:endParaRPr lang="en-US" sz="2200" dirty="0"/>
          </a:p>
        </p:txBody>
      </p:sp>
      <p:sp>
        <p:nvSpPr>
          <p:cNvPr id="7" name="Text 5"/>
          <p:cNvSpPr txBox="1"/>
          <p:nvPr/>
        </p:nvSpPr>
        <p:spPr>
          <a:xfrm>
            <a:off x="2103120" y="2240280"/>
            <a:ext cx="457200" cy="594360"/>
          </a:xfrm>
          <a:prstGeom prst="rect">
            <a:avLst/>
          </a:prstGeom>
          <a:noFill/>
          <a:ln/>
        </p:spPr>
        <p:txBody>
          <a:bodyPr wrap="square" lIns="0" tIns="0" rIns="0" bIns="0" rtlCol="0" anchor="ctr">
            <a:normAutofit/>
          </a:bodyPr>
          <a:lstStyle/>
          <a:p>
            <a:pPr algn="ctr" indent="0" marL="0">
              <a:lnSpc>
                <a:spcPct val="105000"/>
              </a:lnSpc>
              <a:buNone/>
            </a:pPr>
            <a:r>
              <a:rPr lang="en-US" sz="2000" b="1" dirty="0">
                <a:solidFill>
                  <a:srgbClr val="5C8A64"/>
                </a:solidFill>
                <a:latin typeface="DM Sans" pitchFamily="34" charset="0"/>
                <a:ea typeface="DM Sans" pitchFamily="34" charset="-122"/>
                <a:cs typeface="DM Sans" pitchFamily="34" charset="-120"/>
              </a:rPr>
              <a:t>✕</a:t>
            </a:r>
            <a:endParaRPr lang="en-US" sz="2000" dirty="0"/>
          </a:p>
        </p:txBody>
      </p:sp>
      <p:sp>
        <p:nvSpPr>
          <p:cNvPr id="8" name="Text 6"/>
          <p:cNvSpPr txBox="1"/>
          <p:nvPr/>
        </p:nvSpPr>
        <p:spPr>
          <a:xfrm>
            <a:off x="2743200" y="2240280"/>
            <a:ext cx="7772400" cy="594360"/>
          </a:xfrm>
          <a:prstGeom prst="rect">
            <a:avLst/>
          </a:prstGeom>
          <a:noFill/>
          <a:ln/>
        </p:spPr>
        <p:txBody>
          <a:bodyPr wrap="square" lIns="0" tIns="0" rIns="0" bIns="0" rtlCol="0" anchor="ctr">
            <a:normAutofit/>
          </a:bodyPr>
          <a:lstStyle/>
          <a:p>
            <a:pPr algn="l" indent="0" marL="0">
              <a:lnSpc>
                <a:spcPct val="105000"/>
              </a:lnSpc>
              <a:buNone/>
            </a:pPr>
            <a:r>
              <a:rPr lang="en-US" sz="2200" dirty="0">
                <a:solidFill>
                  <a:srgbClr val="1E4A4A"/>
                </a:solidFill>
                <a:latin typeface="DM Sans" pitchFamily="34" charset="0"/>
                <a:ea typeface="DM Sans" pitchFamily="34" charset="-122"/>
                <a:cs typeface="DM Sans" pitchFamily="34" charset="-120"/>
              </a:rPr>
              <a:t>Waiting for the annual performance review</a:t>
            </a:r>
            <a:endParaRPr lang="en-US" sz="2200" dirty="0"/>
          </a:p>
        </p:txBody>
      </p:sp>
      <p:sp>
        <p:nvSpPr>
          <p:cNvPr id="9" name="Text 7"/>
          <p:cNvSpPr txBox="1"/>
          <p:nvPr/>
        </p:nvSpPr>
        <p:spPr>
          <a:xfrm>
            <a:off x="2103120" y="3154680"/>
            <a:ext cx="457200" cy="594360"/>
          </a:xfrm>
          <a:prstGeom prst="rect">
            <a:avLst/>
          </a:prstGeom>
          <a:noFill/>
          <a:ln/>
        </p:spPr>
        <p:txBody>
          <a:bodyPr wrap="square" lIns="0" tIns="0" rIns="0" bIns="0" rtlCol="0" anchor="ctr">
            <a:normAutofit/>
          </a:bodyPr>
          <a:lstStyle/>
          <a:p>
            <a:pPr algn="ctr" indent="0" marL="0">
              <a:lnSpc>
                <a:spcPct val="105000"/>
              </a:lnSpc>
              <a:buNone/>
            </a:pPr>
            <a:r>
              <a:rPr lang="en-US" sz="2000" b="1" dirty="0">
                <a:solidFill>
                  <a:srgbClr val="5C8A64"/>
                </a:solidFill>
                <a:latin typeface="DM Sans" pitchFamily="34" charset="0"/>
                <a:ea typeface="DM Sans" pitchFamily="34" charset="-122"/>
                <a:cs typeface="DM Sans" pitchFamily="34" charset="-120"/>
              </a:rPr>
              <a:t>✕</a:t>
            </a:r>
            <a:endParaRPr lang="en-US" sz="2000" dirty="0"/>
          </a:p>
        </p:txBody>
      </p:sp>
      <p:sp>
        <p:nvSpPr>
          <p:cNvPr id="10" name="Text 8"/>
          <p:cNvSpPr txBox="1"/>
          <p:nvPr/>
        </p:nvSpPr>
        <p:spPr>
          <a:xfrm>
            <a:off x="2743200" y="3154680"/>
            <a:ext cx="7772400" cy="594360"/>
          </a:xfrm>
          <a:prstGeom prst="rect">
            <a:avLst/>
          </a:prstGeom>
          <a:noFill/>
          <a:ln/>
        </p:spPr>
        <p:txBody>
          <a:bodyPr wrap="square" lIns="0" tIns="0" rIns="0" bIns="0" rtlCol="0" anchor="ctr">
            <a:normAutofit/>
          </a:bodyPr>
          <a:lstStyle/>
          <a:p>
            <a:pPr algn="l" indent="0" marL="0">
              <a:lnSpc>
                <a:spcPct val="105000"/>
              </a:lnSpc>
              <a:buNone/>
            </a:pPr>
            <a:r>
              <a:rPr lang="en-US" sz="2200" dirty="0">
                <a:solidFill>
                  <a:srgbClr val="1E4A4A"/>
                </a:solidFill>
                <a:latin typeface="DM Sans" pitchFamily="34" charset="0"/>
                <a:ea typeface="DM Sans" pitchFamily="34" charset="-122"/>
                <a:cs typeface="DM Sans" pitchFamily="34" charset="-120"/>
              </a:rPr>
              <a:t>Hoping your boss recognizes what you did</a:t>
            </a:r>
            <a:endParaRPr lang="en-US" sz="2200" dirty="0"/>
          </a:p>
        </p:txBody>
      </p:sp>
      <p:sp>
        <p:nvSpPr>
          <p:cNvPr id="11" name="Text 9"/>
          <p:cNvSpPr txBox="1"/>
          <p:nvPr/>
        </p:nvSpPr>
        <p:spPr>
          <a:xfrm>
            <a:off x="2103120" y="4069080"/>
            <a:ext cx="457200" cy="594360"/>
          </a:xfrm>
          <a:prstGeom prst="rect">
            <a:avLst/>
          </a:prstGeom>
          <a:noFill/>
          <a:ln/>
        </p:spPr>
        <p:txBody>
          <a:bodyPr wrap="square" lIns="0" tIns="0" rIns="0" bIns="0" rtlCol="0" anchor="ctr">
            <a:normAutofit/>
          </a:bodyPr>
          <a:lstStyle/>
          <a:p>
            <a:pPr algn="ctr" indent="0" marL="0">
              <a:lnSpc>
                <a:spcPct val="105000"/>
              </a:lnSpc>
              <a:buNone/>
            </a:pPr>
            <a:r>
              <a:rPr lang="en-US" sz="2000" b="1" dirty="0">
                <a:solidFill>
                  <a:srgbClr val="5C8A64"/>
                </a:solidFill>
                <a:latin typeface="DM Sans" pitchFamily="34" charset="0"/>
                <a:ea typeface="DM Sans" pitchFamily="34" charset="-122"/>
                <a:cs typeface="DM Sans" pitchFamily="34" charset="-120"/>
              </a:rPr>
              <a:t>✕</a:t>
            </a:r>
            <a:endParaRPr lang="en-US" sz="2000" dirty="0"/>
          </a:p>
        </p:txBody>
      </p:sp>
      <p:sp>
        <p:nvSpPr>
          <p:cNvPr id="12" name="Text 10"/>
          <p:cNvSpPr txBox="1"/>
          <p:nvPr/>
        </p:nvSpPr>
        <p:spPr>
          <a:xfrm>
            <a:off x="2743200" y="4069080"/>
            <a:ext cx="7772400" cy="594360"/>
          </a:xfrm>
          <a:prstGeom prst="rect">
            <a:avLst/>
          </a:prstGeom>
          <a:noFill/>
          <a:ln/>
        </p:spPr>
        <p:txBody>
          <a:bodyPr wrap="square" lIns="0" tIns="0" rIns="0" bIns="0" rtlCol="0" anchor="ctr">
            <a:normAutofit/>
          </a:bodyPr>
          <a:lstStyle/>
          <a:p>
            <a:pPr algn="l" indent="0" marL="0">
              <a:lnSpc>
                <a:spcPct val="105000"/>
              </a:lnSpc>
              <a:buNone/>
            </a:pPr>
            <a:r>
              <a:rPr lang="en-US" sz="2200" dirty="0">
                <a:solidFill>
                  <a:srgbClr val="1E4A4A"/>
                </a:solidFill>
                <a:latin typeface="DM Sans" pitchFamily="34" charset="0"/>
                <a:ea typeface="DM Sans" pitchFamily="34" charset="-122"/>
                <a:cs typeface="DM Sans" pitchFamily="34" charset="-120"/>
              </a:rPr>
              <a:t>Asking a mentor or a friend what they'd do</a:t>
            </a:r>
            <a:endParaRPr lang="en-US" sz="2200" dirty="0"/>
          </a:p>
        </p:txBody>
      </p:sp>
      <p:sp>
        <p:nvSpPr>
          <p:cNvPr id="13" name="Text 11"/>
          <p:cNvSpPr txBox="1"/>
          <p:nvPr/>
        </p:nvSpPr>
        <p:spPr>
          <a:xfrm>
            <a:off x="2103120" y="4983480"/>
            <a:ext cx="457200" cy="594360"/>
          </a:xfrm>
          <a:prstGeom prst="rect">
            <a:avLst/>
          </a:prstGeom>
          <a:noFill/>
          <a:ln/>
        </p:spPr>
        <p:txBody>
          <a:bodyPr wrap="square" lIns="0" tIns="0" rIns="0" bIns="0" rtlCol="0" anchor="ctr">
            <a:normAutofit/>
          </a:bodyPr>
          <a:lstStyle/>
          <a:p>
            <a:pPr algn="ctr" indent="0" marL="0">
              <a:lnSpc>
                <a:spcPct val="105000"/>
              </a:lnSpc>
              <a:buNone/>
            </a:pPr>
            <a:r>
              <a:rPr lang="en-US" sz="2000" b="1" dirty="0">
                <a:solidFill>
                  <a:srgbClr val="5C8A64"/>
                </a:solidFill>
                <a:latin typeface="DM Sans" pitchFamily="34" charset="0"/>
                <a:ea typeface="DM Sans" pitchFamily="34" charset="-122"/>
                <a:cs typeface="DM Sans" pitchFamily="34" charset="-120"/>
              </a:rPr>
              <a:t>✕</a:t>
            </a:r>
            <a:endParaRPr lang="en-US" sz="2000" dirty="0"/>
          </a:p>
        </p:txBody>
      </p:sp>
      <p:sp>
        <p:nvSpPr>
          <p:cNvPr id="14" name="Text 12"/>
          <p:cNvSpPr txBox="1"/>
          <p:nvPr/>
        </p:nvSpPr>
        <p:spPr>
          <a:xfrm>
            <a:off x="2743200" y="4983480"/>
            <a:ext cx="7772400" cy="594360"/>
          </a:xfrm>
          <a:prstGeom prst="rect">
            <a:avLst/>
          </a:prstGeom>
          <a:noFill/>
          <a:ln/>
        </p:spPr>
        <p:txBody>
          <a:bodyPr wrap="square" lIns="0" tIns="0" rIns="0" bIns="0" rtlCol="0" anchor="ctr">
            <a:normAutofit/>
          </a:bodyPr>
          <a:lstStyle/>
          <a:p>
            <a:pPr algn="l" indent="0" marL="0">
              <a:lnSpc>
                <a:spcPct val="105000"/>
              </a:lnSpc>
              <a:buNone/>
            </a:pPr>
            <a:r>
              <a:rPr lang="en-US" sz="2200" dirty="0">
                <a:solidFill>
                  <a:srgbClr val="1E4A4A"/>
                </a:solidFill>
                <a:latin typeface="DM Sans" pitchFamily="34" charset="0"/>
                <a:ea typeface="DM Sans" pitchFamily="34" charset="-122"/>
                <a:cs typeface="DM Sans" pitchFamily="34" charset="-120"/>
              </a:rPr>
              <a:t>Memorizing a better script</a:t>
            </a:r>
            <a:endParaRPr lang="en-US" sz="22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MYTH 1</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300" dirty="0">
                <a:solidFill>
                  <a:srgbClr val="1E4A4A"/>
                </a:solidFill>
                <a:latin typeface="Cormorant Garamond" pitchFamily="34" charset="0"/>
                <a:ea typeface="Cormorant Garamond" pitchFamily="34" charset="-122"/>
                <a:cs typeface="Cormorant Garamond" pitchFamily="34" charset="-120"/>
              </a:rPr>
              <a:t>"I have a negotiation problem. I need better tactics and the right words."</a:t>
            </a:r>
            <a:endParaRPr lang="en-US" sz="23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FFFFFF"/>
                </a:solidFill>
                <a:latin typeface="Cormorant Garamond" pitchFamily="34" charset="0"/>
                <a:ea typeface="Cormorant Garamond" pitchFamily="34" charset="-122"/>
                <a:cs typeface="Cormorant Garamond" pitchFamily="34" charset="-120"/>
              </a:rPr>
              <a:t>Your capability has outgrown the identity you've accepted. A better script can't close that gap.</a:t>
            </a:r>
            <a:endParaRPr lang="en-US" sz="20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MYTH 2</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"My work will speak for itself."</a:t>
            </a:r>
            <a:endParaRPr lang="en-US" sz="30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300" dirty="0">
                <a:solidFill>
                  <a:srgbClr val="FFFFFF"/>
                </a:solidFill>
                <a:latin typeface="Cormorant Garamond" pitchFamily="34" charset="0"/>
                <a:ea typeface="Cormorant Garamond" pitchFamily="34" charset="-122"/>
                <a:cs typeface="Cormorant Garamond" pitchFamily="34" charset="-120"/>
              </a:rPr>
              <a:t>Work is silent. Somebody decides what it's worth, and right now that somebody isn't you.</a:t>
            </a:r>
            <a:endParaRPr lang="en-US" sz="23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MYTH 3</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"I have to earn the right to ask for more."</a:t>
            </a:r>
            <a:endParaRPr lang="en-US" sz="26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300" dirty="0">
                <a:solidFill>
                  <a:srgbClr val="FFFFFF"/>
                </a:solidFill>
                <a:latin typeface="Cormorant Garamond" pitchFamily="34" charset="0"/>
                <a:ea typeface="Cormorant Garamond" pitchFamily="34" charset="-122"/>
                <a:cs typeface="Cormorant Garamond" pitchFamily="34" charset="-120"/>
              </a:rPr>
              <a:t>You earned it years ago. You're waiting on a permission slip nobody is going to sign.</a:t>
            </a:r>
            <a:endParaRPr lang="en-US" sz="23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MYTH 4</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"Asking will make me look greedy, difficult or ungrateful."</a:t>
            </a:r>
            <a:endParaRPr lang="en-US" sz="26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FFFFFF"/>
                </a:solidFill>
                <a:latin typeface="Cormorant Garamond" pitchFamily="34" charset="0"/>
                <a:ea typeface="Cormorant Garamond" pitchFamily="34" charset="-122"/>
                <a:cs typeface="Cormorant Garamond" pitchFamily="34" charset="-120"/>
              </a:rPr>
              <a:t>Asking to be paid for the value you create is professional. The men down the hall do it behind closed doors.</a:t>
            </a:r>
            <a:endParaRPr lang="en-US" sz="20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MYTH 5</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"The right script will fix this."</a:t>
            </a:r>
            <a:endParaRPr lang="en-US" sz="26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FFFFFF"/>
                </a:solidFill>
                <a:latin typeface="Cormorant Garamond" pitchFamily="34" charset="0"/>
                <a:ea typeface="Cormorant Garamond" pitchFamily="34" charset="-122"/>
                <a:cs typeface="Cormorant Garamond" pitchFamily="34" charset="-120"/>
              </a:rPr>
              <a:t>People buy the woman before they buy the words. The room hears doubt before it hears the script.</a:t>
            </a:r>
            <a:endParaRPr lang="en-US" sz="20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HOW THE GAP SHOWS UP</a:t>
            </a:r>
            <a:endParaRPr lang="en-US" sz="1300" dirty="0"/>
          </a:p>
        </p:txBody>
      </p:sp>
      <p:sp>
        <p:nvSpPr>
          <p:cNvPr id="5" name="Text 3"/>
          <p:cNvSpPr txBox="1"/>
          <p:nvPr/>
        </p:nvSpPr>
        <p:spPr>
          <a:xfrm>
            <a:off x="2011680" y="137160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6" name="Text 4"/>
          <p:cNvSpPr txBox="1"/>
          <p:nvPr/>
        </p:nvSpPr>
        <p:spPr>
          <a:xfrm>
            <a:off x="2560320" y="137160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minimize what you've actually accomplished</a:t>
            </a:r>
            <a:endParaRPr lang="en-US" sz="2000" dirty="0"/>
          </a:p>
        </p:txBody>
      </p:sp>
      <p:sp>
        <p:nvSpPr>
          <p:cNvPr id="7" name="Text 5"/>
          <p:cNvSpPr txBox="1"/>
          <p:nvPr/>
        </p:nvSpPr>
        <p:spPr>
          <a:xfrm>
            <a:off x="2011680" y="233172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560320" y="233172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hesitate to ask for more</a:t>
            </a:r>
            <a:endParaRPr lang="en-US" sz="2000" dirty="0"/>
          </a:p>
        </p:txBody>
      </p:sp>
      <p:sp>
        <p:nvSpPr>
          <p:cNvPr id="9" name="Text 7"/>
          <p:cNvSpPr txBox="1"/>
          <p:nvPr/>
        </p:nvSpPr>
        <p:spPr>
          <a:xfrm>
            <a:off x="2011680" y="329184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560320" y="329184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over-explain yourself</a:t>
            </a:r>
            <a:endParaRPr lang="en-US" sz="2000" dirty="0"/>
          </a:p>
        </p:txBody>
      </p:sp>
      <p:sp>
        <p:nvSpPr>
          <p:cNvPr id="11" name="Text 9"/>
          <p:cNvSpPr txBox="1"/>
          <p:nvPr/>
        </p:nvSpPr>
        <p:spPr>
          <a:xfrm>
            <a:off x="2011680" y="425196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560320" y="425196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avoid the conversations you know you need to have</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AND IT FOLLOWS YOU HOME</a:t>
            </a:r>
            <a:endParaRPr lang="en-US" sz="1200" dirty="0"/>
          </a:p>
        </p:txBody>
      </p:sp>
      <p:sp>
        <p:nvSpPr>
          <p:cNvPr id="4" name="Shape 2"/>
          <p:cNvSpPr/>
          <p:nvPr/>
        </p:nvSpPr>
        <p:spPr>
          <a:xfrm>
            <a:off x="5730088" y="1828800"/>
            <a:ext cx="731520" cy="0"/>
          </a:xfrm>
          <a:prstGeom prst="line">
            <a:avLst/>
          </a:prstGeom>
          <a:noFill/>
          <a:ln w="19050">
            <a:solidFill>
              <a:srgbClr val="8AAF8A"/>
            </a:solidFill>
            <a:prstDash val="solid"/>
          </a:ln>
        </p:spPr>
      </p:sp>
      <p:sp>
        <p:nvSpPr>
          <p:cNvPr id="5" name="Text 3"/>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600" dirty="0">
                <a:solidFill>
                  <a:srgbClr val="FFFFFF"/>
                </a:solidFill>
                <a:latin typeface="Cormorant Garamond" pitchFamily="34" charset="0"/>
                <a:ea typeface="Cormorant Garamond" pitchFamily="34" charset="-122"/>
                <a:cs typeface="Cormorant Garamond" pitchFamily="34" charset="-120"/>
              </a:rPr>
              <a:t>It doesn't </a:t>
            </a:r>
            <a:pPr algn="ctr" indent="0" marL="0">
              <a:lnSpc>
                <a:spcPct val="100000"/>
              </a:lnSpc>
              <a:buNone/>
            </a:pPr>
            <a:r>
              <a:rPr lang="en-US" sz="4600" b="1" dirty="0">
                <a:solidFill>
                  <a:srgbClr val="B7D3B7"/>
                </a:solidFill>
                <a:latin typeface="Cormorant Garamond" pitchFamily="34" charset="0"/>
                <a:ea typeface="Cormorant Garamond" pitchFamily="34" charset="-122"/>
                <a:cs typeface="Cormorant Garamond" pitchFamily="34" charset="-120"/>
              </a:rPr>
              <a:t>stay at the office.</a:t>
            </a:r>
            <a:endParaRPr lang="en-US" sz="4600" dirty="0"/>
          </a:p>
        </p:txBody>
      </p:sp>
      <p:sp>
        <p:nvSpPr>
          <p:cNvPr id="6" name="Text 4"/>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E1F5EE"/>
                </a:solidFill>
                <a:latin typeface="DM Sans" pitchFamily="34" charset="0"/>
                <a:ea typeface="DM Sans" pitchFamily="34" charset="-122"/>
                <a:cs typeface="DM Sans" pitchFamily="34" charset="-120"/>
              </a:rPr>
              <a:t>The mechanic, the landscaper, the housekeeper, sometimes your own husband and kids. The same weak boundary shows up everywhere.</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214884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PART TWO</a:t>
            </a:r>
            <a:endParaRPr lang="en-US" sz="1200" dirty="0"/>
          </a:p>
        </p:txBody>
      </p:sp>
      <p:sp>
        <p:nvSpPr>
          <p:cNvPr id="4" name="Shape 2"/>
          <p:cNvSpPr/>
          <p:nvPr/>
        </p:nvSpPr>
        <p:spPr>
          <a:xfrm>
            <a:off x="5730088" y="2606040"/>
            <a:ext cx="731520" cy="0"/>
          </a:xfrm>
          <a:prstGeom prst="line">
            <a:avLst/>
          </a:prstGeom>
          <a:noFill/>
          <a:ln w="19050">
            <a:solidFill>
              <a:srgbClr val="8AAF8A"/>
            </a:solidFill>
            <a:prstDash val="solid"/>
          </a:ln>
        </p:spPr>
      </p:sp>
      <p:sp>
        <p:nvSpPr>
          <p:cNvPr id="5" name="Text 3"/>
          <p:cNvSpPr txBox="1"/>
          <p:nvPr/>
        </p:nvSpPr>
        <p:spPr>
          <a:xfrm>
            <a:off x="1097280" y="2788920"/>
            <a:ext cx="9997135" cy="1371600"/>
          </a:xfrm>
          <a:prstGeom prst="rect">
            <a:avLst/>
          </a:prstGeom>
          <a:noFill/>
          <a:ln/>
        </p:spPr>
        <p:txBody>
          <a:bodyPr wrap="square" lIns="0" tIns="0" rIns="0" bIns="0" rtlCol="0" anchor="ctr">
            <a:normAutofit/>
          </a:bodyPr>
          <a:lstStyle/>
          <a:p>
            <a:pPr algn="ctr" indent="0" marL="0">
              <a:lnSpc>
                <a:spcPct val="105000"/>
              </a:lnSpc>
              <a:buNone/>
            </a:pPr>
            <a:r>
              <a:rPr lang="en-US" sz="5000" dirty="0">
                <a:solidFill>
                  <a:srgbClr val="FFFFFF"/>
                </a:solidFill>
                <a:latin typeface="Cormorant Garamond" pitchFamily="34" charset="0"/>
                <a:ea typeface="Cormorant Garamond" pitchFamily="34" charset="-122"/>
                <a:cs typeface="Cormorant Garamond" pitchFamily="34" charset="-120"/>
              </a:rPr>
              <a:t>What Waiting Really Costs</a:t>
            </a:r>
            <a:endParaRPr lang="en-US" sz="5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280160"/>
            <a:ext cx="10362895" cy="2103120"/>
          </a:xfrm>
          <a:prstGeom prst="rect">
            <a:avLst/>
          </a:prstGeom>
          <a:noFill/>
          <a:ln/>
        </p:spPr>
        <p:txBody>
          <a:bodyPr wrap="square" lIns="0" tIns="0" rIns="0" bIns="0" rtlCol="0" anchor="ctr">
            <a:normAutofit/>
          </a:bodyPr>
          <a:lstStyle/>
          <a:p>
            <a:pPr algn="ctr" indent="0" marL="0">
              <a:lnSpc>
                <a:spcPct val="105000"/>
              </a:lnSpc>
              <a:buNone/>
            </a:pPr>
            <a:r>
              <a:rPr lang="en-US" sz="13000" b="1" dirty="0">
                <a:solidFill>
                  <a:srgbClr val="5C8A64"/>
                </a:solidFill>
                <a:latin typeface="Cormorant Garamond" pitchFamily="34" charset="0"/>
                <a:ea typeface="Cormorant Garamond" pitchFamily="34" charset="-122"/>
                <a:cs typeface="Cormorant Garamond" pitchFamily="34" charset="-120"/>
              </a:rPr>
              <a:t>64%</a:t>
            </a:r>
            <a:endParaRPr lang="en-US" sz="13000" dirty="0"/>
          </a:p>
        </p:txBody>
      </p:sp>
      <p:sp>
        <p:nvSpPr>
          <p:cNvPr id="3" name="Shape 1"/>
          <p:cNvSpPr/>
          <p:nvPr/>
        </p:nvSpPr>
        <p:spPr>
          <a:xfrm>
            <a:off x="5775808" y="3611880"/>
            <a:ext cx="640080" cy="0"/>
          </a:xfrm>
          <a:prstGeom prst="line">
            <a:avLst/>
          </a:prstGeom>
          <a:noFill/>
          <a:ln w="19050">
            <a:solidFill>
              <a:srgbClr val="1E4A4A"/>
            </a:solidFill>
            <a:prstDash val="solid"/>
          </a:ln>
        </p:spPr>
      </p:sp>
      <p:sp>
        <p:nvSpPr>
          <p:cNvPr id="4" name="Text 2"/>
          <p:cNvSpPr txBox="1"/>
          <p:nvPr/>
        </p:nvSpPr>
        <p:spPr>
          <a:xfrm>
            <a:off x="1828800" y="3840480"/>
            <a:ext cx="8534095" cy="1188720"/>
          </a:xfrm>
          <a:prstGeom prst="rect">
            <a:avLst/>
          </a:prstGeom>
          <a:noFill/>
          <a:ln/>
        </p:spPr>
        <p:txBody>
          <a:bodyPr wrap="square" lIns="0" tIns="0" rIns="0" bIns="0" rtlCol="0" anchor="t">
            <a:normAutofit/>
          </a:bodyPr>
          <a:lstStyle/>
          <a:p>
            <a:pPr algn="ctr" indent="0" marL="0">
              <a:lnSpc>
                <a:spcPct val="120000"/>
              </a:lnSpc>
              <a:buNone/>
            </a:pPr>
            <a:r>
              <a:rPr lang="en-US" sz="2200" dirty="0">
                <a:solidFill>
                  <a:srgbClr val="1E4A4A"/>
                </a:solidFill>
                <a:latin typeface="DM Sans" pitchFamily="34" charset="0"/>
                <a:ea typeface="DM Sans" pitchFamily="34" charset="-122"/>
                <a:cs typeface="DM Sans" pitchFamily="34" charset="-120"/>
              </a:rPr>
              <a:t>of women never negotiate their salary. Not once.</a:t>
            </a:r>
            <a:endParaRPr lang="en-US" sz="2200" dirty="0"/>
          </a:p>
        </p:txBody>
      </p:sp>
      <p:sp>
        <p:nvSpPr>
          <p:cNvPr id="5" name="Text 3"/>
          <p:cNvSpPr txBox="1"/>
          <p:nvPr/>
        </p:nvSpPr>
        <p:spPr>
          <a:xfrm>
            <a:off x="1828800" y="5760720"/>
            <a:ext cx="8534095" cy="365760"/>
          </a:xfrm>
          <a:prstGeom prst="rect">
            <a:avLst/>
          </a:prstGeom>
          <a:noFill/>
          <a:ln/>
        </p:spPr>
        <p:txBody>
          <a:bodyPr wrap="square" lIns="0" tIns="0" rIns="0" bIns="0" rtlCol="0" anchor="t">
            <a:normAutofit/>
          </a:bodyPr>
          <a:lstStyle/>
          <a:p>
            <a:pPr algn="ctr" indent="0" marL="0">
              <a:lnSpc>
                <a:spcPct val="105000"/>
              </a:lnSpc>
              <a:buNone/>
            </a:pPr>
            <a:r>
              <a:rPr lang="en-US" sz="1100" i="1" dirty="0">
                <a:solidFill>
                  <a:srgbClr val="5E6B68"/>
                </a:solidFill>
                <a:latin typeface="DM Sans" pitchFamily="34" charset="0"/>
                <a:ea typeface="DM Sans" pitchFamily="34" charset="-122"/>
                <a:cs typeface="DM Sans" pitchFamily="34" charset="-120"/>
              </a:rPr>
              <a:t>Source: </a:t>
            </a:r>
            <a:pPr algn="ctr" indent="0" marL="0">
              <a:lnSpc>
                <a:spcPct val="105000"/>
              </a:lnSpc>
              <a:buNone/>
            </a:pPr>
            <a:r>
              <a:rPr lang="en-US" sz="1100" b="1" dirty="0">
                <a:solidFill>
                  <a:srgbClr val="B85042"/>
                </a:solidFill>
                <a:latin typeface="DM Sans" pitchFamily="34" charset="0"/>
                <a:ea typeface="DM Sans" pitchFamily="34" charset="-122"/>
                <a:cs typeface="DM Sans" pitchFamily="34" charset="-120"/>
              </a:rPr>
              <a:t>[PLACEHOLDER: new source]</a:t>
            </a:r>
            <a:endParaRPr lang="en-US" sz="1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82296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THE MATH NOBODY SHOWS YOU</a:t>
            </a:r>
            <a:endParaRPr lang="en-US" sz="1200" dirty="0"/>
          </a:p>
        </p:txBody>
      </p:sp>
      <p:sp>
        <p:nvSpPr>
          <p:cNvPr id="3" name="Text 1"/>
          <p:cNvSpPr txBox="1"/>
          <p:nvPr/>
        </p:nvSpPr>
        <p:spPr>
          <a:xfrm>
            <a:off x="914400" y="1280160"/>
            <a:ext cx="10362895" cy="2103120"/>
          </a:xfrm>
          <a:prstGeom prst="rect">
            <a:avLst/>
          </a:prstGeom>
          <a:noFill/>
          <a:ln/>
        </p:spPr>
        <p:txBody>
          <a:bodyPr wrap="square" lIns="0" tIns="0" rIns="0" bIns="0" rtlCol="0" anchor="ctr">
            <a:normAutofit/>
          </a:bodyPr>
          <a:lstStyle/>
          <a:p>
            <a:pPr algn="ctr" indent="0" marL="0">
              <a:lnSpc>
                <a:spcPct val="105000"/>
              </a:lnSpc>
              <a:buNone/>
            </a:pPr>
            <a:r>
              <a:rPr lang="en-US" sz="13000" b="1" dirty="0">
                <a:solidFill>
                  <a:srgbClr val="5C8A64"/>
                </a:solidFill>
                <a:latin typeface="Cormorant Garamond" pitchFamily="34" charset="0"/>
                <a:ea typeface="Cormorant Garamond" pitchFamily="34" charset="-122"/>
                <a:cs typeface="Cormorant Garamond" pitchFamily="34" charset="-120"/>
              </a:rPr>
              <a:t>$57,000</a:t>
            </a:r>
            <a:endParaRPr lang="en-US" sz="13000" dirty="0"/>
          </a:p>
        </p:txBody>
      </p:sp>
      <p:sp>
        <p:nvSpPr>
          <p:cNvPr id="4" name="Shape 2"/>
          <p:cNvSpPr/>
          <p:nvPr/>
        </p:nvSpPr>
        <p:spPr>
          <a:xfrm>
            <a:off x="5775808" y="3611880"/>
            <a:ext cx="640080" cy="0"/>
          </a:xfrm>
          <a:prstGeom prst="line">
            <a:avLst/>
          </a:prstGeom>
          <a:noFill/>
          <a:ln w="19050">
            <a:solidFill>
              <a:srgbClr val="1E4A4A"/>
            </a:solidFill>
            <a:prstDash val="solid"/>
          </a:ln>
        </p:spPr>
      </p:sp>
      <p:sp>
        <p:nvSpPr>
          <p:cNvPr id="5" name="Text 3"/>
          <p:cNvSpPr txBox="1"/>
          <p:nvPr/>
        </p:nvSpPr>
        <p:spPr>
          <a:xfrm>
            <a:off x="1828800" y="3840480"/>
            <a:ext cx="8534095" cy="1188720"/>
          </a:xfrm>
          <a:prstGeom prst="rect">
            <a:avLst/>
          </a:prstGeom>
          <a:noFill/>
          <a:ln/>
        </p:spPr>
        <p:txBody>
          <a:bodyPr wrap="square" lIns="0" tIns="0" rIns="0" bIns="0" rtlCol="0" anchor="t">
            <a:normAutofit/>
          </a:bodyPr>
          <a:lstStyle/>
          <a:p>
            <a:pPr algn="ctr" indent="0" marL="0">
              <a:lnSpc>
                <a:spcPct val="120000"/>
              </a:lnSpc>
              <a:buNone/>
            </a:pPr>
            <a:r>
              <a:rPr lang="en-US" sz="2200" dirty="0">
                <a:solidFill>
                  <a:srgbClr val="1E4A4A"/>
                </a:solidFill>
                <a:latin typeface="DM Sans" pitchFamily="34" charset="0"/>
                <a:ea typeface="DM Sans" pitchFamily="34" charset="-122"/>
                <a:cs typeface="DM Sans" pitchFamily="34" charset="-120"/>
              </a:rPr>
              <a:t>What one missed $5,000 raise costs you over 10 years.</a:t>
            </a:r>
            <a:endParaRPr lang="en-US" sz="2200" dirty="0"/>
          </a:p>
        </p:txBody>
      </p:sp>
      <p:sp>
        <p:nvSpPr>
          <p:cNvPr id="6" name="Text 4"/>
          <p:cNvSpPr txBox="1"/>
          <p:nvPr/>
        </p:nvSpPr>
        <p:spPr>
          <a:xfrm>
            <a:off x="1828800" y="5760720"/>
            <a:ext cx="8534095" cy="365760"/>
          </a:xfrm>
          <a:prstGeom prst="rect">
            <a:avLst/>
          </a:prstGeom>
          <a:noFill/>
          <a:ln/>
        </p:spPr>
        <p:txBody>
          <a:bodyPr wrap="square" lIns="0" tIns="0" rIns="0" bIns="0" rtlCol="0" anchor="t">
            <a:normAutofit/>
          </a:bodyPr>
          <a:lstStyle/>
          <a:p>
            <a:pPr algn="ctr" indent="0" marL="0">
              <a:lnSpc>
                <a:spcPct val="105000"/>
              </a:lnSpc>
              <a:buNone/>
            </a:pPr>
            <a:r>
              <a:rPr lang="en-US" sz="1100" i="1" dirty="0">
                <a:solidFill>
                  <a:srgbClr val="5E6B68"/>
                </a:solidFill>
                <a:latin typeface="DM Sans" pitchFamily="34" charset="0"/>
                <a:ea typeface="DM Sans" pitchFamily="34" charset="-122"/>
                <a:cs typeface="DM Sans" pitchFamily="34" charset="-120"/>
              </a:rPr>
              <a:t>Assumes the missing $5,000 grows with 3% annual raises.</a:t>
            </a:r>
            <a:endParaRPr lang="en-US" sz="1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82296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THE MATH NOBODY SHOWS YOU</a:t>
            </a:r>
            <a:endParaRPr lang="en-US" sz="1200" dirty="0"/>
          </a:p>
        </p:txBody>
      </p:sp>
      <p:sp>
        <p:nvSpPr>
          <p:cNvPr id="3" name="Text 1"/>
          <p:cNvSpPr txBox="1"/>
          <p:nvPr/>
        </p:nvSpPr>
        <p:spPr>
          <a:xfrm>
            <a:off x="914400" y="1280160"/>
            <a:ext cx="10362895" cy="2103120"/>
          </a:xfrm>
          <a:prstGeom prst="rect">
            <a:avLst/>
          </a:prstGeom>
          <a:noFill/>
          <a:ln/>
        </p:spPr>
        <p:txBody>
          <a:bodyPr wrap="square" lIns="0" tIns="0" rIns="0" bIns="0" rtlCol="0" anchor="ctr">
            <a:normAutofit/>
          </a:bodyPr>
          <a:lstStyle/>
          <a:p>
            <a:pPr algn="ctr" indent="0" marL="0">
              <a:lnSpc>
                <a:spcPct val="105000"/>
              </a:lnSpc>
              <a:buNone/>
            </a:pPr>
            <a:r>
              <a:rPr lang="en-US" sz="13000" b="1" dirty="0">
                <a:solidFill>
                  <a:srgbClr val="5C8A64"/>
                </a:solidFill>
                <a:latin typeface="Cormorant Garamond" pitchFamily="34" charset="0"/>
                <a:ea typeface="Cormorant Garamond" pitchFamily="34" charset="-122"/>
                <a:cs typeface="Cormorant Garamond" pitchFamily="34" charset="-120"/>
              </a:rPr>
              <a:t>$134,000</a:t>
            </a:r>
            <a:endParaRPr lang="en-US" sz="13000" dirty="0"/>
          </a:p>
        </p:txBody>
      </p:sp>
      <p:sp>
        <p:nvSpPr>
          <p:cNvPr id="4" name="Shape 2"/>
          <p:cNvSpPr/>
          <p:nvPr/>
        </p:nvSpPr>
        <p:spPr>
          <a:xfrm>
            <a:off x="5775808" y="3611880"/>
            <a:ext cx="640080" cy="0"/>
          </a:xfrm>
          <a:prstGeom prst="line">
            <a:avLst/>
          </a:prstGeom>
          <a:noFill/>
          <a:ln w="19050">
            <a:solidFill>
              <a:srgbClr val="1E4A4A"/>
            </a:solidFill>
            <a:prstDash val="solid"/>
          </a:ln>
        </p:spPr>
      </p:sp>
      <p:sp>
        <p:nvSpPr>
          <p:cNvPr id="5" name="Text 3"/>
          <p:cNvSpPr txBox="1"/>
          <p:nvPr/>
        </p:nvSpPr>
        <p:spPr>
          <a:xfrm>
            <a:off x="1828800" y="3840480"/>
            <a:ext cx="8534095" cy="1188720"/>
          </a:xfrm>
          <a:prstGeom prst="rect">
            <a:avLst/>
          </a:prstGeom>
          <a:noFill/>
          <a:ln/>
        </p:spPr>
        <p:txBody>
          <a:bodyPr wrap="square" lIns="0" tIns="0" rIns="0" bIns="0" rtlCol="0" anchor="t">
            <a:normAutofit/>
          </a:bodyPr>
          <a:lstStyle/>
          <a:p>
            <a:pPr algn="ctr" indent="0" marL="0">
              <a:lnSpc>
                <a:spcPct val="120000"/>
              </a:lnSpc>
              <a:buNone/>
            </a:pPr>
            <a:r>
              <a:rPr lang="en-US" sz="2200" dirty="0">
                <a:solidFill>
                  <a:srgbClr val="1E4A4A"/>
                </a:solidFill>
                <a:latin typeface="DM Sans" pitchFamily="34" charset="0"/>
                <a:ea typeface="DM Sans" pitchFamily="34" charset="-122"/>
                <a:cs typeface="DM Sans" pitchFamily="34" charset="-120"/>
              </a:rPr>
              <a:t>The same missed raise over 20 years.</a:t>
            </a:r>
            <a:endParaRPr lang="en-US" sz="2200" dirty="0"/>
          </a:p>
        </p:txBody>
      </p:sp>
      <p:sp>
        <p:nvSpPr>
          <p:cNvPr id="6" name="Text 4"/>
          <p:cNvSpPr txBox="1"/>
          <p:nvPr/>
        </p:nvSpPr>
        <p:spPr>
          <a:xfrm>
            <a:off x="1828800" y="5760720"/>
            <a:ext cx="8534095" cy="365760"/>
          </a:xfrm>
          <a:prstGeom prst="rect">
            <a:avLst/>
          </a:prstGeom>
          <a:noFill/>
          <a:ln/>
        </p:spPr>
        <p:txBody>
          <a:bodyPr wrap="square" lIns="0" tIns="0" rIns="0" bIns="0" rtlCol="0" anchor="t">
            <a:normAutofit/>
          </a:bodyPr>
          <a:lstStyle/>
          <a:p>
            <a:pPr algn="ctr" indent="0" marL="0">
              <a:lnSpc>
                <a:spcPct val="105000"/>
              </a:lnSpc>
              <a:buNone/>
            </a:pPr>
            <a:r>
              <a:rPr lang="en-US" sz="1100" i="1" dirty="0">
                <a:solidFill>
                  <a:srgbClr val="5E6B68"/>
                </a:solidFill>
                <a:latin typeface="DM Sans" pitchFamily="34" charset="0"/>
                <a:ea typeface="DM Sans" pitchFamily="34" charset="-122"/>
                <a:cs typeface="DM Sans" pitchFamily="34" charset="-120"/>
              </a:rPr>
              <a:t>Assumes the missing $5,000 grows with 3% annual raises.</a:t>
            </a:r>
            <a:endParaRPr lang="en-US" sz="1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82296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THE MATH NOBODY SHOWS YOU</a:t>
            </a:r>
            <a:endParaRPr lang="en-US" sz="1200" dirty="0"/>
          </a:p>
        </p:txBody>
      </p:sp>
      <p:sp>
        <p:nvSpPr>
          <p:cNvPr id="3" name="Text 1"/>
          <p:cNvSpPr txBox="1"/>
          <p:nvPr/>
        </p:nvSpPr>
        <p:spPr>
          <a:xfrm>
            <a:off x="914400" y="1280160"/>
            <a:ext cx="10362895" cy="2103120"/>
          </a:xfrm>
          <a:prstGeom prst="rect">
            <a:avLst/>
          </a:prstGeom>
          <a:noFill/>
          <a:ln/>
        </p:spPr>
        <p:txBody>
          <a:bodyPr wrap="square" lIns="0" tIns="0" rIns="0" bIns="0" rtlCol="0" anchor="ctr">
            <a:normAutofit/>
          </a:bodyPr>
          <a:lstStyle/>
          <a:p>
            <a:pPr algn="ctr" indent="0" marL="0">
              <a:lnSpc>
                <a:spcPct val="105000"/>
              </a:lnSpc>
              <a:buNone/>
            </a:pPr>
            <a:r>
              <a:rPr lang="en-US" sz="13000" b="1" dirty="0">
                <a:solidFill>
                  <a:srgbClr val="5C8A64"/>
                </a:solidFill>
                <a:latin typeface="Cormorant Garamond" pitchFamily="34" charset="0"/>
                <a:ea typeface="Cormorant Garamond" pitchFamily="34" charset="-122"/>
                <a:cs typeface="Cormorant Garamond" pitchFamily="34" charset="-120"/>
              </a:rPr>
              <a:t>$237,877</a:t>
            </a:r>
            <a:endParaRPr lang="en-US" sz="13000" dirty="0"/>
          </a:p>
        </p:txBody>
      </p:sp>
      <p:sp>
        <p:nvSpPr>
          <p:cNvPr id="4" name="Shape 2"/>
          <p:cNvSpPr/>
          <p:nvPr/>
        </p:nvSpPr>
        <p:spPr>
          <a:xfrm>
            <a:off x="5775808" y="3611880"/>
            <a:ext cx="640080" cy="0"/>
          </a:xfrm>
          <a:prstGeom prst="line">
            <a:avLst/>
          </a:prstGeom>
          <a:noFill/>
          <a:ln w="19050">
            <a:solidFill>
              <a:srgbClr val="1E4A4A"/>
            </a:solidFill>
            <a:prstDash val="solid"/>
          </a:ln>
        </p:spPr>
      </p:sp>
      <p:sp>
        <p:nvSpPr>
          <p:cNvPr id="5" name="Text 3"/>
          <p:cNvSpPr txBox="1"/>
          <p:nvPr/>
        </p:nvSpPr>
        <p:spPr>
          <a:xfrm>
            <a:off x="1828800" y="3840480"/>
            <a:ext cx="8534095" cy="1188720"/>
          </a:xfrm>
          <a:prstGeom prst="rect">
            <a:avLst/>
          </a:prstGeom>
          <a:noFill/>
          <a:ln/>
        </p:spPr>
        <p:txBody>
          <a:bodyPr wrap="square" lIns="0" tIns="0" rIns="0" bIns="0" rtlCol="0" anchor="t">
            <a:normAutofit/>
          </a:bodyPr>
          <a:lstStyle/>
          <a:p>
            <a:pPr algn="ctr" indent="0" marL="0">
              <a:lnSpc>
                <a:spcPct val="120000"/>
              </a:lnSpc>
              <a:buNone/>
            </a:pPr>
            <a:r>
              <a:rPr lang="en-US" sz="2200" dirty="0">
                <a:solidFill>
                  <a:srgbClr val="1E4A4A"/>
                </a:solidFill>
                <a:latin typeface="DM Sans" pitchFamily="34" charset="0"/>
                <a:ea typeface="DM Sans" pitchFamily="34" charset="-122"/>
                <a:cs typeface="DM Sans" pitchFamily="34" charset="-120"/>
              </a:rPr>
              <a:t>Over a 30-year career. From </a:t>
            </a:r>
            <a:pPr algn="ctr" indent="0" marL="0">
              <a:lnSpc>
                <a:spcPct val="120000"/>
              </a:lnSpc>
              <a:buNone/>
            </a:pPr>
            <a:r>
              <a:rPr lang="en-US" sz="2200" b="1" dirty="0">
                <a:solidFill>
                  <a:srgbClr val="5C8A64"/>
                </a:solidFill>
                <a:latin typeface="DM Sans" pitchFamily="34" charset="0"/>
                <a:ea typeface="DM Sans" pitchFamily="34" charset="-122"/>
                <a:cs typeface="DM Sans" pitchFamily="34" charset="-120"/>
              </a:rPr>
              <a:t>one missed conversation.</a:t>
            </a:r>
            <a:endParaRPr lang="en-US" sz="2200" dirty="0"/>
          </a:p>
        </p:txBody>
      </p:sp>
      <p:sp>
        <p:nvSpPr>
          <p:cNvPr id="6" name="Text 4"/>
          <p:cNvSpPr txBox="1"/>
          <p:nvPr/>
        </p:nvSpPr>
        <p:spPr>
          <a:xfrm>
            <a:off x="1828800" y="5760720"/>
            <a:ext cx="8534095" cy="365760"/>
          </a:xfrm>
          <a:prstGeom prst="rect">
            <a:avLst/>
          </a:prstGeom>
          <a:noFill/>
          <a:ln/>
        </p:spPr>
        <p:txBody>
          <a:bodyPr wrap="square" lIns="0" tIns="0" rIns="0" bIns="0" rtlCol="0" anchor="t">
            <a:normAutofit/>
          </a:bodyPr>
          <a:lstStyle/>
          <a:p>
            <a:pPr algn="ctr" indent="0" marL="0">
              <a:lnSpc>
                <a:spcPct val="105000"/>
              </a:lnSpc>
              <a:buNone/>
            </a:pPr>
            <a:r>
              <a:rPr lang="en-US" sz="1100" i="1" dirty="0">
                <a:solidFill>
                  <a:srgbClr val="5E6B68"/>
                </a:solidFill>
                <a:latin typeface="DM Sans" pitchFamily="34" charset="0"/>
                <a:ea typeface="DM Sans" pitchFamily="34" charset="-122"/>
                <a:cs typeface="DM Sans" pitchFamily="34" charset="-120"/>
              </a:rPr>
              <a:t>Assumes the missing $5,000 grows with 3% annual raises.</a:t>
            </a:r>
            <a:endParaRPr lang="en-US" sz="1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COST NOBODY TALKS ABOUT</a:t>
            </a:r>
            <a:endParaRPr lang="en-US" sz="1200" dirty="0"/>
          </a:p>
        </p:txBody>
      </p:sp>
      <p:sp>
        <p:nvSpPr>
          <p:cNvPr id="4" name="Shape 2"/>
          <p:cNvSpPr/>
          <p:nvPr/>
        </p:nvSpPr>
        <p:spPr>
          <a:xfrm>
            <a:off x="5730088" y="1828800"/>
            <a:ext cx="731520" cy="0"/>
          </a:xfrm>
          <a:prstGeom prst="line">
            <a:avLst/>
          </a:prstGeom>
          <a:noFill/>
          <a:ln w="19050">
            <a:solidFill>
              <a:srgbClr val="8AAF8A"/>
            </a:solidFill>
            <a:prstDash val="solid"/>
          </a:ln>
        </p:spPr>
      </p:sp>
      <p:sp>
        <p:nvSpPr>
          <p:cNvPr id="5" name="Text 3"/>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000" dirty="0">
                <a:solidFill>
                  <a:srgbClr val="FFFFFF"/>
                </a:solidFill>
                <a:latin typeface="Cormorant Garamond" pitchFamily="34" charset="0"/>
                <a:ea typeface="Cormorant Garamond" pitchFamily="34" charset="-122"/>
                <a:cs typeface="Cormorant Garamond" pitchFamily="34" charset="-120"/>
              </a:rPr>
              <a:t>The emotional cost </a:t>
            </a:r>
            <a:pPr algn="ctr" indent="0" marL="0">
              <a:lnSpc>
                <a:spcPct val="100000"/>
              </a:lnSpc>
              <a:buNone/>
            </a:pPr>
            <a:r>
              <a:rPr lang="en-US" sz="4000" b="1" dirty="0">
                <a:solidFill>
                  <a:srgbClr val="B7D3B7"/>
                </a:solidFill>
                <a:latin typeface="Cormorant Garamond" pitchFamily="34" charset="0"/>
                <a:ea typeface="Cormorant Garamond" pitchFamily="34" charset="-122"/>
                <a:cs typeface="Cormorant Garamond" pitchFamily="34" charset="-120"/>
              </a:rPr>
              <a:t>compounds faster.</a:t>
            </a:r>
            <a:endParaRPr lang="en-US" sz="4000" dirty="0"/>
          </a:p>
        </p:txBody>
      </p:sp>
      <p:sp>
        <p:nvSpPr>
          <p:cNvPr id="6" name="Text 4"/>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E1F5EE"/>
                </a:solidFill>
                <a:latin typeface="DM Sans" pitchFamily="34" charset="0"/>
                <a:ea typeface="DM Sans" pitchFamily="34" charset="-122"/>
                <a:cs typeface="DM Sans" pitchFamily="34" charset="-120"/>
              </a:rPr>
              <a:t>Every time you stay quiet, minimize what you did or wait to be noticed, you practice the exact pattern that's keeping you stuck.</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NOW</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500" dirty="0">
                <a:solidFill>
                  <a:srgbClr val="1E4A4A"/>
                </a:solidFill>
                <a:latin typeface="Cormorant Garamond" pitchFamily="34" charset="0"/>
                <a:ea typeface="Cormorant Garamond" pitchFamily="34" charset="-122"/>
                <a:cs typeface="Cormorant Garamond" pitchFamily="34" charset="-120"/>
              </a:rPr>
              <a:t>With AI, you no longer need to be </a:t>
            </a:r>
            <a:pPr algn="ctr" indent="0" marL="0">
              <a:lnSpc>
                <a:spcPct val="100000"/>
              </a:lnSpc>
              <a:buNone/>
            </a:pPr>
            <a:r>
              <a:rPr lang="en-US" sz="3500" b="1" dirty="0">
                <a:solidFill>
                  <a:srgbClr val="5C8A64"/>
                </a:solidFill>
                <a:latin typeface="Cormorant Garamond" pitchFamily="34" charset="0"/>
                <a:ea typeface="Cormorant Garamond" pitchFamily="34" charset="-122"/>
                <a:cs typeface="Cormorant Garamond" pitchFamily="34" charset="-120"/>
              </a:rPr>
              <a:t>the smartest person in the room.</a:t>
            </a:r>
            <a:endParaRPr lang="en-US" sz="3500" dirty="0"/>
          </a:p>
        </p:txBody>
      </p:sp>
      <p:sp>
        <p:nvSpPr>
          <p:cNvPr id="5" name="Text 3"/>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What matters now is what technology can't replicate.</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5730088" y="1828800"/>
            <a:ext cx="731520" cy="0"/>
          </a:xfrm>
          <a:prstGeom prst="line">
            <a:avLst/>
          </a:prstGeom>
          <a:noFill/>
          <a:ln w="19050">
            <a:solidFill>
              <a:srgbClr val="8AAF8A"/>
            </a:solidFill>
            <a:prstDash val="solid"/>
          </a:ln>
        </p:spPr>
      </p:sp>
      <p:sp>
        <p:nvSpPr>
          <p:cNvPr id="3" name="Text 1"/>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000" dirty="0">
                <a:solidFill>
                  <a:srgbClr val="1E4A4A"/>
                </a:solidFill>
                <a:latin typeface="Cormorant Garamond" pitchFamily="34" charset="0"/>
                <a:ea typeface="Cormorant Garamond" pitchFamily="34" charset="-122"/>
                <a:cs typeface="Cormorant Garamond" pitchFamily="34" charset="-120"/>
              </a:rPr>
              <a:t>Executive presence is becoming </a:t>
            </a:r>
            <a:pPr algn="ctr" indent="0" marL="0">
              <a:lnSpc>
                <a:spcPct val="100000"/>
              </a:lnSpc>
              <a:buNone/>
            </a:pPr>
            <a:r>
              <a:rPr lang="en-US" sz="4000" b="1" dirty="0">
                <a:solidFill>
                  <a:srgbClr val="5C8A64"/>
                </a:solidFill>
                <a:latin typeface="Cormorant Garamond" pitchFamily="34" charset="0"/>
                <a:ea typeface="Cormorant Garamond" pitchFamily="34" charset="-122"/>
                <a:cs typeface="Cormorant Garamond" pitchFamily="34" charset="-120"/>
              </a:rPr>
              <a:t>the competitive advantage.</a:t>
            </a:r>
            <a:endParaRPr lang="en-US" sz="4000" dirty="0"/>
          </a:p>
        </p:txBody>
      </p:sp>
      <p:sp>
        <p:nvSpPr>
          <p:cNvPr id="4" name="Text 2"/>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Knowing what makes you unique, and how to get paid for it, starts with knowing yourself.</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214884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PART THREE</a:t>
            </a:r>
            <a:endParaRPr lang="en-US" sz="1200" dirty="0"/>
          </a:p>
        </p:txBody>
      </p:sp>
      <p:sp>
        <p:nvSpPr>
          <p:cNvPr id="4" name="Shape 2"/>
          <p:cNvSpPr/>
          <p:nvPr/>
        </p:nvSpPr>
        <p:spPr>
          <a:xfrm>
            <a:off x="5730088" y="2606040"/>
            <a:ext cx="731520" cy="0"/>
          </a:xfrm>
          <a:prstGeom prst="line">
            <a:avLst/>
          </a:prstGeom>
          <a:noFill/>
          <a:ln w="19050">
            <a:solidFill>
              <a:srgbClr val="8AAF8A"/>
            </a:solidFill>
            <a:prstDash val="solid"/>
          </a:ln>
        </p:spPr>
      </p:sp>
      <p:sp>
        <p:nvSpPr>
          <p:cNvPr id="5" name="Text 3"/>
          <p:cNvSpPr txBox="1"/>
          <p:nvPr/>
        </p:nvSpPr>
        <p:spPr>
          <a:xfrm>
            <a:off x="1097280" y="2788920"/>
            <a:ext cx="9997135" cy="1371600"/>
          </a:xfrm>
          <a:prstGeom prst="rect">
            <a:avLst/>
          </a:prstGeom>
          <a:noFill/>
          <a:ln/>
        </p:spPr>
        <p:txBody>
          <a:bodyPr wrap="square" lIns="0" tIns="0" rIns="0" bIns="0" rtlCol="0" anchor="ctr">
            <a:normAutofit/>
          </a:bodyPr>
          <a:lstStyle/>
          <a:p>
            <a:pPr algn="ctr" indent="0" marL="0">
              <a:lnSpc>
                <a:spcPct val="105000"/>
              </a:lnSpc>
              <a:buNone/>
            </a:pPr>
            <a:r>
              <a:rPr lang="en-US" sz="5000" dirty="0">
                <a:solidFill>
                  <a:srgbClr val="FFFFFF"/>
                </a:solidFill>
                <a:latin typeface="Cormorant Garamond" pitchFamily="34" charset="0"/>
                <a:ea typeface="Cormorant Garamond" pitchFamily="34" charset="-122"/>
                <a:cs typeface="Cormorant Garamond" pitchFamily="34" charset="-120"/>
              </a:rPr>
              <a:t>The V.O.I.C.E. Framework™</a:t>
            </a:r>
            <a:endParaRPr lang="en-US" sz="5000" dirty="0"/>
          </a:p>
        </p:txBody>
      </p:sp>
      <p:sp>
        <p:nvSpPr>
          <p:cNvPr id="6" name="Text 4"/>
          <p:cNvSpPr txBox="1"/>
          <p:nvPr/>
        </p:nvSpPr>
        <p:spPr>
          <a:xfrm>
            <a:off x="1828800" y="4343400"/>
            <a:ext cx="8534095" cy="914400"/>
          </a:xfrm>
          <a:prstGeom prst="rect">
            <a:avLst/>
          </a:prstGeom>
          <a:noFill/>
          <a:ln/>
        </p:spPr>
        <p:txBody>
          <a:bodyPr wrap="square" lIns="0" tIns="0" rIns="0" bIns="0" rtlCol="0" anchor="t">
            <a:normAutofit/>
          </a:bodyPr>
          <a:lstStyle/>
          <a:p>
            <a:pPr algn="ctr" indent="0" marL="0">
              <a:lnSpc>
                <a:spcPct val="105000"/>
              </a:lnSpc>
              <a:buNone/>
            </a:pPr>
            <a:r>
              <a:rPr lang="en-US" sz="2100" i="1" dirty="0">
                <a:solidFill>
                  <a:srgbClr val="B7D3B7"/>
                </a:solidFill>
                <a:latin typeface="Cormorant Garamond" pitchFamily="34" charset="0"/>
                <a:ea typeface="Cormorant Garamond" pitchFamily="34" charset="-122"/>
                <a:cs typeface="Cormorant Garamond" pitchFamily="34" charset="-120"/>
              </a:rPr>
              <a:t>Twenty-six years of Wall Street negotiation plus five years of deep identity work</a:t>
            </a:r>
            <a:endParaRPr lang="en-US" sz="2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THE V.O.I.C.E. FRAMEWORK™</a:t>
            </a:r>
            <a:endParaRPr lang="en-US" sz="1300" dirty="0"/>
          </a:p>
        </p:txBody>
      </p:sp>
      <p:sp>
        <p:nvSpPr>
          <p:cNvPr id="5" name="Shape 3"/>
          <p:cNvSpPr/>
          <p:nvPr/>
        </p:nvSpPr>
        <p:spPr>
          <a:xfrm>
            <a:off x="2926080" y="1188720"/>
            <a:ext cx="685800" cy="685800"/>
          </a:xfrm>
          <a:prstGeom prst="ellipse">
            <a:avLst/>
          </a:prstGeom>
          <a:solidFill>
            <a:srgbClr val="1E4A4A"/>
          </a:solidFill>
          <a:ln w="12700">
            <a:solidFill>
              <a:srgbClr val="1E4A4A"/>
            </a:solidFill>
            <a:prstDash val="solid"/>
          </a:ln>
        </p:spPr>
      </p:sp>
      <p:sp>
        <p:nvSpPr>
          <p:cNvPr id="6" name="Text 4"/>
          <p:cNvSpPr txBox="1"/>
          <p:nvPr/>
        </p:nvSpPr>
        <p:spPr>
          <a:xfrm>
            <a:off x="2926080" y="1188720"/>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V</a:t>
            </a:r>
            <a:endParaRPr lang="en-US" sz="2400" dirty="0"/>
          </a:p>
        </p:txBody>
      </p:sp>
      <p:sp>
        <p:nvSpPr>
          <p:cNvPr id="7" name="Text 5"/>
          <p:cNvSpPr txBox="1"/>
          <p:nvPr/>
        </p:nvSpPr>
        <p:spPr>
          <a:xfrm>
            <a:off x="3886200" y="1188720"/>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Value</a:t>
            </a:r>
            <a:endParaRPr lang="en-US" sz="3000" dirty="0"/>
          </a:p>
        </p:txBody>
      </p:sp>
      <p:sp>
        <p:nvSpPr>
          <p:cNvPr id="8" name="Shape 6"/>
          <p:cNvSpPr/>
          <p:nvPr/>
        </p:nvSpPr>
        <p:spPr>
          <a:xfrm>
            <a:off x="2926080" y="2176272"/>
            <a:ext cx="685800" cy="685800"/>
          </a:xfrm>
          <a:prstGeom prst="ellipse">
            <a:avLst/>
          </a:prstGeom>
          <a:solidFill>
            <a:srgbClr val="1E4A4A"/>
          </a:solidFill>
          <a:ln w="12700">
            <a:solidFill>
              <a:srgbClr val="1E4A4A"/>
            </a:solidFill>
            <a:prstDash val="solid"/>
          </a:ln>
        </p:spPr>
      </p:sp>
      <p:sp>
        <p:nvSpPr>
          <p:cNvPr id="9" name="Text 7"/>
          <p:cNvSpPr txBox="1"/>
          <p:nvPr/>
        </p:nvSpPr>
        <p:spPr>
          <a:xfrm>
            <a:off x="2926080" y="2176272"/>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O</a:t>
            </a:r>
            <a:endParaRPr lang="en-US" sz="2400" dirty="0"/>
          </a:p>
        </p:txBody>
      </p:sp>
      <p:sp>
        <p:nvSpPr>
          <p:cNvPr id="10" name="Text 8"/>
          <p:cNvSpPr txBox="1"/>
          <p:nvPr/>
        </p:nvSpPr>
        <p:spPr>
          <a:xfrm>
            <a:off x="3886200" y="2176272"/>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Ownership</a:t>
            </a:r>
            <a:endParaRPr lang="en-US" sz="3000" dirty="0"/>
          </a:p>
        </p:txBody>
      </p:sp>
      <p:sp>
        <p:nvSpPr>
          <p:cNvPr id="11" name="Shape 9"/>
          <p:cNvSpPr/>
          <p:nvPr/>
        </p:nvSpPr>
        <p:spPr>
          <a:xfrm>
            <a:off x="2926080" y="3163824"/>
            <a:ext cx="685800" cy="685800"/>
          </a:xfrm>
          <a:prstGeom prst="ellipse">
            <a:avLst/>
          </a:prstGeom>
          <a:solidFill>
            <a:srgbClr val="1E4A4A"/>
          </a:solidFill>
          <a:ln w="12700">
            <a:solidFill>
              <a:srgbClr val="1E4A4A"/>
            </a:solidFill>
            <a:prstDash val="solid"/>
          </a:ln>
        </p:spPr>
      </p:sp>
      <p:sp>
        <p:nvSpPr>
          <p:cNvPr id="12" name="Text 10"/>
          <p:cNvSpPr txBox="1"/>
          <p:nvPr/>
        </p:nvSpPr>
        <p:spPr>
          <a:xfrm>
            <a:off x="2926080" y="3163824"/>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I</a:t>
            </a:r>
            <a:endParaRPr lang="en-US" sz="2400" dirty="0"/>
          </a:p>
        </p:txBody>
      </p:sp>
      <p:sp>
        <p:nvSpPr>
          <p:cNvPr id="13" name="Text 11"/>
          <p:cNvSpPr txBox="1"/>
          <p:nvPr/>
        </p:nvSpPr>
        <p:spPr>
          <a:xfrm>
            <a:off x="3886200" y="3163824"/>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Identity</a:t>
            </a:r>
            <a:endParaRPr lang="en-US" sz="3000" dirty="0"/>
          </a:p>
        </p:txBody>
      </p:sp>
      <p:sp>
        <p:nvSpPr>
          <p:cNvPr id="14" name="Shape 12"/>
          <p:cNvSpPr/>
          <p:nvPr/>
        </p:nvSpPr>
        <p:spPr>
          <a:xfrm>
            <a:off x="2926080" y="4151376"/>
            <a:ext cx="685800" cy="685800"/>
          </a:xfrm>
          <a:prstGeom prst="ellipse">
            <a:avLst/>
          </a:prstGeom>
          <a:solidFill>
            <a:srgbClr val="1E4A4A"/>
          </a:solidFill>
          <a:ln w="12700">
            <a:solidFill>
              <a:srgbClr val="1E4A4A"/>
            </a:solidFill>
            <a:prstDash val="solid"/>
          </a:ln>
        </p:spPr>
      </p:sp>
      <p:sp>
        <p:nvSpPr>
          <p:cNvPr id="15" name="Text 13"/>
          <p:cNvSpPr txBox="1"/>
          <p:nvPr/>
        </p:nvSpPr>
        <p:spPr>
          <a:xfrm>
            <a:off x="2926080" y="4151376"/>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C</a:t>
            </a:r>
            <a:endParaRPr lang="en-US" sz="2400" dirty="0"/>
          </a:p>
        </p:txBody>
      </p:sp>
      <p:sp>
        <p:nvSpPr>
          <p:cNvPr id="16" name="Text 14"/>
          <p:cNvSpPr txBox="1"/>
          <p:nvPr/>
        </p:nvSpPr>
        <p:spPr>
          <a:xfrm>
            <a:off x="3886200" y="4151376"/>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Communication</a:t>
            </a:r>
            <a:endParaRPr lang="en-US" sz="3000" dirty="0"/>
          </a:p>
        </p:txBody>
      </p:sp>
      <p:sp>
        <p:nvSpPr>
          <p:cNvPr id="17" name="Shape 15"/>
          <p:cNvSpPr/>
          <p:nvPr/>
        </p:nvSpPr>
        <p:spPr>
          <a:xfrm>
            <a:off x="2926080" y="5138928"/>
            <a:ext cx="685800" cy="685800"/>
          </a:xfrm>
          <a:prstGeom prst="ellipse">
            <a:avLst/>
          </a:prstGeom>
          <a:solidFill>
            <a:srgbClr val="1E4A4A"/>
          </a:solidFill>
          <a:ln w="12700">
            <a:solidFill>
              <a:srgbClr val="1E4A4A"/>
            </a:solidFill>
            <a:prstDash val="solid"/>
          </a:ln>
        </p:spPr>
      </p:sp>
      <p:sp>
        <p:nvSpPr>
          <p:cNvPr id="18" name="Text 16"/>
          <p:cNvSpPr txBox="1"/>
          <p:nvPr/>
        </p:nvSpPr>
        <p:spPr>
          <a:xfrm>
            <a:off x="2926080" y="5138928"/>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E</a:t>
            </a:r>
            <a:endParaRPr lang="en-US" sz="2400" dirty="0"/>
          </a:p>
        </p:txBody>
      </p:sp>
      <p:sp>
        <p:nvSpPr>
          <p:cNvPr id="19" name="Text 17"/>
          <p:cNvSpPr txBox="1"/>
          <p:nvPr/>
        </p:nvSpPr>
        <p:spPr>
          <a:xfrm>
            <a:off x="3886200" y="5138928"/>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Execution</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5730088" y="1828800"/>
            <a:ext cx="731520" cy="0"/>
          </a:xfrm>
          <a:prstGeom prst="line">
            <a:avLst/>
          </a:prstGeom>
          <a:noFill/>
          <a:ln w="19050">
            <a:solidFill>
              <a:srgbClr val="8AAF8A"/>
            </a:solidFill>
            <a:prstDash val="solid"/>
          </a:ln>
        </p:spPr>
      </p:sp>
      <p:sp>
        <p:nvSpPr>
          <p:cNvPr id="3" name="Text 1"/>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500" dirty="0">
                <a:solidFill>
                  <a:srgbClr val="1E4A4A"/>
                </a:solidFill>
                <a:latin typeface="Cormorant Garamond" pitchFamily="34" charset="0"/>
                <a:ea typeface="Cormorant Garamond" pitchFamily="34" charset="-122"/>
                <a:cs typeface="Cormorant Garamond" pitchFamily="34" charset="-120"/>
              </a:rPr>
              <a:t>Negotiation is the vehicle. </a:t>
            </a:r>
            <a:pPr algn="ctr" indent="0" marL="0">
              <a:lnSpc>
                <a:spcPct val="100000"/>
              </a:lnSpc>
              <a:buNone/>
            </a:pPr>
            <a:r>
              <a:rPr lang="en-US" sz="3500" b="1" dirty="0">
                <a:solidFill>
                  <a:srgbClr val="5C8A64"/>
                </a:solidFill>
                <a:latin typeface="Cormorant Garamond" pitchFamily="34" charset="0"/>
                <a:ea typeface="Cormorant Garamond" pitchFamily="34" charset="-122"/>
                <a:cs typeface="Cormorant Garamond" pitchFamily="34" charset="-120"/>
              </a:rPr>
              <a:t>Transformation is the destination.</a:t>
            </a:r>
            <a:endParaRPr lang="en-US" sz="3500" dirty="0"/>
          </a:p>
        </p:txBody>
      </p:sp>
      <p:sp>
        <p:nvSpPr>
          <p:cNvPr id="4" name="Text 2"/>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Every part of the V.O.I.C.E. Framework combines real-world strategy with the identity work underneath it.</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96012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V.O.I.C.E. FRAMEWORK · PILLAR 1 OF 5</a:t>
            </a:r>
            <a:endParaRPr lang="en-US" sz="1200" dirty="0"/>
          </a:p>
        </p:txBody>
      </p:sp>
      <p:sp>
        <p:nvSpPr>
          <p:cNvPr id="4" name="Text 2"/>
          <p:cNvSpPr txBox="1"/>
          <p:nvPr/>
        </p:nvSpPr>
        <p:spPr>
          <a:xfrm>
            <a:off x="914400" y="1325880"/>
            <a:ext cx="10362895" cy="1737360"/>
          </a:xfrm>
          <a:prstGeom prst="rect">
            <a:avLst/>
          </a:prstGeom>
          <a:noFill/>
          <a:ln/>
        </p:spPr>
        <p:txBody>
          <a:bodyPr wrap="square" lIns="0" tIns="0" rIns="0" bIns="0" rtlCol="0" anchor="ctr">
            <a:normAutofit/>
          </a:bodyPr>
          <a:lstStyle/>
          <a:p>
            <a:pPr algn="ctr" indent="0" marL="0">
              <a:lnSpc>
                <a:spcPct val="105000"/>
              </a:lnSpc>
              <a:buNone/>
            </a:pPr>
            <a:r>
              <a:rPr lang="en-US" sz="13000" dirty="0">
                <a:solidFill>
                  <a:srgbClr val="8AAF8A"/>
                </a:solidFill>
                <a:latin typeface="Cormorant Garamond" pitchFamily="34" charset="0"/>
                <a:ea typeface="Cormorant Garamond" pitchFamily="34" charset="-122"/>
                <a:cs typeface="Cormorant Garamond" pitchFamily="34" charset="-120"/>
              </a:rPr>
              <a:t>V</a:t>
            </a:r>
            <a:endParaRPr lang="en-US" sz="13000" dirty="0"/>
          </a:p>
        </p:txBody>
      </p:sp>
      <p:sp>
        <p:nvSpPr>
          <p:cNvPr id="5" name="Shape 3"/>
          <p:cNvSpPr/>
          <p:nvPr/>
        </p:nvSpPr>
        <p:spPr>
          <a:xfrm>
            <a:off x="5730088" y="3246120"/>
            <a:ext cx="731520" cy="0"/>
          </a:xfrm>
          <a:prstGeom prst="line">
            <a:avLst/>
          </a:prstGeom>
          <a:noFill/>
          <a:ln w="19050">
            <a:solidFill>
              <a:srgbClr val="8AAF8A"/>
            </a:solidFill>
            <a:prstDash val="solid"/>
          </a:ln>
        </p:spPr>
      </p:sp>
      <p:sp>
        <p:nvSpPr>
          <p:cNvPr id="6" name="Text 4"/>
          <p:cNvSpPr txBox="1"/>
          <p:nvPr/>
        </p:nvSpPr>
        <p:spPr>
          <a:xfrm>
            <a:off x="914400" y="3429000"/>
            <a:ext cx="10362895" cy="914400"/>
          </a:xfrm>
          <a:prstGeom prst="rect">
            <a:avLst/>
          </a:prstGeom>
          <a:noFill/>
          <a:ln/>
        </p:spPr>
        <p:txBody>
          <a:bodyPr wrap="square" lIns="0" tIns="0" rIns="0" bIns="0" rtlCol="0" anchor="ctr">
            <a:normAutofit/>
          </a:bodyPr>
          <a:lstStyle/>
          <a:p>
            <a:pPr algn="ctr" indent="0" marL="0">
              <a:lnSpc>
                <a:spcPct val="105000"/>
              </a:lnSpc>
              <a:buNone/>
            </a:pPr>
            <a:r>
              <a:rPr lang="en-US" sz="4800" dirty="0">
                <a:solidFill>
                  <a:srgbClr val="FFFFFF"/>
                </a:solidFill>
                <a:latin typeface="Cormorant Garamond" pitchFamily="34" charset="0"/>
                <a:ea typeface="Cormorant Garamond" pitchFamily="34" charset="-122"/>
                <a:cs typeface="Cormorant Garamond" pitchFamily="34" charset="-120"/>
              </a:rPr>
              <a:t>Value</a:t>
            </a:r>
            <a:endParaRPr lang="en-US" sz="4800" dirty="0"/>
          </a:p>
        </p:txBody>
      </p:sp>
      <p:sp>
        <p:nvSpPr>
          <p:cNvPr id="7" name="Text 5"/>
          <p:cNvSpPr txBox="1"/>
          <p:nvPr/>
        </p:nvSpPr>
        <p:spPr>
          <a:xfrm>
            <a:off x="1828800" y="4480560"/>
            <a:ext cx="8534095" cy="914400"/>
          </a:xfrm>
          <a:prstGeom prst="rect">
            <a:avLst/>
          </a:prstGeom>
          <a:noFill/>
          <a:ln/>
        </p:spPr>
        <p:txBody>
          <a:bodyPr wrap="square" lIns="0" tIns="0" rIns="0" bIns="0" rtlCol="0" anchor="t">
            <a:normAutofit/>
          </a:bodyPr>
          <a:lstStyle/>
          <a:p>
            <a:pPr algn="ctr" indent="0" marL="0">
              <a:lnSpc>
                <a:spcPct val="105000"/>
              </a:lnSpc>
              <a:buNone/>
            </a:pPr>
            <a:r>
              <a:rPr lang="en-US" sz="2400" i="1" dirty="0">
                <a:solidFill>
                  <a:srgbClr val="E1F5EE"/>
                </a:solidFill>
                <a:latin typeface="Cormorant Garamond" pitchFamily="34" charset="0"/>
                <a:ea typeface="Cormorant Garamond" pitchFamily="34" charset="-122"/>
                <a:cs typeface="Cormorant Garamond" pitchFamily="34" charset="-120"/>
              </a:rPr>
              <a:t>Learn to see your value </a:t>
            </a:r>
            <a:pPr algn="ctr" indent="0" marL="0">
              <a:lnSpc>
                <a:spcPct val="105000"/>
              </a:lnSpc>
              <a:buNone/>
            </a:pPr>
            <a:r>
              <a:rPr lang="en-US" sz="2400" b="1" i="1" dirty="0">
                <a:solidFill>
                  <a:srgbClr val="B7D3B7"/>
                </a:solidFill>
                <a:latin typeface="Cormorant Garamond" pitchFamily="34" charset="0"/>
                <a:ea typeface="Cormorant Garamond" pitchFamily="34" charset="-122"/>
                <a:cs typeface="Cormorant Garamond" pitchFamily="34" charset="-120"/>
              </a:rPr>
              <a:t>before you ask others to.</a:t>
            </a:r>
            <a:endParaRPr lang="en-US" sz="2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THE BELIEF VALUE BREAKS</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"My value is how hard I work."</a:t>
            </a:r>
            <a:endParaRPr lang="en-US" sz="30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300" dirty="0">
                <a:solidFill>
                  <a:srgbClr val="FFFFFF"/>
                </a:solidFill>
                <a:latin typeface="Cormorant Garamond" pitchFamily="34" charset="0"/>
                <a:ea typeface="Cormorant Garamond" pitchFamily="34" charset="-122"/>
                <a:cs typeface="Cormorant Garamond" pitchFamily="34" charset="-120"/>
              </a:rPr>
              <a:t>Companies pay for value. Effort alone never makes it into the comp discussion.</a:t>
            </a:r>
            <a:endParaRPr lang="en-US" sz="23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82296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VALUE</a:t>
            </a:r>
            <a:endParaRPr lang="en-US" sz="1200" dirty="0"/>
          </a:p>
        </p:txBody>
      </p:sp>
      <p:sp>
        <p:nvSpPr>
          <p:cNvPr id="3" name="Text 1"/>
          <p:cNvSpPr txBox="1"/>
          <p:nvPr/>
        </p:nvSpPr>
        <p:spPr>
          <a:xfrm>
            <a:off x="914400" y="1280160"/>
            <a:ext cx="10362895" cy="2103120"/>
          </a:xfrm>
          <a:prstGeom prst="rect">
            <a:avLst/>
          </a:prstGeom>
          <a:noFill/>
          <a:ln/>
        </p:spPr>
        <p:txBody>
          <a:bodyPr wrap="square" lIns="0" tIns="0" rIns="0" bIns="0" rtlCol="0" anchor="ctr">
            <a:normAutofit/>
          </a:bodyPr>
          <a:lstStyle/>
          <a:p>
            <a:pPr algn="ctr" indent="0" marL="0">
              <a:lnSpc>
                <a:spcPct val="105000"/>
              </a:lnSpc>
              <a:buNone/>
            </a:pPr>
            <a:r>
              <a:rPr lang="en-US" sz="13000" b="1" dirty="0">
                <a:solidFill>
                  <a:srgbClr val="5C8A64"/>
                </a:solidFill>
                <a:latin typeface="Cormorant Garamond" pitchFamily="34" charset="0"/>
                <a:ea typeface="Cormorant Garamond" pitchFamily="34" charset="-122"/>
                <a:cs typeface="Cormorant Garamond" pitchFamily="34" charset="-120"/>
              </a:rPr>
              <a:t>74%</a:t>
            </a:r>
            <a:endParaRPr lang="en-US" sz="13000" dirty="0"/>
          </a:p>
        </p:txBody>
      </p:sp>
      <p:sp>
        <p:nvSpPr>
          <p:cNvPr id="4" name="Shape 2"/>
          <p:cNvSpPr/>
          <p:nvPr/>
        </p:nvSpPr>
        <p:spPr>
          <a:xfrm>
            <a:off x="5775808" y="3611880"/>
            <a:ext cx="640080" cy="0"/>
          </a:xfrm>
          <a:prstGeom prst="line">
            <a:avLst/>
          </a:prstGeom>
          <a:noFill/>
          <a:ln w="19050">
            <a:solidFill>
              <a:srgbClr val="1E4A4A"/>
            </a:solidFill>
            <a:prstDash val="solid"/>
          </a:ln>
        </p:spPr>
      </p:sp>
      <p:sp>
        <p:nvSpPr>
          <p:cNvPr id="5" name="Text 3"/>
          <p:cNvSpPr txBox="1"/>
          <p:nvPr/>
        </p:nvSpPr>
        <p:spPr>
          <a:xfrm>
            <a:off x="1828800" y="3840480"/>
            <a:ext cx="8534095" cy="1188720"/>
          </a:xfrm>
          <a:prstGeom prst="rect">
            <a:avLst/>
          </a:prstGeom>
          <a:noFill/>
          <a:ln/>
        </p:spPr>
        <p:txBody>
          <a:bodyPr wrap="square" lIns="0" tIns="0" rIns="0" bIns="0" rtlCol="0" anchor="t">
            <a:normAutofit/>
          </a:bodyPr>
          <a:lstStyle/>
          <a:p>
            <a:pPr algn="ctr" indent="0" marL="0">
              <a:lnSpc>
                <a:spcPct val="120000"/>
              </a:lnSpc>
              <a:buNone/>
            </a:pPr>
            <a:r>
              <a:rPr lang="en-US" sz="2200" dirty="0">
                <a:solidFill>
                  <a:srgbClr val="1E4A4A"/>
                </a:solidFill>
                <a:latin typeface="DM Sans" pitchFamily="34" charset="0"/>
                <a:ea typeface="DM Sans" pitchFamily="34" charset="-122"/>
                <a:cs typeface="DM Sans" pitchFamily="34" charset="-120"/>
              </a:rPr>
              <a:t>Women who prepare are 74% more likely to earn a raise.</a:t>
            </a:r>
            <a:endParaRPr lang="en-US" sz="2200" dirty="0"/>
          </a:p>
        </p:txBody>
      </p:sp>
      <p:sp>
        <p:nvSpPr>
          <p:cNvPr id="6" name="Text 4"/>
          <p:cNvSpPr txBox="1"/>
          <p:nvPr/>
        </p:nvSpPr>
        <p:spPr>
          <a:xfrm>
            <a:off x="1828800" y="5760720"/>
            <a:ext cx="8534095" cy="365760"/>
          </a:xfrm>
          <a:prstGeom prst="rect">
            <a:avLst/>
          </a:prstGeom>
          <a:noFill/>
          <a:ln/>
        </p:spPr>
        <p:txBody>
          <a:bodyPr wrap="square" lIns="0" tIns="0" rIns="0" bIns="0" rtlCol="0" anchor="t">
            <a:normAutofit/>
          </a:bodyPr>
          <a:lstStyle/>
          <a:p>
            <a:pPr algn="ctr" indent="0" marL="0">
              <a:lnSpc>
                <a:spcPct val="105000"/>
              </a:lnSpc>
              <a:buNone/>
            </a:pPr>
            <a:r>
              <a:rPr lang="en-US" sz="1100" i="1" dirty="0">
                <a:solidFill>
                  <a:srgbClr val="5E6B68"/>
                </a:solidFill>
                <a:latin typeface="DM Sans" pitchFamily="34" charset="0"/>
                <a:ea typeface="DM Sans" pitchFamily="34" charset="-122"/>
                <a:cs typeface="DM Sans" pitchFamily="34" charset="-120"/>
              </a:rPr>
              <a:t>Source: </a:t>
            </a:r>
            <a:pPr algn="ctr" indent="0" marL="0">
              <a:lnSpc>
                <a:spcPct val="105000"/>
              </a:lnSpc>
              <a:buNone/>
            </a:pPr>
            <a:r>
              <a:rPr lang="en-US" sz="1100" b="1" dirty="0">
                <a:solidFill>
                  <a:srgbClr val="B85042"/>
                </a:solidFill>
                <a:latin typeface="DM Sans" pitchFamily="34" charset="0"/>
                <a:ea typeface="DM Sans" pitchFamily="34" charset="-122"/>
                <a:cs typeface="DM Sans" pitchFamily="34" charset="-120"/>
              </a:rPr>
              <a:t>[PLACEHOLDER: new source]</a:t>
            </a:r>
            <a:endParaRPr lang="en-US" sz="1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ASK YOURSELF</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200" dirty="0">
                <a:solidFill>
                  <a:srgbClr val="1E4A4A"/>
                </a:solidFill>
                <a:latin typeface="Cormorant Garamond" pitchFamily="34" charset="0"/>
                <a:ea typeface="Cormorant Garamond" pitchFamily="34" charset="-122"/>
                <a:cs typeface="Cormorant Garamond" pitchFamily="34" charset="-120"/>
              </a:rPr>
              <a:t>If your work had to speak for itself in a comp meeting tomorrow, </a:t>
            </a:r>
            <a:pPr algn="ctr" indent="0" marL="0">
              <a:lnSpc>
                <a:spcPct val="100000"/>
              </a:lnSpc>
              <a:buNone/>
            </a:pPr>
            <a:r>
              <a:rPr lang="en-US" sz="3200" b="1" dirty="0">
                <a:solidFill>
                  <a:srgbClr val="5C8A64"/>
                </a:solidFill>
                <a:latin typeface="Cormorant Garamond" pitchFamily="34" charset="0"/>
                <a:ea typeface="Cormorant Garamond" pitchFamily="34" charset="-122"/>
                <a:cs typeface="Cormorant Garamond" pitchFamily="34" charset="-120"/>
              </a:rPr>
              <a:t>what would it actually say?</a:t>
            </a:r>
            <a:endParaRPr lang="en-US" sz="32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 THIS LOOKS LIKE</a:t>
            </a:r>
            <a:endParaRPr lang="en-US" sz="1300" dirty="0"/>
          </a:p>
        </p:txBody>
      </p:sp>
      <p:sp>
        <p:nvSpPr>
          <p:cNvPr id="5" name="Text 3"/>
          <p:cNvSpPr txBox="1"/>
          <p:nvPr/>
        </p:nvSpPr>
        <p:spPr>
          <a:xfrm>
            <a:off x="914400" y="914400"/>
            <a:ext cx="10362895" cy="1188720"/>
          </a:xfrm>
          <a:prstGeom prst="rect">
            <a:avLst/>
          </a:prstGeom>
          <a:noFill/>
          <a:ln/>
        </p:spPr>
        <p:txBody>
          <a:bodyPr wrap="square" lIns="0" tIns="0" rIns="0" bIns="0" rtlCol="0" anchor="ctr">
            <a:normAutofit/>
          </a:bodyPr>
          <a:lstStyle/>
          <a:p>
            <a:pPr algn="ctr" indent="0" marL="0">
              <a:lnSpc>
                <a:spcPct val="105000"/>
              </a:lnSpc>
              <a:buNone/>
            </a:pPr>
            <a:r>
              <a:rPr lang="en-US" sz="3300" dirty="0">
                <a:solidFill>
                  <a:srgbClr val="1E4A4A"/>
                </a:solidFill>
                <a:latin typeface="Cormorant Garamond" pitchFamily="34" charset="0"/>
                <a:ea typeface="Cormorant Garamond" pitchFamily="34" charset="-122"/>
                <a:cs typeface="Cormorant Garamond" pitchFamily="34" charset="-120"/>
              </a:rPr>
              <a:t>She knows her value and can </a:t>
            </a:r>
            <a:pPr algn="ctr" indent="0" marL="0">
              <a:lnSpc>
                <a:spcPct val="105000"/>
              </a:lnSpc>
              <a:buNone/>
            </a:pPr>
            <a:r>
              <a:rPr lang="en-US" sz="3300" b="1" dirty="0">
                <a:solidFill>
                  <a:srgbClr val="5C8A64"/>
                </a:solidFill>
                <a:latin typeface="Cormorant Garamond" pitchFamily="34" charset="0"/>
                <a:ea typeface="Cormorant Garamond" pitchFamily="34" charset="-122"/>
                <a:cs typeface="Cormorant Garamond" pitchFamily="34" charset="-120"/>
              </a:rPr>
              <a:t>articulate it with confidence.</a:t>
            </a:r>
            <a:endParaRPr lang="en-US" sz="3300" dirty="0"/>
          </a:p>
        </p:txBody>
      </p:sp>
      <p:sp>
        <p:nvSpPr>
          <p:cNvPr id="6" name="Shape 4"/>
          <p:cNvSpPr/>
          <p:nvPr/>
        </p:nvSpPr>
        <p:spPr>
          <a:xfrm>
            <a:off x="5730088" y="2286000"/>
            <a:ext cx="731520" cy="0"/>
          </a:xfrm>
          <a:prstGeom prst="line">
            <a:avLst/>
          </a:prstGeom>
          <a:noFill/>
          <a:ln w="19050">
            <a:solidFill>
              <a:srgbClr val="8AAF8A"/>
            </a:solidFill>
            <a:prstDash val="solid"/>
          </a:ln>
        </p:spPr>
      </p:sp>
      <p:sp>
        <p:nvSpPr>
          <p:cNvPr id="7" name="Text 5"/>
          <p:cNvSpPr txBox="1"/>
          <p:nvPr/>
        </p:nvSpPr>
        <p:spPr>
          <a:xfrm>
            <a:off x="2011680" y="256032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560320" y="256032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stop apologizing for your wins</a:t>
            </a:r>
            <a:endParaRPr lang="en-US" sz="2000" dirty="0"/>
          </a:p>
        </p:txBody>
      </p:sp>
      <p:sp>
        <p:nvSpPr>
          <p:cNvPr id="9" name="Text 7"/>
          <p:cNvSpPr txBox="1"/>
          <p:nvPr/>
        </p:nvSpPr>
        <p:spPr>
          <a:xfrm>
            <a:off x="2011680" y="3401568"/>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560320" y="3401568"/>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know your market value before anyone names a number</a:t>
            </a:r>
            <a:endParaRPr lang="en-US" sz="2000" dirty="0"/>
          </a:p>
        </p:txBody>
      </p:sp>
      <p:sp>
        <p:nvSpPr>
          <p:cNvPr id="11" name="Text 9"/>
          <p:cNvSpPr txBox="1"/>
          <p:nvPr/>
        </p:nvSpPr>
        <p:spPr>
          <a:xfrm>
            <a:off x="2011680" y="4242816"/>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560320" y="4242816"/>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talk about your work in terms of results</a:t>
            </a:r>
            <a:endParaRPr lang="en-US" sz="2000" dirty="0"/>
          </a:p>
        </p:txBody>
      </p:sp>
      <p:sp>
        <p:nvSpPr>
          <p:cNvPr id="13" name="Text 11"/>
          <p:cNvSpPr txBox="1"/>
          <p:nvPr/>
        </p:nvSpPr>
        <p:spPr>
          <a:xfrm>
            <a:off x="2011680" y="5084064"/>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4" name="Text 12"/>
          <p:cNvSpPr txBox="1"/>
          <p:nvPr/>
        </p:nvSpPr>
        <p:spPr>
          <a:xfrm>
            <a:off x="2560320" y="5084064"/>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Review season stops being where you find out what you're worth</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96012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V.O.I.C.E. FRAMEWORK · PILLAR 2 OF 5</a:t>
            </a:r>
            <a:endParaRPr lang="en-US" sz="1200" dirty="0"/>
          </a:p>
        </p:txBody>
      </p:sp>
      <p:sp>
        <p:nvSpPr>
          <p:cNvPr id="4" name="Text 2"/>
          <p:cNvSpPr txBox="1"/>
          <p:nvPr/>
        </p:nvSpPr>
        <p:spPr>
          <a:xfrm>
            <a:off x="914400" y="1325880"/>
            <a:ext cx="10362895" cy="1737360"/>
          </a:xfrm>
          <a:prstGeom prst="rect">
            <a:avLst/>
          </a:prstGeom>
          <a:noFill/>
          <a:ln/>
        </p:spPr>
        <p:txBody>
          <a:bodyPr wrap="square" lIns="0" tIns="0" rIns="0" bIns="0" rtlCol="0" anchor="ctr">
            <a:normAutofit/>
          </a:bodyPr>
          <a:lstStyle/>
          <a:p>
            <a:pPr algn="ctr" indent="0" marL="0">
              <a:lnSpc>
                <a:spcPct val="105000"/>
              </a:lnSpc>
              <a:buNone/>
            </a:pPr>
            <a:r>
              <a:rPr lang="en-US" sz="13000" dirty="0">
                <a:solidFill>
                  <a:srgbClr val="8AAF8A"/>
                </a:solidFill>
                <a:latin typeface="Cormorant Garamond" pitchFamily="34" charset="0"/>
                <a:ea typeface="Cormorant Garamond" pitchFamily="34" charset="-122"/>
                <a:cs typeface="Cormorant Garamond" pitchFamily="34" charset="-120"/>
              </a:rPr>
              <a:t>O</a:t>
            </a:r>
            <a:endParaRPr lang="en-US" sz="13000" dirty="0"/>
          </a:p>
        </p:txBody>
      </p:sp>
      <p:sp>
        <p:nvSpPr>
          <p:cNvPr id="5" name="Shape 3"/>
          <p:cNvSpPr/>
          <p:nvPr/>
        </p:nvSpPr>
        <p:spPr>
          <a:xfrm>
            <a:off x="5730088" y="3246120"/>
            <a:ext cx="731520" cy="0"/>
          </a:xfrm>
          <a:prstGeom prst="line">
            <a:avLst/>
          </a:prstGeom>
          <a:noFill/>
          <a:ln w="19050">
            <a:solidFill>
              <a:srgbClr val="8AAF8A"/>
            </a:solidFill>
            <a:prstDash val="solid"/>
          </a:ln>
        </p:spPr>
      </p:sp>
      <p:sp>
        <p:nvSpPr>
          <p:cNvPr id="6" name="Text 4"/>
          <p:cNvSpPr txBox="1"/>
          <p:nvPr/>
        </p:nvSpPr>
        <p:spPr>
          <a:xfrm>
            <a:off x="914400" y="3429000"/>
            <a:ext cx="10362895" cy="914400"/>
          </a:xfrm>
          <a:prstGeom prst="rect">
            <a:avLst/>
          </a:prstGeom>
          <a:noFill/>
          <a:ln/>
        </p:spPr>
        <p:txBody>
          <a:bodyPr wrap="square" lIns="0" tIns="0" rIns="0" bIns="0" rtlCol="0" anchor="ctr">
            <a:normAutofit/>
          </a:bodyPr>
          <a:lstStyle/>
          <a:p>
            <a:pPr algn="ctr" indent="0" marL="0">
              <a:lnSpc>
                <a:spcPct val="105000"/>
              </a:lnSpc>
              <a:buNone/>
            </a:pPr>
            <a:r>
              <a:rPr lang="en-US" sz="4800" dirty="0">
                <a:solidFill>
                  <a:srgbClr val="FFFFFF"/>
                </a:solidFill>
                <a:latin typeface="Cormorant Garamond" pitchFamily="34" charset="0"/>
                <a:ea typeface="Cormorant Garamond" pitchFamily="34" charset="-122"/>
                <a:cs typeface="Cormorant Garamond" pitchFamily="34" charset="-120"/>
              </a:rPr>
              <a:t>Ownership</a:t>
            </a:r>
            <a:endParaRPr lang="en-US" sz="4800" dirty="0"/>
          </a:p>
        </p:txBody>
      </p:sp>
      <p:sp>
        <p:nvSpPr>
          <p:cNvPr id="7" name="Text 5"/>
          <p:cNvSpPr txBox="1"/>
          <p:nvPr/>
        </p:nvSpPr>
        <p:spPr>
          <a:xfrm>
            <a:off x="1828800" y="4480560"/>
            <a:ext cx="8534095" cy="914400"/>
          </a:xfrm>
          <a:prstGeom prst="rect">
            <a:avLst/>
          </a:prstGeom>
          <a:noFill/>
          <a:ln/>
        </p:spPr>
        <p:txBody>
          <a:bodyPr wrap="square" lIns="0" tIns="0" rIns="0" bIns="0" rtlCol="0" anchor="t">
            <a:normAutofit/>
          </a:bodyPr>
          <a:lstStyle/>
          <a:p>
            <a:pPr algn="ctr" indent="0" marL="0">
              <a:lnSpc>
                <a:spcPct val="105000"/>
              </a:lnSpc>
              <a:buNone/>
            </a:pPr>
            <a:r>
              <a:rPr lang="en-US" sz="2400" i="1" dirty="0">
                <a:solidFill>
                  <a:srgbClr val="E1F5EE"/>
                </a:solidFill>
                <a:latin typeface="Cormorant Garamond" pitchFamily="34" charset="0"/>
                <a:ea typeface="Cormorant Garamond" pitchFamily="34" charset="-122"/>
                <a:cs typeface="Cormorant Garamond" pitchFamily="34" charset="-120"/>
              </a:rPr>
              <a:t>If you want a bigger job, </a:t>
            </a:r>
            <a:pPr algn="ctr" indent="0" marL="0">
              <a:lnSpc>
                <a:spcPct val="105000"/>
              </a:lnSpc>
              <a:buNone/>
            </a:pPr>
            <a:r>
              <a:rPr lang="en-US" sz="2400" b="1" i="1" dirty="0">
                <a:solidFill>
                  <a:srgbClr val="B7D3B7"/>
                </a:solidFill>
                <a:latin typeface="Cormorant Garamond" pitchFamily="34" charset="0"/>
                <a:ea typeface="Cormorant Garamond" pitchFamily="34" charset="-122"/>
                <a:cs typeface="Cormorant Garamond" pitchFamily="34" charset="-120"/>
              </a:rPr>
              <a:t>make your job bigger.</a:t>
            </a:r>
            <a:endParaRPr lang="en-US" sz="2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THE BELIEF OWNERSHIP BREAKS</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"If I do great work, someone will notice and promote me."</a:t>
            </a:r>
            <a:endParaRPr lang="en-US" sz="26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300" dirty="0">
                <a:solidFill>
                  <a:srgbClr val="FFFFFF"/>
                </a:solidFill>
                <a:latin typeface="Cormorant Garamond" pitchFamily="34" charset="0"/>
                <a:ea typeface="Cormorant Garamond" pitchFamily="34" charset="-122"/>
                <a:cs typeface="Cormorant Garamond" pitchFamily="34" charset="-120"/>
              </a:rPr>
              <a:t>Nobody is coming to hand it to you. You're the CEO of your career.</a:t>
            </a:r>
            <a:endParaRPr lang="en-US" sz="23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ASK YOURSELF</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700" dirty="0">
                <a:solidFill>
                  <a:srgbClr val="1E4A4A"/>
                </a:solidFill>
                <a:latin typeface="Cormorant Garamond" pitchFamily="34" charset="0"/>
                <a:ea typeface="Cormorant Garamond" pitchFamily="34" charset="-122"/>
                <a:cs typeface="Cormorant Garamond" pitchFamily="34" charset="-120"/>
              </a:rPr>
              <a:t>Where in your career are you still </a:t>
            </a:r>
            <a:pPr algn="ctr" indent="0" marL="0">
              <a:lnSpc>
                <a:spcPct val="100000"/>
              </a:lnSpc>
              <a:buNone/>
            </a:pPr>
            <a:r>
              <a:rPr lang="en-US" sz="3700" b="1" dirty="0">
                <a:solidFill>
                  <a:srgbClr val="5C8A64"/>
                </a:solidFill>
                <a:latin typeface="Cormorant Garamond" pitchFamily="34" charset="0"/>
                <a:ea typeface="Cormorant Garamond" pitchFamily="34" charset="-122"/>
                <a:cs typeface="Cormorant Garamond" pitchFamily="34" charset="-120"/>
              </a:rPr>
              <a:t>waiting to be chosen?</a:t>
            </a:r>
            <a:endParaRPr lang="en-US" sz="3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 THIS LOOKS LIKE</a:t>
            </a:r>
            <a:endParaRPr lang="en-US" sz="1300" dirty="0"/>
          </a:p>
        </p:txBody>
      </p:sp>
      <p:sp>
        <p:nvSpPr>
          <p:cNvPr id="5" name="Text 3"/>
          <p:cNvSpPr txBox="1"/>
          <p:nvPr/>
        </p:nvSpPr>
        <p:spPr>
          <a:xfrm>
            <a:off x="914400" y="914400"/>
            <a:ext cx="10362895" cy="1188720"/>
          </a:xfrm>
          <a:prstGeom prst="rect">
            <a:avLst/>
          </a:prstGeom>
          <a:noFill/>
          <a:ln/>
        </p:spPr>
        <p:txBody>
          <a:bodyPr wrap="square" lIns="0" tIns="0" rIns="0" bIns="0" rtlCol="0" anchor="ctr">
            <a:normAutofit/>
          </a:bodyPr>
          <a:lstStyle/>
          <a:p>
            <a:pPr algn="ctr" indent="0" marL="0">
              <a:lnSpc>
                <a:spcPct val="105000"/>
              </a:lnSpc>
              <a:buNone/>
            </a:pPr>
            <a:r>
              <a:rPr lang="en-US" sz="3300" dirty="0">
                <a:solidFill>
                  <a:srgbClr val="1E4A4A"/>
                </a:solidFill>
                <a:latin typeface="Cormorant Garamond" pitchFamily="34" charset="0"/>
                <a:ea typeface="Cormorant Garamond" pitchFamily="34" charset="-122"/>
                <a:cs typeface="Cormorant Garamond" pitchFamily="34" charset="-120"/>
              </a:rPr>
              <a:t>She stops waiting to be chosen and </a:t>
            </a:r>
            <a:pPr algn="ctr" indent="0" marL="0">
              <a:lnSpc>
                <a:spcPct val="105000"/>
              </a:lnSpc>
              <a:buNone/>
            </a:pPr>
            <a:r>
              <a:rPr lang="en-US" sz="3300" b="1" dirty="0">
                <a:solidFill>
                  <a:srgbClr val="5C8A64"/>
                </a:solidFill>
                <a:latin typeface="Cormorant Garamond" pitchFamily="34" charset="0"/>
                <a:ea typeface="Cormorant Garamond" pitchFamily="34" charset="-122"/>
                <a:cs typeface="Cormorant Garamond" pitchFamily="34" charset="-120"/>
              </a:rPr>
              <a:t>starts choosing herself.</a:t>
            </a:r>
            <a:endParaRPr lang="en-US" sz="3300" dirty="0"/>
          </a:p>
        </p:txBody>
      </p:sp>
      <p:sp>
        <p:nvSpPr>
          <p:cNvPr id="6" name="Shape 4"/>
          <p:cNvSpPr/>
          <p:nvPr/>
        </p:nvSpPr>
        <p:spPr>
          <a:xfrm>
            <a:off x="5730088" y="2286000"/>
            <a:ext cx="731520" cy="0"/>
          </a:xfrm>
          <a:prstGeom prst="line">
            <a:avLst/>
          </a:prstGeom>
          <a:noFill/>
          <a:ln w="19050">
            <a:solidFill>
              <a:srgbClr val="8AAF8A"/>
            </a:solidFill>
            <a:prstDash val="solid"/>
          </a:ln>
        </p:spPr>
      </p:sp>
      <p:sp>
        <p:nvSpPr>
          <p:cNvPr id="7" name="Text 5"/>
          <p:cNvSpPr txBox="1"/>
          <p:nvPr/>
        </p:nvSpPr>
        <p:spPr>
          <a:xfrm>
            <a:off x="2011680" y="256032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560320" y="256032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create opportunities instead of applying for them</a:t>
            </a:r>
            <a:endParaRPr lang="en-US" sz="2000" dirty="0"/>
          </a:p>
        </p:txBody>
      </p:sp>
      <p:sp>
        <p:nvSpPr>
          <p:cNvPr id="9" name="Text 7"/>
          <p:cNvSpPr txBox="1"/>
          <p:nvPr/>
        </p:nvSpPr>
        <p:spPr>
          <a:xfrm>
            <a:off x="2011680" y="3401568"/>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560320" y="3401568"/>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stop waiting for the annual review to raise your hand</a:t>
            </a:r>
            <a:endParaRPr lang="en-US" sz="2000" dirty="0"/>
          </a:p>
        </p:txBody>
      </p:sp>
      <p:sp>
        <p:nvSpPr>
          <p:cNvPr id="11" name="Text 9"/>
          <p:cNvSpPr txBox="1"/>
          <p:nvPr/>
        </p:nvSpPr>
        <p:spPr>
          <a:xfrm>
            <a:off x="2011680" y="4242816"/>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560320" y="4242816"/>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Your influence grows past your job description</a:t>
            </a:r>
            <a:endParaRPr lang="en-US" sz="2000" dirty="0"/>
          </a:p>
        </p:txBody>
      </p:sp>
      <p:sp>
        <p:nvSpPr>
          <p:cNvPr id="13" name="Text 11"/>
          <p:cNvSpPr txBox="1"/>
          <p:nvPr/>
        </p:nvSpPr>
        <p:spPr>
          <a:xfrm>
            <a:off x="2011680" y="5084064"/>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4" name="Text 12"/>
          <p:cNvSpPr txBox="1"/>
          <p:nvPr/>
        </p:nvSpPr>
        <p:spPr>
          <a:xfrm>
            <a:off x="2560320" y="5084064"/>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decide where your career goes next</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96012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V.O.I.C.E. FRAMEWORK · PILLAR 3 OF 5</a:t>
            </a:r>
            <a:endParaRPr lang="en-US" sz="1200" dirty="0"/>
          </a:p>
        </p:txBody>
      </p:sp>
      <p:sp>
        <p:nvSpPr>
          <p:cNvPr id="4" name="Text 2"/>
          <p:cNvSpPr txBox="1"/>
          <p:nvPr/>
        </p:nvSpPr>
        <p:spPr>
          <a:xfrm>
            <a:off x="914400" y="1325880"/>
            <a:ext cx="10362895" cy="1737360"/>
          </a:xfrm>
          <a:prstGeom prst="rect">
            <a:avLst/>
          </a:prstGeom>
          <a:noFill/>
          <a:ln/>
        </p:spPr>
        <p:txBody>
          <a:bodyPr wrap="square" lIns="0" tIns="0" rIns="0" bIns="0" rtlCol="0" anchor="ctr">
            <a:normAutofit/>
          </a:bodyPr>
          <a:lstStyle/>
          <a:p>
            <a:pPr algn="ctr" indent="0" marL="0">
              <a:lnSpc>
                <a:spcPct val="105000"/>
              </a:lnSpc>
              <a:buNone/>
            </a:pPr>
            <a:r>
              <a:rPr lang="en-US" sz="13000" dirty="0">
                <a:solidFill>
                  <a:srgbClr val="8AAF8A"/>
                </a:solidFill>
                <a:latin typeface="Cormorant Garamond" pitchFamily="34" charset="0"/>
                <a:ea typeface="Cormorant Garamond" pitchFamily="34" charset="-122"/>
                <a:cs typeface="Cormorant Garamond" pitchFamily="34" charset="-120"/>
              </a:rPr>
              <a:t>I</a:t>
            </a:r>
            <a:endParaRPr lang="en-US" sz="13000" dirty="0"/>
          </a:p>
        </p:txBody>
      </p:sp>
      <p:sp>
        <p:nvSpPr>
          <p:cNvPr id="5" name="Shape 3"/>
          <p:cNvSpPr/>
          <p:nvPr/>
        </p:nvSpPr>
        <p:spPr>
          <a:xfrm>
            <a:off x="5730088" y="3246120"/>
            <a:ext cx="731520" cy="0"/>
          </a:xfrm>
          <a:prstGeom prst="line">
            <a:avLst/>
          </a:prstGeom>
          <a:noFill/>
          <a:ln w="19050">
            <a:solidFill>
              <a:srgbClr val="8AAF8A"/>
            </a:solidFill>
            <a:prstDash val="solid"/>
          </a:ln>
        </p:spPr>
      </p:sp>
      <p:sp>
        <p:nvSpPr>
          <p:cNvPr id="6" name="Text 4"/>
          <p:cNvSpPr txBox="1"/>
          <p:nvPr/>
        </p:nvSpPr>
        <p:spPr>
          <a:xfrm>
            <a:off x="914400" y="3429000"/>
            <a:ext cx="10362895" cy="914400"/>
          </a:xfrm>
          <a:prstGeom prst="rect">
            <a:avLst/>
          </a:prstGeom>
          <a:noFill/>
          <a:ln/>
        </p:spPr>
        <p:txBody>
          <a:bodyPr wrap="square" lIns="0" tIns="0" rIns="0" bIns="0" rtlCol="0" anchor="ctr">
            <a:normAutofit/>
          </a:bodyPr>
          <a:lstStyle/>
          <a:p>
            <a:pPr algn="ctr" indent="0" marL="0">
              <a:lnSpc>
                <a:spcPct val="105000"/>
              </a:lnSpc>
              <a:buNone/>
            </a:pPr>
            <a:r>
              <a:rPr lang="en-US" sz="4800" dirty="0">
                <a:solidFill>
                  <a:srgbClr val="FFFFFF"/>
                </a:solidFill>
                <a:latin typeface="Cormorant Garamond" pitchFamily="34" charset="0"/>
                <a:ea typeface="Cormorant Garamond" pitchFamily="34" charset="-122"/>
                <a:cs typeface="Cormorant Garamond" pitchFamily="34" charset="-120"/>
              </a:rPr>
              <a:t>Identity</a:t>
            </a:r>
            <a:endParaRPr lang="en-US" sz="4800" dirty="0"/>
          </a:p>
        </p:txBody>
      </p:sp>
      <p:sp>
        <p:nvSpPr>
          <p:cNvPr id="7" name="Text 5"/>
          <p:cNvSpPr txBox="1"/>
          <p:nvPr/>
        </p:nvSpPr>
        <p:spPr>
          <a:xfrm>
            <a:off x="1828800" y="4480560"/>
            <a:ext cx="8534095" cy="914400"/>
          </a:xfrm>
          <a:prstGeom prst="rect">
            <a:avLst/>
          </a:prstGeom>
          <a:noFill/>
          <a:ln/>
        </p:spPr>
        <p:txBody>
          <a:bodyPr wrap="square" lIns="0" tIns="0" rIns="0" bIns="0" rtlCol="0" anchor="t">
            <a:normAutofit/>
          </a:bodyPr>
          <a:lstStyle/>
          <a:p>
            <a:pPr algn="ctr" indent="0" marL="0">
              <a:lnSpc>
                <a:spcPct val="105000"/>
              </a:lnSpc>
              <a:buNone/>
            </a:pPr>
            <a:r>
              <a:rPr lang="en-US" sz="2400" i="1" dirty="0">
                <a:solidFill>
                  <a:srgbClr val="E1F5EE"/>
                </a:solidFill>
                <a:latin typeface="Cormorant Garamond" pitchFamily="34" charset="0"/>
                <a:ea typeface="Cormorant Garamond" pitchFamily="34" charset="-122"/>
                <a:cs typeface="Cormorant Garamond" pitchFamily="34" charset="-120"/>
              </a:rPr>
              <a:t>Become </a:t>
            </a:r>
            <a:pPr algn="ctr" indent="0" marL="0">
              <a:lnSpc>
                <a:spcPct val="105000"/>
              </a:lnSpc>
              <a:buNone/>
            </a:pPr>
            <a:r>
              <a:rPr lang="en-US" sz="2400" b="1" i="1" dirty="0">
                <a:solidFill>
                  <a:srgbClr val="B7D3B7"/>
                </a:solidFill>
                <a:latin typeface="Cormorant Garamond" pitchFamily="34" charset="0"/>
                <a:ea typeface="Cormorant Garamond" pitchFamily="34" charset="-122"/>
                <a:cs typeface="Cormorant Garamond" pitchFamily="34" charset="-120"/>
              </a:rPr>
              <a:t>the woman first.</a:t>
            </a:r>
            <a:endParaRPr lang="en-US" sz="2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YOUR IDENTITY DRIVES YOUR BEHAVIOR</a:t>
            </a:r>
            <a:endParaRPr lang="en-US" sz="1300" dirty="0"/>
          </a:p>
        </p:txBody>
      </p:sp>
      <p:sp>
        <p:nvSpPr>
          <p:cNvPr id="5" name="Text 3"/>
          <p:cNvSpPr txBox="1"/>
          <p:nvPr/>
        </p:nvSpPr>
        <p:spPr>
          <a:xfrm>
            <a:off x="975208" y="914400"/>
            <a:ext cx="4937760"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WHEN SHE PLAYS SMALL</a:t>
            </a:r>
            <a:endParaRPr lang="en-US" sz="1200" dirty="0"/>
          </a:p>
        </p:txBody>
      </p:sp>
      <p:sp>
        <p:nvSpPr>
          <p:cNvPr id="6" name="Text 4"/>
          <p:cNvSpPr txBox="1"/>
          <p:nvPr/>
        </p:nvSpPr>
        <p:spPr>
          <a:xfrm>
            <a:off x="6278728" y="914400"/>
            <a:ext cx="4937760"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WHEN SHE KNOWS HER VALUE</a:t>
            </a:r>
            <a:endParaRPr lang="en-US" sz="1200" dirty="0"/>
          </a:p>
        </p:txBody>
      </p:sp>
      <p:sp>
        <p:nvSpPr>
          <p:cNvPr id="7" name="Shape 5"/>
          <p:cNvSpPr/>
          <p:nvPr/>
        </p:nvSpPr>
        <p:spPr>
          <a:xfrm>
            <a:off x="975208" y="1371600"/>
            <a:ext cx="4937760" cy="1325880"/>
          </a:xfrm>
          <a:prstGeom prst="rect">
            <a:avLst/>
          </a:prstGeom>
          <a:solidFill>
            <a:srgbClr val="FFFFFF"/>
          </a:solidFill>
          <a:ln w="12700">
            <a:solidFill>
              <a:srgbClr val="D9D2C5"/>
            </a:solidFill>
            <a:prstDash val="solid"/>
          </a:ln>
        </p:spPr>
      </p:sp>
      <p:sp>
        <p:nvSpPr>
          <p:cNvPr id="8" name="Shape 6"/>
          <p:cNvSpPr/>
          <p:nvPr/>
        </p:nvSpPr>
        <p:spPr>
          <a:xfrm>
            <a:off x="6278728" y="1371600"/>
            <a:ext cx="4937760" cy="1325880"/>
          </a:xfrm>
          <a:prstGeom prst="rect">
            <a:avLst/>
          </a:prstGeom>
          <a:solidFill>
            <a:srgbClr val="1E4A4A"/>
          </a:solidFill>
          <a:ln w="12700">
            <a:solidFill>
              <a:srgbClr val="1E4A4A"/>
            </a:solidFill>
            <a:prstDash val="solid"/>
          </a:ln>
        </p:spPr>
      </p:sp>
      <p:sp>
        <p:nvSpPr>
          <p:cNvPr id="9" name="Text 7"/>
          <p:cNvSpPr txBox="1"/>
          <p:nvPr/>
        </p:nvSpPr>
        <p:spPr>
          <a:xfrm>
            <a:off x="1295248" y="1371600"/>
            <a:ext cx="4297680" cy="1325880"/>
          </a:xfrm>
          <a:prstGeom prst="rect">
            <a:avLst/>
          </a:prstGeom>
          <a:noFill/>
          <a:ln/>
        </p:spPr>
        <p:txBody>
          <a:bodyPr wrap="square" lIns="0" tIns="0" rIns="0" bIns="0" rtlCol="0" anchor="ctr">
            <a:normAutofit/>
          </a:bodyPr>
          <a:lstStyle/>
          <a:p>
            <a:pPr algn="ctr" indent="0" marL="0">
              <a:lnSpc>
                <a:spcPct val="105000"/>
              </a:lnSpc>
              <a:buNone/>
            </a:pPr>
            <a:r>
              <a:rPr lang="en-US" sz="2200" dirty="0">
                <a:solidFill>
                  <a:srgbClr val="1E4A4A"/>
                </a:solidFill>
                <a:latin typeface="Cormorant Garamond" pitchFamily="34" charset="0"/>
                <a:ea typeface="Cormorant Garamond" pitchFamily="34" charset="-122"/>
                <a:cs typeface="Cormorant Garamond" pitchFamily="34" charset="-120"/>
              </a:rPr>
              <a:t>She sees herself as lucky to be here, and negotiates like it</a:t>
            </a:r>
            <a:endParaRPr lang="en-US" sz="2200" dirty="0"/>
          </a:p>
        </p:txBody>
      </p:sp>
      <p:sp>
        <p:nvSpPr>
          <p:cNvPr id="10" name="Text 8"/>
          <p:cNvSpPr txBox="1"/>
          <p:nvPr/>
        </p:nvSpPr>
        <p:spPr>
          <a:xfrm>
            <a:off x="6598768" y="1371600"/>
            <a:ext cx="4297680" cy="1325880"/>
          </a:xfrm>
          <a:prstGeom prst="rect">
            <a:avLst/>
          </a:prstGeom>
          <a:noFill/>
          <a:ln/>
        </p:spPr>
        <p:txBody>
          <a:bodyPr wrap="square" lIns="0" tIns="0" rIns="0" bIns="0" rtlCol="0" anchor="ctr">
            <a:normAutofit/>
          </a:bodyPr>
          <a:lstStyle/>
          <a:p>
            <a:pPr algn="ctr" indent="0" marL="0">
              <a:lnSpc>
                <a:spcPct val="105000"/>
              </a:lnSpc>
              <a:buNone/>
            </a:pPr>
            <a:r>
              <a:rPr lang="en-US" sz="2200" dirty="0">
                <a:solidFill>
                  <a:srgbClr val="FFFFFF"/>
                </a:solidFill>
                <a:latin typeface="Cormorant Garamond" pitchFamily="34" charset="0"/>
                <a:ea typeface="Cormorant Garamond" pitchFamily="34" charset="-122"/>
                <a:cs typeface="Cormorant Garamond" pitchFamily="34" charset="-120"/>
              </a:rPr>
              <a:t>She sees herself as an asset, and negotiates like one</a:t>
            </a:r>
            <a:endParaRPr lang="en-US" sz="2200" dirty="0"/>
          </a:p>
        </p:txBody>
      </p:sp>
      <p:sp>
        <p:nvSpPr>
          <p:cNvPr id="11" name="Shape 9"/>
          <p:cNvSpPr/>
          <p:nvPr/>
        </p:nvSpPr>
        <p:spPr>
          <a:xfrm>
            <a:off x="975208" y="2880360"/>
            <a:ext cx="4937760" cy="1325880"/>
          </a:xfrm>
          <a:prstGeom prst="rect">
            <a:avLst/>
          </a:prstGeom>
          <a:solidFill>
            <a:srgbClr val="FFFFFF"/>
          </a:solidFill>
          <a:ln w="12700">
            <a:solidFill>
              <a:srgbClr val="D9D2C5"/>
            </a:solidFill>
            <a:prstDash val="solid"/>
          </a:ln>
        </p:spPr>
      </p:sp>
      <p:sp>
        <p:nvSpPr>
          <p:cNvPr id="12" name="Shape 10"/>
          <p:cNvSpPr/>
          <p:nvPr/>
        </p:nvSpPr>
        <p:spPr>
          <a:xfrm>
            <a:off x="6278728" y="2880360"/>
            <a:ext cx="4937760" cy="1325880"/>
          </a:xfrm>
          <a:prstGeom prst="rect">
            <a:avLst/>
          </a:prstGeom>
          <a:solidFill>
            <a:srgbClr val="1E4A4A"/>
          </a:solidFill>
          <a:ln w="12700">
            <a:solidFill>
              <a:srgbClr val="1E4A4A"/>
            </a:solidFill>
            <a:prstDash val="solid"/>
          </a:ln>
        </p:spPr>
      </p:sp>
      <p:sp>
        <p:nvSpPr>
          <p:cNvPr id="13" name="Text 11"/>
          <p:cNvSpPr txBox="1"/>
          <p:nvPr/>
        </p:nvSpPr>
        <p:spPr>
          <a:xfrm>
            <a:off x="1295248" y="2880360"/>
            <a:ext cx="4297680" cy="1325880"/>
          </a:xfrm>
          <a:prstGeom prst="rect">
            <a:avLst/>
          </a:prstGeom>
          <a:noFill/>
          <a:ln/>
        </p:spPr>
        <p:txBody>
          <a:bodyPr wrap="square" lIns="0" tIns="0" rIns="0" bIns="0" rtlCol="0" anchor="ctr">
            <a:normAutofit/>
          </a:bodyPr>
          <a:lstStyle/>
          <a:p>
            <a:pPr algn="ctr" indent="0" marL="0">
              <a:lnSpc>
                <a:spcPct val="105000"/>
              </a:lnSpc>
              <a:buNone/>
            </a:pPr>
            <a:r>
              <a:rPr lang="en-US" sz="2200" dirty="0">
                <a:solidFill>
                  <a:srgbClr val="1E4A4A"/>
                </a:solidFill>
                <a:latin typeface="Cormorant Garamond" pitchFamily="34" charset="0"/>
                <a:ea typeface="Cormorant Garamond" pitchFamily="34" charset="-122"/>
                <a:cs typeface="Cormorant Garamond" pitchFamily="34" charset="-120"/>
              </a:rPr>
              <a:t>She fears rejection, so she hints and hopes</a:t>
            </a:r>
            <a:endParaRPr lang="en-US" sz="2200" dirty="0"/>
          </a:p>
        </p:txBody>
      </p:sp>
      <p:sp>
        <p:nvSpPr>
          <p:cNvPr id="14" name="Text 12"/>
          <p:cNvSpPr txBox="1"/>
          <p:nvPr/>
        </p:nvSpPr>
        <p:spPr>
          <a:xfrm>
            <a:off x="6598768" y="2880360"/>
            <a:ext cx="4297680" cy="1325880"/>
          </a:xfrm>
          <a:prstGeom prst="rect">
            <a:avLst/>
          </a:prstGeom>
          <a:noFill/>
          <a:ln/>
        </p:spPr>
        <p:txBody>
          <a:bodyPr wrap="square" lIns="0" tIns="0" rIns="0" bIns="0" rtlCol="0" anchor="ctr">
            <a:normAutofit/>
          </a:bodyPr>
          <a:lstStyle/>
          <a:p>
            <a:pPr algn="ctr" indent="0" marL="0">
              <a:lnSpc>
                <a:spcPct val="105000"/>
              </a:lnSpc>
              <a:buNone/>
            </a:pPr>
            <a:r>
              <a:rPr lang="en-US" sz="2200" dirty="0">
                <a:solidFill>
                  <a:srgbClr val="FFFFFF"/>
                </a:solidFill>
                <a:latin typeface="Cormorant Garamond" pitchFamily="34" charset="0"/>
                <a:ea typeface="Cormorant Garamond" pitchFamily="34" charset="-122"/>
                <a:cs typeface="Cormorant Garamond" pitchFamily="34" charset="-120"/>
              </a:rPr>
              <a:t>She knows her power, so she asks clearly</a:t>
            </a:r>
            <a:endParaRPr lang="en-US" sz="2200" dirty="0"/>
          </a:p>
        </p:txBody>
      </p:sp>
      <p:sp>
        <p:nvSpPr>
          <p:cNvPr id="15" name="Shape 13"/>
          <p:cNvSpPr/>
          <p:nvPr/>
        </p:nvSpPr>
        <p:spPr>
          <a:xfrm>
            <a:off x="975208" y="4389120"/>
            <a:ext cx="4937760" cy="1325880"/>
          </a:xfrm>
          <a:prstGeom prst="rect">
            <a:avLst/>
          </a:prstGeom>
          <a:solidFill>
            <a:srgbClr val="FFFFFF"/>
          </a:solidFill>
          <a:ln w="12700">
            <a:solidFill>
              <a:srgbClr val="D9D2C5"/>
            </a:solidFill>
            <a:prstDash val="solid"/>
          </a:ln>
        </p:spPr>
      </p:sp>
      <p:sp>
        <p:nvSpPr>
          <p:cNvPr id="16" name="Shape 14"/>
          <p:cNvSpPr/>
          <p:nvPr/>
        </p:nvSpPr>
        <p:spPr>
          <a:xfrm>
            <a:off x="6278728" y="4389120"/>
            <a:ext cx="4937760" cy="1325880"/>
          </a:xfrm>
          <a:prstGeom prst="rect">
            <a:avLst/>
          </a:prstGeom>
          <a:solidFill>
            <a:srgbClr val="1E4A4A"/>
          </a:solidFill>
          <a:ln w="12700">
            <a:solidFill>
              <a:srgbClr val="1E4A4A"/>
            </a:solidFill>
            <a:prstDash val="solid"/>
          </a:ln>
        </p:spPr>
      </p:sp>
      <p:sp>
        <p:nvSpPr>
          <p:cNvPr id="17" name="Text 15"/>
          <p:cNvSpPr txBox="1"/>
          <p:nvPr/>
        </p:nvSpPr>
        <p:spPr>
          <a:xfrm>
            <a:off x="1295248" y="4389120"/>
            <a:ext cx="4297680" cy="1325880"/>
          </a:xfrm>
          <a:prstGeom prst="rect">
            <a:avLst/>
          </a:prstGeom>
          <a:noFill/>
          <a:ln/>
        </p:spPr>
        <p:txBody>
          <a:bodyPr wrap="square" lIns="0" tIns="0" rIns="0" bIns="0" rtlCol="0" anchor="ctr">
            <a:normAutofit/>
          </a:bodyPr>
          <a:lstStyle/>
          <a:p>
            <a:pPr algn="ctr" indent="0" marL="0">
              <a:lnSpc>
                <a:spcPct val="105000"/>
              </a:lnSpc>
              <a:buNone/>
            </a:pPr>
            <a:r>
              <a:rPr lang="en-US" sz="2200" dirty="0">
                <a:solidFill>
                  <a:srgbClr val="1E4A4A"/>
                </a:solidFill>
                <a:latin typeface="Cormorant Garamond" pitchFamily="34" charset="0"/>
                <a:ea typeface="Cormorant Garamond" pitchFamily="34" charset="-122"/>
                <a:cs typeface="Cormorant Garamond" pitchFamily="34" charset="-120"/>
              </a:rPr>
              <a:t>She believes her value must be earned, so she overdelivers and stays underpaid</a:t>
            </a:r>
            <a:endParaRPr lang="en-US" sz="2200" dirty="0"/>
          </a:p>
        </p:txBody>
      </p:sp>
      <p:sp>
        <p:nvSpPr>
          <p:cNvPr id="18" name="Text 16"/>
          <p:cNvSpPr txBox="1"/>
          <p:nvPr/>
        </p:nvSpPr>
        <p:spPr>
          <a:xfrm>
            <a:off x="6598768" y="4389120"/>
            <a:ext cx="4297680" cy="1325880"/>
          </a:xfrm>
          <a:prstGeom prst="rect">
            <a:avLst/>
          </a:prstGeom>
          <a:noFill/>
          <a:ln/>
        </p:spPr>
        <p:txBody>
          <a:bodyPr wrap="square" lIns="0" tIns="0" rIns="0" bIns="0" rtlCol="0" anchor="ctr">
            <a:normAutofit/>
          </a:bodyPr>
          <a:lstStyle/>
          <a:p>
            <a:pPr algn="ctr" indent="0" marL="0">
              <a:lnSpc>
                <a:spcPct val="105000"/>
              </a:lnSpc>
              <a:buNone/>
            </a:pPr>
            <a:r>
              <a:rPr lang="en-US" sz="2200" dirty="0">
                <a:solidFill>
                  <a:srgbClr val="FFFFFF"/>
                </a:solidFill>
                <a:latin typeface="Cormorant Garamond" pitchFamily="34" charset="0"/>
                <a:ea typeface="Cormorant Garamond" pitchFamily="34" charset="-122"/>
                <a:cs typeface="Cormorant Garamond" pitchFamily="34" charset="-120"/>
              </a:rPr>
              <a:t>She walks in expecting to be paid for the value she creates</a:t>
            </a:r>
            <a:endParaRPr lang="en-US" sz="22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PEOPLE RARELY OUTPERFORM THEIR IDENTITY</a:t>
            </a:r>
            <a:endParaRPr lang="en-US" sz="1300" dirty="0"/>
          </a:p>
        </p:txBody>
      </p:sp>
      <p:sp>
        <p:nvSpPr>
          <p:cNvPr id="5" name="Text 3"/>
          <p:cNvSpPr txBox="1"/>
          <p:nvPr/>
        </p:nvSpPr>
        <p:spPr>
          <a:xfrm>
            <a:off x="548640" y="1234440"/>
            <a:ext cx="5486400" cy="685800"/>
          </a:xfrm>
          <a:prstGeom prst="rect">
            <a:avLst/>
          </a:prstGeom>
          <a:noFill/>
          <a:ln/>
        </p:spPr>
        <p:txBody>
          <a:bodyPr wrap="square" lIns="0" tIns="0" rIns="0" bIns="0" rtlCol="0" anchor="ctr">
            <a:normAutofit/>
          </a:bodyPr>
          <a:lstStyle/>
          <a:p>
            <a:pPr algn="r" indent="0" marL="0">
              <a:lnSpc>
                <a:spcPct val="105000"/>
              </a:lnSpc>
              <a:buNone/>
            </a:pPr>
            <a:r>
              <a:rPr lang="en-US" sz="2800" dirty="0">
                <a:solidFill>
                  <a:srgbClr val="5E6B68"/>
                </a:solidFill>
                <a:latin typeface="Cormorant Garamond" pitchFamily="34" charset="0"/>
                <a:ea typeface="Cormorant Garamond" pitchFamily="34" charset="-122"/>
                <a:cs typeface="Cormorant Garamond" pitchFamily="34" charset="-120"/>
              </a:rPr>
              <a:t>If you feel invisible</a:t>
            </a:r>
            <a:endParaRPr lang="en-US" sz="2800" dirty="0"/>
          </a:p>
        </p:txBody>
      </p:sp>
      <p:sp>
        <p:nvSpPr>
          <p:cNvPr id="6" name="Text 4"/>
          <p:cNvSpPr txBox="1"/>
          <p:nvPr/>
        </p:nvSpPr>
        <p:spPr>
          <a:xfrm>
            <a:off x="6126480" y="1234440"/>
            <a:ext cx="54864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5C8A64"/>
                </a:solidFill>
                <a:latin typeface="DM Sans" pitchFamily="34" charset="0"/>
                <a:ea typeface="DM Sans" pitchFamily="34" charset="-122"/>
                <a:cs typeface="DM Sans" pitchFamily="34" charset="-120"/>
              </a:rPr>
              <a:t>→</a:t>
            </a:r>
            <a:endParaRPr lang="en-US" sz="2400" dirty="0"/>
          </a:p>
        </p:txBody>
      </p:sp>
      <p:sp>
        <p:nvSpPr>
          <p:cNvPr id="7" name="Text 5"/>
          <p:cNvSpPr txBox="1"/>
          <p:nvPr/>
        </p:nvSpPr>
        <p:spPr>
          <a:xfrm>
            <a:off x="6812280" y="1234440"/>
            <a:ext cx="4846320" cy="685800"/>
          </a:xfrm>
          <a:prstGeom prst="rect">
            <a:avLst/>
          </a:prstGeom>
          <a:noFill/>
          <a:ln/>
        </p:spPr>
        <p:txBody>
          <a:bodyPr wrap="square" lIns="0" tIns="0" rIns="0" bIns="0" rtlCol="0" anchor="ctr">
            <a:normAutofit/>
          </a:bodyPr>
          <a:lstStyle/>
          <a:p>
            <a:pPr algn="l" indent="0" marL="0">
              <a:lnSpc>
                <a:spcPct val="105000"/>
              </a:lnSpc>
              <a:buNone/>
            </a:pPr>
            <a:r>
              <a:rPr lang="en-US" sz="2800" b="1" dirty="0">
                <a:solidFill>
                  <a:srgbClr val="1E4A4A"/>
                </a:solidFill>
                <a:latin typeface="Cormorant Garamond" pitchFamily="34" charset="0"/>
                <a:ea typeface="Cormorant Garamond" pitchFamily="34" charset="-122"/>
                <a:cs typeface="Cormorant Garamond" pitchFamily="34" charset="-120"/>
              </a:rPr>
              <a:t>you stay quiet</a:t>
            </a:r>
            <a:endParaRPr lang="en-US" sz="2800" dirty="0"/>
          </a:p>
        </p:txBody>
      </p:sp>
      <p:sp>
        <p:nvSpPr>
          <p:cNvPr id="8" name="Text 6"/>
          <p:cNvSpPr txBox="1"/>
          <p:nvPr/>
        </p:nvSpPr>
        <p:spPr>
          <a:xfrm>
            <a:off x="548640" y="2148840"/>
            <a:ext cx="5486400" cy="685800"/>
          </a:xfrm>
          <a:prstGeom prst="rect">
            <a:avLst/>
          </a:prstGeom>
          <a:noFill/>
          <a:ln/>
        </p:spPr>
        <p:txBody>
          <a:bodyPr wrap="square" lIns="0" tIns="0" rIns="0" bIns="0" rtlCol="0" anchor="ctr">
            <a:normAutofit/>
          </a:bodyPr>
          <a:lstStyle/>
          <a:p>
            <a:pPr algn="r" indent="0" marL="0">
              <a:lnSpc>
                <a:spcPct val="105000"/>
              </a:lnSpc>
              <a:buNone/>
            </a:pPr>
            <a:r>
              <a:rPr lang="en-US" sz="2800" dirty="0">
                <a:solidFill>
                  <a:srgbClr val="5E6B68"/>
                </a:solidFill>
                <a:latin typeface="Cormorant Garamond" pitchFamily="34" charset="0"/>
                <a:ea typeface="Cormorant Garamond" pitchFamily="34" charset="-122"/>
                <a:cs typeface="Cormorant Garamond" pitchFamily="34" charset="-120"/>
              </a:rPr>
              <a:t>If you feel replaceable</a:t>
            </a:r>
            <a:endParaRPr lang="en-US" sz="2800" dirty="0"/>
          </a:p>
        </p:txBody>
      </p:sp>
      <p:sp>
        <p:nvSpPr>
          <p:cNvPr id="9" name="Text 7"/>
          <p:cNvSpPr txBox="1"/>
          <p:nvPr/>
        </p:nvSpPr>
        <p:spPr>
          <a:xfrm>
            <a:off x="6126480" y="2148840"/>
            <a:ext cx="54864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5C8A64"/>
                </a:solidFill>
                <a:latin typeface="DM Sans" pitchFamily="34" charset="0"/>
                <a:ea typeface="DM Sans" pitchFamily="34" charset="-122"/>
                <a:cs typeface="DM Sans" pitchFamily="34" charset="-120"/>
              </a:rPr>
              <a:t>→</a:t>
            </a:r>
            <a:endParaRPr lang="en-US" sz="2400" dirty="0"/>
          </a:p>
        </p:txBody>
      </p:sp>
      <p:sp>
        <p:nvSpPr>
          <p:cNvPr id="10" name="Text 8"/>
          <p:cNvSpPr txBox="1"/>
          <p:nvPr/>
        </p:nvSpPr>
        <p:spPr>
          <a:xfrm>
            <a:off x="6812280" y="2148840"/>
            <a:ext cx="4846320" cy="685800"/>
          </a:xfrm>
          <a:prstGeom prst="rect">
            <a:avLst/>
          </a:prstGeom>
          <a:noFill/>
          <a:ln/>
        </p:spPr>
        <p:txBody>
          <a:bodyPr wrap="square" lIns="0" tIns="0" rIns="0" bIns="0" rtlCol="0" anchor="ctr">
            <a:normAutofit/>
          </a:bodyPr>
          <a:lstStyle/>
          <a:p>
            <a:pPr algn="l" indent="0" marL="0">
              <a:lnSpc>
                <a:spcPct val="105000"/>
              </a:lnSpc>
              <a:buNone/>
            </a:pPr>
            <a:r>
              <a:rPr lang="en-US" sz="2800" b="1" dirty="0">
                <a:solidFill>
                  <a:srgbClr val="1E4A4A"/>
                </a:solidFill>
                <a:latin typeface="Cormorant Garamond" pitchFamily="34" charset="0"/>
                <a:ea typeface="Cormorant Garamond" pitchFamily="34" charset="-122"/>
                <a:cs typeface="Cormorant Garamond" pitchFamily="34" charset="-120"/>
              </a:rPr>
              <a:t>you settle</a:t>
            </a:r>
            <a:endParaRPr lang="en-US" sz="2800" dirty="0"/>
          </a:p>
        </p:txBody>
      </p:sp>
      <p:sp>
        <p:nvSpPr>
          <p:cNvPr id="11" name="Text 9"/>
          <p:cNvSpPr txBox="1"/>
          <p:nvPr/>
        </p:nvSpPr>
        <p:spPr>
          <a:xfrm>
            <a:off x="548640" y="3063240"/>
            <a:ext cx="5486400" cy="685800"/>
          </a:xfrm>
          <a:prstGeom prst="rect">
            <a:avLst/>
          </a:prstGeom>
          <a:noFill/>
          <a:ln/>
        </p:spPr>
        <p:txBody>
          <a:bodyPr wrap="square" lIns="0" tIns="0" rIns="0" bIns="0" rtlCol="0" anchor="ctr">
            <a:normAutofit/>
          </a:bodyPr>
          <a:lstStyle/>
          <a:p>
            <a:pPr algn="r" indent="0" marL="0">
              <a:lnSpc>
                <a:spcPct val="105000"/>
              </a:lnSpc>
              <a:buNone/>
            </a:pPr>
            <a:r>
              <a:rPr lang="en-US" sz="2800" dirty="0">
                <a:solidFill>
                  <a:srgbClr val="5E6B68"/>
                </a:solidFill>
                <a:latin typeface="Cormorant Garamond" pitchFamily="34" charset="0"/>
                <a:ea typeface="Cormorant Garamond" pitchFamily="34" charset="-122"/>
                <a:cs typeface="Cormorant Garamond" pitchFamily="34" charset="-120"/>
              </a:rPr>
              <a:t>If you believe you're unworthy</a:t>
            </a:r>
            <a:endParaRPr lang="en-US" sz="2800" dirty="0"/>
          </a:p>
        </p:txBody>
      </p:sp>
      <p:sp>
        <p:nvSpPr>
          <p:cNvPr id="12" name="Text 10"/>
          <p:cNvSpPr txBox="1"/>
          <p:nvPr/>
        </p:nvSpPr>
        <p:spPr>
          <a:xfrm>
            <a:off x="6126480" y="3063240"/>
            <a:ext cx="54864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5C8A64"/>
                </a:solidFill>
                <a:latin typeface="DM Sans" pitchFamily="34" charset="0"/>
                <a:ea typeface="DM Sans" pitchFamily="34" charset="-122"/>
                <a:cs typeface="DM Sans" pitchFamily="34" charset="-120"/>
              </a:rPr>
              <a:t>→</a:t>
            </a:r>
            <a:endParaRPr lang="en-US" sz="2400" dirty="0"/>
          </a:p>
        </p:txBody>
      </p:sp>
      <p:sp>
        <p:nvSpPr>
          <p:cNvPr id="13" name="Text 11"/>
          <p:cNvSpPr txBox="1"/>
          <p:nvPr/>
        </p:nvSpPr>
        <p:spPr>
          <a:xfrm>
            <a:off x="6812280" y="3063240"/>
            <a:ext cx="4846320" cy="685800"/>
          </a:xfrm>
          <a:prstGeom prst="rect">
            <a:avLst/>
          </a:prstGeom>
          <a:noFill/>
          <a:ln/>
        </p:spPr>
        <p:txBody>
          <a:bodyPr wrap="square" lIns="0" tIns="0" rIns="0" bIns="0" rtlCol="0" anchor="ctr">
            <a:normAutofit/>
          </a:bodyPr>
          <a:lstStyle/>
          <a:p>
            <a:pPr algn="l" indent="0" marL="0">
              <a:lnSpc>
                <a:spcPct val="105000"/>
              </a:lnSpc>
              <a:buNone/>
            </a:pPr>
            <a:r>
              <a:rPr lang="en-US" sz="2800" b="1" dirty="0">
                <a:solidFill>
                  <a:srgbClr val="1E4A4A"/>
                </a:solidFill>
                <a:latin typeface="Cormorant Garamond" pitchFamily="34" charset="0"/>
                <a:ea typeface="Cormorant Garamond" pitchFamily="34" charset="-122"/>
                <a:cs typeface="Cormorant Garamond" pitchFamily="34" charset="-120"/>
              </a:rPr>
              <a:t>you stay underpaid</a:t>
            </a:r>
            <a:endParaRPr lang="en-US" sz="2800" dirty="0"/>
          </a:p>
        </p:txBody>
      </p:sp>
      <p:sp>
        <p:nvSpPr>
          <p:cNvPr id="14" name="Text 12"/>
          <p:cNvSpPr txBox="1"/>
          <p:nvPr/>
        </p:nvSpPr>
        <p:spPr>
          <a:xfrm>
            <a:off x="548640" y="3977640"/>
            <a:ext cx="5486400" cy="685800"/>
          </a:xfrm>
          <a:prstGeom prst="rect">
            <a:avLst/>
          </a:prstGeom>
          <a:noFill/>
          <a:ln/>
        </p:spPr>
        <p:txBody>
          <a:bodyPr wrap="square" lIns="0" tIns="0" rIns="0" bIns="0" rtlCol="0" anchor="ctr">
            <a:normAutofit/>
          </a:bodyPr>
          <a:lstStyle/>
          <a:p>
            <a:pPr algn="r" indent="0" marL="0">
              <a:lnSpc>
                <a:spcPct val="105000"/>
              </a:lnSpc>
              <a:buNone/>
            </a:pPr>
            <a:r>
              <a:rPr lang="en-US" sz="2800" dirty="0">
                <a:solidFill>
                  <a:srgbClr val="5E6B68"/>
                </a:solidFill>
                <a:latin typeface="Cormorant Garamond" pitchFamily="34" charset="0"/>
                <a:ea typeface="Cormorant Garamond" pitchFamily="34" charset="-122"/>
                <a:cs typeface="Cormorant Garamond" pitchFamily="34" charset="-120"/>
              </a:rPr>
              <a:t>If you feel valuable</a:t>
            </a:r>
            <a:endParaRPr lang="en-US" sz="2800" dirty="0"/>
          </a:p>
        </p:txBody>
      </p:sp>
      <p:sp>
        <p:nvSpPr>
          <p:cNvPr id="15" name="Text 13"/>
          <p:cNvSpPr txBox="1"/>
          <p:nvPr/>
        </p:nvSpPr>
        <p:spPr>
          <a:xfrm>
            <a:off x="6126480" y="3977640"/>
            <a:ext cx="54864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5C8A64"/>
                </a:solidFill>
                <a:latin typeface="DM Sans" pitchFamily="34" charset="0"/>
                <a:ea typeface="DM Sans" pitchFamily="34" charset="-122"/>
                <a:cs typeface="DM Sans" pitchFamily="34" charset="-120"/>
              </a:rPr>
              <a:t>→</a:t>
            </a:r>
            <a:endParaRPr lang="en-US" sz="2400" dirty="0"/>
          </a:p>
        </p:txBody>
      </p:sp>
      <p:sp>
        <p:nvSpPr>
          <p:cNvPr id="16" name="Text 14"/>
          <p:cNvSpPr txBox="1"/>
          <p:nvPr/>
        </p:nvSpPr>
        <p:spPr>
          <a:xfrm>
            <a:off x="6812280" y="3977640"/>
            <a:ext cx="4846320" cy="685800"/>
          </a:xfrm>
          <a:prstGeom prst="rect">
            <a:avLst/>
          </a:prstGeom>
          <a:noFill/>
          <a:ln/>
        </p:spPr>
        <p:txBody>
          <a:bodyPr wrap="square" lIns="0" tIns="0" rIns="0" bIns="0" rtlCol="0" anchor="ctr">
            <a:normAutofit/>
          </a:bodyPr>
          <a:lstStyle/>
          <a:p>
            <a:pPr algn="l" indent="0" marL="0">
              <a:lnSpc>
                <a:spcPct val="105000"/>
              </a:lnSpc>
              <a:buNone/>
            </a:pPr>
            <a:r>
              <a:rPr lang="en-US" sz="2800" b="1" dirty="0">
                <a:solidFill>
                  <a:srgbClr val="1E4A4A"/>
                </a:solidFill>
                <a:latin typeface="Cormorant Garamond" pitchFamily="34" charset="0"/>
                <a:ea typeface="Cormorant Garamond" pitchFamily="34" charset="-122"/>
                <a:cs typeface="Cormorant Garamond" pitchFamily="34" charset="-120"/>
              </a:rPr>
              <a:t>you ask for more</a:t>
            </a:r>
            <a:endParaRPr lang="en-US" sz="2800" dirty="0"/>
          </a:p>
        </p:txBody>
      </p:sp>
      <p:sp>
        <p:nvSpPr>
          <p:cNvPr id="17" name="Text 15"/>
          <p:cNvSpPr txBox="1"/>
          <p:nvPr/>
        </p:nvSpPr>
        <p:spPr>
          <a:xfrm>
            <a:off x="548640" y="4892040"/>
            <a:ext cx="5486400" cy="685800"/>
          </a:xfrm>
          <a:prstGeom prst="rect">
            <a:avLst/>
          </a:prstGeom>
          <a:noFill/>
          <a:ln/>
        </p:spPr>
        <p:txBody>
          <a:bodyPr wrap="square" lIns="0" tIns="0" rIns="0" bIns="0" rtlCol="0" anchor="ctr">
            <a:normAutofit/>
          </a:bodyPr>
          <a:lstStyle/>
          <a:p>
            <a:pPr algn="r" indent="0" marL="0">
              <a:lnSpc>
                <a:spcPct val="105000"/>
              </a:lnSpc>
              <a:buNone/>
            </a:pPr>
            <a:r>
              <a:rPr lang="en-US" sz="2800" dirty="0">
                <a:solidFill>
                  <a:srgbClr val="5E6B68"/>
                </a:solidFill>
                <a:latin typeface="Cormorant Garamond" pitchFamily="34" charset="0"/>
                <a:ea typeface="Cormorant Garamond" pitchFamily="34" charset="-122"/>
                <a:cs typeface="Cormorant Garamond" pitchFamily="34" charset="-120"/>
              </a:rPr>
              <a:t>If you feel powerful</a:t>
            </a:r>
            <a:endParaRPr lang="en-US" sz="2800" dirty="0"/>
          </a:p>
        </p:txBody>
      </p:sp>
      <p:sp>
        <p:nvSpPr>
          <p:cNvPr id="18" name="Text 16"/>
          <p:cNvSpPr txBox="1"/>
          <p:nvPr/>
        </p:nvSpPr>
        <p:spPr>
          <a:xfrm>
            <a:off x="6126480" y="4892040"/>
            <a:ext cx="54864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5C8A64"/>
                </a:solidFill>
                <a:latin typeface="DM Sans" pitchFamily="34" charset="0"/>
                <a:ea typeface="DM Sans" pitchFamily="34" charset="-122"/>
                <a:cs typeface="DM Sans" pitchFamily="34" charset="-120"/>
              </a:rPr>
              <a:t>→</a:t>
            </a:r>
            <a:endParaRPr lang="en-US" sz="2400" dirty="0"/>
          </a:p>
        </p:txBody>
      </p:sp>
      <p:sp>
        <p:nvSpPr>
          <p:cNvPr id="19" name="Text 17"/>
          <p:cNvSpPr txBox="1"/>
          <p:nvPr/>
        </p:nvSpPr>
        <p:spPr>
          <a:xfrm>
            <a:off x="6812280" y="4892040"/>
            <a:ext cx="4846320" cy="685800"/>
          </a:xfrm>
          <a:prstGeom prst="rect">
            <a:avLst/>
          </a:prstGeom>
          <a:noFill/>
          <a:ln/>
        </p:spPr>
        <p:txBody>
          <a:bodyPr wrap="square" lIns="0" tIns="0" rIns="0" bIns="0" rtlCol="0" anchor="ctr">
            <a:normAutofit/>
          </a:bodyPr>
          <a:lstStyle/>
          <a:p>
            <a:pPr algn="l" indent="0" marL="0">
              <a:lnSpc>
                <a:spcPct val="105000"/>
              </a:lnSpc>
              <a:buNone/>
            </a:pPr>
            <a:r>
              <a:rPr lang="en-US" sz="2800" b="1" dirty="0">
                <a:solidFill>
                  <a:srgbClr val="1E4A4A"/>
                </a:solidFill>
                <a:latin typeface="Cormorant Garamond" pitchFamily="34" charset="0"/>
                <a:ea typeface="Cormorant Garamond" pitchFamily="34" charset="-122"/>
                <a:cs typeface="Cormorant Garamond" pitchFamily="34" charset="-120"/>
              </a:rPr>
              <a:t>you show up differently</a:t>
            </a:r>
            <a:endParaRPr lang="en-US" sz="28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THE BELIEF IDENTITY BREAKS</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600" dirty="0">
                <a:solidFill>
                  <a:srgbClr val="1E4A4A"/>
                </a:solidFill>
                <a:latin typeface="Cormorant Garamond" pitchFamily="34" charset="0"/>
                <a:ea typeface="Cormorant Garamond" pitchFamily="34" charset="-122"/>
                <a:cs typeface="Cormorant Garamond" pitchFamily="34" charset="-120"/>
              </a:rPr>
              <a:t>"I'll feel confident once I get the title and the number."</a:t>
            </a:r>
            <a:endParaRPr lang="en-US" sz="26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300" dirty="0">
                <a:solidFill>
                  <a:srgbClr val="FFFFFF"/>
                </a:solidFill>
                <a:latin typeface="Cormorant Garamond" pitchFamily="34" charset="0"/>
                <a:ea typeface="Cormorant Garamond" pitchFamily="34" charset="-122"/>
                <a:cs typeface="Cormorant Garamond" pitchFamily="34" charset="-120"/>
              </a:rPr>
              <a:t>Your career will rarely exceed the identity you've accepted for yourself.</a:t>
            </a:r>
            <a:endParaRPr lang="en-US" sz="23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5730088" y="1828800"/>
            <a:ext cx="731520" cy="0"/>
          </a:xfrm>
          <a:prstGeom prst="line">
            <a:avLst/>
          </a:prstGeom>
          <a:noFill/>
          <a:ln w="19050">
            <a:solidFill>
              <a:srgbClr val="8AAF8A"/>
            </a:solidFill>
            <a:prstDash val="solid"/>
          </a:ln>
        </p:spPr>
      </p:sp>
      <p:sp>
        <p:nvSpPr>
          <p:cNvPr id="3" name="Text 1"/>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000" dirty="0">
                <a:solidFill>
                  <a:srgbClr val="1E4A4A"/>
                </a:solidFill>
                <a:latin typeface="Cormorant Garamond" pitchFamily="34" charset="0"/>
                <a:ea typeface="Cormorant Garamond" pitchFamily="34" charset="-122"/>
                <a:cs typeface="Cormorant Garamond" pitchFamily="34" charset="-120"/>
              </a:rPr>
              <a:t>Identity is not fixed. </a:t>
            </a:r>
            <a:pPr algn="ctr" indent="0" marL="0">
              <a:lnSpc>
                <a:spcPct val="100000"/>
              </a:lnSpc>
              <a:buNone/>
            </a:pPr>
            <a:r>
              <a:rPr lang="en-US" sz="4000" b="1" dirty="0">
                <a:solidFill>
                  <a:srgbClr val="5C8A64"/>
                </a:solidFill>
                <a:latin typeface="Cormorant Garamond" pitchFamily="34" charset="0"/>
                <a:ea typeface="Cormorant Garamond" pitchFamily="34" charset="-122"/>
                <a:cs typeface="Cormorant Garamond" pitchFamily="34" charset="-120"/>
              </a:rPr>
              <a:t>Identity is constructed.</a:t>
            </a:r>
            <a:endParaRPr lang="en-US" sz="4000" dirty="0"/>
          </a:p>
        </p:txBody>
      </p:sp>
      <p:sp>
        <p:nvSpPr>
          <p:cNvPr id="4" name="Text 2"/>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And once you understand that, you can rebuild it on purpose.</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ASK YOURSELF</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200" dirty="0">
                <a:solidFill>
                  <a:srgbClr val="1E4A4A"/>
                </a:solidFill>
                <a:latin typeface="Cormorant Garamond" pitchFamily="34" charset="0"/>
                <a:ea typeface="Cormorant Garamond" pitchFamily="34" charset="-122"/>
                <a:cs typeface="Cormorant Garamond" pitchFamily="34" charset="-120"/>
              </a:rPr>
              <a:t>What did you learn about money </a:t>
            </a:r>
            <a:pPr algn="ctr" indent="0" marL="0">
              <a:lnSpc>
                <a:spcPct val="100000"/>
              </a:lnSpc>
              <a:buNone/>
            </a:pPr>
            <a:r>
              <a:rPr lang="en-US" sz="3200" b="1" dirty="0">
                <a:solidFill>
                  <a:srgbClr val="5C8A64"/>
                </a:solidFill>
                <a:latin typeface="Cormorant Garamond" pitchFamily="34" charset="0"/>
                <a:ea typeface="Cormorant Garamond" pitchFamily="34" charset="-122"/>
                <a:cs typeface="Cormorant Garamond" pitchFamily="34" charset="-120"/>
              </a:rPr>
              <a:t>before you were ten years old?</a:t>
            </a:r>
            <a:endParaRPr lang="en-US" sz="32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 THIS LOOKS LIKE</a:t>
            </a:r>
            <a:endParaRPr lang="en-US" sz="1300" dirty="0"/>
          </a:p>
        </p:txBody>
      </p:sp>
      <p:sp>
        <p:nvSpPr>
          <p:cNvPr id="5" name="Text 3"/>
          <p:cNvSpPr txBox="1"/>
          <p:nvPr/>
        </p:nvSpPr>
        <p:spPr>
          <a:xfrm>
            <a:off x="914400" y="914400"/>
            <a:ext cx="10362895" cy="1188720"/>
          </a:xfrm>
          <a:prstGeom prst="rect">
            <a:avLst/>
          </a:prstGeom>
          <a:noFill/>
          <a:ln/>
        </p:spPr>
        <p:txBody>
          <a:bodyPr wrap="square" lIns="0" tIns="0" rIns="0" bIns="0" rtlCol="0" anchor="ctr">
            <a:normAutofit/>
          </a:bodyPr>
          <a:lstStyle/>
          <a:p>
            <a:pPr algn="ctr" indent="0" marL="0">
              <a:lnSpc>
                <a:spcPct val="105000"/>
              </a:lnSpc>
              <a:buNone/>
            </a:pPr>
            <a:r>
              <a:rPr lang="en-US" sz="2900" dirty="0">
                <a:solidFill>
                  <a:srgbClr val="1E4A4A"/>
                </a:solidFill>
                <a:latin typeface="Cormorant Garamond" pitchFamily="34" charset="0"/>
                <a:ea typeface="Cormorant Garamond" pitchFamily="34" charset="-122"/>
                <a:cs typeface="Cormorant Garamond" pitchFamily="34" charset="-120"/>
              </a:rPr>
              <a:t>She no longer questions whether she deserves more. </a:t>
            </a:r>
            <a:pPr algn="ctr" indent="0" marL="0">
              <a:lnSpc>
                <a:spcPct val="105000"/>
              </a:lnSpc>
              <a:buNone/>
            </a:pPr>
            <a:r>
              <a:rPr lang="en-US" sz="2900" b="1" dirty="0">
                <a:solidFill>
                  <a:srgbClr val="5C8A64"/>
                </a:solidFill>
                <a:latin typeface="Cormorant Garamond" pitchFamily="34" charset="0"/>
                <a:ea typeface="Cormorant Garamond" pitchFamily="34" charset="-122"/>
                <a:cs typeface="Cormorant Garamond" pitchFamily="34" charset="-120"/>
              </a:rPr>
              <a:t>She expects it.</a:t>
            </a:r>
            <a:endParaRPr lang="en-US" sz="2900" dirty="0"/>
          </a:p>
        </p:txBody>
      </p:sp>
      <p:sp>
        <p:nvSpPr>
          <p:cNvPr id="6" name="Shape 4"/>
          <p:cNvSpPr/>
          <p:nvPr/>
        </p:nvSpPr>
        <p:spPr>
          <a:xfrm>
            <a:off x="5730088" y="2286000"/>
            <a:ext cx="731520" cy="0"/>
          </a:xfrm>
          <a:prstGeom prst="line">
            <a:avLst/>
          </a:prstGeom>
          <a:noFill/>
          <a:ln w="19050">
            <a:solidFill>
              <a:srgbClr val="8AAF8A"/>
            </a:solidFill>
            <a:prstDash val="solid"/>
          </a:ln>
        </p:spPr>
      </p:sp>
      <p:sp>
        <p:nvSpPr>
          <p:cNvPr id="7" name="Text 5"/>
          <p:cNvSpPr txBox="1"/>
          <p:nvPr/>
        </p:nvSpPr>
        <p:spPr>
          <a:xfrm>
            <a:off x="2011680" y="256032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560320" y="256032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stop asking whether you deserve more</a:t>
            </a:r>
            <a:endParaRPr lang="en-US" sz="2000" dirty="0"/>
          </a:p>
        </p:txBody>
      </p:sp>
      <p:sp>
        <p:nvSpPr>
          <p:cNvPr id="9" name="Text 7"/>
          <p:cNvSpPr txBox="1"/>
          <p:nvPr/>
        </p:nvSpPr>
        <p:spPr>
          <a:xfrm>
            <a:off x="2011680" y="3401568"/>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560320" y="3401568"/>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take a compliment without deflecting it</a:t>
            </a:r>
            <a:endParaRPr lang="en-US" sz="2000" dirty="0"/>
          </a:p>
        </p:txBody>
      </p:sp>
      <p:sp>
        <p:nvSpPr>
          <p:cNvPr id="11" name="Text 9"/>
          <p:cNvSpPr txBox="1"/>
          <p:nvPr/>
        </p:nvSpPr>
        <p:spPr>
          <a:xfrm>
            <a:off x="2011680" y="4242816"/>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560320" y="4242816"/>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A no stops feeling like a verdict on you</a:t>
            </a:r>
            <a:endParaRPr lang="en-US" sz="2000" dirty="0"/>
          </a:p>
        </p:txBody>
      </p:sp>
      <p:sp>
        <p:nvSpPr>
          <p:cNvPr id="13" name="Text 11"/>
          <p:cNvSpPr txBox="1"/>
          <p:nvPr/>
        </p:nvSpPr>
        <p:spPr>
          <a:xfrm>
            <a:off x="2011680" y="5084064"/>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4" name="Text 12"/>
          <p:cNvSpPr txBox="1"/>
          <p:nvPr/>
        </p:nvSpPr>
        <p:spPr>
          <a:xfrm>
            <a:off x="2560320" y="5084064"/>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walk into the room and feel like you belong there</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96012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V.O.I.C.E. FRAMEWORK · PILLAR 4 OF 5</a:t>
            </a:r>
            <a:endParaRPr lang="en-US" sz="1200" dirty="0"/>
          </a:p>
        </p:txBody>
      </p:sp>
      <p:sp>
        <p:nvSpPr>
          <p:cNvPr id="4" name="Text 2"/>
          <p:cNvSpPr txBox="1"/>
          <p:nvPr/>
        </p:nvSpPr>
        <p:spPr>
          <a:xfrm>
            <a:off x="914400" y="1325880"/>
            <a:ext cx="10362895" cy="1737360"/>
          </a:xfrm>
          <a:prstGeom prst="rect">
            <a:avLst/>
          </a:prstGeom>
          <a:noFill/>
          <a:ln/>
        </p:spPr>
        <p:txBody>
          <a:bodyPr wrap="square" lIns="0" tIns="0" rIns="0" bIns="0" rtlCol="0" anchor="ctr">
            <a:normAutofit/>
          </a:bodyPr>
          <a:lstStyle/>
          <a:p>
            <a:pPr algn="ctr" indent="0" marL="0">
              <a:lnSpc>
                <a:spcPct val="105000"/>
              </a:lnSpc>
              <a:buNone/>
            </a:pPr>
            <a:r>
              <a:rPr lang="en-US" sz="13000" dirty="0">
                <a:solidFill>
                  <a:srgbClr val="8AAF8A"/>
                </a:solidFill>
                <a:latin typeface="Cormorant Garamond" pitchFamily="34" charset="0"/>
                <a:ea typeface="Cormorant Garamond" pitchFamily="34" charset="-122"/>
                <a:cs typeface="Cormorant Garamond" pitchFamily="34" charset="-120"/>
              </a:rPr>
              <a:t>C</a:t>
            </a:r>
            <a:endParaRPr lang="en-US" sz="13000" dirty="0"/>
          </a:p>
        </p:txBody>
      </p:sp>
      <p:sp>
        <p:nvSpPr>
          <p:cNvPr id="5" name="Shape 3"/>
          <p:cNvSpPr/>
          <p:nvPr/>
        </p:nvSpPr>
        <p:spPr>
          <a:xfrm>
            <a:off x="5730088" y="3246120"/>
            <a:ext cx="731520" cy="0"/>
          </a:xfrm>
          <a:prstGeom prst="line">
            <a:avLst/>
          </a:prstGeom>
          <a:noFill/>
          <a:ln w="19050">
            <a:solidFill>
              <a:srgbClr val="8AAF8A"/>
            </a:solidFill>
            <a:prstDash val="solid"/>
          </a:ln>
        </p:spPr>
      </p:sp>
      <p:sp>
        <p:nvSpPr>
          <p:cNvPr id="6" name="Text 4"/>
          <p:cNvSpPr txBox="1"/>
          <p:nvPr/>
        </p:nvSpPr>
        <p:spPr>
          <a:xfrm>
            <a:off x="914400" y="3429000"/>
            <a:ext cx="10362895" cy="914400"/>
          </a:xfrm>
          <a:prstGeom prst="rect">
            <a:avLst/>
          </a:prstGeom>
          <a:noFill/>
          <a:ln/>
        </p:spPr>
        <p:txBody>
          <a:bodyPr wrap="square" lIns="0" tIns="0" rIns="0" bIns="0" rtlCol="0" anchor="ctr">
            <a:normAutofit/>
          </a:bodyPr>
          <a:lstStyle/>
          <a:p>
            <a:pPr algn="ctr" indent="0" marL="0">
              <a:lnSpc>
                <a:spcPct val="105000"/>
              </a:lnSpc>
              <a:buNone/>
            </a:pPr>
            <a:r>
              <a:rPr lang="en-US" sz="4800" dirty="0">
                <a:solidFill>
                  <a:srgbClr val="FFFFFF"/>
                </a:solidFill>
                <a:latin typeface="Cormorant Garamond" pitchFamily="34" charset="0"/>
                <a:ea typeface="Cormorant Garamond" pitchFamily="34" charset="-122"/>
                <a:cs typeface="Cormorant Garamond" pitchFamily="34" charset="-120"/>
              </a:rPr>
              <a:t>Communication</a:t>
            </a:r>
            <a:endParaRPr lang="en-US" sz="4800" dirty="0"/>
          </a:p>
        </p:txBody>
      </p:sp>
      <p:sp>
        <p:nvSpPr>
          <p:cNvPr id="7" name="Text 5"/>
          <p:cNvSpPr txBox="1"/>
          <p:nvPr/>
        </p:nvSpPr>
        <p:spPr>
          <a:xfrm>
            <a:off x="1828800" y="4480560"/>
            <a:ext cx="8534095" cy="914400"/>
          </a:xfrm>
          <a:prstGeom prst="rect">
            <a:avLst/>
          </a:prstGeom>
          <a:noFill/>
          <a:ln/>
        </p:spPr>
        <p:txBody>
          <a:bodyPr wrap="square" lIns="0" tIns="0" rIns="0" bIns="0" rtlCol="0" anchor="t">
            <a:normAutofit/>
          </a:bodyPr>
          <a:lstStyle/>
          <a:p>
            <a:pPr algn="ctr" indent="0" marL="0">
              <a:lnSpc>
                <a:spcPct val="105000"/>
              </a:lnSpc>
              <a:buNone/>
            </a:pPr>
            <a:r>
              <a:rPr lang="en-US" sz="2400" i="1" dirty="0">
                <a:solidFill>
                  <a:srgbClr val="E1F5EE"/>
                </a:solidFill>
                <a:latin typeface="Cormorant Garamond" pitchFamily="34" charset="0"/>
                <a:ea typeface="Cormorant Garamond" pitchFamily="34" charset="-122"/>
                <a:cs typeface="Cormorant Garamond" pitchFamily="34" charset="-120"/>
              </a:rPr>
              <a:t>Make your value </a:t>
            </a:r>
            <a:pPr algn="ctr" indent="0" marL="0">
              <a:lnSpc>
                <a:spcPct val="105000"/>
              </a:lnSpc>
              <a:buNone/>
            </a:pPr>
            <a:r>
              <a:rPr lang="en-US" sz="2400" b="1" i="1" dirty="0">
                <a:solidFill>
                  <a:srgbClr val="B7D3B7"/>
                </a:solidFill>
                <a:latin typeface="Cormorant Garamond" pitchFamily="34" charset="0"/>
                <a:ea typeface="Cormorant Garamond" pitchFamily="34" charset="-122"/>
                <a:cs typeface="Cormorant Garamond" pitchFamily="34" charset="-120"/>
              </a:rPr>
              <a:t>impossible to ignore.</a:t>
            </a:r>
            <a:endParaRPr lang="en-US" sz="2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THE BELIEF COMMUNICATION BREAKS</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"I just need the perfect words."</a:t>
            </a:r>
            <a:endParaRPr lang="en-US" sz="30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300" dirty="0">
                <a:solidFill>
                  <a:srgbClr val="FFFFFF"/>
                </a:solidFill>
                <a:latin typeface="Cormorant Garamond" pitchFamily="34" charset="0"/>
                <a:ea typeface="Cormorant Garamond" pitchFamily="34" charset="-122"/>
                <a:cs typeface="Cormorant Garamond" pitchFamily="34" charset="-120"/>
              </a:rPr>
              <a:t>People respond to who's saying the words far more than the words themselves.</a:t>
            </a:r>
            <a:endParaRPr lang="en-US" sz="23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ASK YOURSELF</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200" dirty="0">
                <a:solidFill>
                  <a:srgbClr val="1E4A4A"/>
                </a:solidFill>
                <a:latin typeface="Cormorant Garamond" pitchFamily="34" charset="0"/>
                <a:ea typeface="Cormorant Garamond" pitchFamily="34" charset="-122"/>
                <a:cs typeface="Cormorant Garamond" pitchFamily="34" charset="-120"/>
              </a:rPr>
              <a:t>When you over-explain, </a:t>
            </a:r>
            <a:pPr algn="ctr" indent="0" marL="0">
              <a:lnSpc>
                <a:spcPct val="100000"/>
              </a:lnSpc>
              <a:buNone/>
            </a:pPr>
            <a:r>
              <a:rPr lang="en-US" sz="3200" b="1" dirty="0">
                <a:solidFill>
                  <a:srgbClr val="5C8A64"/>
                </a:solidFill>
                <a:latin typeface="Cormorant Garamond" pitchFamily="34" charset="0"/>
                <a:ea typeface="Cormorant Garamond" pitchFamily="34" charset="-122"/>
                <a:cs typeface="Cormorant Garamond" pitchFamily="34" charset="-120"/>
              </a:rPr>
              <a:t>who are you really trying to convince?</a:t>
            </a:r>
            <a:endParaRPr lang="en-US" sz="32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 THIS LOOKS LIKE</a:t>
            </a:r>
            <a:endParaRPr lang="en-US" sz="1300" dirty="0"/>
          </a:p>
        </p:txBody>
      </p:sp>
      <p:sp>
        <p:nvSpPr>
          <p:cNvPr id="5" name="Text 3"/>
          <p:cNvSpPr txBox="1"/>
          <p:nvPr/>
        </p:nvSpPr>
        <p:spPr>
          <a:xfrm>
            <a:off x="914400" y="914400"/>
            <a:ext cx="10362895" cy="1188720"/>
          </a:xfrm>
          <a:prstGeom prst="rect">
            <a:avLst/>
          </a:prstGeom>
          <a:noFill/>
          <a:ln/>
        </p:spPr>
        <p:txBody>
          <a:bodyPr wrap="square" lIns="0" tIns="0" rIns="0" bIns="0" rtlCol="0" anchor="ctr">
            <a:normAutofit/>
          </a:bodyPr>
          <a:lstStyle/>
          <a:p>
            <a:pPr algn="ctr" indent="0" marL="0">
              <a:lnSpc>
                <a:spcPct val="105000"/>
              </a:lnSpc>
              <a:buNone/>
            </a:pPr>
            <a:r>
              <a:rPr lang="en-US" sz="3300" dirty="0">
                <a:solidFill>
                  <a:srgbClr val="1E4A4A"/>
                </a:solidFill>
                <a:latin typeface="Cormorant Garamond" pitchFamily="34" charset="0"/>
                <a:ea typeface="Cormorant Garamond" pitchFamily="34" charset="-122"/>
                <a:cs typeface="Cormorant Garamond" pitchFamily="34" charset="-120"/>
              </a:rPr>
              <a:t>Her communication finally </a:t>
            </a:r>
            <a:pPr algn="ctr" indent="0" marL="0">
              <a:lnSpc>
                <a:spcPct val="105000"/>
              </a:lnSpc>
              <a:buNone/>
            </a:pPr>
            <a:r>
              <a:rPr lang="en-US" sz="3300" b="1" dirty="0">
                <a:solidFill>
                  <a:srgbClr val="5C8A64"/>
                </a:solidFill>
                <a:latin typeface="Cormorant Garamond" pitchFamily="34" charset="0"/>
                <a:ea typeface="Cormorant Garamond" pitchFamily="34" charset="-122"/>
                <a:cs typeface="Cormorant Garamond" pitchFamily="34" charset="-120"/>
              </a:rPr>
              <a:t>reflects her capability.</a:t>
            </a:r>
            <a:endParaRPr lang="en-US" sz="3300" dirty="0"/>
          </a:p>
        </p:txBody>
      </p:sp>
      <p:sp>
        <p:nvSpPr>
          <p:cNvPr id="6" name="Shape 4"/>
          <p:cNvSpPr/>
          <p:nvPr/>
        </p:nvSpPr>
        <p:spPr>
          <a:xfrm>
            <a:off x="5730088" y="2286000"/>
            <a:ext cx="731520" cy="0"/>
          </a:xfrm>
          <a:prstGeom prst="line">
            <a:avLst/>
          </a:prstGeom>
          <a:noFill/>
          <a:ln w="19050">
            <a:solidFill>
              <a:srgbClr val="8AAF8A"/>
            </a:solidFill>
            <a:prstDash val="solid"/>
          </a:ln>
        </p:spPr>
      </p:sp>
      <p:sp>
        <p:nvSpPr>
          <p:cNvPr id="7" name="Text 5"/>
          <p:cNvSpPr txBox="1"/>
          <p:nvPr/>
        </p:nvSpPr>
        <p:spPr>
          <a:xfrm>
            <a:off x="2011680" y="256032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560320" y="256032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Your ideas get credited to you</a:t>
            </a:r>
            <a:endParaRPr lang="en-US" sz="2000" dirty="0"/>
          </a:p>
        </p:txBody>
      </p:sp>
      <p:sp>
        <p:nvSpPr>
          <p:cNvPr id="9" name="Text 7"/>
          <p:cNvSpPr txBox="1"/>
          <p:nvPr/>
        </p:nvSpPr>
        <p:spPr>
          <a:xfrm>
            <a:off x="2011680" y="3401568"/>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560320" y="3401568"/>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speak with authority without feeling like you're performing</a:t>
            </a:r>
            <a:endParaRPr lang="en-US" sz="2000" dirty="0"/>
          </a:p>
        </p:txBody>
      </p:sp>
      <p:sp>
        <p:nvSpPr>
          <p:cNvPr id="11" name="Text 9"/>
          <p:cNvSpPr txBox="1"/>
          <p:nvPr/>
        </p:nvSpPr>
        <p:spPr>
          <a:xfrm>
            <a:off x="2011680" y="4242816"/>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560320" y="4242816"/>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get through the hard conversation without over-explaining</a:t>
            </a:r>
            <a:endParaRPr lang="en-US" sz="2000" dirty="0"/>
          </a:p>
        </p:txBody>
      </p:sp>
      <p:sp>
        <p:nvSpPr>
          <p:cNvPr id="13" name="Text 11"/>
          <p:cNvSpPr txBox="1"/>
          <p:nvPr/>
        </p:nvSpPr>
        <p:spPr>
          <a:xfrm>
            <a:off x="2011680" y="5084064"/>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4" name="Text 12"/>
          <p:cNvSpPr txBox="1"/>
          <p:nvPr/>
        </p:nvSpPr>
        <p:spPr>
          <a:xfrm>
            <a:off x="2560320" y="5084064"/>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Decision makers start coming to you</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96012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V.O.I.C.E. FRAMEWORK · PILLAR 5 OF 5</a:t>
            </a:r>
            <a:endParaRPr lang="en-US" sz="1200" dirty="0"/>
          </a:p>
        </p:txBody>
      </p:sp>
      <p:sp>
        <p:nvSpPr>
          <p:cNvPr id="4" name="Text 2"/>
          <p:cNvSpPr txBox="1"/>
          <p:nvPr/>
        </p:nvSpPr>
        <p:spPr>
          <a:xfrm>
            <a:off x="914400" y="1325880"/>
            <a:ext cx="10362895" cy="1737360"/>
          </a:xfrm>
          <a:prstGeom prst="rect">
            <a:avLst/>
          </a:prstGeom>
          <a:noFill/>
          <a:ln/>
        </p:spPr>
        <p:txBody>
          <a:bodyPr wrap="square" lIns="0" tIns="0" rIns="0" bIns="0" rtlCol="0" anchor="ctr">
            <a:normAutofit/>
          </a:bodyPr>
          <a:lstStyle/>
          <a:p>
            <a:pPr algn="ctr" indent="0" marL="0">
              <a:lnSpc>
                <a:spcPct val="105000"/>
              </a:lnSpc>
              <a:buNone/>
            </a:pPr>
            <a:r>
              <a:rPr lang="en-US" sz="13000" dirty="0">
                <a:solidFill>
                  <a:srgbClr val="8AAF8A"/>
                </a:solidFill>
                <a:latin typeface="Cormorant Garamond" pitchFamily="34" charset="0"/>
                <a:ea typeface="Cormorant Garamond" pitchFamily="34" charset="-122"/>
                <a:cs typeface="Cormorant Garamond" pitchFamily="34" charset="-120"/>
              </a:rPr>
              <a:t>E</a:t>
            </a:r>
            <a:endParaRPr lang="en-US" sz="13000" dirty="0"/>
          </a:p>
        </p:txBody>
      </p:sp>
      <p:sp>
        <p:nvSpPr>
          <p:cNvPr id="5" name="Shape 3"/>
          <p:cNvSpPr/>
          <p:nvPr/>
        </p:nvSpPr>
        <p:spPr>
          <a:xfrm>
            <a:off x="5730088" y="3246120"/>
            <a:ext cx="731520" cy="0"/>
          </a:xfrm>
          <a:prstGeom prst="line">
            <a:avLst/>
          </a:prstGeom>
          <a:noFill/>
          <a:ln w="19050">
            <a:solidFill>
              <a:srgbClr val="8AAF8A"/>
            </a:solidFill>
            <a:prstDash val="solid"/>
          </a:ln>
        </p:spPr>
      </p:sp>
      <p:sp>
        <p:nvSpPr>
          <p:cNvPr id="6" name="Text 4"/>
          <p:cNvSpPr txBox="1"/>
          <p:nvPr/>
        </p:nvSpPr>
        <p:spPr>
          <a:xfrm>
            <a:off x="914400" y="3429000"/>
            <a:ext cx="10362895" cy="914400"/>
          </a:xfrm>
          <a:prstGeom prst="rect">
            <a:avLst/>
          </a:prstGeom>
          <a:noFill/>
          <a:ln/>
        </p:spPr>
        <p:txBody>
          <a:bodyPr wrap="square" lIns="0" tIns="0" rIns="0" bIns="0" rtlCol="0" anchor="ctr">
            <a:normAutofit/>
          </a:bodyPr>
          <a:lstStyle/>
          <a:p>
            <a:pPr algn="ctr" indent="0" marL="0">
              <a:lnSpc>
                <a:spcPct val="105000"/>
              </a:lnSpc>
              <a:buNone/>
            </a:pPr>
            <a:r>
              <a:rPr lang="en-US" sz="4800" dirty="0">
                <a:solidFill>
                  <a:srgbClr val="FFFFFF"/>
                </a:solidFill>
                <a:latin typeface="Cormorant Garamond" pitchFamily="34" charset="0"/>
                <a:ea typeface="Cormorant Garamond" pitchFamily="34" charset="-122"/>
                <a:cs typeface="Cormorant Garamond" pitchFamily="34" charset="-120"/>
              </a:rPr>
              <a:t>Execution</a:t>
            </a:r>
            <a:endParaRPr lang="en-US" sz="4800" dirty="0"/>
          </a:p>
        </p:txBody>
      </p:sp>
      <p:sp>
        <p:nvSpPr>
          <p:cNvPr id="7" name="Text 5"/>
          <p:cNvSpPr txBox="1"/>
          <p:nvPr/>
        </p:nvSpPr>
        <p:spPr>
          <a:xfrm>
            <a:off x="1828800" y="4480560"/>
            <a:ext cx="8534095" cy="914400"/>
          </a:xfrm>
          <a:prstGeom prst="rect">
            <a:avLst/>
          </a:prstGeom>
          <a:noFill/>
          <a:ln/>
        </p:spPr>
        <p:txBody>
          <a:bodyPr wrap="square" lIns="0" tIns="0" rIns="0" bIns="0" rtlCol="0" anchor="t">
            <a:normAutofit/>
          </a:bodyPr>
          <a:lstStyle/>
          <a:p>
            <a:pPr algn="ctr" indent="0" marL="0">
              <a:lnSpc>
                <a:spcPct val="105000"/>
              </a:lnSpc>
              <a:buNone/>
            </a:pPr>
            <a:r>
              <a:rPr lang="en-US" sz="2400" i="1" dirty="0">
                <a:solidFill>
                  <a:srgbClr val="E1F5EE"/>
                </a:solidFill>
                <a:latin typeface="Cormorant Garamond" pitchFamily="34" charset="0"/>
                <a:ea typeface="Cormorant Garamond" pitchFamily="34" charset="-122"/>
                <a:cs typeface="Cormorant Garamond" pitchFamily="34" charset="-120"/>
              </a:rPr>
              <a:t>Courage </a:t>
            </a:r>
            <a:pPr algn="ctr" indent="0" marL="0">
              <a:lnSpc>
                <a:spcPct val="105000"/>
              </a:lnSpc>
              <a:buNone/>
            </a:pPr>
            <a:r>
              <a:rPr lang="en-US" sz="2400" b="1" i="1" dirty="0">
                <a:solidFill>
                  <a:srgbClr val="B7D3B7"/>
                </a:solidFill>
                <a:latin typeface="Cormorant Garamond" pitchFamily="34" charset="0"/>
                <a:ea typeface="Cormorant Garamond" pitchFamily="34" charset="-122"/>
                <a:cs typeface="Cormorant Garamond" pitchFamily="34" charset="-120"/>
              </a:rPr>
              <a:t>in action.</a:t>
            </a:r>
            <a:endParaRPr lang="en-US" sz="2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THE BELIEF EXECUTION BREAKS</a:t>
            </a:r>
            <a:endParaRPr lang="en-US" sz="1300" dirty="0"/>
          </a:p>
        </p:txBody>
      </p:sp>
      <p:sp>
        <p:nvSpPr>
          <p:cNvPr id="5" name="Shape 3"/>
          <p:cNvSpPr/>
          <p:nvPr/>
        </p:nvSpPr>
        <p:spPr>
          <a:xfrm>
            <a:off x="11123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5073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4781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WHAT MOST THINK</a:t>
            </a:r>
            <a:endParaRPr lang="en-US" sz="1200" dirty="0"/>
          </a:p>
        </p:txBody>
      </p:sp>
      <p:sp>
        <p:nvSpPr>
          <p:cNvPr id="8" name="Text 6"/>
          <p:cNvSpPr txBox="1"/>
          <p:nvPr/>
        </p:nvSpPr>
        <p:spPr>
          <a:xfrm>
            <a:off x="68730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REALITY</a:t>
            </a:r>
            <a:endParaRPr lang="en-US" sz="1200" dirty="0"/>
          </a:p>
        </p:txBody>
      </p:sp>
      <p:sp>
        <p:nvSpPr>
          <p:cNvPr id="9" name="Text 7"/>
          <p:cNvSpPr txBox="1"/>
          <p:nvPr/>
        </p:nvSpPr>
        <p:spPr>
          <a:xfrm>
            <a:off x="14781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"I'll act when I feel ready."</a:t>
            </a:r>
            <a:endParaRPr lang="en-US" sz="3000" dirty="0"/>
          </a:p>
        </p:txBody>
      </p:sp>
      <p:sp>
        <p:nvSpPr>
          <p:cNvPr id="10" name="Text 8"/>
          <p:cNvSpPr txBox="1"/>
          <p:nvPr/>
        </p:nvSpPr>
        <p:spPr>
          <a:xfrm>
            <a:off x="68730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600" dirty="0">
                <a:solidFill>
                  <a:srgbClr val="FFFFFF"/>
                </a:solidFill>
                <a:latin typeface="Cormorant Garamond" pitchFamily="34" charset="0"/>
                <a:ea typeface="Cormorant Garamond" pitchFamily="34" charset="-122"/>
                <a:cs typeface="Cormorant Garamond" pitchFamily="34" charset="-120"/>
              </a:rPr>
              <a:t>Confidence shows up after action. Rarely before.</a:t>
            </a:r>
            <a:endParaRPr lang="en-US" sz="2600" dirty="0"/>
          </a:p>
        </p:txBody>
      </p:sp>
      <p:sp>
        <p:nvSpPr>
          <p:cNvPr id="11" name="Text 9"/>
          <p:cNvSpPr txBox="1"/>
          <p:nvPr/>
        </p:nvSpPr>
        <p:spPr>
          <a:xfrm>
            <a:off x="5684368" y="1280160"/>
            <a:ext cx="822960" cy="4480560"/>
          </a:xfrm>
          <a:prstGeom prst="rect">
            <a:avLst/>
          </a:prstGeom>
          <a:noFill/>
          <a:ln/>
        </p:spPr>
        <p:txBody>
          <a:bodyPr wrap="square" lIns="0" tIns="0" rIns="0" bIns="0" rtlCol="0" anchor="ctr">
            <a:normAutofit/>
          </a:bodyPr>
          <a:lstStyle/>
          <a:p>
            <a:pPr algn="ctr" indent="0" marL="0">
              <a:lnSpc>
                <a:spcPct val="105000"/>
              </a:lnSpc>
              <a:buNone/>
            </a:pPr>
            <a:r>
              <a:rPr lang="en-US" sz="3000" b="1" dirty="0">
                <a:solidFill>
                  <a:srgbClr val="5C8A64"/>
                </a:solidFill>
                <a:latin typeface="DM Sans" pitchFamily="34" charset="0"/>
                <a:ea typeface="DM Sans" pitchFamily="34" charset="-122"/>
                <a:cs typeface="DM Sans" pitchFamily="34" charset="-120"/>
              </a:rPr>
              <a:t>→</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EXECUTION</a:t>
            </a:r>
            <a:endParaRPr lang="en-US" sz="1200" dirty="0"/>
          </a:p>
        </p:txBody>
      </p:sp>
      <p:sp>
        <p:nvSpPr>
          <p:cNvPr id="4" name="Shape 2"/>
          <p:cNvSpPr/>
          <p:nvPr/>
        </p:nvSpPr>
        <p:spPr>
          <a:xfrm>
            <a:off x="5730088" y="1828800"/>
            <a:ext cx="731520" cy="0"/>
          </a:xfrm>
          <a:prstGeom prst="line">
            <a:avLst/>
          </a:prstGeom>
          <a:noFill/>
          <a:ln w="19050">
            <a:solidFill>
              <a:srgbClr val="8AAF8A"/>
            </a:solidFill>
            <a:prstDash val="solid"/>
          </a:ln>
        </p:spPr>
      </p:sp>
      <p:sp>
        <p:nvSpPr>
          <p:cNvPr id="5" name="Text 3"/>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000" dirty="0">
                <a:solidFill>
                  <a:srgbClr val="FFFFFF"/>
                </a:solidFill>
                <a:latin typeface="Cormorant Garamond" pitchFamily="34" charset="0"/>
                <a:ea typeface="Cormorant Garamond" pitchFamily="34" charset="-122"/>
                <a:cs typeface="Cormorant Garamond" pitchFamily="34" charset="-120"/>
              </a:rPr>
              <a:t>"I'm afraid every day. </a:t>
            </a:r>
            <a:pPr algn="ctr" indent="0" marL="0">
              <a:lnSpc>
                <a:spcPct val="100000"/>
              </a:lnSpc>
              <a:buNone/>
            </a:pPr>
            <a:r>
              <a:rPr lang="en-US" sz="4000" b="1" dirty="0">
                <a:solidFill>
                  <a:srgbClr val="B7D3B7"/>
                </a:solidFill>
                <a:latin typeface="Cormorant Garamond" pitchFamily="34" charset="0"/>
                <a:ea typeface="Cormorant Garamond" pitchFamily="34" charset="-122"/>
                <a:cs typeface="Cormorant Garamond" pitchFamily="34" charset="-120"/>
              </a:rPr>
              <a:t>But I do it anyway.</a:t>
            </a:r>
            <a:pPr algn="ctr" indent="0" marL="0">
              <a:lnSpc>
                <a:spcPct val="100000"/>
              </a:lnSpc>
              <a:buNone/>
            </a:pPr>
            <a:r>
              <a:rPr lang="en-US" sz="4000" dirty="0">
                <a:solidFill>
                  <a:srgbClr val="FFFFFF"/>
                </a:solidFill>
                <a:latin typeface="Cormorant Garamond" pitchFamily="34" charset="0"/>
                <a:ea typeface="Cormorant Garamond" pitchFamily="34" charset="-122"/>
                <a:cs typeface="Cormorant Garamond" pitchFamily="34" charset="-120"/>
              </a:rPr>
              <a:t>"</a:t>
            </a:r>
            <a:endParaRPr lang="en-US" sz="4000" dirty="0"/>
          </a:p>
        </p:txBody>
      </p:sp>
      <p:sp>
        <p:nvSpPr>
          <p:cNvPr id="6" name="Text 4"/>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E1F5EE"/>
                </a:solidFill>
                <a:latin typeface="DM Sans" pitchFamily="34" charset="0"/>
                <a:ea typeface="DM Sans" pitchFamily="34" charset="-122"/>
                <a:cs typeface="DM Sans" pitchFamily="34" charset="-120"/>
              </a:rPr>
              <a:t>Fear always comes along for the ride. You become a woman who isn't stopped by it.</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E1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ASK YOURSELF</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700" dirty="0">
                <a:solidFill>
                  <a:srgbClr val="1E4A4A"/>
                </a:solidFill>
                <a:latin typeface="Cormorant Garamond" pitchFamily="34" charset="0"/>
                <a:ea typeface="Cormorant Garamond" pitchFamily="34" charset="-122"/>
                <a:cs typeface="Cormorant Garamond" pitchFamily="34" charset="-120"/>
              </a:rPr>
              <a:t>What conversation have you been </a:t>
            </a:r>
            <a:pPr algn="ctr" indent="0" marL="0">
              <a:lnSpc>
                <a:spcPct val="100000"/>
              </a:lnSpc>
              <a:buNone/>
            </a:pPr>
            <a:r>
              <a:rPr lang="en-US" sz="3700" b="1" dirty="0">
                <a:solidFill>
                  <a:srgbClr val="5C8A64"/>
                </a:solidFill>
                <a:latin typeface="Cormorant Garamond" pitchFamily="34" charset="0"/>
                <a:ea typeface="Cormorant Garamond" pitchFamily="34" charset="-122"/>
                <a:cs typeface="Cormorant Garamond" pitchFamily="34" charset="-120"/>
              </a:rPr>
              <a:t>putting off?</a:t>
            </a:r>
            <a:endParaRPr lang="en-US" sz="3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 THIS LOOKS LIKE</a:t>
            </a:r>
            <a:endParaRPr lang="en-US" sz="1300" dirty="0"/>
          </a:p>
        </p:txBody>
      </p:sp>
      <p:sp>
        <p:nvSpPr>
          <p:cNvPr id="5" name="Text 3"/>
          <p:cNvSpPr txBox="1"/>
          <p:nvPr/>
        </p:nvSpPr>
        <p:spPr>
          <a:xfrm>
            <a:off x="914400" y="914400"/>
            <a:ext cx="10362895" cy="1188720"/>
          </a:xfrm>
          <a:prstGeom prst="rect">
            <a:avLst/>
          </a:prstGeom>
          <a:noFill/>
          <a:ln/>
        </p:spPr>
        <p:txBody>
          <a:bodyPr wrap="square" lIns="0" tIns="0" rIns="0" bIns="0" rtlCol="0" anchor="ctr">
            <a:normAutofit/>
          </a:bodyPr>
          <a:lstStyle/>
          <a:p>
            <a:pPr algn="ctr" indent="0" marL="0">
              <a:lnSpc>
                <a:spcPct val="105000"/>
              </a:lnSpc>
              <a:buNone/>
            </a:pPr>
            <a:r>
              <a:rPr lang="en-US" sz="3300" dirty="0">
                <a:solidFill>
                  <a:srgbClr val="1E4A4A"/>
                </a:solidFill>
                <a:latin typeface="Cormorant Garamond" pitchFamily="34" charset="0"/>
                <a:ea typeface="Cormorant Garamond" pitchFamily="34" charset="-122"/>
                <a:cs typeface="Cormorant Garamond" pitchFamily="34" charset="-120"/>
              </a:rPr>
              <a:t>She builds the confidence that </a:t>
            </a:r>
            <a:pPr algn="ctr" indent="0" marL="0">
              <a:lnSpc>
                <a:spcPct val="105000"/>
              </a:lnSpc>
              <a:buNone/>
            </a:pPr>
            <a:r>
              <a:rPr lang="en-US" sz="3300" b="1" dirty="0">
                <a:solidFill>
                  <a:srgbClr val="5C8A64"/>
                </a:solidFill>
                <a:latin typeface="Cormorant Garamond" pitchFamily="34" charset="0"/>
                <a:ea typeface="Cormorant Garamond" pitchFamily="34" charset="-122"/>
                <a:cs typeface="Cormorant Garamond" pitchFamily="34" charset="-120"/>
              </a:rPr>
              <a:t>only comes from action.</a:t>
            </a:r>
            <a:endParaRPr lang="en-US" sz="3300" dirty="0"/>
          </a:p>
        </p:txBody>
      </p:sp>
      <p:sp>
        <p:nvSpPr>
          <p:cNvPr id="6" name="Shape 4"/>
          <p:cNvSpPr/>
          <p:nvPr/>
        </p:nvSpPr>
        <p:spPr>
          <a:xfrm>
            <a:off x="5730088" y="2286000"/>
            <a:ext cx="731520" cy="0"/>
          </a:xfrm>
          <a:prstGeom prst="line">
            <a:avLst/>
          </a:prstGeom>
          <a:noFill/>
          <a:ln w="19050">
            <a:solidFill>
              <a:srgbClr val="8AAF8A"/>
            </a:solidFill>
            <a:prstDash val="solid"/>
          </a:ln>
        </p:spPr>
      </p:sp>
      <p:sp>
        <p:nvSpPr>
          <p:cNvPr id="7" name="Text 5"/>
          <p:cNvSpPr txBox="1"/>
          <p:nvPr/>
        </p:nvSpPr>
        <p:spPr>
          <a:xfrm>
            <a:off x="2011680" y="256032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560320" y="256032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have the conversation instead of rehearsing it in the shower</a:t>
            </a:r>
            <a:endParaRPr lang="en-US" sz="2000" dirty="0"/>
          </a:p>
        </p:txBody>
      </p:sp>
      <p:sp>
        <p:nvSpPr>
          <p:cNvPr id="9" name="Text 7"/>
          <p:cNvSpPr txBox="1"/>
          <p:nvPr/>
        </p:nvSpPr>
        <p:spPr>
          <a:xfrm>
            <a:off x="2011680" y="3401568"/>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560320" y="3401568"/>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practice before it counts, with people in your corner</a:t>
            </a:r>
            <a:endParaRPr lang="en-US" sz="2000" dirty="0"/>
          </a:p>
        </p:txBody>
      </p:sp>
      <p:sp>
        <p:nvSpPr>
          <p:cNvPr id="11" name="Text 9"/>
          <p:cNvSpPr txBox="1"/>
          <p:nvPr/>
        </p:nvSpPr>
        <p:spPr>
          <a:xfrm>
            <a:off x="2011680" y="4242816"/>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560320" y="4242816"/>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Discomfort stops being a reason to wait</a:t>
            </a:r>
            <a:endParaRPr lang="en-US" sz="2000" dirty="0"/>
          </a:p>
        </p:txBody>
      </p:sp>
      <p:sp>
        <p:nvSpPr>
          <p:cNvPr id="13" name="Text 11"/>
          <p:cNvSpPr txBox="1"/>
          <p:nvPr/>
        </p:nvSpPr>
        <p:spPr>
          <a:xfrm>
            <a:off x="2011680" y="5084064"/>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4" name="Text 12"/>
          <p:cNvSpPr txBox="1"/>
          <p:nvPr/>
        </p:nvSpPr>
        <p:spPr>
          <a:xfrm>
            <a:off x="2560320" y="5084064"/>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collect proof that you can do hard things</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THE V.O.I.C.E. FRAMEWORK™, TOGETHER</a:t>
            </a:r>
            <a:endParaRPr lang="en-US" sz="1300" dirty="0"/>
          </a:p>
        </p:txBody>
      </p:sp>
      <p:sp>
        <p:nvSpPr>
          <p:cNvPr id="5" name="Shape 3"/>
          <p:cNvSpPr/>
          <p:nvPr/>
        </p:nvSpPr>
        <p:spPr>
          <a:xfrm>
            <a:off x="2926080" y="1188720"/>
            <a:ext cx="685800" cy="685800"/>
          </a:xfrm>
          <a:prstGeom prst="ellipse">
            <a:avLst/>
          </a:prstGeom>
          <a:solidFill>
            <a:srgbClr val="1E4A4A"/>
          </a:solidFill>
          <a:ln w="12700">
            <a:solidFill>
              <a:srgbClr val="1E4A4A"/>
            </a:solidFill>
            <a:prstDash val="solid"/>
          </a:ln>
        </p:spPr>
      </p:sp>
      <p:sp>
        <p:nvSpPr>
          <p:cNvPr id="6" name="Text 4"/>
          <p:cNvSpPr txBox="1"/>
          <p:nvPr/>
        </p:nvSpPr>
        <p:spPr>
          <a:xfrm>
            <a:off x="2926080" y="1188720"/>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V</a:t>
            </a:r>
            <a:endParaRPr lang="en-US" sz="2400" dirty="0"/>
          </a:p>
        </p:txBody>
      </p:sp>
      <p:sp>
        <p:nvSpPr>
          <p:cNvPr id="7" name="Text 5"/>
          <p:cNvSpPr txBox="1"/>
          <p:nvPr/>
        </p:nvSpPr>
        <p:spPr>
          <a:xfrm>
            <a:off x="3886200" y="1188720"/>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knows her value</a:t>
            </a:r>
            <a:endParaRPr lang="en-US" sz="3000" dirty="0"/>
          </a:p>
        </p:txBody>
      </p:sp>
      <p:sp>
        <p:nvSpPr>
          <p:cNvPr id="8" name="Shape 6"/>
          <p:cNvSpPr/>
          <p:nvPr/>
        </p:nvSpPr>
        <p:spPr>
          <a:xfrm>
            <a:off x="2926080" y="2176272"/>
            <a:ext cx="685800" cy="685800"/>
          </a:xfrm>
          <a:prstGeom prst="ellipse">
            <a:avLst/>
          </a:prstGeom>
          <a:solidFill>
            <a:srgbClr val="1E4A4A"/>
          </a:solidFill>
          <a:ln w="12700">
            <a:solidFill>
              <a:srgbClr val="1E4A4A"/>
            </a:solidFill>
            <a:prstDash val="solid"/>
          </a:ln>
        </p:spPr>
      </p:sp>
      <p:sp>
        <p:nvSpPr>
          <p:cNvPr id="9" name="Text 7"/>
          <p:cNvSpPr txBox="1"/>
          <p:nvPr/>
        </p:nvSpPr>
        <p:spPr>
          <a:xfrm>
            <a:off x="2926080" y="2176272"/>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O</a:t>
            </a:r>
            <a:endParaRPr lang="en-US" sz="2400" dirty="0"/>
          </a:p>
        </p:txBody>
      </p:sp>
      <p:sp>
        <p:nvSpPr>
          <p:cNvPr id="10" name="Text 8"/>
          <p:cNvSpPr txBox="1"/>
          <p:nvPr/>
        </p:nvSpPr>
        <p:spPr>
          <a:xfrm>
            <a:off x="3886200" y="2176272"/>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chooses herself</a:t>
            </a:r>
            <a:endParaRPr lang="en-US" sz="3000" dirty="0"/>
          </a:p>
        </p:txBody>
      </p:sp>
      <p:sp>
        <p:nvSpPr>
          <p:cNvPr id="11" name="Shape 9"/>
          <p:cNvSpPr/>
          <p:nvPr/>
        </p:nvSpPr>
        <p:spPr>
          <a:xfrm>
            <a:off x="2926080" y="3163824"/>
            <a:ext cx="685800" cy="685800"/>
          </a:xfrm>
          <a:prstGeom prst="ellipse">
            <a:avLst/>
          </a:prstGeom>
          <a:solidFill>
            <a:srgbClr val="1E4A4A"/>
          </a:solidFill>
          <a:ln w="12700">
            <a:solidFill>
              <a:srgbClr val="1E4A4A"/>
            </a:solidFill>
            <a:prstDash val="solid"/>
          </a:ln>
        </p:spPr>
      </p:sp>
      <p:sp>
        <p:nvSpPr>
          <p:cNvPr id="12" name="Text 10"/>
          <p:cNvSpPr txBox="1"/>
          <p:nvPr/>
        </p:nvSpPr>
        <p:spPr>
          <a:xfrm>
            <a:off x="2926080" y="3163824"/>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I</a:t>
            </a:r>
            <a:endParaRPr lang="en-US" sz="2400" dirty="0"/>
          </a:p>
        </p:txBody>
      </p:sp>
      <p:sp>
        <p:nvSpPr>
          <p:cNvPr id="13" name="Text 11"/>
          <p:cNvSpPr txBox="1"/>
          <p:nvPr/>
        </p:nvSpPr>
        <p:spPr>
          <a:xfrm>
            <a:off x="3886200" y="3163824"/>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expects more</a:t>
            </a:r>
            <a:endParaRPr lang="en-US" sz="3000" dirty="0"/>
          </a:p>
        </p:txBody>
      </p:sp>
      <p:sp>
        <p:nvSpPr>
          <p:cNvPr id="14" name="Shape 12"/>
          <p:cNvSpPr/>
          <p:nvPr/>
        </p:nvSpPr>
        <p:spPr>
          <a:xfrm>
            <a:off x="2926080" y="4151376"/>
            <a:ext cx="685800" cy="685800"/>
          </a:xfrm>
          <a:prstGeom prst="ellipse">
            <a:avLst/>
          </a:prstGeom>
          <a:solidFill>
            <a:srgbClr val="1E4A4A"/>
          </a:solidFill>
          <a:ln w="12700">
            <a:solidFill>
              <a:srgbClr val="1E4A4A"/>
            </a:solidFill>
            <a:prstDash val="solid"/>
          </a:ln>
        </p:spPr>
      </p:sp>
      <p:sp>
        <p:nvSpPr>
          <p:cNvPr id="15" name="Text 13"/>
          <p:cNvSpPr txBox="1"/>
          <p:nvPr/>
        </p:nvSpPr>
        <p:spPr>
          <a:xfrm>
            <a:off x="2926080" y="4151376"/>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C</a:t>
            </a:r>
            <a:endParaRPr lang="en-US" sz="2400" dirty="0"/>
          </a:p>
        </p:txBody>
      </p:sp>
      <p:sp>
        <p:nvSpPr>
          <p:cNvPr id="16" name="Text 14"/>
          <p:cNvSpPr txBox="1"/>
          <p:nvPr/>
        </p:nvSpPr>
        <p:spPr>
          <a:xfrm>
            <a:off x="3886200" y="4151376"/>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Her words match her capability</a:t>
            </a:r>
            <a:endParaRPr lang="en-US" sz="3000" dirty="0"/>
          </a:p>
        </p:txBody>
      </p:sp>
      <p:sp>
        <p:nvSpPr>
          <p:cNvPr id="17" name="Shape 15"/>
          <p:cNvSpPr/>
          <p:nvPr/>
        </p:nvSpPr>
        <p:spPr>
          <a:xfrm>
            <a:off x="2926080" y="5138928"/>
            <a:ext cx="685800" cy="685800"/>
          </a:xfrm>
          <a:prstGeom prst="ellipse">
            <a:avLst/>
          </a:prstGeom>
          <a:solidFill>
            <a:srgbClr val="1E4A4A"/>
          </a:solidFill>
          <a:ln w="12700">
            <a:solidFill>
              <a:srgbClr val="1E4A4A"/>
            </a:solidFill>
            <a:prstDash val="solid"/>
          </a:ln>
        </p:spPr>
      </p:sp>
      <p:sp>
        <p:nvSpPr>
          <p:cNvPr id="18" name="Text 16"/>
          <p:cNvSpPr txBox="1"/>
          <p:nvPr/>
        </p:nvSpPr>
        <p:spPr>
          <a:xfrm>
            <a:off x="2926080" y="5138928"/>
            <a:ext cx="685800" cy="685800"/>
          </a:xfrm>
          <a:prstGeom prst="rect">
            <a:avLst/>
          </a:prstGeom>
          <a:noFill/>
          <a:ln/>
        </p:spPr>
        <p:txBody>
          <a:bodyPr wrap="square" lIns="0" tIns="0" rIns="0" bIns="0" rtlCol="0" anchor="ctr">
            <a:normAutofit/>
          </a:bodyPr>
          <a:lstStyle/>
          <a:p>
            <a:pPr algn="ctr" indent="0" marL="0">
              <a:lnSpc>
                <a:spcPct val="105000"/>
              </a:lnSpc>
              <a:buNone/>
            </a:pPr>
            <a:r>
              <a:rPr lang="en-US" sz="2400" b="1" dirty="0">
                <a:solidFill>
                  <a:srgbClr val="FFFFFF"/>
                </a:solidFill>
                <a:latin typeface="DM Sans" pitchFamily="34" charset="0"/>
                <a:ea typeface="DM Sans" pitchFamily="34" charset="-122"/>
                <a:cs typeface="DM Sans" pitchFamily="34" charset="-120"/>
              </a:rPr>
              <a:t>E</a:t>
            </a:r>
            <a:endParaRPr lang="en-US" sz="2400" dirty="0"/>
          </a:p>
        </p:txBody>
      </p:sp>
      <p:sp>
        <p:nvSpPr>
          <p:cNvPr id="19" name="Text 17"/>
          <p:cNvSpPr txBox="1"/>
          <p:nvPr/>
        </p:nvSpPr>
        <p:spPr>
          <a:xfrm>
            <a:off x="3886200" y="5138928"/>
            <a:ext cx="6858000" cy="685800"/>
          </a:xfrm>
          <a:prstGeom prst="rect">
            <a:avLst/>
          </a:prstGeom>
          <a:noFill/>
          <a:ln/>
        </p:spPr>
        <p:txBody>
          <a:bodyPr wrap="square" lIns="0" tIns="0" rIns="0" bIns="0" rtlCol="0" anchor="ctr">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acts, even when it's uncomfortable</a:t>
            </a:r>
            <a:endParaRPr lang="en-US" sz="3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5730088" y="1828800"/>
            <a:ext cx="731520" cy="0"/>
          </a:xfrm>
          <a:prstGeom prst="line">
            <a:avLst/>
          </a:prstGeom>
          <a:noFill/>
          <a:ln w="19050">
            <a:solidFill>
              <a:srgbClr val="8AAF8A"/>
            </a:solidFill>
            <a:prstDash val="solid"/>
          </a:ln>
        </p:spPr>
      </p:sp>
      <p:sp>
        <p:nvSpPr>
          <p:cNvPr id="3" name="Text 1"/>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600" dirty="0">
                <a:solidFill>
                  <a:srgbClr val="1E4A4A"/>
                </a:solidFill>
                <a:latin typeface="Cormorant Garamond" pitchFamily="34" charset="0"/>
                <a:ea typeface="Cormorant Garamond" pitchFamily="34" charset="-122"/>
                <a:cs typeface="Cormorant Garamond" pitchFamily="34" charset="-120"/>
              </a:rPr>
              <a:t>Which letter </a:t>
            </a:r>
            <a:pPr algn="ctr" indent="0" marL="0">
              <a:lnSpc>
                <a:spcPct val="100000"/>
              </a:lnSpc>
              <a:buNone/>
            </a:pPr>
            <a:r>
              <a:rPr lang="en-US" sz="4600" b="1" dirty="0">
                <a:solidFill>
                  <a:srgbClr val="5C8A64"/>
                </a:solidFill>
                <a:latin typeface="Cormorant Garamond" pitchFamily="34" charset="0"/>
                <a:ea typeface="Cormorant Garamond" pitchFamily="34" charset="-122"/>
                <a:cs typeface="Cormorant Garamond" pitchFamily="34" charset="-120"/>
              </a:rPr>
              <a:t>hit you hardest?</a:t>
            </a:r>
            <a:endParaRPr lang="en-US" sz="4600" dirty="0"/>
          </a:p>
        </p:txBody>
      </p:sp>
      <p:sp>
        <p:nvSpPr>
          <p:cNvPr id="4" name="Text 2"/>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Type V, O, I, C or E in the chat.</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214884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PART FOUR</a:t>
            </a:r>
            <a:endParaRPr lang="en-US" sz="1200" dirty="0"/>
          </a:p>
        </p:txBody>
      </p:sp>
      <p:sp>
        <p:nvSpPr>
          <p:cNvPr id="4" name="Shape 2"/>
          <p:cNvSpPr/>
          <p:nvPr/>
        </p:nvSpPr>
        <p:spPr>
          <a:xfrm>
            <a:off x="5730088" y="2606040"/>
            <a:ext cx="731520" cy="0"/>
          </a:xfrm>
          <a:prstGeom prst="line">
            <a:avLst/>
          </a:prstGeom>
          <a:noFill/>
          <a:ln w="19050">
            <a:solidFill>
              <a:srgbClr val="8AAF8A"/>
            </a:solidFill>
            <a:prstDash val="solid"/>
          </a:ln>
        </p:spPr>
      </p:sp>
      <p:sp>
        <p:nvSpPr>
          <p:cNvPr id="5" name="Text 3"/>
          <p:cNvSpPr txBox="1"/>
          <p:nvPr/>
        </p:nvSpPr>
        <p:spPr>
          <a:xfrm>
            <a:off x="1097280" y="2788920"/>
            <a:ext cx="9997135" cy="1371600"/>
          </a:xfrm>
          <a:prstGeom prst="rect">
            <a:avLst/>
          </a:prstGeom>
          <a:noFill/>
          <a:ln/>
        </p:spPr>
        <p:txBody>
          <a:bodyPr wrap="square" lIns="0" tIns="0" rIns="0" bIns="0" rtlCol="0" anchor="ctr">
            <a:normAutofit/>
          </a:bodyPr>
          <a:lstStyle/>
          <a:p>
            <a:pPr algn="ctr" indent="0" marL="0">
              <a:lnSpc>
                <a:spcPct val="105000"/>
              </a:lnSpc>
              <a:buNone/>
            </a:pPr>
            <a:r>
              <a:rPr lang="en-US" sz="5000" dirty="0">
                <a:solidFill>
                  <a:srgbClr val="FFFFFF"/>
                </a:solidFill>
                <a:latin typeface="Cormorant Garamond" pitchFamily="34" charset="0"/>
                <a:ea typeface="Cormorant Garamond" pitchFamily="34" charset="-122"/>
                <a:cs typeface="Cormorant Garamond" pitchFamily="34" charset="-120"/>
              </a:rPr>
              <a:t>Women Who Closed the Gap</a:t>
            </a:r>
            <a:endParaRPr lang="en-US" sz="5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731520"/>
            <a:ext cx="3383280" cy="5394960"/>
          </a:xfrm>
          <a:prstGeom prst="rect">
            <a:avLst/>
          </a:prstGeom>
          <a:solidFill>
            <a:srgbClr val="EEF4EC"/>
          </a:solidFill>
          <a:ln w="12700">
            <a:solidFill>
              <a:srgbClr val="8AAF8A"/>
            </a:solidFill>
            <a:prstDash val="dash"/>
          </a:ln>
        </p:spPr>
      </p:sp>
      <p:sp>
        <p:nvSpPr>
          <p:cNvPr id="3" name="Text 1"/>
          <p:cNvSpPr txBox="1"/>
          <p:nvPr/>
        </p:nvSpPr>
        <p:spPr>
          <a:xfrm>
            <a:off x="968350" y="968350"/>
            <a:ext cx="2909621"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968350" y="1288390"/>
            <a:ext cx="2909621"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Shelly headshot. </a:t>
            </a:r>
            <a:pPr algn="l" indent="0" marL="0">
              <a:lnSpc>
                <a:spcPct val="110000"/>
              </a:lnSpc>
              <a:buNone/>
            </a:pPr>
            <a:r>
              <a:rPr lang="en-US" sz="1050" b="1" dirty="0">
                <a:solidFill>
                  <a:srgbClr val="B85042"/>
                </a:solidFill>
                <a:latin typeface="DM Sans" pitchFamily="34" charset="0"/>
                <a:ea typeface="DM Sans" pitchFamily="34" charset="-122"/>
                <a:cs typeface="DM Sans" pitchFamily="34" charset="-120"/>
              </a:rPr>
              <a:t>[PLACEHOLDER: client photo + written consent]</a:t>
            </a:r>
            <a:endParaRPr lang="en-US" sz="1050" dirty="0"/>
          </a:p>
        </p:txBody>
      </p:sp>
      <p:sp>
        <p:nvSpPr>
          <p:cNvPr id="5" name="Text 3"/>
          <p:cNvSpPr txBox="1"/>
          <p:nvPr/>
        </p:nvSpPr>
        <p:spPr>
          <a:xfrm>
            <a:off x="4572000" y="822960"/>
            <a:ext cx="69494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WHERE IT STARTED</a:t>
            </a:r>
            <a:endParaRPr lang="en-US" sz="1200" dirty="0"/>
          </a:p>
        </p:txBody>
      </p:sp>
      <p:sp>
        <p:nvSpPr>
          <p:cNvPr id="6" name="Text 4"/>
          <p:cNvSpPr txBox="1"/>
          <p:nvPr/>
        </p:nvSpPr>
        <p:spPr>
          <a:xfrm>
            <a:off x="4572000" y="1188720"/>
            <a:ext cx="6949440"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Shelly</a:t>
            </a:r>
            <a:endParaRPr lang="en-US" sz="4800" dirty="0"/>
          </a:p>
        </p:txBody>
      </p:sp>
      <p:sp>
        <p:nvSpPr>
          <p:cNvPr id="7" name="Shape 5"/>
          <p:cNvSpPr/>
          <p:nvPr/>
        </p:nvSpPr>
        <p:spPr>
          <a:xfrm>
            <a:off x="4572000" y="2148840"/>
            <a:ext cx="731520" cy="0"/>
          </a:xfrm>
          <a:prstGeom prst="line">
            <a:avLst/>
          </a:prstGeom>
          <a:noFill/>
          <a:ln w="19050">
            <a:solidFill>
              <a:srgbClr val="8AAF8A"/>
            </a:solidFill>
            <a:prstDash val="solid"/>
          </a:ln>
        </p:spPr>
      </p:sp>
      <p:sp>
        <p:nvSpPr>
          <p:cNvPr id="8" name="Text 6"/>
          <p:cNvSpPr txBox="1"/>
          <p:nvPr/>
        </p:nvSpPr>
        <p:spPr>
          <a:xfrm>
            <a:off x="4572000" y="2377440"/>
            <a:ext cx="6949440" cy="1280160"/>
          </a:xfrm>
          <a:prstGeom prst="rect">
            <a:avLst/>
          </a:prstGeom>
          <a:noFill/>
          <a:ln/>
        </p:spPr>
        <p:txBody>
          <a:bodyPr wrap="square" lIns="0" tIns="0" rIns="0" bIns="0" rtlCol="0" anchor="t">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Highly accomplished. </a:t>
            </a:r>
            <a:pPr algn="l" indent="0" marL="0">
              <a:lnSpc>
                <a:spcPct val="105000"/>
              </a:lnSpc>
              <a:buNone/>
            </a:pPr>
            <a:r>
              <a:rPr lang="en-US" sz="3000" b="1" dirty="0">
                <a:solidFill>
                  <a:srgbClr val="5C8A64"/>
                </a:solidFill>
                <a:latin typeface="Cormorant Garamond" pitchFamily="34" charset="0"/>
                <a:ea typeface="Cormorant Garamond" pitchFamily="34" charset="-122"/>
                <a:cs typeface="Cormorant Garamond" pitchFamily="34" charset="-120"/>
              </a:rPr>
              <a:t>Knew she was underpaid.</a:t>
            </a:r>
            <a:endParaRPr lang="en-US" sz="3000" dirty="0"/>
          </a:p>
        </p:txBody>
      </p:sp>
      <p:sp>
        <p:nvSpPr>
          <p:cNvPr id="9" name="Text 7"/>
          <p:cNvSpPr txBox="1"/>
          <p:nvPr/>
        </p:nvSpPr>
        <p:spPr>
          <a:xfrm>
            <a:off x="4572000" y="3749040"/>
            <a:ext cx="6675120"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An accomplished executive who believed her work should speak for itself.</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2377440" y="822960"/>
            <a:ext cx="7436815"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CHANGED</a:t>
            </a:r>
            <a:endParaRPr lang="en-US" sz="1200" dirty="0"/>
          </a:p>
        </p:txBody>
      </p:sp>
      <p:sp>
        <p:nvSpPr>
          <p:cNvPr id="3" name="Text 1"/>
          <p:cNvSpPr txBox="1"/>
          <p:nvPr/>
        </p:nvSpPr>
        <p:spPr>
          <a:xfrm>
            <a:off x="2377440" y="1188720"/>
            <a:ext cx="7436815"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Shelly</a:t>
            </a:r>
            <a:endParaRPr lang="en-US" sz="4800" dirty="0"/>
          </a:p>
        </p:txBody>
      </p:sp>
      <p:sp>
        <p:nvSpPr>
          <p:cNvPr id="4" name="Shape 2"/>
          <p:cNvSpPr/>
          <p:nvPr/>
        </p:nvSpPr>
        <p:spPr>
          <a:xfrm>
            <a:off x="2377440" y="2148840"/>
            <a:ext cx="731520" cy="0"/>
          </a:xfrm>
          <a:prstGeom prst="line">
            <a:avLst/>
          </a:prstGeom>
          <a:noFill/>
          <a:ln w="19050">
            <a:solidFill>
              <a:srgbClr val="8AAF8A"/>
            </a:solidFill>
            <a:prstDash val="solid"/>
          </a:ln>
        </p:spPr>
      </p:sp>
      <p:sp>
        <p:nvSpPr>
          <p:cNvPr id="5" name="Text 3"/>
          <p:cNvSpPr txBox="1"/>
          <p:nvPr/>
        </p:nvSpPr>
        <p:spPr>
          <a:xfrm>
            <a:off x="2377440" y="2377440"/>
            <a:ext cx="7436815" cy="1280160"/>
          </a:xfrm>
          <a:prstGeom prst="rect">
            <a:avLst/>
          </a:prstGeom>
          <a:noFill/>
          <a:ln/>
        </p:spPr>
        <p:txBody>
          <a:bodyPr wrap="square" lIns="0" tIns="0" rIns="0" bIns="0" rtlCol="0" anchor="t">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saw her value, </a:t>
            </a:r>
            <a:pPr algn="l" indent="0" marL="0">
              <a:lnSpc>
                <a:spcPct val="105000"/>
              </a:lnSpc>
              <a:buNone/>
            </a:pPr>
            <a:r>
              <a:rPr lang="en-US" sz="3000" b="1" dirty="0">
                <a:solidFill>
                  <a:srgbClr val="5C8A64"/>
                </a:solidFill>
                <a:latin typeface="Cormorant Garamond" pitchFamily="34" charset="0"/>
                <a:ea typeface="Cormorant Garamond" pitchFamily="34" charset="-122"/>
                <a:cs typeface="Cormorant Garamond" pitchFamily="34" charset="-120"/>
              </a:rPr>
              <a:t>and then she said it.</a:t>
            </a:r>
            <a:endParaRPr lang="en-US" sz="3000" dirty="0"/>
          </a:p>
        </p:txBody>
      </p:sp>
      <p:sp>
        <p:nvSpPr>
          <p:cNvPr id="6" name="Text 4"/>
          <p:cNvSpPr txBox="1"/>
          <p:nvPr/>
        </p:nvSpPr>
        <p:spPr>
          <a:xfrm>
            <a:off x="2377440" y="3749040"/>
            <a:ext cx="7162495"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We shifted her strategy and the way she saw herself. Once she understood her market value, she could communicate it with confidence.</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2377440" y="822960"/>
            <a:ext cx="7436815"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WHERE SHE IS NOW</a:t>
            </a:r>
            <a:endParaRPr lang="en-US" sz="1200" dirty="0"/>
          </a:p>
        </p:txBody>
      </p:sp>
      <p:sp>
        <p:nvSpPr>
          <p:cNvPr id="3" name="Text 1"/>
          <p:cNvSpPr txBox="1"/>
          <p:nvPr/>
        </p:nvSpPr>
        <p:spPr>
          <a:xfrm>
            <a:off x="2377440" y="1188720"/>
            <a:ext cx="7436815"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Shelly</a:t>
            </a:r>
            <a:endParaRPr lang="en-US" sz="4800" dirty="0"/>
          </a:p>
        </p:txBody>
      </p:sp>
      <p:sp>
        <p:nvSpPr>
          <p:cNvPr id="4" name="Shape 2"/>
          <p:cNvSpPr/>
          <p:nvPr/>
        </p:nvSpPr>
        <p:spPr>
          <a:xfrm>
            <a:off x="2377440" y="2148840"/>
            <a:ext cx="731520" cy="0"/>
          </a:xfrm>
          <a:prstGeom prst="line">
            <a:avLst/>
          </a:prstGeom>
          <a:noFill/>
          <a:ln w="19050">
            <a:solidFill>
              <a:srgbClr val="8AAF8A"/>
            </a:solidFill>
            <a:prstDash val="solid"/>
          </a:ln>
        </p:spPr>
      </p:sp>
      <p:sp>
        <p:nvSpPr>
          <p:cNvPr id="5" name="Text 3"/>
          <p:cNvSpPr txBox="1"/>
          <p:nvPr/>
        </p:nvSpPr>
        <p:spPr>
          <a:xfrm>
            <a:off x="2377440" y="2377440"/>
            <a:ext cx="7436815" cy="1005840"/>
          </a:xfrm>
          <a:prstGeom prst="rect">
            <a:avLst/>
          </a:prstGeom>
          <a:noFill/>
          <a:ln/>
        </p:spPr>
        <p:txBody>
          <a:bodyPr wrap="square" lIns="0" tIns="0" rIns="0" bIns="0" rtlCol="0" anchor="ctr">
            <a:normAutofit/>
          </a:bodyPr>
          <a:lstStyle/>
          <a:p>
            <a:pPr algn="l" indent="0" marL="0">
              <a:lnSpc>
                <a:spcPct val="105000"/>
              </a:lnSpc>
              <a:buNone/>
            </a:pPr>
            <a:r>
              <a:rPr lang="en-US" sz="5200" b="1" dirty="0">
                <a:solidFill>
                  <a:srgbClr val="5C8A64"/>
                </a:solidFill>
                <a:latin typeface="Cormorant Garamond" pitchFamily="34" charset="0"/>
                <a:ea typeface="Cormorant Garamond" pitchFamily="34" charset="-122"/>
                <a:cs typeface="Cormorant Garamond" pitchFamily="34" charset="-120"/>
              </a:rPr>
              <a:t>$225K → $435K</a:t>
            </a:r>
            <a:endParaRPr lang="en-US" sz="5200" dirty="0"/>
          </a:p>
        </p:txBody>
      </p:sp>
      <p:sp>
        <p:nvSpPr>
          <p:cNvPr id="6" name="Text 4"/>
          <p:cNvSpPr txBox="1"/>
          <p:nvPr/>
        </p:nvSpPr>
        <p:spPr>
          <a:xfrm>
            <a:off x="2377440" y="3520440"/>
            <a:ext cx="7436815" cy="1280160"/>
          </a:xfrm>
          <a:prstGeom prst="rect">
            <a:avLst/>
          </a:prstGeom>
          <a:noFill/>
          <a:ln/>
        </p:spPr>
        <p:txBody>
          <a:bodyPr wrap="square" lIns="0" tIns="0" rIns="0" bIns="0" rtlCol="0" anchor="t">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stopped </a:t>
            </a:r>
            <a:pPr algn="l" indent="0" marL="0">
              <a:lnSpc>
                <a:spcPct val="105000"/>
              </a:lnSpc>
              <a:buNone/>
            </a:pPr>
            <a:r>
              <a:rPr lang="en-US" sz="3000" b="1" dirty="0">
                <a:solidFill>
                  <a:srgbClr val="5C8A64"/>
                </a:solidFill>
                <a:latin typeface="Cormorant Garamond" pitchFamily="34" charset="0"/>
                <a:ea typeface="Cormorant Garamond" pitchFamily="34" charset="-122"/>
                <a:cs typeface="Cormorant Garamond" pitchFamily="34" charset="-120"/>
              </a:rPr>
              <a:t>waiting for permission.</a:t>
            </a:r>
            <a:endParaRPr lang="en-US" sz="3000" dirty="0"/>
          </a:p>
        </p:txBody>
      </p:sp>
      <p:sp>
        <p:nvSpPr>
          <p:cNvPr id="7" name="Text 5"/>
          <p:cNvSpPr txBox="1"/>
          <p:nvPr/>
        </p:nvSpPr>
        <p:spPr>
          <a:xfrm>
            <a:off x="2377440" y="4892040"/>
            <a:ext cx="7162495"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She now makes every career decision from ownership instead of fear. </a:t>
            </a:r>
            <a:pPr algn="l" indent="0" marL="0">
              <a:lnSpc>
                <a:spcPct val="120000"/>
              </a:lnSpc>
              <a:buNone/>
            </a:pPr>
            <a:r>
              <a:rPr lang="en-US" sz="1600" b="1" dirty="0">
                <a:solidFill>
                  <a:srgbClr val="B85042"/>
                </a:solidFill>
                <a:latin typeface="DM Sans" pitchFamily="34" charset="0"/>
                <a:ea typeface="DM Sans" pitchFamily="34" charset="-122"/>
                <a:cs typeface="DM Sans" pitchFamily="34" charset="-120"/>
              </a:rPr>
              <a:t>[PLACEHOLDER: swap for Shelly's own words or video]</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731520"/>
            <a:ext cx="3383280" cy="5394960"/>
          </a:xfrm>
          <a:prstGeom prst="rect">
            <a:avLst/>
          </a:prstGeom>
          <a:solidFill>
            <a:srgbClr val="EEF4EC"/>
          </a:solidFill>
          <a:ln w="12700">
            <a:solidFill>
              <a:srgbClr val="8AAF8A"/>
            </a:solidFill>
            <a:prstDash val="dash"/>
          </a:ln>
        </p:spPr>
      </p:sp>
      <p:sp>
        <p:nvSpPr>
          <p:cNvPr id="3" name="Text 1"/>
          <p:cNvSpPr txBox="1"/>
          <p:nvPr/>
        </p:nvSpPr>
        <p:spPr>
          <a:xfrm>
            <a:off x="968350" y="968350"/>
            <a:ext cx="2909621"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968350" y="1288390"/>
            <a:ext cx="2909621"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Nina headshot. </a:t>
            </a:r>
            <a:pPr algn="l" indent="0" marL="0">
              <a:lnSpc>
                <a:spcPct val="110000"/>
              </a:lnSpc>
              <a:buNone/>
            </a:pPr>
            <a:r>
              <a:rPr lang="en-US" sz="1050" b="1" dirty="0">
                <a:solidFill>
                  <a:srgbClr val="B85042"/>
                </a:solidFill>
                <a:latin typeface="DM Sans" pitchFamily="34" charset="0"/>
                <a:ea typeface="DM Sans" pitchFamily="34" charset="-122"/>
                <a:cs typeface="DM Sans" pitchFamily="34" charset="-120"/>
              </a:rPr>
              <a:t>[PLACEHOLDER: client photo + written consent]</a:t>
            </a:r>
            <a:endParaRPr lang="en-US" sz="1050" dirty="0"/>
          </a:p>
        </p:txBody>
      </p:sp>
      <p:sp>
        <p:nvSpPr>
          <p:cNvPr id="5" name="Text 3"/>
          <p:cNvSpPr txBox="1"/>
          <p:nvPr/>
        </p:nvSpPr>
        <p:spPr>
          <a:xfrm>
            <a:off x="4572000" y="822960"/>
            <a:ext cx="69494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WHERE IT STARTED</a:t>
            </a:r>
            <a:endParaRPr lang="en-US" sz="1200" dirty="0"/>
          </a:p>
        </p:txBody>
      </p:sp>
      <p:sp>
        <p:nvSpPr>
          <p:cNvPr id="6" name="Text 4"/>
          <p:cNvSpPr txBox="1"/>
          <p:nvPr/>
        </p:nvSpPr>
        <p:spPr>
          <a:xfrm>
            <a:off x="4572000" y="1188720"/>
            <a:ext cx="6949440"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Nina</a:t>
            </a:r>
            <a:endParaRPr lang="en-US" sz="4800" dirty="0"/>
          </a:p>
        </p:txBody>
      </p:sp>
      <p:sp>
        <p:nvSpPr>
          <p:cNvPr id="7" name="Shape 5"/>
          <p:cNvSpPr/>
          <p:nvPr/>
        </p:nvSpPr>
        <p:spPr>
          <a:xfrm>
            <a:off x="4572000" y="2148840"/>
            <a:ext cx="731520" cy="0"/>
          </a:xfrm>
          <a:prstGeom prst="line">
            <a:avLst/>
          </a:prstGeom>
          <a:noFill/>
          <a:ln w="19050">
            <a:solidFill>
              <a:srgbClr val="8AAF8A"/>
            </a:solidFill>
            <a:prstDash val="solid"/>
          </a:ln>
        </p:spPr>
      </p:sp>
      <p:sp>
        <p:nvSpPr>
          <p:cNvPr id="8" name="Text 6"/>
          <p:cNvSpPr txBox="1"/>
          <p:nvPr/>
        </p:nvSpPr>
        <p:spPr>
          <a:xfrm>
            <a:off x="4572000" y="2377440"/>
            <a:ext cx="6949440" cy="1280160"/>
          </a:xfrm>
          <a:prstGeom prst="rect">
            <a:avLst/>
          </a:prstGeom>
          <a:noFill/>
          <a:ln/>
        </p:spPr>
        <p:txBody>
          <a:bodyPr wrap="square" lIns="0" tIns="0" rIns="0" bIns="0" rtlCol="0" anchor="t">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Exceptional work. </a:t>
            </a:r>
            <a:pPr algn="l" indent="0" marL="0">
              <a:lnSpc>
                <a:spcPct val="105000"/>
              </a:lnSpc>
              <a:buNone/>
            </a:pPr>
            <a:r>
              <a:rPr lang="en-US" sz="3000" b="1" dirty="0">
                <a:solidFill>
                  <a:srgbClr val="5C8A64"/>
                </a:solidFill>
                <a:latin typeface="Cormorant Garamond" pitchFamily="34" charset="0"/>
                <a:ea typeface="Cormorant Garamond" pitchFamily="34" charset="-122"/>
                <a:cs typeface="Cormorant Garamond" pitchFamily="34" charset="-120"/>
              </a:rPr>
              <a:t>Overlooked anyway.</a:t>
            </a:r>
            <a:endParaRPr lang="en-US" sz="3000" dirty="0"/>
          </a:p>
        </p:txBody>
      </p:sp>
      <p:sp>
        <p:nvSpPr>
          <p:cNvPr id="9" name="Text 7"/>
          <p:cNvSpPr txBox="1"/>
          <p:nvPr/>
        </p:nvSpPr>
        <p:spPr>
          <a:xfrm>
            <a:off x="4572000" y="3749040"/>
            <a:ext cx="6675120"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Years of success, and she still questioned her value.</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2377440" y="822960"/>
            <a:ext cx="7436815"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CHANGED</a:t>
            </a:r>
            <a:endParaRPr lang="en-US" sz="1200" dirty="0"/>
          </a:p>
        </p:txBody>
      </p:sp>
      <p:sp>
        <p:nvSpPr>
          <p:cNvPr id="3" name="Text 1"/>
          <p:cNvSpPr txBox="1"/>
          <p:nvPr/>
        </p:nvSpPr>
        <p:spPr>
          <a:xfrm>
            <a:off x="2377440" y="1188720"/>
            <a:ext cx="7436815"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Nina</a:t>
            </a:r>
            <a:endParaRPr lang="en-US" sz="4800" dirty="0"/>
          </a:p>
        </p:txBody>
      </p:sp>
      <p:sp>
        <p:nvSpPr>
          <p:cNvPr id="4" name="Shape 2"/>
          <p:cNvSpPr/>
          <p:nvPr/>
        </p:nvSpPr>
        <p:spPr>
          <a:xfrm>
            <a:off x="2377440" y="2148840"/>
            <a:ext cx="731520" cy="0"/>
          </a:xfrm>
          <a:prstGeom prst="line">
            <a:avLst/>
          </a:prstGeom>
          <a:noFill/>
          <a:ln w="19050">
            <a:solidFill>
              <a:srgbClr val="8AAF8A"/>
            </a:solidFill>
            <a:prstDash val="solid"/>
          </a:ln>
        </p:spPr>
      </p:sp>
      <p:sp>
        <p:nvSpPr>
          <p:cNvPr id="5" name="Text 3"/>
          <p:cNvSpPr txBox="1"/>
          <p:nvPr/>
        </p:nvSpPr>
        <p:spPr>
          <a:xfrm>
            <a:off x="2377440" y="2377440"/>
            <a:ext cx="7436815" cy="1280160"/>
          </a:xfrm>
          <a:prstGeom prst="rect">
            <a:avLst/>
          </a:prstGeom>
          <a:noFill/>
          <a:ln/>
        </p:spPr>
        <p:txBody>
          <a:bodyPr wrap="square" lIns="0" tIns="0" rIns="0" bIns="0" rtlCol="0" anchor="t">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learned to articulate </a:t>
            </a:r>
            <a:pPr algn="l" indent="0" marL="0">
              <a:lnSpc>
                <a:spcPct val="105000"/>
              </a:lnSpc>
              <a:buNone/>
            </a:pPr>
            <a:r>
              <a:rPr lang="en-US" sz="3000" b="1" dirty="0">
                <a:solidFill>
                  <a:srgbClr val="5C8A64"/>
                </a:solidFill>
                <a:latin typeface="Cormorant Garamond" pitchFamily="34" charset="0"/>
                <a:ea typeface="Cormorant Garamond" pitchFamily="34" charset="-122"/>
                <a:cs typeface="Cormorant Garamond" pitchFamily="34" charset="-120"/>
              </a:rPr>
              <a:t>the impact she created.</a:t>
            </a:r>
            <a:endParaRPr lang="en-US" sz="3000" dirty="0"/>
          </a:p>
        </p:txBody>
      </p:sp>
      <p:sp>
        <p:nvSpPr>
          <p:cNvPr id="6" name="Text 4"/>
          <p:cNvSpPr txBox="1"/>
          <p:nvPr/>
        </p:nvSpPr>
        <p:spPr>
          <a:xfrm>
            <a:off x="2377440" y="3749040"/>
            <a:ext cx="7162495"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She began communicating with more authority and stopped minimizing what she'd done.</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2377440" y="822960"/>
            <a:ext cx="7436815"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WHERE SHE IS NOW</a:t>
            </a:r>
            <a:endParaRPr lang="en-US" sz="1200" dirty="0"/>
          </a:p>
        </p:txBody>
      </p:sp>
      <p:sp>
        <p:nvSpPr>
          <p:cNvPr id="3" name="Text 1"/>
          <p:cNvSpPr txBox="1"/>
          <p:nvPr/>
        </p:nvSpPr>
        <p:spPr>
          <a:xfrm>
            <a:off x="2377440" y="1188720"/>
            <a:ext cx="7436815"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Nina</a:t>
            </a:r>
            <a:endParaRPr lang="en-US" sz="4800" dirty="0"/>
          </a:p>
        </p:txBody>
      </p:sp>
      <p:sp>
        <p:nvSpPr>
          <p:cNvPr id="4" name="Shape 2"/>
          <p:cNvSpPr/>
          <p:nvPr/>
        </p:nvSpPr>
        <p:spPr>
          <a:xfrm>
            <a:off x="2377440" y="2148840"/>
            <a:ext cx="731520" cy="0"/>
          </a:xfrm>
          <a:prstGeom prst="line">
            <a:avLst/>
          </a:prstGeom>
          <a:noFill/>
          <a:ln w="19050">
            <a:solidFill>
              <a:srgbClr val="8AAF8A"/>
            </a:solidFill>
            <a:prstDash val="solid"/>
          </a:ln>
        </p:spPr>
      </p:sp>
      <p:sp>
        <p:nvSpPr>
          <p:cNvPr id="5" name="Text 3"/>
          <p:cNvSpPr txBox="1"/>
          <p:nvPr/>
        </p:nvSpPr>
        <p:spPr>
          <a:xfrm>
            <a:off x="2377440" y="2377440"/>
            <a:ext cx="7436815" cy="1005840"/>
          </a:xfrm>
          <a:prstGeom prst="rect">
            <a:avLst/>
          </a:prstGeom>
          <a:noFill/>
          <a:ln/>
        </p:spPr>
        <p:txBody>
          <a:bodyPr wrap="square" lIns="0" tIns="0" rIns="0" bIns="0" rtlCol="0" anchor="ctr">
            <a:normAutofit/>
          </a:bodyPr>
          <a:lstStyle/>
          <a:p>
            <a:pPr algn="l" indent="0" marL="0">
              <a:lnSpc>
                <a:spcPct val="105000"/>
              </a:lnSpc>
              <a:buNone/>
            </a:pPr>
            <a:r>
              <a:rPr lang="en-US" sz="5200" b="1" dirty="0">
                <a:solidFill>
                  <a:srgbClr val="5C8A64"/>
                </a:solidFill>
                <a:latin typeface="Cormorant Garamond" pitchFamily="34" charset="0"/>
                <a:ea typeface="Cormorant Garamond" pitchFamily="34" charset="-122"/>
                <a:cs typeface="Cormorant Garamond" pitchFamily="34" charset="-120"/>
              </a:rPr>
              <a:t>$185K → $215K</a:t>
            </a:r>
            <a:endParaRPr lang="en-US" sz="5200" dirty="0"/>
          </a:p>
        </p:txBody>
      </p:sp>
      <p:sp>
        <p:nvSpPr>
          <p:cNvPr id="6" name="Text 4"/>
          <p:cNvSpPr txBox="1"/>
          <p:nvPr/>
        </p:nvSpPr>
        <p:spPr>
          <a:xfrm>
            <a:off x="2377440" y="3520440"/>
            <a:ext cx="7436815" cy="1280160"/>
          </a:xfrm>
          <a:prstGeom prst="rect">
            <a:avLst/>
          </a:prstGeom>
          <a:noFill/>
          <a:ln/>
        </p:spPr>
        <p:txBody>
          <a:bodyPr wrap="square" lIns="0" tIns="0" rIns="0" bIns="0" rtlCol="0" anchor="t">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Acting like </a:t>
            </a:r>
            <a:pPr algn="l" indent="0" marL="0">
              <a:lnSpc>
                <a:spcPct val="105000"/>
              </a:lnSpc>
              <a:buNone/>
            </a:pPr>
            <a:r>
              <a:rPr lang="en-US" sz="3000" b="1" dirty="0">
                <a:solidFill>
                  <a:srgbClr val="5C8A64"/>
                </a:solidFill>
                <a:latin typeface="Cormorant Garamond" pitchFamily="34" charset="0"/>
                <a:ea typeface="Cormorant Garamond" pitchFamily="34" charset="-122"/>
                <a:cs typeface="Cormorant Garamond" pitchFamily="34" charset="-120"/>
              </a:rPr>
              <a:t>the leader she already was.</a:t>
            </a:r>
            <a:endParaRPr lang="en-US" sz="3000" dirty="0"/>
          </a:p>
        </p:txBody>
      </p:sp>
      <p:sp>
        <p:nvSpPr>
          <p:cNvPr id="7" name="Text 5"/>
          <p:cNvSpPr txBox="1"/>
          <p:nvPr/>
        </p:nvSpPr>
        <p:spPr>
          <a:xfrm>
            <a:off x="2377440" y="4892040"/>
            <a:ext cx="7162495"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And positioned for executive leadership. </a:t>
            </a:r>
            <a:pPr algn="l" indent="0" marL="0">
              <a:lnSpc>
                <a:spcPct val="120000"/>
              </a:lnSpc>
              <a:buNone/>
            </a:pPr>
            <a:r>
              <a:rPr lang="en-US" sz="1600" b="1" dirty="0">
                <a:solidFill>
                  <a:srgbClr val="B85042"/>
                </a:solidFill>
                <a:latin typeface="DM Sans" pitchFamily="34" charset="0"/>
                <a:ea typeface="DM Sans" pitchFamily="34" charset="-122"/>
                <a:cs typeface="DM Sans" pitchFamily="34" charset="-120"/>
              </a:rPr>
              <a:t>[PLACEHOLDER: swap for Nina's own words or video]</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731520" y="731520"/>
            <a:ext cx="3383280" cy="5394960"/>
          </a:xfrm>
          <a:prstGeom prst="rect">
            <a:avLst/>
          </a:prstGeom>
          <a:solidFill>
            <a:srgbClr val="EEF4EC"/>
          </a:solidFill>
          <a:ln w="12700">
            <a:solidFill>
              <a:srgbClr val="8AAF8A"/>
            </a:solidFill>
            <a:prstDash val="dash"/>
          </a:ln>
        </p:spPr>
      </p:sp>
      <p:sp>
        <p:nvSpPr>
          <p:cNvPr id="3" name="Text 1"/>
          <p:cNvSpPr txBox="1"/>
          <p:nvPr/>
        </p:nvSpPr>
        <p:spPr>
          <a:xfrm>
            <a:off x="968350" y="968350"/>
            <a:ext cx="2909621" cy="274320"/>
          </a:xfrm>
          <a:prstGeom prst="rect">
            <a:avLst/>
          </a:prstGeom>
          <a:noFill/>
          <a:ln/>
        </p:spPr>
        <p:txBody>
          <a:bodyPr wrap="square" lIns="0" tIns="0" rIns="0" bIns="0" rtlCol="0" anchor="t">
            <a:normAutofit/>
          </a:bodyPr>
          <a:lstStyle/>
          <a:p>
            <a:pPr algn="l" indent="0" marL="0">
              <a:lnSpc>
                <a:spcPct val="105000"/>
              </a:lnSpc>
              <a:buNone/>
            </a:pPr>
            <a:r>
              <a:rPr lang="en-US" sz="1000" b="1" spc="300" kern="0" dirty="0">
                <a:solidFill>
                  <a:srgbClr val="5C8A64"/>
                </a:solidFill>
                <a:latin typeface="DM Sans" pitchFamily="34" charset="0"/>
                <a:ea typeface="DM Sans" pitchFamily="34" charset="-122"/>
                <a:cs typeface="DM Sans" pitchFamily="34" charset="-120"/>
              </a:rPr>
              <a:t>PHOTO</a:t>
            </a:r>
            <a:endParaRPr lang="en-US" sz="1000" dirty="0"/>
          </a:p>
        </p:txBody>
      </p:sp>
      <p:sp>
        <p:nvSpPr>
          <p:cNvPr id="4" name="Text 2"/>
          <p:cNvSpPr txBox="1"/>
          <p:nvPr/>
        </p:nvSpPr>
        <p:spPr>
          <a:xfrm>
            <a:off x="968350" y="1288390"/>
            <a:ext cx="2909621" cy="2194560"/>
          </a:xfrm>
          <a:prstGeom prst="rect">
            <a:avLst/>
          </a:prstGeom>
          <a:noFill/>
          <a:ln/>
        </p:spPr>
        <p:txBody>
          <a:bodyPr wrap="square" lIns="0" tIns="0" rIns="0" bIns="0" rtlCol="0" anchor="t">
            <a:normAutofit/>
          </a:bodyPr>
          <a:lstStyle/>
          <a:p>
            <a:pPr algn="l" indent="0" marL="0">
              <a:lnSpc>
                <a:spcPct val="110000"/>
              </a:lnSpc>
              <a:buNone/>
            </a:pPr>
            <a:r>
              <a:rPr lang="en-US" sz="1050" i="1" dirty="0">
                <a:solidFill>
                  <a:srgbClr val="5E6B68"/>
                </a:solidFill>
                <a:latin typeface="DM Sans" pitchFamily="34" charset="0"/>
                <a:ea typeface="DM Sans" pitchFamily="34" charset="-122"/>
                <a:cs typeface="DM Sans" pitchFamily="34" charset="-120"/>
              </a:rPr>
              <a:t>Erica headshot. </a:t>
            </a:r>
            <a:pPr algn="l" indent="0" marL="0">
              <a:lnSpc>
                <a:spcPct val="110000"/>
              </a:lnSpc>
              <a:buNone/>
            </a:pPr>
            <a:r>
              <a:rPr lang="en-US" sz="1050" b="1" dirty="0">
                <a:solidFill>
                  <a:srgbClr val="B85042"/>
                </a:solidFill>
                <a:latin typeface="DM Sans" pitchFamily="34" charset="0"/>
                <a:ea typeface="DM Sans" pitchFamily="34" charset="-122"/>
                <a:cs typeface="DM Sans" pitchFamily="34" charset="-120"/>
              </a:rPr>
              <a:t>[PLACEHOLDER: client photo + written consent]</a:t>
            </a:r>
            <a:endParaRPr lang="en-US" sz="1050" dirty="0"/>
          </a:p>
        </p:txBody>
      </p:sp>
      <p:sp>
        <p:nvSpPr>
          <p:cNvPr id="5" name="Text 3"/>
          <p:cNvSpPr txBox="1"/>
          <p:nvPr/>
        </p:nvSpPr>
        <p:spPr>
          <a:xfrm>
            <a:off x="4572000" y="822960"/>
            <a:ext cx="69494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WHERE IT STARTED</a:t>
            </a:r>
            <a:endParaRPr lang="en-US" sz="1200" dirty="0"/>
          </a:p>
        </p:txBody>
      </p:sp>
      <p:sp>
        <p:nvSpPr>
          <p:cNvPr id="6" name="Text 4"/>
          <p:cNvSpPr txBox="1"/>
          <p:nvPr/>
        </p:nvSpPr>
        <p:spPr>
          <a:xfrm>
            <a:off x="4572000" y="1188720"/>
            <a:ext cx="6949440"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Erica</a:t>
            </a:r>
            <a:endParaRPr lang="en-US" sz="4800" dirty="0"/>
          </a:p>
        </p:txBody>
      </p:sp>
      <p:sp>
        <p:nvSpPr>
          <p:cNvPr id="7" name="Shape 5"/>
          <p:cNvSpPr/>
          <p:nvPr/>
        </p:nvSpPr>
        <p:spPr>
          <a:xfrm>
            <a:off x="4572000" y="2148840"/>
            <a:ext cx="731520" cy="0"/>
          </a:xfrm>
          <a:prstGeom prst="line">
            <a:avLst/>
          </a:prstGeom>
          <a:noFill/>
          <a:ln w="19050">
            <a:solidFill>
              <a:srgbClr val="8AAF8A"/>
            </a:solidFill>
            <a:prstDash val="solid"/>
          </a:ln>
        </p:spPr>
      </p:sp>
      <p:sp>
        <p:nvSpPr>
          <p:cNvPr id="8" name="Text 6"/>
          <p:cNvSpPr txBox="1"/>
          <p:nvPr/>
        </p:nvSpPr>
        <p:spPr>
          <a:xfrm>
            <a:off x="4572000" y="2377440"/>
            <a:ext cx="6949440" cy="1280160"/>
          </a:xfrm>
          <a:prstGeom prst="rect">
            <a:avLst/>
          </a:prstGeom>
          <a:noFill/>
          <a:ln/>
        </p:spPr>
        <p:txBody>
          <a:bodyPr wrap="square" lIns="0" tIns="0" rIns="0" bIns="0" rtlCol="0" anchor="t">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dramatically </a:t>
            </a:r>
            <a:pPr algn="l" indent="0" marL="0">
              <a:lnSpc>
                <a:spcPct val="105000"/>
              </a:lnSpc>
              <a:buNone/>
            </a:pPr>
            <a:r>
              <a:rPr lang="en-US" sz="3000" b="1" dirty="0">
                <a:solidFill>
                  <a:srgbClr val="5C8A64"/>
                </a:solidFill>
                <a:latin typeface="Cormorant Garamond" pitchFamily="34" charset="0"/>
                <a:ea typeface="Cormorant Garamond" pitchFamily="34" charset="-122"/>
                <a:cs typeface="Cormorant Garamond" pitchFamily="34" charset="-120"/>
              </a:rPr>
              <a:t>underestimated her market value.</a:t>
            </a:r>
            <a:endParaRPr lang="en-US" sz="3000" dirty="0"/>
          </a:p>
        </p:txBody>
      </p:sp>
      <p:sp>
        <p:nvSpPr>
          <p:cNvPr id="9" name="Text 7"/>
          <p:cNvSpPr txBox="1"/>
          <p:nvPr/>
        </p:nvSpPr>
        <p:spPr>
          <a:xfrm>
            <a:off x="4572000" y="3749040"/>
            <a:ext cx="6675120"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She had no idea what the market was willing to pay for what she did.</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2377440" y="822960"/>
            <a:ext cx="7436815"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CHANGED</a:t>
            </a:r>
            <a:endParaRPr lang="en-US" sz="1200" dirty="0"/>
          </a:p>
        </p:txBody>
      </p:sp>
      <p:sp>
        <p:nvSpPr>
          <p:cNvPr id="3" name="Text 1"/>
          <p:cNvSpPr txBox="1"/>
          <p:nvPr/>
        </p:nvSpPr>
        <p:spPr>
          <a:xfrm>
            <a:off x="2377440" y="1188720"/>
            <a:ext cx="7436815"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Erica</a:t>
            </a:r>
            <a:endParaRPr lang="en-US" sz="4800" dirty="0"/>
          </a:p>
        </p:txBody>
      </p:sp>
      <p:sp>
        <p:nvSpPr>
          <p:cNvPr id="4" name="Shape 2"/>
          <p:cNvSpPr/>
          <p:nvPr/>
        </p:nvSpPr>
        <p:spPr>
          <a:xfrm>
            <a:off x="2377440" y="2148840"/>
            <a:ext cx="731520" cy="0"/>
          </a:xfrm>
          <a:prstGeom prst="line">
            <a:avLst/>
          </a:prstGeom>
          <a:noFill/>
          <a:ln w="19050">
            <a:solidFill>
              <a:srgbClr val="8AAF8A"/>
            </a:solidFill>
            <a:prstDash val="solid"/>
          </a:ln>
        </p:spPr>
      </p:sp>
      <p:sp>
        <p:nvSpPr>
          <p:cNvPr id="5" name="Text 3"/>
          <p:cNvSpPr txBox="1"/>
          <p:nvPr/>
        </p:nvSpPr>
        <p:spPr>
          <a:xfrm>
            <a:off x="2377440" y="2377440"/>
            <a:ext cx="7436815" cy="1280160"/>
          </a:xfrm>
          <a:prstGeom prst="rect">
            <a:avLst/>
          </a:prstGeom>
          <a:noFill/>
          <a:ln/>
        </p:spPr>
        <p:txBody>
          <a:bodyPr wrap="square" lIns="0" tIns="0" rIns="0" bIns="0" rtlCol="0" anchor="t">
            <a:normAutofit/>
          </a:bodyPr>
          <a:lstStyle/>
          <a:p>
            <a:pPr algn="l" indent="0" marL="0">
              <a:lnSpc>
                <a:spcPct val="105000"/>
              </a:lnSpc>
              <a:buNone/>
            </a:pPr>
            <a:r>
              <a:rPr lang="en-US" sz="3000" dirty="0">
                <a:solidFill>
                  <a:srgbClr val="1E4A4A"/>
                </a:solidFill>
                <a:latin typeface="Cormorant Garamond" pitchFamily="34" charset="0"/>
                <a:ea typeface="Cormorant Garamond" pitchFamily="34" charset="-122"/>
                <a:cs typeface="Cormorant Garamond" pitchFamily="34" charset="-120"/>
              </a:rPr>
              <a:t>She learned what the market </a:t>
            </a:r>
            <a:pPr algn="l" indent="0" marL="0">
              <a:lnSpc>
                <a:spcPct val="105000"/>
              </a:lnSpc>
              <a:buNone/>
            </a:pPr>
            <a:r>
              <a:rPr lang="en-US" sz="3000" b="1" dirty="0">
                <a:solidFill>
                  <a:srgbClr val="5C8A64"/>
                </a:solidFill>
                <a:latin typeface="Cormorant Garamond" pitchFamily="34" charset="0"/>
                <a:ea typeface="Cormorant Garamond" pitchFamily="34" charset="-122"/>
                <a:cs typeface="Cormorant Garamond" pitchFamily="34" charset="-120"/>
              </a:rPr>
              <a:t>was willing to pay.</a:t>
            </a:r>
            <a:endParaRPr lang="en-US" sz="3000" dirty="0"/>
          </a:p>
        </p:txBody>
      </p:sp>
      <p:sp>
        <p:nvSpPr>
          <p:cNvPr id="6" name="Text 4"/>
          <p:cNvSpPr txBox="1"/>
          <p:nvPr/>
        </p:nvSpPr>
        <p:spPr>
          <a:xfrm>
            <a:off x="2377440" y="3749040"/>
            <a:ext cx="7162495"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Then she built the confidence to negotiate, and approached every opportunity differently.</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2377440" y="822960"/>
            <a:ext cx="7436815"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WHERE SHE IS NOW</a:t>
            </a:r>
            <a:endParaRPr lang="en-US" sz="1200" dirty="0"/>
          </a:p>
        </p:txBody>
      </p:sp>
      <p:sp>
        <p:nvSpPr>
          <p:cNvPr id="3" name="Text 1"/>
          <p:cNvSpPr txBox="1"/>
          <p:nvPr/>
        </p:nvSpPr>
        <p:spPr>
          <a:xfrm>
            <a:off x="2377440" y="1188720"/>
            <a:ext cx="7436815" cy="822960"/>
          </a:xfrm>
          <a:prstGeom prst="rect">
            <a:avLst/>
          </a:prstGeom>
          <a:noFill/>
          <a:ln/>
        </p:spPr>
        <p:txBody>
          <a:bodyPr wrap="square" lIns="0" tIns="0" rIns="0" bIns="0" rtlCol="0" anchor="ctr">
            <a:normAutofit/>
          </a:bodyPr>
          <a:lstStyle/>
          <a:p>
            <a:pPr algn="l" indent="0" marL="0">
              <a:lnSpc>
                <a:spcPct val="105000"/>
              </a:lnSpc>
              <a:buNone/>
            </a:pPr>
            <a:r>
              <a:rPr lang="en-US" sz="4800" dirty="0">
                <a:solidFill>
                  <a:srgbClr val="1E4A4A"/>
                </a:solidFill>
                <a:latin typeface="Cormorant Garamond" pitchFamily="34" charset="0"/>
                <a:ea typeface="Cormorant Garamond" pitchFamily="34" charset="-122"/>
                <a:cs typeface="Cormorant Garamond" pitchFamily="34" charset="-120"/>
              </a:rPr>
              <a:t>Erica</a:t>
            </a:r>
            <a:endParaRPr lang="en-US" sz="4800" dirty="0"/>
          </a:p>
        </p:txBody>
      </p:sp>
      <p:sp>
        <p:nvSpPr>
          <p:cNvPr id="4" name="Shape 2"/>
          <p:cNvSpPr/>
          <p:nvPr/>
        </p:nvSpPr>
        <p:spPr>
          <a:xfrm>
            <a:off x="2377440" y="2148840"/>
            <a:ext cx="731520" cy="0"/>
          </a:xfrm>
          <a:prstGeom prst="line">
            <a:avLst/>
          </a:prstGeom>
          <a:noFill/>
          <a:ln w="19050">
            <a:solidFill>
              <a:srgbClr val="8AAF8A"/>
            </a:solidFill>
            <a:prstDash val="solid"/>
          </a:ln>
        </p:spPr>
      </p:sp>
      <p:sp>
        <p:nvSpPr>
          <p:cNvPr id="5" name="Text 3"/>
          <p:cNvSpPr txBox="1"/>
          <p:nvPr/>
        </p:nvSpPr>
        <p:spPr>
          <a:xfrm>
            <a:off x="2377440" y="2377440"/>
            <a:ext cx="7436815" cy="1005840"/>
          </a:xfrm>
          <a:prstGeom prst="rect">
            <a:avLst/>
          </a:prstGeom>
          <a:noFill/>
          <a:ln/>
        </p:spPr>
        <p:txBody>
          <a:bodyPr wrap="square" lIns="0" tIns="0" rIns="0" bIns="0" rtlCol="0" anchor="ctr">
            <a:normAutofit/>
          </a:bodyPr>
          <a:lstStyle/>
          <a:p>
            <a:pPr algn="l" indent="0" marL="0">
              <a:lnSpc>
                <a:spcPct val="105000"/>
              </a:lnSpc>
              <a:buNone/>
            </a:pPr>
            <a:r>
              <a:rPr lang="en-US" sz="5200" b="1" dirty="0">
                <a:solidFill>
                  <a:srgbClr val="5C8A64"/>
                </a:solidFill>
                <a:latin typeface="Cormorant Garamond" pitchFamily="34" charset="0"/>
                <a:ea typeface="Cormorant Garamond" pitchFamily="34" charset="-122"/>
                <a:cs typeface="Cormorant Garamond" pitchFamily="34" charset="-120"/>
              </a:rPr>
              <a:t>$28K → $80K</a:t>
            </a:r>
            <a:endParaRPr lang="en-US" sz="5200" dirty="0"/>
          </a:p>
        </p:txBody>
      </p:sp>
      <p:sp>
        <p:nvSpPr>
          <p:cNvPr id="6" name="Text 4"/>
          <p:cNvSpPr txBox="1"/>
          <p:nvPr/>
        </p:nvSpPr>
        <p:spPr>
          <a:xfrm>
            <a:off x="2377440" y="3520440"/>
            <a:ext cx="7436815" cy="1280160"/>
          </a:xfrm>
          <a:prstGeom prst="rect">
            <a:avLst/>
          </a:prstGeom>
          <a:noFill/>
          <a:ln/>
        </p:spPr>
        <p:txBody>
          <a:bodyPr wrap="square" lIns="0" tIns="0" rIns="0" bIns="0" rtlCol="0" anchor="t">
            <a:normAutofit/>
          </a:bodyPr>
          <a:lstStyle/>
          <a:p>
            <a:pPr algn="l" indent="0" marL="0">
              <a:lnSpc>
                <a:spcPct val="105000"/>
              </a:lnSpc>
              <a:buNone/>
            </a:pPr>
            <a:r>
              <a:rPr lang="en-US" sz="3400" dirty="0">
                <a:solidFill>
                  <a:srgbClr val="1E4A4A"/>
                </a:solidFill>
                <a:latin typeface="Cormorant Garamond" pitchFamily="34" charset="0"/>
                <a:ea typeface="Cormorant Garamond" pitchFamily="34" charset="-122"/>
                <a:cs typeface="Cormorant Garamond" pitchFamily="34" charset="-120"/>
              </a:rPr>
              <a:t>She started </a:t>
            </a:r>
            <a:pPr algn="l" indent="0" marL="0">
              <a:lnSpc>
                <a:spcPct val="105000"/>
              </a:lnSpc>
              <a:buNone/>
            </a:pPr>
            <a:r>
              <a:rPr lang="en-US" sz="3400" b="1" dirty="0">
                <a:solidFill>
                  <a:srgbClr val="5C8A64"/>
                </a:solidFill>
                <a:latin typeface="Cormorant Garamond" pitchFamily="34" charset="0"/>
                <a:ea typeface="Cormorant Garamond" pitchFamily="34" charset="-122"/>
                <a:cs typeface="Cormorant Garamond" pitchFamily="34" charset="-120"/>
              </a:rPr>
              <a:t>expecting it.</a:t>
            </a:r>
            <a:endParaRPr lang="en-US" sz="3400" dirty="0"/>
          </a:p>
        </p:txBody>
      </p:sp>
      <p:sp>
        <p:nvSpPr>
          <p:cNvPr id="7" name="Text 5"/>
          <p:cNvSpPr txBox="1"/>
          <p:nvPr/>
        </p:nvSpPr>
        <p:spPr>
          <a:xfrm>
            <a:off x="2377440" y="4892040"/>
            <a:ext cx="7162495" cy="137160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5E6B68"/>
                </a:solidFill>
                <a:latin typeface="DM Sans" pitchFamily="34" charset="0"/>
                <a:ea typeface="DM Sans" pitchFamily="34" charset="-122"/>
                <a:cs typeface="DM Sans" pitchFamily="34" charset="-120"/>
              </a:rPr>
              <a:t>She expects to be paid for the value she creates. </a:t>
            </a:r>
            <a:pPr algn="l" indent="0" marL="0">
              <a:lnSpc>
                <a:spcPct val="120000"/>
              </a:lnSpc>
              <a:buNone/>
            </a:pPr>
            <a:r>
              <a:rPr lang="en-US" sz="1600" b="1" dirty="0">
                <a:solidFill>
                  <a:srgbClr val="B85042"/>
                </a:solidFill>
                <a:latin typeface="DM Sans" pitchFamily="34" charset="0"/>
                <a:ea typeface="DM Sans" pitchFamily="34" charset="-122"/>
                <a:cs typeface="DM Sans" pitchFamily="34" charset="-120"/>
              </a:rPr>
              <a:t>[PLACEHOLDER: swap for Erica's own words or video]</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THREAD</a:t>
            </a:r>
            <a:endParaRPr lang="en-US" sz="1200" dirty="0"/>
          </a:p>
        </p:txBody>
      </p:sp>
      <p:sp>
        <p:nvSpPr>
          <p:cNvPr id="4" name="Shape 2"/>
          <p:cNvSpPr/>
          <p:nvPr/>
        </p:nvSpPr>
        <p:spPr>
          <a:xfrm>
            <a:off x="5730088" y="1828800"/>
            <a:ext cx="731520" cy="0"/>
          </a:xfrm>
          <a:prstGeom prst="line">
            <a:avLst/>
          </a:prstGeom>
          <a:noFill/>
          <a:ln w="19050">
            <a:solidFill>
              <a:srgbClr val="8AAF8A"/>
            </a:solidFill>
            <a:prstDash val="solid"/>
          </a:ln>
        </p:spPr>
      </p:sp>
      <p:sp>
        <p:nvSpPr>
          <p:cNvPr id="5" name="Text 3"/>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000" dirty="0">
                <a:solidFill>
                  <a:srgbClr val="FFFFFF"/>
                </a:solidFill>
                <a:latin typeface="Cormorant Garamond" pitchFamily="34" charset="0"/>
                <a:ea typeface="Cormorant Garamond" pitchFamily="34" charset="-122"/>
                <a:cs typeface="Cormorant Garamond" pitchFamily="34" charset="-120"/>
              </a:rPr>
              <a:t>None of them waited for </a:t>
            </a:r>
            <a:pPr algn="ctr" indent="0" marL="0">
              <a:lnSpc>
                <a:spcPct val="100000"/>
              </a:lnSpc>
              <a:buNone/>
            </a:pPr>
            <a:r>
              <a:rPr lang="en-US" sz="4000" b="1" dirty="0">
                <a:solidFill>
                  <a:srgbClr val="B7D3B7"/>
                </a:solidFill>
                <a:latin typeface="Cormorant Garamond" pitchFamily="34" charset="0"/>
                <a:ea typeface="Cormorant Garamond" pitchFamily="34" charset="-122"/>
                <a:cs typeface="Cormorant Garamond" pitchFamily="34" charset="-120"/>
              </a:rPr>
              <a:t>permission to go first.</a:t>
            </a:r>
            <a:endParaRPr lang="en-US" sz="4000" dirty="0"/>
          </a:p>
        </p:txBody>
      </p:sp>
      <p:sp>
        <p:nvSpPr>
          <p:cNvPr id="6" name="Text 4"/>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E1F5EE"/>
                </a:solidFill>
                <a:latin typeface="DM Sans" pitchFamily="34" charset="0"/>
                <a:ea typeface="DM Sans" pitchFamily="34" charset="-122"/>
                <a:cs typeface="DM Sans" pitchFamily="34" charset="-120"/>
              </a:rPr>
              <a:t>The money is one result. The woman is the transformation. </a:t>
            </a:r>
            <a:pPr algn="ctr" indent="0" marL="0">
              <a:lnSpc>
                <a:spcPct val="120000"/>
              </a:lnSpc>
              <a:buNone/>
            </a:pPr>
            <a:r>
              <a:rPr lang="en-US" sz="1600" b="1" dirty="0">
                <a:solidFill>
                  <a:srgbClr val="F2B8A8"/>
                </a:solidFill>
                <a:latin typeface="DM Sans" pitchFamily="34" charset="0"/>
                <a:ea typeface="DM Sans" pitchFamily="34" charset="-122"/>
                <a:cs typeface="DM Sans" pitchFamily="34" charset="-120"/>
              </a:rPr>
              <a:t>[PLACEHOLDER: additional testimonials]</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214884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PROGRAM</a:t>
            </a:r>
            <a:endParaRPr lang="en-US" sz="1200" dirty="0"/>
          </a:p>
        </p:txBody>
      </p:sp>
      <p:sp>
        <p:nvSpPr>
          <p:cNvPr id="4" name="Shape 2"/>
          <p:cNvSpPr/>
          <p:nvPr/>
        </p:nvSpPr>
        <p:spPr>
          <a:xfrm>
            <a:off x="5730088" y="2606040"/>
            <a:ext cx="731520" cy="0"/>
          </a:xfrm>
          <a:prstGeom prst="line">
            <a:avLst/>
          </a:prstGeom>
          <a:noFill/>
          <a:ln w="19050">
            <a:solidFill>
              <a:srgbClr val="8AAF8A"/>
            </a:solidFill>
            <a:prstDash val="solid"/>
          </a:ln>
        </p:spPr>
      </p:sp>
      <p:sp>
        <p:nvSpPr>
          <p:cNvPr id="5" name="Text 3"/>
          <p:cNvSpPr txBox="1"/>
          <p:nvPr/>
        </p:nvSpPr>
        <p:spPr>
          <a:xfrm>
            <a:off x="1097280" y="2788920"/>
            <a:ext cx="9997135" cy="1371600"/>
          </a:xfrm>
          <a:prstGeom prst="rect">
            <a:avLst/>
          </a:prstGeom>
          <a:noFill/>
          <a:ln/>
        </p:spPr>
        <p:txBody>
          <a:bodyPr wrap="square" lIns="0" tIns="0" rIns="0" bIns="0" rtlCol="0" anchor="ctr">
            <a:normAutofit/>
          </a:bodyPr>
          <a:lstStyle/>
          <a:p>
            <a:pPr algn="ctr" indent="0" marL="0">
              <a:lnSpc>
                <a:spcPct val="105000"/>
              </a:lnSpc>
              <a:buNone/>
            </a:pPr>
            <a:r>
              <a:rPr lang="en-US" sz="4400" dirty="0">
                <a:solidFill>
                  <a:srgbClr val="FFFFFF"/>
                </a:solidFill>
                <a:latin typeface="Cormorant Garamond" pitchFamily="34" charset="0"/>
                <a:ea typeface="Cormorant Garamond" pitchFamily="34" charset="-122"/>
                <a:cs typeface="Cormorant Garamond" pitchFamily="34" charset="-120"/>
              </a:rPr>
              <a:t>The Amplify Your V.O.I.C.E. Experience</a:t>
            </a:r>
            <a:endParaRPr lang="en-US" sz="4400" dirty="0"/>
          </a:p>
        </p:txBody>
      </p:sp>
      <p:sp>
        <p:nvSpPr>
          <p:cNvPr id="6" name="Text 4"/>
          <p:cNvSpPr txBox="1"/>
          <p:nvPr/>
        </p:nvSpPr>
        <p:spPr>
          <a:xfrm>
            <a:off x="1828800" y="4343400"/>
            <a:ext cx="8534095" cy="914400"/>
          </a:xfrm>
          <a:prstGeom prst="rect">
            <a:avLst/>
          </a:prstGeom>
          <a:noFill/>
          <a:ln/>
        </p:spPr>
        <p:txBody>
          <a:bodyPr wrap="square" lIns="0" tIns="0" rIns="0" bIns="0" rtlCol="0" anchor="t">
            <a:normAutofit/>
          </a:bodyPr>
          <a:lstStyle/>
          <a:p>
            <a:pPr algn="ctr" indent="0" marL="0">
              <a:lnSpc>
                <a:spcPct val="105000"/>
              </a:lnSpc>
              <a:buNone/>
            </a:pPr>
            <a:r>
              <a:rPr lang="en-US" sz="2100" i="1" dirty="0">
                <a:solidFill>
                  <a:srgbClr val="B7D3B7"/>
                </a:solidFill>
                <a:latin typeface="Cormorant Garamond" pitchFamily="34" charset="0"/>
                <a:ea typeface="Cormorant Garamond" pitchFamily="34" charset="-122"/>
                <a:cs typeface="Cormorant Garamond" pitchFamily="34" charset="-120"/>
              </a:rPr>
              <a:t>An intimate, high-touch 8-week executive coaching experience for ambitious corporate women</a:t>
            </a:r>
            <a:endParaRPr lang="en-US" sz="2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WHO THIS IS FOR</a:t>
            </a:r>
            <a:endParaRPr lang="en-US" sz="1300" dirty="0"/>
          </a:p>
        </p:txBody>
      </p:sp>
      <p:sp>
        <p:nvSpPr>
          <p:cNvPr id="5" name="Shape 3"/>
          <p:cNvSpPr/>
          <p:nvPr/>
        </p:nvSpPr>
        <p:spPr>
          <a:xfrm>
            <a:off x="1340968" y="1280160"/>
            <a:ext cx="4572000" cy="4480560"/>
          </a:xfrm>
          <a:prstGeom prst="rect">
            <a:avLst/>
          </a:prstGeom>
          <a:solidFill>
            <a:srgbClr val="FFFFFF"/>
          </a:solidFill>
          <a:ln w="12700">
            <a:solidFill>
              <a:srgbClr val="D9D2C5"/>
            </a:solidFill>
            <a:prstDash val="solid"/>
          </a:ln>
        </p:spPr>
      </p:sp>
      <p:sp>
        <p:nvSpPr>
          <p:cNvPr id="6" name="Shape 4"/>
          <p:cNvSpPr/>
          <p:nvPr/>
        </p:nvSpPr>
        <p:spPr>
          <a:xfrm>
            <a:off x="6278728" y="1280160"/>
            <a:ext cx="4572000" cy="4480560"/>
          </a:xfrm>
          <a:prstGeom prst="rect">
            <a:avLst/>
          </a:prstGeom>
          <a:solidFill>
            <a:srgbClr val="1E4A4A"/>
          </a:solidFill>
          <a:ln w="12700">
            <a:solidFill>
              <a:srgbClr val="1E4A4A"/>
            </a:solidFill>
            <a:prstDash val="solid"/>
          </a:ln>
        </p:spPr>
      </p:sp>
      <p:sp>
        <p:nvSpPr>
          <p:cNvPr id="7" name="Text 5"/>
          <p:cNvSpPr txBox="1"/>
          <p:nvPr/>
        </p:nvSpPr>
        <p:spPr>
          <a:xfrm>
            <a:off x="170672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THIS IS FOR YOU IF…</a:t>
            </a:r>
            <a:endParaRPr lang="en-US" sz="1200" dirty="0"/>
          </a:p>
        </p:txBody>
      </p:sp>
      <p:sp>
        <p:nvSpPr>
          <p:cNvPr id="8" name="Text 6"/>
          <p:cNvSpPr txBox="1"/>
          <p:nvPr/>
        </p:nvSpPr>
        <p:spPr>
          <a:xfrm>
            <a:off x="6644488" y="1600200"/>
            <a:ext cx="384048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THIS ISN'T FOR YOU IF…</a:t>
            </a:r>
            <a:endParaRPr lang="en-US" sz="1200" dirty="0"/>
          </a:p>
        </p:txBody>
      </p:sp>
      <p:sp>
        <p:nvSpPr>
          <p:cNvPr id="9" name="Text 7"/>
          <p:cNvSpPr txBox="1"/>
          <p:nvPr/>
        </p:nvSpPr>
        <p:spPr>
          <a:xfrm>
            <a:off x="170672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Cormorant Garamond" pitchFamily="34" charset="0"/>
                <a:ea typeface="Cormorant Garamond" pitchFamily="34" charset="-122"/>
                <a:cs typeface="Cormorant Garamond" pitchFamily="34" charset="-120"/>
              </a:rPr>
              <a:t>You're an ambitious corporate woman who's capable of more, ready to go deeper than tactics, and willing to invest in yourself.</a:t>
            </a:r>
            <a:endParaRPr lang="en-US" sz="2000" dirty="0"/>
          </a:p>
        </p:txBody>
      </p:sp>
      <p:sp>
        <p:nvSpPr>
          <p:cNvPr id="10" name="Text 8"/>
          <p:cNvSpPr txBox="1"/>
          <p:nvPr/>
        </p:nvSpPr>
        <p:spPr>
          <a:xfrm>
            <a:off x="6644488" y="2103120"/>
            <a:ext cx="3840480" cy="3291840"/>
          </a:xfrm>
          <a:prstGeom prst="rect">
            <a:avLst/>
          </a:prstGeom>
          <a:noFill/>
          <a:ln/>
        </p:spPr>
        <p:txBody>
          <a:bodyPr wrap="square" lIns="0" tIns="0" rIns="0" bIns="0" rtlCol="0" anchor="ctr">
            <a:normAutofit/>
          </a:bodyPr>
          <a:lstStyle/>
          <a:p>
            <a:pPr algn="l" indent="0" marL="0">
              <a:lnSpc>
                <a:spcPct val="105000"/>
              </a:lnSpc>
              <a:buNone/>
            </a:pPr>
            <a:r>
              <a:rPr lang="en-US" sz="2300" dirty="0">
                <a:solidFill>
                  <a:srgbClr val="FFFFFF"/>
                </a:solidFill>
                <a:latin typeface="Cormorant Garamond" pitchFamily="34" charset="0"/>
                <a:ea typeface="Cormorant Garamond" pitchFamily="34" charset="-122"/>
                <a:cs typeface="Cormorant Garamond" pitchFamily="34" charset="-120"/>
              </a:rPr>
              <a:t>You want a résumé review, a list of scripts, or a quick fix without doing the inner work.</a:t>
            </a:r>
            <a:endParaRPr lang="en-US" sz="23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WHAT'S INCLUDED · 1 OF 8</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4600" dirty="0">
                <a:solidFill>
                  <a:srgbClr val="1E4A4A"/>
                </a:solidFill>
                <a:latin typeface="Cormorant Garamond" pitchFamily="34" charset="0"/>
                <a:ea typeface="Cormorant Garamond" pitchFamily="34" charset="-122"/>
                <a:cs typeface="Cormorant Garamond" pitchFamily="34" charset="-120"/>
              </a:rPr>
              <a:t>Weekly Live Executive Coaching</a:t>
            </a:r>
            <a:endParaRPr lang="en-US" sz="46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Live group coaching every week as you move through the V.O.I.C.E. Framework. Each session builds on the last.</a:t>
            </a:r>
            <a:endParaRPr lang="en-US" sz="17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Career strategy and identity work together, applied to your real situation in real time.</a:t>
            </a:r>
            <a:endParaRPr lang="en-US" sz="17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WHAT'S INCLUDED · 2 OF 8</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4600" dirty="0">
                <a:solidFill>
                  <a:srgbClr val="1E4A4A"/>
                </a:solidFill>
                <a:latin typeface="Cormorant Garamond" pitchFamily="34" charset="0"/>
                <a:ea typeface="Cormorant Garamond" pitchFamily="34" charset="-122"/>
                <a:cs typeface="Cormorant Garamond" pitchFamily="34" charset="-120"/>
              </a:rPr>
              <a:t>The V.O.I.C.E. Curriculum</a:t>
            </a:r>
            <a:endParaRPr lang="en-US" sz="46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The full five-part framework: Value, Ownership, Identity, Communication and Execution.</a:t>
            </a:r>
            <a:endParaRPr lang="en-US" sz="17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Everything you saw tonight, taught in depth, with the how-to I kept out of this masterclass.</a:t>
            </a:r>
            <a:endParaRPr lang="en-US" sz="17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WHAT'S INCLUDED · 3 OF 8</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4600" dirty="0">
                <a:solidFill>
                  <a:srgbClr val="1E4A4A"/>
                </a:solidFill>
                <a:latin typeface="Cormorant Garamond" pitchFamily="34" charset="0"/>
                <a:ea typeface="Cormorant Garamond" pitchFamily="34" charset="-122"/>
                <a:cs typeface="Cormorant Garamond" pitchFamily="34" charset="-120"/>
              </a:rPr>
              <a:t>Hot Seat Coaching</a:t>
            </a:r>
            <a:endParaRPr lang="en-US" sz="46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Personalized coaching on your specific career challenge, in front of a group of accomplished women.</a:t>
            </a:r>
            <a:endParaRPr lang="en-US" sz="17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Direct feedback on your situation, and you learn from every other woman's hot seat too.</a:t>
            </a:r>
            <a:endParaRPr lang="en-US" sz="17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WHAT'S INCLUDED · 4 OF 8</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4600" dirty="0">
                <a:solidFill>
                  <a:srgbClr val="1E4A4A"/>
                </a:solidFill>
                <a:latin typeface="Cormorant Garamond" pitchFamily="34" charset="0"/>
                <a:ea typeface="Cormorant Garamond" pitchFamily="34" charset="-122"/>
                <a:cs typeface="Cormorant Garamond" pitchFamily="34" charset="-120"/>
              </a:rPr>
              <a:t>Negotiation Strategy Sessions</a:t>
            </a:r>
            <a:endParaRPr lang="en-US" sz="46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A personalized strategy for your specific negotiation: salary, promotion, bonus, equity, flexible work, a new offer or an executive opportunity.</a:t>
            </a:r>
            <a:endParaRPr lang="en-US" sz="17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Twenty-six years of Wall Street deal-making, applied to your next conversation.</a:t>
            </a:r>
            <a:endParaRPr lang="en-US" sz="17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WHAT'S INCLUDED · 5 OF 8</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4600" dirty="0">
                <a:solidFill>
                  <a:srgbClr val="1E4A4A"/>
                </a:solidFill>
                <a:latin typeface="Cormorant Garamond" pitchFamily="34" charset="0"/>
                <a:ea typeface="Cormorant Garamond" pitchFamily="34" charset="-122"/>
                <a:cs typeface="Cormorant Garamond" pitchFamily="34" charset="-120"/>
              </a:rPr>
              <a:t>Live Role Playing</a:t>
            </a:r>
            <a:endParaRPr lang="en-US" sz="46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Practice your high-stakes conversations before they happen, with coaching and feedback.</a:t>
            </a:r>
            <a:endParaRPr lang="en-US" sz="17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You get to fumble here, with us, so you don't fumble in front of your boss.</a:t>
            </a:r>
            <a:endParaRPr lang="en-US" sz="17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WHAT'S INCLUDED · 6 OF 8</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4600" dirty="0">
                <a:solidFill>
                  <a:srgbClr val="1E4A4A"/>
                </a:solidFill>
                <a:latin typeface="Cormorant Garamond" pitchFamily="34" charset="0"/>
                <a:ea typeface="Cormorant Garamond" pitchFamily="34" charset="-122"/>
                <a:cs typeface="Cormorant Garamond" pitchFamily="34" charset="-120"/>
              </a:rPr>
              <a:t>Executive Communication Coaching</a:t>
            </a:r>
            <a:endParaRPr lang="en-US" sz="46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Communicating with authority and executive presence, influencing decision makers and navigating difficult conversations.</a:t>
            </a:r>
            <a:endParaRPr lang="en-US" sz="17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So the way you speak finally matches the level you perform at.</a:t>
            </a:r>
            <a:endParaRPr lang="en-US" sz="17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WHAT'S INCLUDED · 7 OF 8</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4600" dirty="0">
                <a:solidFill>
                  <a:srgbClr val="1E4A4A"/>
                </a:solidFill>
                <a:latin typeface="Cormorant Garamond" pitchFamily="34" charset="0"/>
                <a:ea typeface="Cormorant Garamond" pitchFamily="34" charset="-122"/>
                <a:cs typeface="Cormorant Garamond" pitchFamily="34" charset="-120"/>
              </a:rPr>
              <a:t>Career Strategy</a:t>
            </a:r>
            <a:endParaRPr lang="en-US" sz="46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A long-term career roadmap, beyond your next negotiation.</a:t>
            </a:r>
            <a:endParaRPr lang="en-US" sz="17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You stop reacting to review season and start owning where you're going.</a:t>
            </a:r>
            <a:endParaRPr lang="en-US" sz="17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WHAT'S INCLUDED · 8 OF 8</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4600" dirty="0">
                <a:solidFill>
                  <a:srgbClr val="1E4A4A"/>
                </a:solidFill>
                <a:latin typeface="Cormorant Garamond" pitchFamily="34" charset="0"/>
                <a:ea typeface="Cormorant Garamond" pitchFamily="34" charset="-122"/>
                <a:cs typeface="Cormorant Garamond" pitchFamily="34" charset="-120"/>
              </a:rPr>
              <a:t>Private Community</a:t>
            </a:r>
            <a:endParaRPr lang="en-US" sz="46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A community of ambitious professional women sharing wins, practicing courageous conversations and holding each other accountable.</a:t>
            </a:r>
            <a:endParaRPr lang="en-US" sz="17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1E4A4A"/>
                </a:solidFill>
                <a:latin typeface="DM Sans" pitchFamily="34" charset="0"/>
                <a:ea typeface="DM Sans" pitchFamily="34" charset="-122"/>
                <a:cs typeface="DM Sans" pitchFamily="34" charset="-120"/>
              </a:rPr>
              <a:t>You stop doing this alone. For a lot of women, that's the part that changes everything.</a:t>
            </a:r>
            <a:endParaRPr lang="en-US" sz="17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BONUS</a:t>
            </a:r>
            <a:endParaRPr lang="en-US" sz="1300" dirty="0"/>
          </a:p>
        </p:txBody>
      </p:sp>
      <p:sp>
        <p:nvSpPr>
          <p:cNvPr id="5" name="Text 3"/>
          <p:cNvSpPr txBox="1"/>
          <p:nvPr/>
        </p:nvSpPr>
        <p:spPr>
          <a:xfrm>
            <a:off x="914400" y="914400"/>
            <a:ext cx="10362895" cy="1005840"/>
          </a:xfrm>
          <a:prstGeom prst="rect">
            <a:avLst/>
          </a:prstGeom>
          <a:noFill/>
          <a:ln/>
        </p:spPr>
        <p:txBody>
          <a:bodyPr wrap="square" lIns="0" tIns="0" rIns="0" bIns="0" rtlCol="0" anchor="ctr">
            <a:normAutofit/>
          </a:bodyPr>
          <a:lstStyle/>
          <a:p>
            <a:pPr algn="ctr" indent="0" marL="0">
              <a:lnSpc>
                <a:spcPct val="105000"/>
              </a:lnSpc>
              <a:buNone/>
            </a:pPr>
            <a:r>
              <a:rPr lang="en-US" sz="2100" b="1" dirty="0">
                <a:solidFill>
                  <a:srgbClr val="B85042"/>
                </a:solidFill>
                <a:latin typeface="DM Sans" pitchFamily="34" charset="0"/>
                <a:ea typeface="DM Sans" pitchFamily="34" charset="-122"/>
                <a:cs typeface="DM Sans" pitchFamily="34" charset="-120"/>
              </a:rPr>
              <a:t>[PLACEHOLDER: Bonus]</a:t>
            </a:r>
            <a:endParaRPr lang="en-US" sz="2100" dirty="0"/>
          </a:p>
        </p:txBody>
      </p:sp>
      <p:sp>
        <p:nvSpPr>
          <p:cNvPr id="6" name="Shape 4"/>
          <p:cNvSpPr/>
          <p:nvPr/>
        </p:nvSpPr>
        <p:spPr>
          <a:xfrm>
            <a:off x="5730088" y="2148840"/>
            <a:ext cx="731520" cy="0"/>
          </a:xfrm>
          <a:prstGeom prst="line">
            <a:avLst/>
          </a:prstGeom>
          <a:noFill/>
          <a:ln w="19050">
            <a:solidFill>
              <a:srgbClr val="8AAF8A"/>
            </a:solidFill>
            <a:prstDash val="solid"/>
          </a:ln>
        </p:spPr>
      </p:sp>
      <p:sp>
        <p:nvSpPr>
          <p:cNvPr id="7" name="Shape 5"/>
          <p:cNvSpPr/>
          <p:nvPr/>
        </p:nvSpPr>
        <p:spPr>
          <a:xfrm>
            <a:off x="1020928" y="2514600"/>
            <a:ext cx="4846320" cy="2514600"/>
          </a:xfrm>
          <a:prstGeom prst="rect">
            <a:avLst/>
          </a:prstGeom>
          <a:solidFill>
            <a:srgbClr val="FFFFFF"/>
          </a:solidFill>
          <a:ln w="12700">
            <a:solidFill>
              <a:srgbClr val="D9D2C5"/>
            </a:solidFill>
            <a:prstDash val="solid"/>
          </a:ln>
        </p:spPr>
      </p:sp>
      <p:sp>
        <p:nvSpPr>
          <p:cNvPr id="8" name="Text 6"/>
          <p:cNvSpPr txBox="1"/>
          <p:nvPr/>
        </p:nvSpPr>
        <p:spPr>
          <a:xfrm>
            <a:off x="134096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IT IS</a:t>
            </a:r>
            <a:endParaRPr lang="en-US" sz="1200" dirty="0"/>
          </a:p>
        </p:txBody>
      </p:sp>
      <p:sp>
        <p:nvSpPr>
          <p:cNvPr id="9" name="Text 7"/>
          <p:cNvSpPr txBox="1"/>
          <p:nvPr/>
        </p:nvSpPr>
        <p:spPr>
          <a:xfrm>
            <a:off x="134096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600" b="1" dirty="0">
                <a:solidFill>
                  <a:srgbClr val="B85042"/>
                </a:solidFill>
                <a:latin typeface="DM Sans" pitchFamily="34" charset="0"/>
                <a:ea typeface="DM Sans" pitchFamily="34" charset="-122"/>
                <a:cs typeface="DM Sans" pitchFamily="34" charset="-120"/>
              </a:rPr>
              <a:t>[PLACEHOLDER: bonus name and description. Intake Q30 is blank. Possible fit: The Courage to Ask Blueprint, if Tamara wants to include it.]</a:t>
            </a:r>
            <a:endParaRPr lang="en-US" sz="1600" dirty="0"/>
          </a:p>
        </p:txBody>
      </p:sp>
      <p:sp>
        <p:nvSpPr>
          <p:cNvPr id="10" name="Shape 8"/>
          <p:cNvSpPr/>
          <p:nvPr/>
        </p:nvSpPr>
        <p:spPr>
          <a:xfrm>
            <a:off x="6324448" y="2514600"/>
            <a:ext cx="4846320" cy="2514600"/>
          </a:xfrm>
          <a:prstGeom prst="rect">
            <a:avLst/>
          </a:prstGeom>
          <a:solidFill>
            <a:srgbClr val="FFFFFF"/>
          </a:solidFill>
          <a:ln w="12700">
            <a:solidFill>
              <a:srgbClr val="D9D2C5"/>
            </a:solidFill>
            <a:prstDash val="solid"/>
          </a:ln>
        </p:spPr>
      </p:sp>
      <p:sp>
        <p:nvSpPr>
          <p:cNvPr id="11" name="Text 9"/>
          <p:cNvSpPr txBox="1"/>
          <p:nvPr/>
        </p:nvSpPr>
        <p:spPr>
          <a:xfrm>
            <a:off x="6644488" y="2743200"/>
            <a:ext cx="4206240" cy="320040"/>
          </a:xfrm>
          <a:prstGeom prst="rect">
            <a:avLst/>
          </a:prstGeom>
          <a:noFill/>
          <a:ln/>
        </p:spPr>
        <p:txBody>
          <a:bodyPr wrap="square" lIns="0" tIns="0" rIns="0" bIns="0" rtlCol="0" anchor="ctr">
            <a:normAutofit/>
          </a:bodyPr>
          <a:lstStyle/>
          <a:p>
            <a:pPr algn="l"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WHY IT MATTERS</a:t>
            </a:r>
            <a:endParaRPr lang="en-US" sz="1200" dirty="0"/>
          </a:p>
        </p:txBody>
      </p:sp>
      <p:sp>
        <p:nvSpPr>
          <p:cNvPr id="12" name="Text 10"/>
          <p:cNvSpPr txBox="1"/>
          <p:nvPr/>
        </p:nvSpPr>
        <p:spPr>
          <a:xfrm>
            <a:off x="6644488" y="3154680"/>
            <a:ext cx="4206240" cy="1737360"/>
          </a:xfrm>
          <a:prstGeom prst="rect">
            <a:avLst/>
          </a:prstGeom>
          <a:noFill/>
          <a:ln/>
        </p:spPr>
        <p:txBody>
          <a:bodyPr wrap="square" lIns="0" tIns="0" rIns="0" bIns="0" rtlCol="0" anchor="t">
            <a:normAutofit/>
          </a:bodyPr>
          <a:lstStyle/>
          <a:p>
            <a:pPr algn="l" indent="0" marL="0">
              <a:lnSpc>
                <a:spcPct val="120000"/>
              </a:lnSpc>
              <a:buNone/>
            </a:pPr>
            <a:r>
              <a:rPr lang="en-US" sz="1600" b="1" dirty="0">
                <a:solidFill>
                  <a:srgbClr val="B85042"/>
                </a:solidFill>
                <a:latin typeface="DM Sans" pitchFamily="34" charset="0"/>
                <a:ea typeface="DM Sans" pitchFamily="34" charset="-122"/>
                <a:cs typeface="DM Sans" pitchFamily="34" charset="-120"/>
              </a:rPr>
              <a:t>[PLACEHOLDER]</a:t>
            </a:r>
            <a:endParaRPr lang="en-US" sz="1600" dirty="0"/>
          </a:p>
        </p:txBody>
      </p:sp>
      <p:sp>
        <p:nvSpPr>
          <p:cNvPr id="13" name="Text 11"/>
          <p:cNvSpPr txBox="1"/>
          <p:nvPr/>
        </p:nvSpPr>
        <p:spPr>
          <a:xfrm>
            <a:off x="914400" y="5349240"/>
            <a:ext cx="10362895" cy="457200"/>
          </a:xfrm>
          <a:prstGeom prst="rect">
            <a:avLst/>
          </a:prstGeom>
          <a:noFill/>
          <a:ln/>
        </p:spPr>
        <p:txBody>
          <a:bodyPr wrap="square" lIns="0" tIns="0" rIns="0" bIns="0" rtlCol="0" anchor="ctr">
            <a:normAutofit/>
          </a:bodyPr>
          <a:lstStyle/>
          <a:p>
            <a:pPr algn="ctr" indent="0" marL="0">
              <a:lnSpc>
                <a:spcPct val="105000"/>
              </a:lnSpc>
              <a:buNone/>
            </a:pPr>
            <a:r>
              <a:rPr lang="en-US" sz="1500" b="1" dirty="0">
                <a:solidFill>
                  <a:srgbClr val="5C8A64"/>
                </a:solidFill>
                <a:latin typeface="DM Sans" pitchFamily="34" charset="0"/>
                <a:ea typeface="DM Sans" pitchFamily="34" charset="-122"/>
                <a:cs typeface="DM Sans" pitchFamily="34" charset="-120"/>
              </a:rPr>
              <a:t>Value: </a:t>
            </a:r>
            <a:pPr algn="ctr" indent="0" marL="0">
              <a:lnSpc>
                <a:spcPct val="105000"/>
              </a:lnSpc>
              <a:buNone/>
            </a:pPr>
            <a:r>
              <a:rPr lang="en-US" sz="1500" b="1" dirty="0">
                <a:solidFill>
                  <a:srgbClr val="B85042"/>
                </a:solidFill>
                <a:latin typeface="DM Sans" pitchFamily="34" charset="0"/>
                <a:ea typeface="DM Sans" pitchFamily="34" charset="-122"/>
                <a:cs typeface="DM Sans" pitchFamily="34" charset="-120"/>
              </a:rPr>
              <a:t>[PLACEHOLDER: est. value]</a:t>
            </a:r>
            <a:endParaRPr lang="en-US" sz="1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EVERYTHING YOU GET</a:t>
            </a:r>
            <a:endParaRPr lang="en-US" sz="1300" dirty="0"/>
          </a:p>
        </p:txBody>
      </p:sp>
      <p:sp>
        <p:nvSpPr>
          <p:cNvPr id="5" name="Text 3"/>
          <p:cNvSpPr txBox="1"/>
          <p:nvPr/>
        </p:nvSpPr>
        <p:spPr>
          <a:xfrm>
            <a:off x="914400" y="12344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6" name="Text 4"/>
          <p:cNvSpPr txBox="1"/>
          <p:nvPr/>
        </p:nvSpPr>
        <p:spPr>
          <a:xfrm>
            <a:off x="1508760" y="1234440"/>
            <a:ext cx="4663440" cy="548640"/>
          </a:xfrm>
          <a:prstGeom prst="rect">
            <a:avLst/>
          </a:prstGeom>
          <a:noFill/>
          <a:ln/>
        </p:spPr>
        <p:txBody>
          <a:bodyPr wrap="square" lIns="0" tIns="0" rIns="0" bIns="0" rtlCol="0" anchor="ctr">
            <a:normAutofit/>
          </a:bodyPr>
          <a:lstStyle/>
          <a:p>
            <a:pPr algn="l" indent="0" marL="0">
              <a:lnSpc>
                <a:spcPct val="105000"/>
              </a:lnSpc>
              <a:buNone/>
            </a:pPr>
            <a:r>
              <a:rPr lang="en-US" sz="1800" dirty="0">
                <a:solidFill>
                  <a:srgbClr val="1E4A4A"/>
                </a:solidFill>
                <a:latin typeface="DM Sans" pitchFamily="34" charset="0"/>
                <a:ea typeface="DM Sans" pitchFamily="34" charset="-122"/>
                <a:cs typeface="DM Sans" pitchFamily="34" charset="-120"/>
              </a:rPr>
              <a:t>Weekly Live Executive Coaching</a:t>
            </a:r>
            <a:endParaRPr lang="en-US" sz="1800" dirty="0"/>
          </a:p>
        </p:txBody>
      </p:sp>
      <p:sp>
        <p:nvSpPr>
          <p:cNvPr id="7" name="Text 5"/>
          <p:cNvSpPr txBox="1"/>
          <p:nvPr/>
        </p:nvSpPr>
        <p:spPr>
          <a:xfrm>
            <a:off x="914400" y="201168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1508760" y="2011680"/>
            <a:ext cx="4663440" cy="548640"/>
          </a:xfrm>
          <a:prstGeom prst="rect">
            <a:avLst/>
          </a:prstGeom>
          <a:noFill/>
          <a:ln/>
        </p:spPr>
        <p:txBody>
          <a:bodyPr wrap="square" lIns="0" tIns="0" rIns="0" bIns="0" rtlCol="0" anchor="ctr">
            <a:normAutofit/>
          </a:bodyPr>
          <a:lstStyle/>
          <a:p>
            <a:pPr algn="l" indent="0" marL="0">
              <a:lnSpc>
                <a:spcPct val="105000"/>
              </a:lnSpc>
              <a:buNone/>
            </a:pPr>
            <a:r>
              <a:rPr lang="en-US" sz="1800" dirty="0">
                <a:solidFill>
                  <a:srgbClr val="1E4A4A"/>
                </a:solidFill>
                <a:latin typeface="DM Sans" pitchFamily="34" charset="0"/>
                <a:ea typeface="DM Sans" pitchFamily="34" charset="-122"/>
                <a:cs typeface="DM Sans" pitchFamily="34" charset="-120"/>
              </a:rPr>
              <a:t>The V.O.I.C.E. Curriculum</a:t>
            </a:r>
            <a:endParaRPr lang="en-US" sz="1800" dirty="0"/>
          </a:p>
        </p:txBody>
      </p:sp>
      <p:sp>
        <p:nvSpPr>
          <p:cNvPr id="9" name="Text 7"/>
          <p:cNvSpPr txBox="1"/>
          <p:nvPr/>
        </p:nvSpPr>
        <p:spPr>
          <a:xfrm>
            <a:off x="914400" y="278892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1508760" y="2788920"/>
            <a:ext cx="4663440" cy="548640"/>
          </a:xfrm>
          <a:prstGeom prst="rect">
            <a:avLst/>
          </a:prstGeom>
          <a:noFill/>
          <a:ln/>
        </p:spPr>
        <p:txBody>
          <a:bodyPr wrap="square" lIns="0" tIns="0" rIns="0" bIns="0" rtlCol="0" anchor="ctr">
            <a:normAutofit/>
          </a:bodyPr>
          <a:lstStyle/>
          <a:p>
            <a:pPr algn="l" indent="0" marL="0">
              <a:lnSpc>
                <a:spcPct val="105000"/>
              </a:lnSpc>
              <a:buNone/>
            </a:pPr>
            <a:r>
              <a:rPr lang="en-US" sz="1800" dirty="0">
                <a:solidFill>
                  <a:srgbClr val="1E4A4A"/>
                </a:solidFill>
                <a:latin typeface="DM Sans" pitchFamily="34" charset="0"/>
                <a:ea typeface="DM Sans" pitchFamily="34" charset="-122"/>
                <a:cs typeface="DM Sans" pitchFamily="34" charset="-120"/>
              </a:rPr>
              <a:t>Hot Seat Coaching</a:t>
            </a:r>
            <a:endParaRPr lang="en-US" sz="1800" dirty="0"/>
          </a:p>
        </p:txBody>
      </p:sp>
      <p:sp>
        <p:nvSpPr>
          <p:cNvPr id="11" name="Text 9"/>
          <p:cNvSpPr txBox="1"/>
          <p:nvPr/>
        </p:nvSpPr>
        <p:spPr>
          <a:xfrm>
            <a:off x="914400" y="356616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1508760" y="3566160"/>
            <a:ext cx="4663440" cy="548640"/>
          </a:xfrm>
          <a:prstGeom prst="rect">
            <a:avLst/>
          </a:prstGeom>
          <a:noFill/>
          <a:ln/>
        </p:spPr>
        <p:txBody>
          <a:bodyPr wrap="square" lIns="0" tIns="0" rIns="0" bIns="0" rtlCol="0" anchor="ctr">
            <a:normAutofit/>
          </a:bodyPr>
          <a:lstStyle/>
          <a:p>
            <a:pPr algn="l" indent="0" marL="0">
              <a:lnSpc>
                <a:spcPct val="105000"/>
              </a:lnSpc>
              <a:buNone/>
            </a:pPr>
            <a:r>
              <a:rPr lang="en-US" sz="1800" dirty="0">
                <a:solidFill>
                  <a:srgbClr val="1E4A4A"/>
                </a:solidFill>
                <a:latin typeface="DM Sans" pitchFamily="34" charset="0"/>
                <a:ea typeface="DM Sans" pitchFamily="34" charset="-122"/>
                <a:cs typeface="DM Sans" pitchFamily="34" charset="-120"/>
              </a:rPr>
              <a:t>Negotiation Strategy Sessions</a:t>
            </a:r>
            <a:endParaRPr lang="en-US" sz="1800" dirty="0"/>
          </a:p>
        </p:txBody>
      </p:sp>
      <p:sp>
        <p:nvSpPr>
          <p:cNvPr id="13" name="Text 11"/>
          <p:cNvSpPr txBox="1"/>
          <p:nvPr/>
        </p:nvSpPr>
        <p:spPr>
          <a:xfrm>
            <a:off x="914400" y="434340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4" name="Text 12"/>
          <p:cNvSpPr txBox="1"/>
          <p:nvPr/>
        </p:nvSpPr>
        <p:spPr>
          <a:xfrm>
            <a:off x="1508760" y="4343400"/>
            <a:ext cx="4663440" cy="548640"/>
          </a:xfrm>
          <a:prstGeom prst="rect">
            <a:avLst/>
          </a:prstGeom>
          <a:noFill/>
          <a:ln/>
        </p:spPr>
        <p:txBody>
          <a:bodyPr wrap="square" lIns="0" tIns="0" rIns="0" bIns="0" rtlCol="0" anchor="ctr">
            <a:normAutofit/>
          </a:bodyPr>
          <a:lstStyle/>
          <a:p>
            <a:pPr algn="l" indent="0" marL="0">
              <a:lnSpc>
                <a:spcPct val="105000"/>
              </a:lnSpc>
              <a:buNone/>
            </a:pPr>
            <a:r>
              <a:rPr lang="en-US" sz="1800" dirty="0">
                <a:solidFill>
                  <a:srgbClr val="1E4A4A"/>
                </a:solidFill>
                <a:latin typeface="DM Sans" pitchFamily="34" charset="0"/>
                <a:ea typeface="DM Sans" pitchFamily="34" charset="-122"/>
                <a:cs typeface="DM Sans" pitchFamily="34" charset="-120"/>
              </a:rPr>
              <a:t>Live Role Playing</a:t>
            </a:r>
            <a:endParaRPr lang="en-US" sz="1800" dirty="0"/>
          </a:p>
        </p:txBody>
      </p:sp>
      <p:sp>
        <p:nvSpPr>
          <p:cNvPr id="15" name="Text 13"/>
          <p:cNvSpPr txBox="1"/>
          <p:nvPr/>
        </p:nvSpPr>
        <p:spPr>
          <a:xfrm>
            <a:off x="6309360" y="12344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6" name="Text 14"/>
          <p:cNvSpPr txBox="1"/>
          <p:nvPr/>
        </p:nvSpPr>
        <p:spPr>
          <a:xfrm>
            <a:off x="6903720" y="1234440"/>
            <a:ext cx="4663440" cy="548640"/>
          </a:xfrm>
          <a:prstGeom prst="rect">
            <a:avLst/>
          </a:prstGeom>
          <a:noFill/>
          <a:ln/>
        </p:spPr>
        <p:txBody>
          <a:bodyPr wrap="square" lIns="0" tIns="0" rIns="0" bIns="0" rtlCol="0" anchor="ctr">
            <a:normAutofit/>
          </a:bodyPr>
          <a:lstStyle/>
          <a:p>
            <a:pPr algn="l" indent="0" marL="0">
              <a:lnSpc>
                <a:spcPct val="105000"/>
              </a:lnSpc>
              <a:buNone/>
            </a:pPr>
            <a:r>
              <a:rPr lang="en-US" sz="1800" dirty="0">
                <a:solidFill>
                  <a:srgbClr val="1E4A4A"/>
                </a:solidFill>
                <a:latin typeface="DM Sans" pitchFamily="34" charset="0"/>
                <a:ea typeface="DM Sans" pitchFamily="34" charset="-122"/>
                <a:cs typeface="DM Sans" pitchFamily="34" charset="-120"/>
              </a:rPr>
              <a:t>Executive Communication Coaching</a:t>
            </a:r>
            <a:endParaRPr lang="en-US" sz="1800" dirty="0"/>
          </a:p>
        </p:txBody>
      </p:sp>
      <p:sp>
        <p:nvSpPr>
          <p:cNvPr id="17" name="Text 15"/>
          <p:cNvSpPr txBox="1"/>
          <p:nvPr/>
        </p:nvSpPr>
        <p:spPr>
          <a:xfrm>
            <a:off x="6309360" y="201168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8" name="Text 16"/>
          <p:cNvSpPr txBox="1"/>
          <p:nvPr/>
        </p:nvSpPr>
        <p:spPr>
          <a:xfrm>
            <a:off x="6903720" y="2011680"/>
            <a:ext cx="4663440" cy="548640"/>
          </a:xfrm>
          <a:prstGeom prst="rect">
            <a:avLst/>
          </a:prstGeom>
          <a:noFill/>
          <a:ln/>
        </p:spPr>
        <p:txBody>
          <a:bodyPr wrap="square" lIns="0" tIns="0" rIns="0" bIns="0" rtlCol="0" anchor="ctr">
            <a:normAutofit/>
          </a:bodyPr>
          <a:lstStyle/>
          <a:p>
            <a:pPr algn="l" indent="0" marL="0">
              <a:lnSpc>
                <a:spcPct val="105000"/>
              </a:lnSpc>
              <a:buNone/>
            </a:pPr>
            <a:r>
              <a:rPr lang="en-US" sz="1800" dirty="0">
                <a:solidFill>
                  <a:srgbClr val="1E4A4A"/>
                </a:solidFill>
                <a:latin typeface="DM Sans" pitchFamily="34" charset="0"/>
                <a:ea typeface="DM Sans" pitchFamily="34" charset="-122"/>
                <a:cs typeface="DM Sans" pitchFamily="34" charset="-120"/>
              </a:rPr>
              <a:t>Career Strategy</a:t>
            </a:r>
            <a:endParaRPr lang="en-US" sz="1800" dirty="0"/>
          </a:p>
        </p:txBody>
      </p:sp>
      <p:sp>
        <p:nvSpPr>
          <p:cNvPr id="19" name="Text 17"/>
          <p:cNvSpPr txBox="1"/>
          <p:nvPr/>
        </p:nvSpPr>
        <p:spPr>
          <a:xfrm>
            <a:off x="6309360" y="278892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20" name="Text 18"/>
          <p:cNvSpPr txBox="1"/>
          <p:nvPr/>
        </p:nvSpPr>
        <p:spPr>
          <a:xfrm>
            <a:off x="6903720" y="2788920"/>
            <a:ext cx="4663440" cy="548640"/>
          </a:xfrm>
          <a:prstGeom prst="rect">
            <a:avLst/>
          </a:prstGeom>
          <a:noFill/>
          <a:ln/>
        </p:spPr>
        <p:txBody>
          <a:bodyPr wrap="square" lIns="0" tIns="0" rIns="0" bIns="0" rtlCol="0" anchor="ctr">
            <a:normAutofit/>
          </a:bodyPr>
          <a:lstStyle/>
          <a:p>
            <a:pPr algn="l" indent="0" marL="0">
              <a:lnSpc>
                <a:spcPct val="105000"/>
              </a:lnSpc>
              <a:buNone/>
            </a:pPr>
            <a:r>
              <a:rPr lang="en-US" sz="1800" dirty="0">
                <a:solidFill>
                  <a:srgbClr val="1E4A4A"/>
                </a:solidFill>
                <a:latin typeface="DM Sans" pitchFamily="34" charset="0"/>
                <a:ea typeface="DM Sans" pitchFamily="34" charset="-122"/>
                <a:cs typeface="DM Sans" pitchFamily="34" charset="-120"/>
              </a:rPr>
              <a:t>Private Community</a:t>
            </a:r>
            <a:endParaRPr lang="en-US" sz="1800" dirty="0"/>
          </a:p>
        </p:txBody>
      </p:sp>
      <p:sp>
        <p:nvSpPr>
          <p:cNvPr id="21" name="Text 19"/>
          <p:cNvSpPr txBox="1"/>
          <p:nvPr/>
        </p:nvSpPr>
        <p:spPr>
          <a:xfrm>
            <a:off x="6309360" y="356616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22" name="Text 20"/>
          <p:cNvSpPr txBox="1"/>
          <p:nvPr/>
        </p:nvSpPr>
        <p:spPr>
          <a:xfrm>
            <a:off x="6903720" y="3566160"/>
            <a:ext cx="4663440" cy="548640"/>
          </a:xfrm>
          <a:prstGeom prst="rect">
            <a:avLst/>
          </a:prstGeom>
          <a:noFill/>
          <a:ln/>
        </p:spPr>
        <p:txBody>
          <a:bodyPr wrap="square" lIns="0" tIns="0" rIns="0" bIns="0" rtlCol="0" anchor="ctr">
            <a:normAutofit/>
          </a:bodyPr>
          <a:lstStyle/>
          <a:p>
            <a:pPr algn="l" indent="0" marL="0">
              <a:lnSpc>
                <a:spcPct val="105000"/>
              </a:lnSpc>
              <a:buNone/>
            </a:pPr>
            <a:r>
              <a:rPr lang="en-US" sz="1600" b="1" dirty="0">
                <a:solidFill>
                  <a:srgbClr val="B85042"/>
                </a:solidFill>
                <a:latin typeface="DM Sans" pitchFamily="34" charset="0"/>
                <a:ea typeface="DM Sans" pitchFamily="34" charset="-122"/>
                <a:cs typeface="DM Sans" pitchFamily="34" charset="-120"/>
              </a:rPr>
              <a:t>[PLACEHOLDER: Bonus]</a:t>
            </a:r>
            <a:endParaRPr lang="en-US" sz="1600" dirty="0"/>
          </a:p>
        </p:txBody>
      </p:sp>
      <p:sp>
        <p:nvSpPr>
          <p:cNvPr id="23" name="Shape 21"/>
          <p:cNvSpPr/>
          <p:nvPr/>
        </p:nvSpPr>
        <p:spPr>
          <a:xfrm>
            <a:off x="3169768" y="5532120"/>
            <a:ext cx="5852160" cy="731520"/>
          </a:xfrm>
          <a:prstGeom prst="rect">
            <a:avLst/>
          </a:prstGeom>
          <a:solidFill>
            <a:srgbClr val="1E4A4A"/>
          </a:solidFill>
          <a:ln w="12700">
            <a:solidFill>
              <a:srgbClr val="1E4A4A"/>
            </a:solidFill>
            <a:prstDash val="solid"/>
          </a:ln>
        </p:spPr>
      </p:sp>
      <p:sp>
        <p:nvSpPr>
          <p:cNvPr id="24" name="Text 22"/>
          <p:cNvSpPr txBox="1"/>
          <p:nvPr/>
        </p:nvSpPr>
        <p:spPr>
          <a:xfrm>
            <a:off x="3352648" y="5532120"/>
            <a:ext cx="5486400" cy="731520"/>
          </a:xfrm>
          <a:prstGeom prst="rect">
            <a:avLst/>
          </a:prstGeom>
          <a:noFill/>
          <a:ln/>
        </p:spPr>
        <p:txBody>
          <a:bodyPr wrap="square" lIns="0" tIns="0" rIns="0" bIns="0" rtlCol="0" anchor="ctr">
            <a:normAutofit/>
          </a:bodyPr>
          <a:lstStyle/>
          <a:p>
            <a:pPr algn="ctr" indent="0" marL="0">
              <a:lnSpc>
                <a:spcPct val="105000"/>
              </a:lnSpc>
              <a:buNone/>
            </a:pPr>
            <a:r>
              <a:rPr lang="en-US" sz="2400" dirty="0">
                <a:solidFill>
                  <a:srgbClr val="FFFFFF"/>
                </a:solidFill>
                <a:latin typeface="Cormorant Garamond" pitchFamily="34" charset="0"/>
                <a:ea typeface="Cormorant Garamond" pitchFamily="34" charset="-122"/>
                <a:cs typeface="Cormorant Garamond" pitchFamily="34" charset="-120"/>
              </a:rPr>
              <a:t>Total value: </a:t>
            </a:r>
            <a:pPr algn="ctr" indent="0" marL="0">
              <a:lnSpc>
                <a:spcPct val="105000"/>
              </a:lnSpc>
              <a:buNone/>
            </a:pPr>
            <a:r>
              <a:rPr lang="en-US" sz="1600" b="1" dirty="0">
                <a:solidFill>
                  <a:srgbClr val="F2B8A8"/>
                </a:solidFill>
                <a:latin typeface="DM Sans" pitchFamily="34" charset="0"/>
                <a:ea typeface="DM Sans" pitchFamily="34" charset="-122"/>
                <a:cs typeface="DM Sans" pitchFamily="34" charset="-120"/>
              </a:rPr>
              <a:t>[PLACEHOLDER]</a:t>
            </a:r>
            <a:endParaRPr lang="en-US" sz="24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82296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YOUR INVESTMENT</a:t>
            </a:r>
            <a:endParaRPr lang="en-US" sz="1200" dirty="0"/>
          </a:p>
        </p:txBody>
      </p:sp>
      <p:sp>
        <p:nvSpPr>
          <p:cNvPr id="3" name="Text 1"/>
          <p:cNvSpPr txBox="1"/>
          <p:nvPr/>
        </p:nvSpPr>
        <p:spPr>
          <a:xfrm>
            <a:off x="914400" y="1280160"/>
            <a:ext cx="10362895" cy="2103120"/>
          </a:xfrm>
          <a:prstGeom prst="rect">
            <a:avLst/>
          </a:prstGeom>
          <a:noFill/>
          <a:ln/>
        </p:spPr>
        <p:txBody>
          <a:bodyPr wrap="square" lIns="0" tIns="0" rIns="0" bIns="0" rtlCol="0" anchor="ctr">
            <a:normAutofit/>
          </a:bodyPr>
          <a:lstStyle/>
          <a:p>
            <a:pPr algn="ctr" indent="0" marL="0">
              <a:lnSpc>
                <a:spcPct val="105000"/>
              </a:lnSpc>
              <a:buNone/>
            </a:pPr>
            <a:r>
              <a:rPr lang="en-US" sz="3200" b="1" dirty="0">
                <a:solidFill>
                  <a:srgbClr val="B85042"/>
                </a:solidFill>
                <a:latin typeface="DM Sans" pitchFamily="34" charset="0"/>
                <a:ea typeface="DM Sans" pitchFamily="34" charset="-122"/>
                <a:cs typeface="DM Sans" pitchFamily="34" charset="-120"/>
              </a:rPr>
              <a:t>[PLACEHOLDER: price]</a:t>
            </a:r>
            <a:endParaRPr lang="en-US" sz="3200" dirty="0"/>
          </a:p>
        </p:txBody>
      </p:sp>
      <p:sp>
        <p:nvSpPr>
          <p:cNvPr id="4" name="Shape 2"/>
          <p:cNvSpPr/>
          <p:nvPr/>
        </p:nvSpPr>
        <p:spPr>
          <a:xfrm>
            <a:off x="5775808" y="3611880"/>
            <a:ext cx="640080" cy="0"/>
          </a:xfrm>
          <a:prstGeom prst="line">
            <a:avLst/>
          </a:prstGeom>
          <a:noFill/>
          <a:ln w="19050">
            <a:solidFill>
              <a:srgbClr val="1E4A4A"/>
            </a:solidFill>
            <a:prstDash val="solid"/>
          </a:ln>
        </p:spPr>
      </p:sp>
      <p:sp>
        <p:nvSpPr>
          <p:cNvPr id="5" name="Text 3"/>
          <p:cNvSpPr txBox="1"/>
          <p:nvPr/>
        </p:nvSpPr>
        <p:spPr>
          <a:xfrm>
            <a:off x="1828800" y="3840480"/>
            <a:ext cx="8534095" cy="1188720"/>
          </a:xfrm>
          <a:prstGeom prst="rect">
            <a:avLst/>
          </a:prstGeom>
          <a:noFill/>
          <a:ln/>
        </p:spPr>
        <p:txBody>
          <a:bodyPr wrap="square" lIns="0" tIns="0" rIns="0" bIns="0" rtlCol="0" anchor="t">
            <a:normAutofit/>
          </a:bodyPr>
          <a:lstStyle/>
          <a:p>
            <a:pPr algn="ctr" indent="0" marL="0">
              <a:lnSpc>
                <a:spcPct val="120000"/>
              </a:lnSpc>
              <a:buNone/>
            </a:pPr>
            <a:r>
              <a:rPr lang="en-US" sz="2200" dirty="0">
                <a:solidFill>
                  <a:srgbClr val="1E4A4A"/>
                </a:solidFill>
                <a:latin typeface="DM Sans" pitchFamily="34" charset="0"/>
                <a:ea typeface="DM Sans" pitchFamily="34" charset="-122"/>
                <a:cs typeface="DM Sans" pitchFamily="34" charset="-120"/>
              </a:rPr>
              <a:t>One successful negotiation can return many times this investment. And you keep the skills for the rest of your career.</a:t>
            </a:r>
            <a:endParaRPr lang="en-US" sz="22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WHAT I CAN'T PROMISE</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500" dirty="0">
                <a:solidFill>
                  <a:srgbClr val="1E4A4A"/>
                </a:solidFill>
                <a:latin typeface="Cormorant Garamond" pitchFamily="34" charset="0"/>
                <a:ea typeface="Cormorant Garamond" pitchFamily="34" charset="-122"/>
                <a:cs typeface="Cormorant Garamond" pitchFamily="34" charset="-120"/>
              </a:rPr>
              <a:t>I can't guarantee how another person </a:t>
            </a:r>
            <a:pPr algn="ctr" indent="0" marL="0">
              <a:lnSpc>
                <a:spcPct val="100000"/>
              </a:lnSpc>
              <a:buNone/>
            </a:pPr>
            <a:r>
              <a:rPr lang="en-US" sz="3500" b="1" dirty="0">
                <a:solidFill>
                  <a:srgbClr val="5C8A64"/>
                </a:solidFill>
                <a:latin typeface="Cormorant Garamond" pitchFamily="34" charset="0"/>
                <a:ea typeface="Cormorant Garamond" pitchFamily="34" charset="-122"/>
                <a:cs typeface="Cormorant Garamond" pitchFamily="34" charset="-120"/>
              </a:rPr>
              <a:t>or organization will respond.</a:t>
            </a:r>
            <a:endParaRPr lang="en-US" sz="3500" dirty="0"/>
          </a:p>
        </p:txBody>
      </p:sp>
      <p:sp>
        <p:nvSpPr>
          <p:cNvPr id="5" name="Text 3"/>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Anyone who tells you otherwise is selling you something.</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5730088" y="1828800"/>
            <a:ext cx="731520" cy="0"/>
          </a:xfrm>
          <a:prstGeom prst="line">
            <a:avLst/>
          </a:prstGeom>
          <a:noFill/>
          <a:ln w="19050">
            <a:solidFill>
              <a:srgbClr val="8AAF8A"/>
            </a:solidFill>
            <a:prstDash val="solid"/>
          </a:ln>
        </p:spPr>
      </p:sp>
      <p:sp>
        <p:nvSpPr>
          <p:cNvPr id="3" name="Text 1"/>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600" dirty="0">
                <a:solidFill>
                  <a:srgbClr val="1E4A4A"/>
                </a:solidFill>
                <a:latin typeface="Cormorant Garamond" pitchFamily="34" charset="0"/>
                <a:ea typeface="Cormorant Garamond" pitchFamily="34" charset="-122"/>
                <a:cs typeface="Cormorant Garamond" pitchFamily="34" charset="-120"/>
              </a:rPr>
              <a:t>What I </a:t>
            </a:r>
            <a:pPr algn="ctr" indent="0" marL="0">
              <a:lnSpc>
                <a:spcPct val="100000"/>
              </a:lnSpc>
              <a:buNone/>
            </a:pPr>
            <a:r>
              <a:rPr lang="en-US" sz="4600" b="1" dirty="0">
                <a:solidFill>
                  <a:srgbClr val="5C8A64"/>
                </a:solidFill>
                <a:latin typeface="Cormorant Garamond" pitchFamily="34" charset="0"/>
                <a:ea typeface="Cormorant Garamond" pitchFamily="34" charset="-122"/>
                <a:cs typeface="Cormorant Garamond" pitchFamily="34" charset="-120"/>
              </a:rPr>
              <a:t>can</a:t>
            </a:r>
            <a:pPr algn="ctr" indent="0" marL="0">
              <a:lnSpc>
                <a:spcPct val="100000"/>
              </a:lnSpc>
              <a:buNone/>
            </a:pPr>
            <a:r>
              <a:rPr lang="en-US" sz="4600" dirty="0">
                <a:solidFill>
                  <a:srgbClr val="1E4A4A"/>
                </a:solidFill>
                <a:latin typeface="Cormorant Garamond" pitchFamily="34" charset="0"/>
                <a:ea typeface="Cormorant Garamond" pitchFamily="34" charset="-122"/>
                <a:cs typeface="Cormorant Garamond" pitchFamily="34" charset="-120"/>
              </a:rPr>
              <a:t> promise you</a:t>
            </a:r>
            <a:endParaRPr lang="en-US" sz="4600" dirty="0"/>
          </a:p>
        </p:txBody>
      </p:sp>
      <p:sp>
        <p:nvSpPr>
          <p:cNvPr id="4" name="Text 2"/>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You will leave this experience thinking differently, communicating differently and showing up differently than when you arrived.</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MY COMMITMENT</a:t>
            </a:r>
            <a:endParaRPr lang="en-US" sz="1200" dirty="0"/>
          </a:p>
        </p:txBody>
      </p:sp>
      <p:sp>
        <p:nvSpPr>
          <p:cNvPr id="3" name="Shape 1"/>
          <p:cNvSpPr/>
          <p:nvPr/>
        </p:nvSpPr>
        <p:spPr>
          <a:xfrm>
            <a:off x="5730088" y="1828800"/>
            <a:ext cx="731520" cy="0"/>
          </a:xfrm>
          <a:prstGeom prst="line">
            <a:avLst/>
          </a:prstGeom>
          <a:noFill/>
          <a:ln w="19050">
            <a:solidFill>
              <a:srgbClr val="8AAF8A"/>
            </a:solidFill>
            <a:prstDash val="solid"/>
          </a:ln>
        </p:spPr>
      </p:sp>
      <p:sp>
        <p:nvSpPr>
          <p:cNvPr id="4" name="Text 2"/>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4000" dirty="0">
                <a:solidFill>
                  <a:srgbClr val="1E4A4A"/>
                </a:solidFill>
                <a:latin typeface="Cormorant Garamond" pitchFamily="34" charset="0"/>
                <a:ea typeface="Cormorant Garamond" pitchFamily="34" charset="-122"/>
                <a:cs typeface="Cormorant Garamond" pitchFamily="34" charset="-120"/>
              </a:rPr>
              <a:t>Transformation is something </a:t>
            </a:r>
            <a:pPr algn="ctr" indent="0" marL="0">
              <a:lnSpc>
                <a:spcPct val="100000"/>
              </a:lnSpc>
              <a:buNone/>
            </a:pPr>
            <a:r>
              <a:rPr lang="en-US" sz="4000" b="1" dirty="0">
                <a:solidFill>
                  <a:srgbClr val="5C8A64"/>
                </a:solidFill>
                <a:latin typeface="Cormorant Garamond" pitchFamily="34" charset="0"/>
                <a:ea typeface="Cormorant Garamond" pitchFamily="34" charset="-122"/>
                <a:cs typeface="Cormorant Garamond" pitchFamily="34" charset="-120"/>
              </a:rPr>
              <a:t>we create together.</a:t>
            </a:r>
            <a:endParaRPr lang="en-US" sz="4000" dirty="0"/>
          </a:p>
        </p:txBody>
      </p:sp>
      <p:sp>
        <p:nvSpPr>
          <p:cNvPr id="5" name="Text 3"/>
          <p:cNvSpPr txBox="1"/>
          <p:nvPr/>
        </p:nvSpPr>
        <p:spPr>
          <a:xfrm>
            <a:off x="1828800" y="4480560"/>
            <a:ext cx="8534095" cy="118872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If you show up, do the work, participate in the coaching and fully engage, I'll be there every step of the way to challenge you and support you.</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82296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THE COHORT IS INTENTIONALLY SMALL</a:t>
            </a:r>
            <a:endParaRPr lang="en-US" sz="1200" dirty="0"/>
          </a:p>
        </p:txBody>
      </p:sp>
      <p:sp>
        <p:nvSpPr>
          <p:cNvPr id="3" name="Text 1"/>
          <p:cNvSpPr txBox="1"/>
          <p:nvPr/>
        </p:nvSpPr>
        <p:spPr>
          <a:xfrm>
            <a:off x="914400" y="1280160"/>
            <a:ext cx="10362895" cy="2103120"/>
          </a:xfrm>
          <a:prstGeom prst="rect">
            <a:avLst/>
          </a:prstGeom>
          <a:noFill/>
          <a:ln/>
        </p:spPr>
        <p:txBody>
          <a:bodyPr wrap="square" lIns="0" tIns="0" rIns="0" bIns="0" rtlCol="0" anchor="ctr">
            <a:normAutofit/>
          </a:bodyPr>
          <a:lstStyle/>
          <a:p>
            <a:pPr algn="ctr" indent="0" marL="0">
              <a:lnSpc>
                <a:spcPct val="105000"/>
              </a:lnSpc>
              <a:buNone/>
            </a:pPr>
            <a:r>
              <a:rPr lang="en-US" sz="3200" b="1" dirty="0">
                <a:solidFill>
                  <a:srgbClr val="B85042"/>
                </a:solidFill>
                <a:latin typeface="DM Sans" pitchFamily="34" charset="0"/>
                <a:ea typeface="DM Sans" pitchFamily="34" charset="-122"/>
                <a:cs typeface="DM Sans" pitchFamily="34" charset="-120"/>
              </a:rPr>
              <a:t>[PLACEHOLDER: # seats]</a:t>
            </a:r>
            <a:endParaRPr lang="en-US" sz="3200" dirty="0"/>
          </a:p>
        </p:txBody>
      </p:sp>
      <p:sp>
        <p:nvSpPr>
          <p:cNvPr id="4" name="Shape 2"/>
          <p:cNvSpPr/>
          <p:nvPr/>
        </p:nvSpPr>
        <p:spPr>
          <a:xfrm>
            <a:off x="5775808" y="3611880"/>
            <a:ext cx="640080" cy="0"/>
          </a:xfrm>
          <a:prstGeom prst="line">
            <a:avLst/>
          </a:prstGeom>
          <a:noFill/>
          <a:ln w="19050">
            <a:solidFill>
              <a:srgbClr val="1E4A4A"/>
            </a:solidFill>
            <a:prstDash val="solid"/>
          </a:ln>
        </p:spPr>
      </p:sp>
      <p:sp>
        <p:nvSpPr>
          <p:cNvPr id="5" name="Text 3"/>
          <p:cNvSpPr txBox="1"/>
          <p:nvPr/>
        </p:nvSpPr>
        <p:spPr>
          <a:xfrm>
            <a:off x="1828800" y="3840480"/>
            <a:ext cx="8534095" cy="1188720"/>
          </a:xfrm>
          <a:prstGeom prst="rect">
            <a:avLst/>
          </a:prstGeom>
          <a:noFill/>
          <a:ln/>
        </p:spPr>
        <p:txBody>
          <a:bodyPr wrap="square" lIns="0" tIns="0" rIns="0" bIns="0" rtlCol="0" anchor="t">
            <a:normAutofit/>
          </a:bodyPr>
          <a:lstStyle/>
          <a:p>
            <a:pPr algn="ctr" indent="0" marL="0">
              <a:lnSpc>
                <a:spcPct val="120000"/>
              </a:lnSpc>
              <a:buNone/>
            </a:pPr>
            <a:r>
              <a:rPr lang="en-US" sz="2200" dirty="0">
                <a:solidFill>
                  <a:srgbClr val="1E4A4A"/>
                </a:solidFill>
                <a:latin typeface="DM Sans" pitchFamily="34" charset="0"/>
                <a:ea typeface="DM Sans" pitchFamily="34" charset="-122"/>
                <a:cs typeface="DM Sans" pitchFamily="34" charset="-120"/>
              </a:rPr>
              <a:t>So I can personally coach every woman in the room. Once the seats are filled, enrollment closes.</a:t>
            </a:r>
            <a:endParaRPr lang="en-US" sz="22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AF5EE"/>
        </a:solidFill>
      </p:bgPr>
    </p:bg>
    <p:spTree>
      <p:nvGrpSpPr>
        <p:cNvPr id="1" name=""/>
        <p:cNvGrpSpPr/>
        <p:nvPr/>
      </p:nvGrpSpPr>
      <p:grpSpPr>
        <a:xfrm>
          <a:off x="0" y="0"/>
          <a:ext cx="0" cy="0"/>
          <a:chOff x="0" y="0"/>
          <a:chExt cx="0" cy="0"/>
        </a:xfrm>
      </p:grpSpPr>
      <p:sp>
        <p:nvSpPr>
          <p:cNvPr id="2" name="Text 0"/>
          <p:cNvSpPr txBox="1"/>
          <p:nvPr/>
        </p:nvSpPr>
        <p:spPr>
          <a:xfrm>
            <a:off x="914400" y="82296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C8A64"/>
                </a:solidFill>
                <a:latin typeface="DM Sans" pitchFamily="34" charset="0"/>
                <a:ea typeface="DM Sans" pitchFamily="34" charset="-122"/>
                <a:cs typeface="DM Sans" pitchFamily="34" charset="-120"/>
              </a:rPr>
              <a:t>THE NEXT COHORT BEGINS</a:t>
            </a:r>
            <a:endParaRPr lang="en-US" sz="1200" dirty="0"/>
          </a:p>
        </p:txBody>
      </p:sp>
      <p:sp>
        <p:nvSpPr>
          <p:cNvPr id="3" name="Text 1"/>
          <p:cNvSpPr txBox="1"/>
          <p:nvPr/>
        </p:nvSpPr>
        <p:spPr>
          <a:xfrm>
            <a:off x="914400" y="1280160"/>
            <a:ext cx="10362895" cy="2103120"/>
          </a:xfrm>
          <a:prstGeom prst="rect">
            <a:avLst/>
          </a:prstGeom>
          <a:noFill/>
          <a:ln/>
        </p:spPr>
        <p:txBody>
          <a:bodyPr wrap="square" lIns="0" tIns="0" rIns="0" bIns="0" rtlCol="0" anchor="ctr">
            <a:normAutofit/>
          </a:bodyPr>
          <a:lstStyle/>
          <a:p>
            <a:pPr algn="ctr" indent="0" marL="0">
              <a:lnSpc>
                <a:spcPct val="105000"/>
              </a:lnSpc>
              <a:buNone/>
            </a:pPr>
            <a:r>
              <a:rPr lang="en-US" sz="3200" b="1" dirty="0">
                <a:solidFill>
                  <a:srgbClr val="B85042"/>
                </a:solidFill>
                <a:latin typeface="DM Sans" pitchFamily="34" charset="0"/>
                <a:ea typeface="DM Sans" pitchFamily="34" charset="-122"/>
                <a:cs typeface="DM Sans" pitchFamily="34" charset="-120"/>
              </a:rPr>
              <a:t>[PLACEHOLDER: start date]</a:t>
            </a:r>
            <a:endParaRPr lang="en-US" sz="3200" dirty="0"/>
          </a:p>
        </p:txBody>
      </p:sp>
      <p:sp>
        <p:nvSpPr>
          <p:cNvPr id="4" name="Shape 2"/>
          <p:cNvSpPr/>
          <p:nvPr/>
        </p:nvSpPr>
        <p:spPr>
          <a:xfrm>
            <a:off x="5775808" y="3611880"/>
            <a:ext cx="640080" cy="0"/>
          </a:xfrm>
          <a:prstGeom prst="line">
            <a:avLst/>
          </a:prstGeom>
          <a:noFill/>
          <a:ln w="19050">
            <a:solidFill>
              <a:srgbClr val="1E4A4A"/>
            </a:solidFill>
            <a:prstDash val="solid"/>
          </a:ln>
        </p:spPr>
      </p:sp>
      <p:sp>
        <p:nvSpPr>
          <p:cNvPr id="5" name="Text 3"/>
          <p:cNvSpPr txBox="1"/>
          <p:nvPr/>
        </p:nvSpPr>
        <p:spPr>
          <a:xfrm>
            <a:off x="1828800" y="3840480"/>
            <a:ext cx="8534095" cy="1188720"/>
          </a:xfrm>
          <a:prstGeom prst="rect">
            <a:avLst/>
          </a:prstGeom>
          <a:noFill/>
          <a:ln/>
        </p:spPr>
        <p:txBody>
          <a:bodyPr wrap="square" lIns="0" tIns="0" rIns="0" bIns="0" rtlCol="0" anchor="t">
            <a:normAutofit/>
          </a:bodyPr>
          <a:lstStyle/>
          <a:p>
            <a:pPr algn="ctr" indent="0" marL="0">
              <a:lnSpc>
                <a:spcPct val="120000"/>
              </a:lnSpc>
              <a:buNone/>
            </a:pPr>
            <a:r>
              <a:rPr lang="en-US" sz="2200" dirty="0">
                <a:solidFill>
                  <a:srgbClr val="1E4A4A"/>
                </a:solidFill>
                <a:latin typeface="DM Sans" pitchFamily="34" charset="0"/>
                <a:ea typeface="DM Sans" pitchFamily="34" charset="-122"/>
                <a:cs typeface="DM Sans" pitchFamily="34" charset="-120"/>
              </a:rPr>
              <a:t>Applications are reviewed in the order they come in.</a:t>
            </a:r>
            <a:endParaRPr lang="en-US" sz="22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WAITING IS THE MOST EXPENSIVE CHOICE</a:t>
            </a:r>
            <a:endParaRPr lang="en-US" sz="1300" dirty="0"/>
          </a:p>
        </p:txBody>
      </p:sp>
      <p:sp>
        <p:nvSpPr>
          <p:cNvPr id="5" name="Text 3"/>
          <p:cNvSpPr txBox="1"/>
          <p:nvPr/>
        </p:nvSpPr>
        <p:spPr>
          <a:xfrm>
            <a:off x="2011680" y="137160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6" name="Text 4"/>
          <p:cNvSpPr txBox="1"/>
          <p:nvPr/>
        </p:nvSpPr>
        <p:spPr>
          <a:xfrm>
            <a:off x="2560320" y="137160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Every future raise built on a lower base</a:t>
            </a:r>
            <a:endParaRPr lang="en-US" sz="2000" dirty="0"/>
          </a:p>
        </p:txBody>
      </p:sp>
      <p:sp>
        <p:nvSpPr>
          <p:cNvPr id="7" name="Text 5"/>
          <p:cNvSpPr txBox="1"/>
          <p:nvPr/>
        </p:nvSpPr>
        <p:spPr>
          <a:xfrm>
            <a:off x="2011680" y="233172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560320" y="233172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Bonuses and retirement contributions calculated from it</a:t>
            </a:r>
            <a:endParaRPr lang="en-US" sz="2000" dirty="0"/>
          </a:p>
        </p:txBody>
      </p:sp>
      <p:sp>
        <p:nvSpPr>
          <p:cNvPr id="9" name="Text 7"/>
          <p:cNvSpPr txBox="1"/>
          <p:nvPr/>
        </p:nvSpPr>
        <p:spPr>
          <a:xfrm>
            <a:off x="2011680" y="329184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560320" y="3291840"/>
            <a:ext cx="8046720" cy="59436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Another year of saying nothing, and getting better at it</a:t>
            </a:r>
            <a:endParaRPr lang="en-US" sz="2000" dirty="0"/>
          </a:p>
        </p:txBody>
      </p:sp>
      <p:sp>
        <p:nvSpPr>
          <p:cNvPr id="11" name="Text 9"/>
          <p:cNvSpPr txBox="1"/>
          <p:nvPr/>
        </p:nvSpPr>
        <p:spPr>
          <a:xfrm>
            <a:off x="2011680" y="4251960"/>
            <a:ext cx="365760" cy="59436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560320" y="4251960"/>
            <a:ext cx="8046720" cy="594360"/>
          </a:xfrm>
          <a:prstGeom prst="rect">
            <a:avLst/>
          </a:prstGeom>
          <a:noFill/>
          <a:ln/>
        </p:spPr>
        <p:txBody>
          <a:bodyPr wrap="square" lIns="0" tIns="0" rIns="0" bIns="0" rtlCol="0" anchor="ctr">
            <a:normAutofit/>
          </a:bodyPr>
          <a:lstStyle/>
          <a:p>
            <a:pPr algn="l" indent="0" marL="0">
              <a:lnSpc>
                <a:spcPct val="105000"/>
              </a:lnSpc>
              <a:buNone/>
            </a:pPr>
            <a:r>
              <a:rPr lang="en-US" sz="1600" b="1" dirty="0">
                <a:solidFill>
                  <a:srgbClr val="B85042"/>
                </a:solidFill>
                <a:latin typeface="DM Sans" pitchFamily="34" charset="0"/>
                <a:ea typeface="DM Sans" pitchFamily="34" charset="-122"/>
                <a:cs typeface="DM Sans" pitchFamily="34" charset="-120"/>
              </a:rPr>
              <a:t>[PLACEHOLDER: future cohorts priced higher, if still true]</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214884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YOUR QUESTIONS</a:t>
            </a:r>
            <a:endParaRPr lang="en-US" sz="1200" dirty="0"/>
          </a:p>
        </p:txBody>
      </p:sp>
      <p:sp>
        <p:nvSpPr>
          <p:cNvPr id="4" name="Shape 2"/>
          <p:cNvSpPr/>
          <p:nvPr/>
        </p:nvSpPr>
        <p:spPr>
          <a:xfrm>
            <a:off x="5730088" y="2606040"/>
            <a:ext cx="731520" cy="0"/>
          </a:xfrm>
          <a:prstGeom prst="line">
            <a:avLst/>
          </a:prstGeom>
          <a:noFill/>
          <a:ln w="19050">
            <a:solidFill>
              <a:srgbClr val="8AAF8A"/>
            </a:solidFill>
            <a:prstDash val="solid"/>
          </a:ln>
        </p:spPr>
      </p:sp>
      <p:sp>
        <p:nvSpPr>
          <p:cNvPr id="5" name="Text 3"/>
          <p:cNvSpPr txBox="1"/>
          <p:nvPr/>
        </p:nvSpPr>
        <p:spPr>
          <a:xfrm>
            <a:off x="1097280" y="2788920"/>
            <a:ext cx="9997135" cy="1371600"/>
          </a:xfrm>
          <a:prstGeom prst="rect">
            <a:avLst/>
          </a:prstGeom>
          <a:noFill/>
          <a:ln/>
        </p:spPr>
        <p:txBody>
          <a:bodyPr wrap="square" lIns="0" tIns="0" rIns="0" bIns="0" rtlCol="0" anchor="ctr">
            <a:normAutofit/>
          </a:bodyPr>
          <a:lstStyle/>
          <a:p>
            <a:pPr algn="ctr" indent="0" marL="0">
              <a:lnSpc>
                <a:spcPct val="105000"/>
              </a:lnSpc>
              <a:buNone/>
            </a:pPr>
            <a:r>
              <a:rPr lang="en-US" sz="5000" dirty="0">
                <a:solidFill>
                  <a:srgbClr val="FFFFFF"/>
                </a:solidFill>
                <a:latin typeface="Cormorant Garamond" pitchFamily="34" charset="0"/>
                <a:ea typeface="Cormorant Garamond" pitchFamily="34" charset="-122"/>
                <a:cs typeface="Cormorant Garamond" pitchFamily="34" charset="-120"/>
              </a:rPr>
              <a:t>You Might Be Wondering</a:t>
            </a:r>
            <a:endParaRPr lang="en-US" sz="5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 MIGHT BE WONDERING</a:t>
            </a:r>
            <a:endParaRPr lang="en-US" sz="1300" dirty="0"/>
          </a:p>
        </p:txBody>
      </p:sp>
      <p:sp>
        <p:nvSpPr>
          <p:cNvPr id="5" name="Text 3"/>
          <p:cNvSpPr txBox="1"/>
          <p:nvPr/>
        </p:nvSpPr>
        <p:spPr>
          <a:xfrm>
            <a:off x="1188720" y="1280160"/>
            <a:ext cx="9814255" cy="2103120"/>
          </a:xfrm>
          <a:prstGeom prst="rect">
            <a:avLst/>
          </a:prstGeom>
          <a:noFill/>
          <a:ln/>
        </p:spPr>
        <p:txBody>
          <a:bodyPr wrap="square" lIns="0" tIns="0" rIns="0" bIns="0" rtlCol="0" anchor="ctr">
            <a:normAutofit/>
          </a:bodyPr>
          <a:lstStyle/>
          <a:p>
            <a:pPr algn="ctr" indent="0" marL="0">
              <a:lnSpc>
                <a:spcPct val="105000"/>
              </a:lnSpc>
              <a:buNone/>
            </a:pPr>
            <a:r>
              <a:rPr lang="en-US" sz="4200" i="1" dirty="0">
                <a:solidFill>
                  <a:srgbClr val="1E4A4A"/>
                </a:solidFill>
                <a:latin typeface="Cormorant Garamond" pitchFamily="34" charset="0"/>
                <a:ea typeface="Cormorant Garamond" pitchFamily="34" charset="-122"/>
                <a:cs typeface="Cormorant Garamond" pitchFamily="34" charset="-120"/>
              </a:rPr>
              <a:t>"My industry is different."</a:t>
            </a:r>
            <a:endParaRPr lang="en-US" sz="4200" dirty="0"/>
          </a:p>
        </p:txBody>
      </p:sp>
      <p:sp>
        <p:nvSpPr>
          <p:cNvPr id="6" name="Shape 4"/>
          <p:cNvSpPr/>
          <p:nvPr/>
        </p:nvSpPr>
        <p:spPr>
          <a:xfrm>
            <a:off x="5730088" y="3703320"/>
            <a:ext cx="731520" cy="0"/>
          </a:xfrm>
          <a:prstGeom prst="line">
            <a:avLst/>
          </a:prstGeom>
          <a:noFill/>
          <a:ln w="19050">
            <a:solidFill>
              <a:srgbClr val="8AAF8A"/>
            </a:solidFill>
            <a:prstDash val="solid"/>
          </a:ln>
        </p:spPr>
      </p:sp>
      <p:sp>
        <p:nvSpPr>
          <p:cNvPr id="7" name="Text 5"/>
          <p:cNvSpPr txBox="1"/>
          <p:nvPr/>
        </p:nvSpPr>
        <p:spPr>
          <a:xfrm>
            <a:off x="1828800" y="3977640"/>
            <a:ext cx="8534095" cy="1463040"/>
          </a:xfrm>
          <a:prstGeom prst="rect">
            <a:avLst/>
          </a:prstGeom>
          <a:noFill/>
          <a:ln/>
        </p:spPr>
        <p:txBody>
          <a:bodyPr wrap="square" lIns="0" tIns="0" rIns="0" bIns="0" rtlCol="0" anchor="t">
            <a:normAutofit/>
          </a:bodyPr>
          <a:lstStyle/>
          <a:p>
            <a:pPr algn="ctr" indent="0" marL="0">
              <a:lnSpc>
                <a:spcPct val="120000"/>
              </a:lnSpc>
              <a:buNone/>
            </a:pPr>
            <a:r>
              <a:rPr lang="en-US" sz="2000" dirty="0">
                <a:solidFill>
                  <a:srgbClr val="1E4A4A"/>
                </a:solidFill>
                <a:latin typeface="DM Sans" pitchFamily="34" charset="0"/>
                <a:ea typeface="DM Sans" pitchFamily="34" charset="-122"/>
                <a:cs typeface="DM Sans" pitchFamily="34" charset="-120"/>
              </a:rPr>
              <a:t>Your industry sets the numbers. Knowing your value and advocating for yourself works in all of them.</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 MIGHT BE WONDERING</a:t>
            </a:r>
            <a:endParaRPr lang="en-US" sz="1300" dirty="0"/>
          </a:p>
        </p:txBody>
      </p:sp>
      <p:sp>
        <p:nvSpPr>
          <p:cNvPr id="5" name="Text 3"/>
          <p:cNvSpPr txBox="1"/>
          <p:nvPr/>
        </p:nvSpPr>
        <p:spPr>
          <a:xfrm>
            <a:off x="1188720" y="1280160"/>
            <a:ext cx="9814255" cy="2103120"/>
          </a:xfrm>
          <a:prstGeom prst="rect">
            <a:avLst/>
          </a:prstGeom>
          <a:noFill/>
          <a:ln/>
        </p:spPr>
        <p:txBody>
          <a:bodyPr wrap="square" lIns="0" tIns="0" rIns="0" bIns="0" rtlCol="0" anchor="ctr">
            <a:normAutofit/>
          </a:bodyPr>
          <a:lstStyle/>
          <a:p>
            <a:pPr algn="ctr" indent="0" marL="0">
              <a:lnSpc>
                <a:spcPct val="105000"/>
              </a:lnSpc>
              <a:buNone/>
            </a:pPr>
            <a:r>
              <a:rPr lang="en-US" sz="3700" i="1" dirty="0">
                <a:solidFill>
                  <a:srgbClr val="1E4A4A"/>
                </a:solidFill>
                <a:latin typeface="Cormorant Garamond" pitchFamily="34" charset="0"/>
                <a:ea typeface="Cormorant Garamond" pitchFamily="34" charset="-122"/>
                <a:cs typeface="Cormorant Garamond" pitchFamily="34" charset="-120"/>
              </a:rPr>
              <a:t>"I'm not good at negotiating, and I hate asking for favors."</a:t>
            </a:r>
            <a:endParaRPr lang="en-US" sz="3700" dirty="0"/>
          </a:p>
        </p:txBody>
      </p:sp>
      <p:sp>
        <p:nvSpPr>
          <p:cNvPr id="6" name="Shape 4"/>
          <p:cNvSpPr/>
          <p:nvPr/>
        </p:nvSpPr>
        <p:spPr>
          <a:xfrm>
            <a:off x="5730088" y="3703320"/>
            <a:ext cx="731520" cy="0"/>
          </a:xfrm>
          <a:prstGeom prst="line">
            <a:avLst/>
          </a:prstGeom>
          <a:noFill/>
          <a:ln w="19050">
            <a:solidFill>
              <a:srgbClr val="8AAF8A"/>
            </a:solidFill>
            <a:prstDash val="solid"/>
          </a:ln>
        </p:spPr>
      </p:sp>
      <p:sp>
        <p:nvSpPr>
          <p:cNvPr id="7" name="Text 5"/>
          <p:cNvSpPr txBox="1"/>
          <p:nvPr/>
        </p:nvSpPr>
        <p:spPr>
          <a:xfrm>
            <a:off x="1828800" y="3977640"/>
            <a:ext cx="8534095" cy="1463040"/>
          </a:xfrm>
          <a:prstGeom prst="rect">
            <a:avLst/>
          </a:prstGeom>
          <a:noFill/>
          <a:ln/>
        </p:spPr>
        <p:txBody>
          <a:bodyPr wrap="square" lIns="0" tIns="0" rIns="0" bIns="0" rtlCol="0" anchor="t">
            <a:normAutofit/>
          </a:bodyPr>
          <a:lstStyle/>
          <a:p>
            <a:pPr algn="ctr" indent="0" marL="0">
              <a:lnSpc>
                <a:spcPct val="120000"/>
              </a:lnSpc>
              <a:buNone/>
            </a:pPr>
            <a:r>
              <a:rPr lang="en-US" sz="2000" dirty="0">
                <a:solidFill>
                  <a:srgbClr val="1E4A4A"/>
                </a:solidFill>
                <a:latin typeface="DM Sans" pitchFamily="34" charset="0"/>
                <a:ea typeface="DM Sans" pitchFamily="34" charset="-122"/>
                <a:cs typeface="DM Sans" pitchFamily="34" charset="-120"/>
              </a:rPr>
              <a:t>What you're having is a business conversation about value. Replacing you is expensive, and your company knows it.</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 MIGHT BE WONDERING</a:t>
            </a:r>
            <a:endParaRPr lang="en-US" sz="1300" dirty="0"/>
          </a:p>
        </p:txBody>
      </p:sp>
      <p:sp>
        <p:nvSpPr>
          <p:cNvPr id="5" name="Text 3"/>
          <p:cNvSpPr txBox="1"/>
          <p:nvPr/>
        </p:nvSpPr>
        <p:spPr>
          <a:xfrm>
            <a:off x="1188720" y="1280160"/>
            <a:ext cx="9814255" cy="2103120"/>
          </a:xfrm>
          <a:prstGeom prst="rect">
            <a:avLst/>
          </a:prstGeom>
          <a:noFill/>
          <a:ln/>
        </p:spPr>
        <p:txBody>
          <a:bodyPr wrap="square" lIns="0" tIns="0" rIns="0" bIns="0" rtlCol="0" anchor="ctr">
            <a:normAutofit/>
          </a:bodyPr>
          <a:lstStyle/>
          <a:p>
            <a:pPr algn="ctr" indent="0" marL="0">
              <a:lnSpc>
                <a:spcPct val="105000"/>
              </a:lnSpc>
              <a:buNone/>
            </a:pPr>
            <a:r>
              <a:rPr lang="en-US" sz="4200" i="1" dirty="0">
                <a:solidFill>
                  <a:srgbClr val="1E4A4A"/>
                </a:solidFill>
                <a:latin typeface="Cormorant Garamond" pitchFamily="34" charset="0"/>
                <a:ea typeface="Cormorant Garamond" pitchFamily="34" charset="-122"/>
                <a:cs typeface="Cormorant Garamond" pitchFamily="34" charset="-120"/>
              </a:rPr>
              <a:t>"I don't have time."</a:t>
            </a:r>
            <a:endParaRPr lang="en-US" sz="4200" dirty="0"/>
          </a:p>
        </p:txBody>
      </p:sp>
      <p:sp>
        <p:nvSpPr>
          <p:cNvPr id="6" name="Shape 4"/>
          <p:cNvSpPr/>
          <p:nvPr/>
        </p:nvSpPr>
        <p:spPr>
          <a:xfrm>
            <a:off x="5730088" y="3703320"/>
            <a:ext cx="731520" cy="0"/>
          </a:xfrm>
          <a:prstGeom prst="line">
            <a:avLst/>
          </a:prstGeom>
          <a:noFill/>
          <a:ln w="19050">
            <a:solidFill>
              <a:srgbClr val="8AAF8A"/>
            </a:solidFill>
            <a:prstDash val="solid"/>
          </a:ln>
        </p:spPr>
      </p:sp>
      <p:sp>
        <p:nvSpPr>
          <p:cNvPr id="7" name="Text 5"/>
          <p:cNvSpPr txBox="1"/>
          <p:nvPr/>
        </p:nvSpPr>
        <p:spPr>
          <a:xfrm>
            <a:off x="1828800" y="3977640"/>
            <a:ext cx="8534095" cy="1463040"/>
          </a:xfrm>
          <a:prstGeom prst="rect">
            <a:avLst/>
          </a:prstGeom>
          <a:noFill/>
          <a:ln/>
        </p:spPr>
        <p:txBody>
          <a:bodyPr wrap="square" lIns="0" tIns="0" rIns="0" bIns="0" rtlCol="0" anchor="t">
            <a:normAutofit/>
          </a:bodyPr>
          <a:lstStyle/>
          <a:p>
            <a:pPr algn="ctr" indent="0" marL="0">
              <a:lnSpc>
                <a:spcPct val="120000"/>
              </a:lnSpc>
              <a:buNone/>
            </a:pPr>
            <a:r>
              <a:rPr lang="en-US" sz="2000" dirty="0">
                <a:solidFill>
                  <a:srgbClr val="1E4A4A"/>
                </a:solidFill>
                <a:latin typeface="DM Sans" pitchFamily="34" charset="0"/>
                <a:ea typeface="DM Sans" pitchFamily="34" charset="-122"/>
                <a:cs typeface="DM Sans" pitchFamily="34" charset="-120"/>
              </a:rPr>
              <a:t>Staying where you are costs more than eight weeks ever will. One courageous conversation can change a career.</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 MIGHT BE WONDERING</a:t>
            </a:r>
            <a:endParaRPr lang="en-US" sz="1300" dirty="0"/>
          </a:p>
        </p:txBody>
      </p:sp>
      <p:sp>
        <p:nvSpPr>
          <p:cNvPr id="5" name="Text 3"/>
          <p:cNvSpPr txBox="1"/>
          <p:nvPr/>
        </p:nvSpPr>
        <p:spPr>
          <a:xfrm>
            <a:off x="1188720" y="1280160"/>
            <a:ext cx="9814255" cy="2103120"/>
          </a:xfrm>
          <a:prstGeom prst="rect">
            <a:avLst/>
          </a:prstGeom>
          <a:noFill/>
          <a:ln/>
        </p:spPr>
        <p:txBody>
          <a:bodyPr wrap="square" lIns="0" tIns="0" rIns="0" bIns="0" rtlCol="0" anchor="ctr">
            <a:normAutofit/>
          </a:bodyPr>
          <a:lstStyle/>
          <a:p>
            <a:pPr algn="ctr" indent="0" marL="0">
              <a:lnSpc>
                <a:spcPct val="105000"/>
              </a:lnSpc>
              <a:buNone/>
            </a:pPr>
            <a:r>
              <a:rPr lang="en-US" sz="3200" i="1" dirty="0">
                <a:solidFill>
                  <a:srgbClr val="1E4A4A"/>
                </a:solidFill>
                <a:latin typeface="Cormorant Garamond" pitchFamily="34" charset="0"/>
                <a:ea typeface="Cormorant Garamond" pitchFamily="34" charset="-122"/>
                <a:cs typeface="Cormorant Garamond" pitchFamily="34" charset="-120"/>
              </a:rPr>
              <a:t>"What if they say no? I don't want to damage the relationship with my boss."</a:t>
            </a:r>
            <a:endParaRPr lang="en-US" sz="3200" dirty="0"/>
          </a:p>
        </p:txBody>
      </p:sp>
      <p:sp>
        <p:nvSpPr>
          <p:cNvPr id="6" name="Shape 4"/>
          <p:cNvSpPr/>
          <p:nvPr/>
        </p:nvSpPr>
        <p:spPr>
          <a:xfrm>
            <a:off x="5730088" y="3703320"/>
            <a:ext cx="731520" cy="0"/>
          </a:xfrm>
          <a:prstGeom prst="line">
            <a:avLst/>
          </a:prstGeom>
          <a:noFill/>
          <a:ln w="19050">
            <a:solidFill>
              <a:srgbClr val="8AAF8A"/>
            </a:solidFill>
            <a:prstDash val="solid"/>
          </a:ln>
        </p:spPr>
      </p:sp>
      <p:sp>
        <p:nvSpPr>
          <p:cNvPr id="7" name="Text 5"/>
          <p:cNvSpPr txBox="1"/>
          <p:nvPr/>
        </p:nvSpPr>
        <p:spPr>
          <a:xfrm>
            <a:off x="1828800" y="3977640"/>
            <a:ext cx="8534095" cy="1463040"/>
          </a:xfrm>
          <a:prstGeom prst="rect">
            <a:avLst/>
          </a:prstGeom>
          <a:noFill/>
          <a:ln/>
        </p:spPr>
        <p:txBody>
          <a:bodyPr wrap="square" lIns="0" tIns="0" rIns="0" bIns="0" rtlCol="0" anchor="t">
            <a:normAutofit/>
          </a:bodyPr>
          <a:lstStyle/>
          <a:p>
            <a:pPr algn="ctr" indent="0" marL="0">
              <a:lnSpc>
                <a:spcPct val="120000"/>
              </a:lnSpc>
              <a:buNone/>
            </a:pPr>
            <a:r>
              <a:rPr lang="en-US" sz="2000" dirty="0">
                <a:solidFill>
                  <a:srgbClr val="1E4A4A"/>
                </a:solidFill>
                <a:latin typeface="DM Sans" pitchFamily="34" charset="0"/>
                <a:ea typeface="DM Sans" pitchFamily="34" charset="-122"/>
                <a:cs typeface="DM Sans" pitchFamily="34" charset="-120"/>
              </a:rPr>
              <a:t>A well-prepared, professional conversation shouldn't damage a healthy relationship. A no is information.</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 MIGHT BE WONDERING</a:t>
            </a:r>
            <a:endParaRPr lang="en-US" sz="1300" dirty="0"/>
          </a:p>
        </p:txBody>
      </p:sp>
      <p:sp>
        <p:nvSpPr>
          <p:cNvPr id="5" name="Text 3"/>
          <p:cNvSpPr txBox="1"/>
          <p:nvPr/>
        </p:nvSpPr>
        <p:spPr>
          <a:xfrm>
            <a:off x="1188720" y="1280160"/>
            <a:ext cx="9814255" cy="2103120"/>
          </a:xfrm>
          <a:prstGeom prst="rect">
            <a:avLst/>
          </a:prstGeom>
          <a:noFill/>
          <a:ln/>
        </p:spPr>
        <p:txBody>
          <a:bodyPr wrap="square" lIns="0" tIns="0" rIns="0" bIns="0" rtlCol="0" anchor="ctr">
            <a:normAutofit/>
          </a:bodyPr>
          <a:lstStyle/>
          <a:p>
            <a:pPr algn="ctr" indent="0" marL="0">
              <a:lnSpc>
                <a:spcPct val="105000"/>
              </a:lnSpc>
              <a:buNone/>
            </a:pPr>
            <a:r>
              <a:rPr lang="en-US" sz="3700" i="1" dirty="0">
                <a:solidFill>
                  <a:srgbClr val="1E4A4A"/>
                </a:solidFill>
                <a:latin typeface="Cormorant Garamond" pitchFamily="34" charset="0"/>
                <a:ea typeface="Cormorant Garamond" pitchFamily="34" charset="-122"/>
                <a:cs typeface="Cormorant Garamond" pitchFamily="34" charset="-120"/>
              </a:rPr>
              <a:t>"Is it really worth the investment?"</a:t>
            </a:r>
            <a:endParaRPr lang="en-US" sz="3700" dirty="0"/>
          </a:p>
        </p:txBody>
      </p:sp>
      <p:sp>
        <p:nvSpPr>
          <p:cNvPr id="6" name="Shape 4"/>
          <p:cNvSpPr/>
          <p:nvPr/>
        </p:nvSpPr>
        <p:spPr>
          <a:xfrm>
            <a:off x="5730088" y="3703320"/>
            <a:ext cx="731520" cy="0"/>
          </a:xfrm>
          <a:prstGeom prst="line">
            <a:avLst/>
          </a:prstGeom>
          <a:noFill/>
          <a:ln w="19050">
            <a:solidFill>
              <a:srgbClr val="8AAF8A"/>
            </a:solidFill>
            <a:prstDash val="solid"/>
          </a:ln>
        </p:spPr>
      </p:sp>
      <p:sp>
        <p:nvSpPr>
          <p:cNvPr id="7" name="Text 5"/>
          <p:cNvSpPr txBox="1"/>
          <p:nvPr/>
        </p:nvSpPr>
        <p:spPr>
          <a:xfrm>
            <a:off x="1828800" y="3977640"/>
            <a:ext cx="8534095" cy="1463040"/>
          </a:xfrm>
          <a:prstGeom prst="rect">
            <a:avLst/>
          </a:prstGeom>
          <a:noFill/>
          <a:ln/>
        </p:spPr>
        <p:txBody>
          <a:bodyPr wrap="square" lIns="0" tIns="0" rIns="0" bIns="0" rtlCol="0" anchor="t">
            <a:normAutofit/>
          </a:bodyPr>
          <a:lstStyle/>
          <a:p>
            <a:pPr algn="ctr" indent="0" marL="0">
              <a:lnSpc>
                <a:spcPct val="120000"/>
              </a:lnSpc>
              <a:buNone/>
            </a:pPr>
            <a:r>
              <a:rPr lang="en-US" sz="2000" dirty="0">
                <a:solidFill>
                  <a:srgbClr val="1E4A4A"/>
                </a:solidFill>
                <a:latin typeface="DM Sans" pitchFamily="34" charset="0"/>
                <a:ea typeface="DM Sans" pitchFamily="34" charset="-122"/>
                <a:cs typeface="DM Sans" pitchFamily="34" charset="-120"/>
              </a:rPr>
              <a:t>Do the math on one negotiation. Then remember you'll have many more.</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 MIGHT BE WONDERING</a:t>
            </a:r>
            <a:endParaRPr lang="en-US" sz="1300" dirty="0"/>
          </a:p>
        </p:txBody>
      </p:sp>
      <p:sp>
        <p:nvSpPr>
          <p:cNvPr id="5" name="Text 3"/>
          <p:cNvSpPr txBox="1"/>
          <p:nvPr/>
        </p:nvSpPr>
        <p:spPr>
          <a:xfrm>
            <a:off x="1188720" y="1280160"/>
            <a:ext cx="9814255" cy="2103120"/>
          </a:xfrm>
          <a:prstGeom prst="rect">
            <a:avLst/>
          </a:prstGeom>
          <a:noFill/>
          <a:ln/>
        </p:spPr>
        <p:txBody>
          <a:bodyPr wrap="square" lIns="0" tIns="0" rIns="0" bIns="0" rtlCol="0" anchor="ctr">
            <a:normAutofit/>
          </a:bodyPr>
          <a:lstStyle/>
          <a:p>
            <a:pPr algn="ctr" indent="0" marL="0">
              <a:lnSpc>
                <a:spcPct val="105000"/>
              </a:lnSpc>
              <a:buNone/>
            </a:pPr>
            <a:r>
              <a:rPr lang="en-US" sz="3700" i="1" dirty="0">
                <a:solidFill>
                  <a:srgbClr val="1E4A4A"/>
                </a:solidFill>
                <a:latin typeface="Cormorant Garamond" pitchFamily="34" charset="0"/>
                <a:ea typeface="Cormorant Garamond" pitchFamily="34" charset="-122"/>
                <a:cs typeface="Cormorant Garamond" pitchFamily="34" charset="-120"/>
              </a:rPr>
              <a:t>"Will the inner-work stuff really help my career?"</a:t>
            </a:r>
            <a:endParaRPr lang="en-US" sz="3700" dirty="0"/>
          </a:p>
        </p:txBody>
      </p:sp>
      <p:sp>
        <p:nvSpPr>
          <p:cNvPr id="6" name="Shape 4"/>
          <p:cNvSpPr/>
          <p:nvPr/>
        </p:nvSpPr>
        <p:spPr>
          <a:xfrm>
            <a:off x="5730088" y="3703320"/>
            <a:ext cx="731520" cy="0"/>
          </a:xfrm>
          <a:prstGeom prst="line">
            <a:avLst/>
          </a:prstGeom>
          <a:noFill/>
          <a:ln w="19050">
            <a:solidFill>
              <a:srgbClr val="8AAF8A"/>
            </a:solidFill>
            <a:prstDash val="solid"/>
          </a:ln>
        </p:spPr>
      </p:sp>
      <p:sp>
        <p:nvSpPr>
          <p:cNvPr id="7" name="Text 5"/>
          <p:cNvSpPr txBox="1"/>
          <p:nvPr/>
        </p:nvSpPr>
        <p:spPr>
          <a:xfrm>
            <a:off x="1828800" y="3977640"/>
            <a:ext cx="8534095" cy="1463040"/>
          </a:xfrm>
          <a:prstGeom prst="rect">
            <a:avLst/>
          </a:prstGeom>
          <a:noFill/>
          <a:ln/>
        </p:spPr>
        <p:txBody>
          <a:bodyPr wrap="square" lIns="0" tIns="0" rIns="0" bIns="0" rtlCol="0" anchor="t">
            <a:normAutofit/>
          </a:bodyPr>
          <a:lstStyle/>
          <a:p>
            <a:pPr algn="ctr" indent="0" marL="0">
              <a:lnSpc>
                <a:spcPct val="120000"/>
              </a:lnSpc>
              <a:buNone/>
            </a:pPr>
            <a:r>
              <a:rPr lang="en-US" sz="2000" dirty="0">
                <a:solidFill>
                  <a:srgbClr val="1E4A4A"/>
                </a:solidFill>
                <a:latin typeface="DM Sans" pitchFamily="34" charset="0"/>
                <a:ea typeface="DM Sans" pitchFamily="34" charset="-122"/>
                <a:cs typeface="DM Sans" pitchFamily="34" charset="-120"/>
              </a:rPr>
              <a:t>Identity drives how you communicate, advocate and lead. Shelly, Nina and Erica's raises came from that shift.</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 MIGHT BE WONDERING</a:t>
            </a:r>
            <a:endParaRPr lang="en-US" sz="1300" dirty="0"/>
          </a:p>
        </p:txBody>
      </p:sp>
      <p:sp>
        <p:nvSpPr>
          <p:cNvPr id="5" name="Text 3"/>
          <p:cNvSpPr txBox="1"/>
          <p:nvPr/>
        </p:nvSpPr>
        <p:spPr>
          <a:xfrm>
            <a:off x="1188720" y="1280160"/>
            <a:ext cx="9814255" cy="2103120"/>
          </a:xfrm>
          <a:prstGeom prst="rect">
            <a:avLst/>
          </a:prstGeom>
          <a:noFill/>
          <a:ln/>
        </p:spPr>
        <p:txBody>
          <a:bodyPr wrap="square" lIns="0" tIns="0" rIns="0" bIns="0" rtlCol="0" anchor="ctr">
            <a:normAutofit/>
          </a:bodyPr>
          <a:lstStyle/>
          <a:p>
            <a:pPr algn="ctr" indent="0" marL="0">
              <a:lnSpc>
                <a:spcPct val="105000"/>
              </a:lnSpc>
              <a:buNone/>
            </a:pPr>
            <a:r>
              <a:rPr lang="en-US" sz="3200" i="1" dirty="0">
                <a:solidFill>
                  <a:srgbClr val="1E4A4A"/>
                </a:solidFill>
                <a:latin typeface="Cormorant Garamond" pitchFamily="34" charset="0"/>
                <a:ea typeface="Cormorant Garamond" pitchFamily="34" charset="-122"/>
                <a:cs typeface="Cormorant Garamond" pitchFamily="34" charset="-120"/>
              </a:rPr>
              <a:t>"What if I get found out? What if I'm not as good as they think?"</a:t>
            </a:r>
            <a:endParaRPr lang="en-US" sz="3200" dirty="0"/>
          </a:p>
        </p:txBody>
      </p:sp>
      <p:sp>
        <p:nvSpPr>
          <p:cNvPr id="6" name="Shape 4"/>
          <p:cNvSpPr/>
          <p:nvPr/>
        </p:nvSpPr>
        <p:spPr>
          <a:xfrm>
            <a:off x="5730088" y="3703320"/>
            <a:ext cx="731520" cy="0"/>
          </a:xfrm>
          <a:prstGeom prst="line">
            <a:avLst/>
          </a:prstGeom>
          <a:noFill/>
          <a:ln w="19050">
            <a:solidFill>
              <a:srgbClr val="8AAF8A"/>
            </a:solidFill>
            <a:prstDash val="solid"/>
          </a:ln>
        </p:spPr>
      </p:sp>
      <p:sp>
        <p:nvSpPr>
          <p:cNvPr id="7" name="Text 5"/>
          <p:cNvSpPr txBox="1"/>
          <p:nvPr/>
        </p:nvSpPr>
        <p:spPr>
          <a:xfrm>
            <a:off x="1828800" y="3977640"/>
            <a:ext cx="8534095" cy="1463040"/>
          </a:xfrm>
          <a:prstGeom prst="rect">
            <a:avLst/>
          </a:prstGeom>
          <a:noFill/>
          <a:ln/>
        </p:spPr>
        <p:txBody>
          <a:bodyPr wrap="square" lIns="0" tIns="0" rIns="0" bIns="0" rtlCol="0" anchor="t">
            <a:normAutofit/>
          </a:bodyPr>
          <a:lstStyle/>
          <a:p>
            <a:pPr algn="ctr" indent="0" marL="0">
              <a:lnSpc>
                <a:spcPct val="120000"/>
              </a:lnSpc>
              <a:buNone/>
            </a:pPr>
            <a:r>
              <a:rPr lang="en-US" sz="2000" dirty="0">
                <a:solidFill>
                  <a:srgbClr val="1E4A4A"/>
                </a:solidFill>
                <a:latin typeface="DM Sans" pitchFamily="34" charset="0"/>
                <a:ea typeface="DM Sans" pitchFamily="34" charset="-122"/>
                <a:cs typeface="DM Sans" pitchFamily="34" charset="-120"/>
              </a:rPr>
              <a:t>Almost every high achiever I've worked with has felt this, including me. Your results are real.</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HERE'S EVERYTHING WE COVERED</a:t>
            </a:r>
            <a:endParaRPr lang="en-US" sz="1300" dirty="0"/>
          </a:p>
        </p:txBody>
      </p:sp>
      <p:sp>
        <p:nvSpPr>
          <p:cNvPr id="5" name="Text 3"/>
          <p:cNvSpPr txBox="1"/>
          <p:nvPr/>
        </p:nvSpPr>
        <p:spPr>
          <a:xfrm>
            <a:off x="1645920" y="12344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6" name="Text 4"/>
          <p:cNvSpPr txBox="1"/>
          <p:nvPr/>
        </p:nvSpPr>
        <p:spPr>
          <a:xfrm>
            <a:off x="2240280" y="12344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You don't have a negotiation problem. You have an identity problem.</a:t>
            </a:r>
            <a:endParaRPr lang="en-US" sz="2000" dirty="0"/>
          </a:p>
        </p:txBody>
      </p:sp>
      <p:sp>
        <p:nvSpPr>
          <p:cNvPr id="7" name="Text 5"/>
          <p:cNvSpPr txBox="1"/>
          <p:nvPr/>
        </p:nvSpPr>
        <p:spPr>
          <a:xfrm>
            <a:off x="1645920" y="21488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240280" y="21488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The five myths that keep smart women underpaid</a:t>
            </a:r>
            <a:endParaRPr lang="en-US" sz="2000" dirty="0"/>
          </a:p>
        </p:txBody>
      </p:sp>
      <p:sp>
        <p:nvSpPr>
          <p:cNvPr id="9" name="Text 7"/>
          <p:cNvSpPr txBox="1"/>
          <p:nvPr/>
        </p:nvSpPr>
        <p:spPr>
          <a:xfrm>
            <a:off x="1645920" y="30632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240280" y="30632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Why the cost of waiting compounds, financially and emotionally</a:t>
            </a:r>
            <a:endParaRPr lang="en-US" sz="2000" dirty="0"/>
          </a:p>
        </p:txBody>
      </p:sp>
      <p:sp>
        <p:nvSpPr>
          <p:cNvPr id="11" name="Text 9"/>
          <p:cNvSpPr txBox="1"/>
          <p:nvPr/>
        </p:nvSpPr>
        <p:spPr>
          <a:xfrm>
            <a:off x="1645920" y="39776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240280" y="39776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The V.O.I.C.E. Framework: Value, Ownership, Identity, Communication, Execution</a:t>
            </a:r>
            <a:endParaRPr lang="en-US" sz="2000" dirty="0"/>
          </a:p>
        </p:txBody>
      </p:sp>
      <p:sp>
        <p:nvSpPr>
          <p:cNvPr id="13" name="Text 11"/>
          <p:cNvSpPr txBox="1"/>
          <p:nvPr/>
        </p:nvSpPr>
        <p:spPr>
          <a:xfrm>
            <a:off x="1645920" y="48920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4" name="Text 12"/>
          <p:cNvSpPr txBox="1"/>
          <p:nvPr/>
        </p:nvSpPr>
        <p:spPr>
          <a:xfrm>
            <a:off x="2240280" y="48920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How Shelly, Nina and Erica closed the gap</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132588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THE QUESTION</a:t>
            </a:r>
            <a:endParaRPr lang="en-US" sz="1200" dirty="0"/>
          </a:p>
        </p:txBody>
      </p:sp>
      <p:sp>
        <p:nvSpPr>
          <p:cNvPr id="4" name="Shape 2"/>
          <p:cNvSpPr/>
          <p:nvPr/>
        </p:nvSpPr>
        <p:spPr>
          <a:xfrm>
            <a:off x="5730088" y="1828800"/>
            <a:ext cx="731520" cy="0"/>
          </a:xfrm>
          <a:prstGeom prst="line">
            <a:avLst/>
          </a:prstGeom>
          <a:noFill/>
          <a:ln w="19050">
            <a:solidFill>
              <a:srgbClr val="8AAF8A"/>
            </a:solidFill>
            <a:prstDash val="solid"/>
          </a:ln>
        </p:spPr>
      </p:sp>
      <p:sp>
        <p:nvSpPr>
          <p:cNvPr id="5" name="Text 3"/>
          <p:cNvSpPr txBox="1"/>
          <p:nvPr/>
        </p:nvSpPr>
        <p:spPr>
          <a:xfrm>
            <a:off x="1097280" y="2103120"/>
            <a:ext cx="9997135" cy="2194560"/>
          </a:xfrm>
          <a:prstGeom prst="rect">
            <a:avLst/>
          </a:prstGeom>
          <a:noFill/>
          <a:ln/>
        </p:spPr>
        <p:txBody>
          <a:bodyPr wrap="square" lIns="0" tIns="0" rIns="0" bIns="0" rtlCol="0" anchor="ctr">
            <a:normAutofit/>
          </a:bodyPr>
          <a:lstStyle/>
          <a:p>
            <a:pPr algn="ctr" indent="0" marL="0">
              <a:lnSpc>
                <a:spcPct val="100000"/>
              </a:lnSpc>
              <a:buNone/>
            </a:pPr>
            <a:r>
              <a:rPr lang="en-US" sz="3500" dirty="0">
                <a:solidFill>
                  <a:srgbClr val="FFFFFF"/>
                </a:solidFill>
                <a:latin typeface="Cormorant Garamond" pitchFamily="34" charset="0"/>
                <a:ea typeface="Cormorant Garamond" pitchFamily="34" charset="-122"/>
                <a:cs typeface="Cormorant Garamond" pitchFamily="34" charset="-120"/>
              </a:rPr>
              <a:t>You already have the capability. </a:t>
            </a:r>
            <a:pPr algn="ctr" indent="0" marL="0">
              <a:lnSpc>
                <a:spcPct val="100000"/>
              </a:lnSpc>
              <a:buNone/>
            </a:pPr>
            <a:r>
              <a:rPr lang="en-US" sz="3500" b="1" dirty="0">
                <a:solidFill>
                  <a:srgbClr val="B7D3B7"/>
                </a:solidFill>
                <a:latin typeface="Cormorant Garamond" pitchFamily="34" charset="0"/>
                <a:ea typeface="Cormorant Garamond" pitchFamily="34" charset="-122"/>
                <a:cs typeface="Cormorant Garamond" pitchFamily="34" charset="-120"/>
              </a:rPr>
              <a:t>The open question is who walks into the room.</a:t>
            </a:r>
            <a:endParaRPr lang="en-US" sz="35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YOU HAVE TWO OPTIONS</a:t>
            </a:r>
            <a:endParaRPr lang="en-US" sz="1300" dirty="0"/>
          </a:p>
        </p:txBody>
      </p:sp>
      <p:sp>
        <p:nvSpPr>
          <p:cNvPr id="5" name="Shape 3"/>
          <p:cNvSpPr/>
          <p:nvPr/>
        </p:nvSpPr>
        <p:spPr>
          <a:xfrm>
            <a:off x="1020928" y="1234440"/>
            <a:ext cx="4846320" cy="4572000"/>
          </a:xfrm>
          <a:prstGeom prst="rect">
            <a:avLst/>
          </a:prstGeom>
          <a:solidFill>
            <a:srgbClr val="FFFFFF"/>
          </a:solidFill>
          <a:ln w="12700">
            <a:solidFill>
              <a:srgbClr val="D9D2C5"/>
            </a:solidFill>
            <a:prstDash val="solid"/>
          </a:ln>
        </p:spPr>
      </p:sp>
      <p:sp>
        <p:nvSpPr>
          <p:cNvPr id="6" name="Text 4"/>
          <p:cNvSpPr txBox="1"/>
          <p:nvPr/>
        </p:nvSpPr>
        <p:spPr>
          <a:xfrm>
            <a:off x="1386688" y="1645920"/>
            <a:ext cx="4114800"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5E6B68"/>
                </a:solidFill>
                <a:latin typeface="DM Sans" pitchFamily="34" charset="0"/>
                <a:ea typeface="DM Sans" pitchFamily="34" charset="-122"/>
                <a:cs typeface="DM Sans" pitchFamily="34" charset="-120"/>
              </a:rPr>
              <a:t>OPTION 1</a:t>
            </a:r>
            <a:endParaRPr lang="en-US" sz="1200" dirty="0"/>
          </a:p>
        </p:txBody>
      </p:sp>
      <p:sp>
        <p:nvSpPr>
          <p:cNvPr id="7" name="Text 5"/>
          <p:cNvSpPr txBox="1"/>
          <p:nvPr/>
        </p:nvSpPr>
        <p:spPr>
          <a:xfrm>
            <a:off x="1386688" y="2148840"/>
            <a:ext cx="4114800" cy="1737360"/>
          </a:xfrm>
          <a:prstGeom prst="rect">
            <a:avLst/>
          </a:prstGeom>
          <a:noFill/>
          <a:ln/>
        </p:spPr>
        <p:txBody>
          <a:bodyPr wrap="square" lIns="0" tIns="0" rIns="0" bIns="0" rtlCol="0" anchor="ctr">
            <a:normAutofit/>
          </a:bodyPr>
          <a:lstStyle/>
          <a:p>
            <a:pPr algn="ctr" indent="0" marL="0">
              <a:lnSpc>
                <a:spcPct val="105000"/>
              </a:lnSpc>
              <a:buNone/>
            </a:pPr>
            <a:r>
              <a:rPr lang="en-US" sz="3400" dirty="0">
                <a:solidFill>
                  <a:srgbClr val="1E4A4A"/>
                </a:solidFill>
                <a:latin typeface="Cormorant Garamond" pitchFamily="34" charset="0"/>
                <a:ea typeface="Cormorant Garamond" pitchFamily="34" charset="-122"/>
                <a:cs typeface="Cormorant Garamond" pitchFamily="34" charset="-120"/>
              </a:rPr>
              <a:t>Keep going alone</a:t>
            </a:r>
            <a:endParaRPr lang="en-US" sz="3400" dirty="0"/>
          </a:p>
        </p:txBody>
      </p:sp>
      <p:sp>
        <p:nvSpPr>
          <p:cNvPr id="8" name="Text 6"/>
          <p:cNvSpPr txBox="1"/>
          <p:nvPr/>
        </p:nvSpPr>
        <p:spPr>
          <a:xfrm>
            <a:off x="1478128" y="4069080"/>
            <a:ext cx="3931920" cy="128016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5E6B68"/>
                </a:solidFill>
                <a:latin typeface="DM Sans" pitchFamily="34" charset="0"/>
                <a:ea typeface="DM Sans" pitchFamily="34" charset="-122"/>
                <a:cs typeface="DM Sans" pitchFamily="34" charset="-120"/>
              </a:rPr>
              <a:t>Keep the same plan and wait another year to be noticed.</a:t>
            </a:r>
            <a:endParaRPr lang="en-US" sz="1700" dirty="0"/>
          </a:p>
        </p:txBody>
      </p:sp>
      <p:sp>
        <p:nvSpPr>
          <p:cNvPr id="9" name="Shape 7"/>
          <p:cNvSpPr/>
          <p:nvPr/>
        </p:nvSpPr>
        <p:spPr>
          <a:xfrm>
            <a:off x="6324448" y="1234440"/>
            <a:ext cx="4846320" cy="4572000"/>
          </a:xfrm>
          <a:prstGeom prst="rect">
            <a:avLst/>
          </a:prstGeom>
          <a:solidFill>
            <a:srgbClr val="1E4A4A"/>
          </a:solidFill>
          <a:ln w="12700">
            <a:solidFill>
              <a:srgbClr val="1E4A4A"/>
            </a:solidFill>
            <a:prstDash val="solid"/>
          </a:ln>
        </p:spPr>
      </p:sp>
      <p:sp>
        <p:nvSpPr>
          <p:cNvPr id="10" name="Text 8"/>
          <p:cNvSpPr txBox="1"/>
          <p:nvPr/>
        </p:nvSpPr>
        <p:spPr>
          <a:xfrm>
            <a:off x="6690208" y="1645920"/>
            <a:ext cx="4114800"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OPTION 2</a:t>
            </a:r>
            <a:endParaRPr lang="en-US" sz="1200" dirty="0"/>
          </a:p>
        </p:txBody>
      </p:sp>
      <p:sp>
        <p:nvSpPr>
          <p:cNvPr id="11" name="Text 9"/>
          <p:cNvSpPr txBox="1"/>
          <p:nvPr/>
        </p:nvSpPr>
        <p:spPr>
          <a:xfrm>
            <a:off x="6690208" y="2148840"/>
            <a:ext cx="4114800" cy="1737360"/>
          </a:xfrm>
          <a:prstGeom prst="rect">
            <a:avLst/>
          </a:prstGeom>
          <a:noFill/>
          <a:ln/>
        </p:spPr>
        <p:txBody>
          <a:bodyPr wrap="square" lIns="0" tIns="0" rIns="0" bIns="0" rtlCol="0" anchor="ctr">
            <a:normAutofit/>
          </a:bodyPr>
          <a:lstStyle/>
          <a:p>
            <a:pPr algn="ctr" indent="0" marL="0">
              <a:lnSpc>
                <a:spcPct val="105000"/>
              </a:lnSpc>
              <a:buNone/>
            </a:pPr>
            <a:r>
              <a:rPr lang="en-US" sz="3000" dirty="0">
                <a:solidFill>
                  <a:srgbClr val="FFFFFF"/>
                </a:solidFill>
                <a:latin typeface="Cormorant Garamond" pitchFamily="34" charset="0"/>
                <a:ea typeface="Cormorant Garamond" pitchFamily="34" charset="-122"/>
                <a:cs typeface="Cormorant Garamond" pitchFamily="34" charset="-120"/>
              </a:rPr>
              <a:t>Apply for the Amplify Your V.O.I.C.E. Experience</a:t>
            </a:r>
            <a:endParaRPr lang="en-US" sz="3000" dirty="0"/>
          </a:p>
        </p:txBody>
      </p:sp>
      <p:sp>
        <p:nvSpPr>
          <p:cNvPr id="12" name="Text 10"/>
          <p:cNvSpPr txBox="1"/>
          <p:nvPr/>
        </p:nvSpPr>
        <p:spPr>
          <a:xfrm>
            <a:off x="6781648" y="4069080"/>
            <a:ext cx="3931920" cy="1280160"/>
          </a:xfrm>
          <a:prstGeom prst="rect">
            <a:avLst/>
          </a:prstGeom>
          <a:noFill/>
          <a:ln/>
        </p:spPr>
        <p:txBody>
          <a:bodyPr wrap="square" lIns="0" tIns="0" rIns="0" bIns="0" rtlCol="0" anchor="t">
            <a:normAutofit/>
          </a:bodyPr>
          <a:lstStyle/>
          <a:p>
            <a:pPr algn="ctr" indent="0" marL="0">
              <a:lnSpc>
                <a:spcPct val="120000"/>
              </a:lnSpc>
              <a:buNone/>
            </a:pPr>
            <a:r>
              <a:rPr lang="en-US" sz="1700" dirty="0">
                <a:solidFill>
                  <a:srgbClr val="E1F5EE"/>
                </a:solidFill>
                <a:latin typeface="DM Sans" pitchFamily="34" charset="0"/>
                <a:ea typeface="DM Sans" pitchFamily="34" charset="-122"/>
                <a:cs typeface="DM Sans" pitchFamily="34" charset="-120"/>
              </a:rPr>
              <a:t>Close the gap with me and a small group of women who get it.</a:t>
            </a:r>
            <a:endParaRPr lang="en-US" sz="17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ON YOUR APPLICATION CALL, WE'LL</a:t>
            </a:r>
            <a:endParaRPr lang="en-US" sz="1300" dirty="0"/>
          </a:p>
        </p:txBody>
      </p:sp>
      <p:sp>
        <p:nvSpPr>
          <p:cNvPr id="5" name="Text 3"/>
          <p:cNvSpPr txBox="1"/>
          <p:nvPr/>
        </p:nvSpPr>
        <p:spPr>
          <a:xfrm>
            <a:off x="1645920" y="12344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6" name="Text 4"/>
          <p:cNvSpPr txBox="1"/>
          <p:nvPr/>
        </p:nvSpPr>
        <p:spPr>
          <a:xfrm>
            <a:off x="2240280" y="12344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Look at where you are in your career</a:t>
            </a:r>
            <a:endParaRPr lang="en-US" sz="2000" dirty="0"/>
          </a:p>
        </p:txBody>
      </p:sp>
      <p:sp>
        <p:nvSpPr>
          <p:cNvPr id="7" name="Text 5"/>
          <p:cNvSpPr txBox="1"/>
          <p:nvPr/>
        </p:nvSpPr>
        <p:spPr>
          <a:xfrm>
            <a:off x="1645920" y="21488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8" name="Text 6"/>
          <p:cNvSpPr txBox="1"/>
          <p:nvPr/>
        </p:nvSpPr>
        <p:spPr>
          <a:xfrm>
            <a:off x="2240280" y="21488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Talk about what's keeping you stuck</a:t>
            </a:r>
            <a:endParaRPr lang="en-US" sz="2000" dirty="0"/>
          </a:p>
        </p:txBody>
      </p:sp>
      <p:sp>
        <p:nvSpPr>
          <p:cNvPr id="9" name="Text 7"/>
          <p:cNvSpPr txBox="1"/>
          <p:nvPr/>
        </p:nvSpPr>
        <p:spPr>
          <a:xfrm>
            <a:off x="1645920" y="30632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0" name="Text 8"/>
          <p:cNvSpPr txBox="1"/>
          <p:nvPr/>
        </p:nvSpPr>
        <p:spPr>
          <a:xfrm>
            <a:off x="2240280" y="30632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Get clear on what you want next</a:t>
            </a:r>
            <a:endParaRPr lang="en-US" sz="2000" dirty="0"/>
          </a:p>
        </p:txBody>
      </p:sp>
      <p:sp>
        <p:nvSpPr>
          <p:cNvPr id="11" name="Text 9"/>
          <p:cNvSpPr txBox="1"/>
          <p:nvPr/>
        </p:nvSpPr>
        <p:spPr>
          <a:xfrm>
            <a:off x="1645920" y="3977640"/>
            <a:ext cx="457200" cy="548640"/>
          </a:xfrm>
          <a:prstGeom prst="rect">
            <a:avLst/>
          </a:prstGeom>
          <a:noFill/>
          <a:ln/>
        </p:spPr>
        <p:txBody>
          <a:bodyPr wrap="square" lIns="0" tIns="0" rIns="0" bIns="0" rtlCol="0" anchor="ctr">
            <a:normAutofit/>
          </a:bodyPr>
          <a:lstStyle/>
          <a:p>
            <a:pPr algn="ctr" indent="0" marL="0">
              <a:lnSpc>
                <a:spcPct val="105000"/>
              </a:lnSpc>
              <a:buNone/>
            </a:pPr>
            <a:r>
              <a:rPr lang="en-US" sz="2200" b="1" dirty="0">
                <a:solidFill>
                  <a:srgbClr val="5C8A64"/>
                </a:solidFill>
                <a:latin typeface="DM Sans" pitchFamily="34" charset="0"/>
                <a:ea typeface="DM Sans" pitchFamily="34" charset="-122"/>
                <a:cs typeface="DM Sans" pitchFamily="34" charset="-120"/>
              </a:rPr>
              <a:t>✓</a:t>
            </a:r>
            <a:endParaRPr lang="en-US" sz="2200" dirty="0"/>
          </a:p>
        </p:txBody>
      </p:sp>
      <p:sp>
        <p:nvSpPr>
          <p:cNvPr id="12" name="Text 10"/>
          <p:cNvSpPr txBox="1"/>
          <p:nvPr/>
        </p:nvSpPr>
        <p:spPr>
          <a:xfrm>
            <a:off x="2240280" y="3977640"/>
            <a:ext cx="8778240" cy="548640"/>
          </a:xfrm>
          <a:prstGeom prst="rect">
            <a:avLst/>
          </a:prstGeom>
          <a:noFill/>
          <a:ln/>
        </p:spPr>
        <p:txBody>
          <a:bodyPr wrap="square" lIns="0" tIns="0" rIns="0" bIns="0" rtlCol="0" anchor="ctr">
            <a:normAutofit/>
          </a:bodyPr>
          <a:lstStyle/>
          <a:p>
            <a:pPr algn="l" indent="0" marL="0">
              <a:lnSpc>
                <a:spcPct val="105000"/>
              </a:lnSpc>
              <a:buNone/>
            </a:pPr>
            <a:r>
              <a:rPr lang="en-US" sz="2000" dirty="0">
                <a:solidFill>
                  <a:srgbClr val="1E4A4A"/>
                </a:solidFill>
                <a:latin typeface="DM Sans" pitchFamily="34" charset="0"/>
                <a:ea typeface="DM Sans" pitchFamily="34" charset="-122"/>
                <a:cs typeface="DM Sans" pitchFamily="34" charset="-120"/>
              </a:rPr>
              <a:t>See if the program is the right fit, for both of us</a:t>
            </a:r>
            <a:endParaRPr lang="en-US" sz="20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AF5EE"/>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E4A4A"/>
          </a:solidFill>
          <a:ln w="12700">
            <a:solidFill>
              <a:srgbClr val="1E4A4A"/>
            </a:solidFill>
            <a:prstDash val="solid"/>
          </a:ln>
        </p:spPr>
      </p:sp>
      <p:sp>
        <p:nvSpPr>
          <p:cNvPr id="3" name="Shape 1"/>
          <p:cNvSpPr/>
          <p:nvPr/>
        </p:nvSpPr>
        <p:spPr>
          <a:xfrm>
            <a:off x="0" y="566928"/>
            <a:ext cx="12191695" cy="36576"/>
          </a:xfrm>
          <a:prstGeom prst="rect">
            <a:avLst/>
          </a:prstGeom>
          <a:solidFill>
            <a:srgbClr val="8AAF8A"/>
          </a:solidFill>
          <a:ln w="12700">
            <a:solidFill>
              <a:srgbClr val="8AAF8A"/>
            </a:solidFill>
            <a:prstDash val="solid"/>
          </a:ln>
        </p:spPr>
      </p:sp>
      <p:sp>
        <p:nvSpPr>
          <p:cNvPr id="4" name="Text 2"/>
          <p:cNvSpPr txBox="1"/>
          <p:nvPr/>
        </p:nvSpPr>
        <p:spPr>
          <a:xfrm>
            <a:off x="457200" y="0"/>
            <a:ext cx="11277295" cy="566928"/>
          </a:xfrm>
          <a:prstGeom prst="rect">
            <a:avLst/>
          </a:prstGeom>
          <a:noFill/>
          <a:ln/>
        </p:spPr>
        <p:txBody>
          <a:bodyPr wrap="square" lIns="0" tIns="0" rIns="0" bIns="0" rtlCol="0" anchor="ctr">
            <a:normAutofit/>
          </a:bodyPr>
          <a:lstStyle/>
          <a:p>
            <a:pPr algn="ctr" indent="0" marL="0">
              <a:lnSpc>
                <a:spcPct val="105000"/>
              </a:lnSpc>
              <a:buNone/>
            </a:pPr>
            <a:r>
              <a:rPr lang="en-US" sz="1300" b="1" spc="300" kern="0" dirty="0">
                <a:solidFill>
                  <a:srgbClr val="FFFFFF"/>
                </a:solidFill>
                <a:latin typeface="DM Sans" pitchFamily="34" charset="0"/>
                <a:ea typeface="DM Sans" pitchFamily="34" charset="-122"/>
                <a:cs typeface="DM Sans" pitchFamily="34" charset="-120"/>
              </a:rPr>
              <a:t>HOW TO APPLY</a:t>
            </a:r>
            <a:endParaRPr lang="en-US" sz="1300" dirty="0"/>
          </a:p>
        </p:txBody>
      </p:sp>
      <p:sp>
        <p:nvSpPr>
          <p:cNvPr id="5" name="Shape 3"/>
          <p:cNvSpPr/>
          <p:nvPr/>
        </p:nvSpPr>
        <p:spPr>
          <a:xfrm>
            <a:off x="1645920" y="1234440"/>
            <a:ext cx="502920" cy="502920"/>
          </a:xfrm>
          <a:prstGeom prst="ellipse">
            <a:avLst/>
          </a:prstGeom>
          <a:solidFill>
            <a:srgbClr val="1E4A4A"/>
          </a:solidFill>
          <a:ln w="12700">
            <a:solidFill>
              <a:srgbClr val="1E4A4A"/>
            </a:solidFill>
            <a:prstDash val="solid"/>
          </a:ln>
        </p:spPr>
      </p:sp>
      <p:sp>
        <p:nvSpPr>
          <p:cNvPr id="6" name="Text 4"/>
          <p:cNvSpPr txBox="1"/>
          <p:nvPr/>
        </p:nvSpPr>
        <p:spPr>
          <a:xfrm>
            <a:off x="1645920" y="123444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1</a:t>
            </a:r>
            <a:endParaRPr lang="en-US" sz="1600" dirty="0"/>
          </a:p>
        </p:txBody>
      </p:sp>
      <p:sp>
        <p:nvSpPr>
          <p:cNvPr id="7" name="Text 5"/>
          <p:cNvSpPr txBox="1"/>
          <p:nvPr/>
        </p:nvSpPr>
        <p:spPr>
          <a:xfrm>
            <a:off x="2423160" y="118872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Go to </a:t>
            </a:r>
            <a:pPr algn="l" indent="0" marL="0">
              <a:lnSpc>
                <a:spcPct val="105000"/>
              </a:lnSpc>
              <a:buNone/>
            </a:pPr>
            <a:r>
              <a:rPr lang="en-US" sz="1600" b="1" dirty="0">
                <a:solidFill>
                  <a:srgbClr val="B85042"/>
                </a:solidFill>
                <a:latin typeface="DM Sans" pitchFamily="34" charset="0"/>
                <a:ea typeface="DM Sans" pitchFamily="34" charset="-122"/>
                <a:cs typeface="DM Sans" pitchFamily="34" charset="-120"/>
              </a:rPr>
              <a:t>[PLACEHOLDER: application URL]</a:t>
            </a:r>
            <a:endParaRPr lang="en-US" sz="2100" dirty="0"/>
          </a:p>
        </p:txBody>
      </p:sp>
      <p:sp>
        <p:nvSpPr>
          <p:cNvPr id="8" name="Shape 6"/>
          <p:cNvSpPr/>
          <p:nvPr/>
        </p:nvSpPr>
        <p:spPr>
          <a:xfrm>
            <a:off x="1645920" y="2148840"/>
            <a:ext cx="502920" cy="502920"/>
          </a:xfrm>
          <a:prstGeom prst="ellipse">
            <a:avLst/>
          </a:prstGeom>
          <a:solidFill>
            <a:srgbClr val="1E4A4A"/>
          </a:solidFill>
          <a:ln w="12700">
            <a:solidFill>
              <a:srgbClr val="1E4A4A"/>
            </a:solidFill>
            <a:prstDash val="solid"/>
          </a:ln>
        </p:spPr>
      </p:sp>
      <p:sp>
        <p:nvSpPr>
          <p:cNvPr id="9" name="Text 7"/>
          <p:cNvSpPr txBox="1"/>
          <p:nvPr/>
        </p:nvSpPr>
        <p:spPr>
          <a:xfrm>
            <a:off x="1645920" y="214884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2</a:t>
            </a:r>
            <a:endParaRPr lang="en-US" sz="1600" dirty="0"/>
          </a:p>
        </p:txBody>
      </p:sp>
      <p:sp>
        <p:nvSpPr>
          <p:cNvPr id="10" name="Text 8"/>
          <p:cNvSpPr txBox="1"/>
          <p:nvPr/>
        </p:nvSpPr>
        <p:spPr>
          <a:xfrm>
            <a:off x="2423160" y="210312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Answer a few short questions about your career</a:t>
            </a:r>
            <a:endParaRPr lang="en-US" sz="2100" dirty="0"/>
          </a:p>
        </p:txBody>
      </p:sp>
      <p:sp>
        <p:nvSpPr>
          <p:cNvPr id="11" name="Shape 9"/>
          <p:cNvSpPr/>
          <p:nvPr/>
        </p:nvSpPr>
        <p:spPr>
          <a:xfrm>
            <a:off x="1645920" y="3063240"/>
            <a:ext cx="502920" cy="502920"/>
          </a:xfrm>
          <a:prstGeom prst="ellipse">
            <a:avLst/>
          </a:prstGeom>
          <a:solidFill>
            <a:srgbClr val="1E4A4A"/>
          </a:solidFill>
          <a:ln w="12700">
            <a:solidFill>
              <a:srgbClr val="1E4A4A"/>
            </a:solidFill>
            <a:prstDash val="solid"/>
          </a:ln>
        </p:spPr>
      </p:sp>
      <p:sp>
        <p:nvSpPr>
          <p:cNvPr id="12" name="Text 10"/>
          <p:cNvSpPr txBox="1"/>
          <p:nvPr/>
        </p:nvSpPr>
        <p:spPr>
          <a:xfrm>
            <a:off x="1645920" y="306324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3</a:t>
            </a:r>
            <a:endParaRPr lang="en-US" sz="1600" dirty="0"/>
          </a:p>
        </p:txBody>
      </p:sp>
      <p:sp>
        <p:nvSpPr>
          <p:cNvPr id="13" name="Text 11"/>
          <p:cNvSpPr txBox="1"/>
          <p:nvPr/>
        </p:nvSpPr>
        <p:spPr>
          <a:xfrm>
            <a:off x="2423160" y="301752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I review every application personally</a:t>
            </a:r>
            <a:endParaRPr lang="en-US" sz="2100" dirty="0"/>
          </a:p>
        </p:txBody>
      </p:sp>
      <p:sp>
        <p:nvSpPr>
          <p:cNvPr id="14" name="Shape 12"/>
          <p:cNvSpPr/>
          <p:nvPr/>
        </p:nvSpPr>
        <p:spPr>
          <a:xfrm>
            <a:off x="1645920" y="3977640"/>
            <a:ext cx="502920" cy="502920"/>
          </a:xfrm>
          <a:prstGeom prst="ellipse">
            <a:avLst/>
          </a:prstGeom>
          <a:solidFill>
            <a:srgbClr val="1E4A4A"/>
          </a:solidFill>
          <a:ln w="12700">
            <a:solidFill>
              <a:srgbClr val="1E4A4A"/>
            </a:solidFill>
            <a:prstDash val="solid"/>
          </a:ln>
        </p:spPr>
      </p:sp>
      <p:sp>
        <p:nvSpPr>
          <p:cNvPr id="15" name="Text 13"/>
          <p:cNvSpPr txBox="1"/>
          <p:nvPr/>
        </p:nvSpPr>
        <p:spPr>
          <a:xfrm>
            <a:off x="1645920" y="3977640"/>
            <a:ext cx="502920" cy="5029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FFFFFF"/>
                </a:solidFill>
                <a:latin typeface="DM Sans" pitchFamily="34" charset="0"/>
                <a:ea typeface="DM Sans" pitchFamily="34" charset="-122"/>
                <a:cs typeface="DM Sans" pitchFamily="34" charset="-120"/>
              </a:rPr>
              <a:t>4</a:t>
            </a:r>
            <a:endParaRPr lang="en-US" sz="1600" dirty="0"/>
          </a:p>
        </p:txBody>
      </p:sp>
      <p:sp>
        <p:nvSpPr>
          <p:cNvPr id="16" name="Text 14"/>
          <p:cNvSpPr txBox="1"/>
          <p:nvPr/>
        </p:nvSpPr>
        <p:spPr>
          <a:xfrm>
            <a:off x="2423160" y="3931920"/>
            <a:ext cx="8686800" cy="594360"/>
          </a:xfrm>
          <a:prstGeom prst="rect">
            <a:avLst/>
          </a:prstGeom>
          <a:noFill/>
          <a:ln/>
        </p:spPr>
        <p:txBody>
          <a:bodyPr wrap="square" lIns="0" tIns="0" rIns="0" bIns="0" rtlCol="0" anchor="ctr">
            <a:normAutofit/>
          </a:bodyPr>
          <a:lstStyle/>
          <a:p>
            <a:pPr algn="l" indent="0" marL="0">
              <a:lnSpc>
                <a:spcPct val="105000"/>
              </a:lnSpc>
              <a:buNone/>
            </a:pPr>
            <a:r>
              <a:rPr lang="en-US" sz="2100" dirty="0">
                <a:solidFill>
                  <a:srgbClr val="1E4A4A"/>
                </a:solidFill>
                <a:latin typeface="DM Sans" pitchFamily="34" charset="0"/>
                <a:ea typeface="DM Sans" pitchFamily="34" charset="-122"/>
                <a:cs typeface="DM Sans" pitchFamily="34" charset="-120"/>
              </a:rPr>
              <a:t>If it's a fit, we'll invite you to a conversation</a:t>
            </a:r>
            <a:endParaRPr lang="en-US" sz="2100" dirty="0"/>
          </a:p>
        </p:txBody>
      </p:sp>
      <p:sp>
        <p:nvSpPr>
          <p:cNvPr id="17" name="Shape 15"/>
          <p:cNvSpPr/>
          <p:nvPr/>
        </p:nvSpPr>
        <p:spPr>
          <a:xfrm>
            <a:off x="1645920" y="5120640"/>
            <a:ext cx="8899855" cy="731520"/>
          </a:xfrm>
          <a:prstGeom prst="rect">
            <a:avLst/>
          </a:prstGeom>
          <a:solidFill>
            <a:srgbClr val="FFFFFF"/>
          </a:solidFill>
          <a:ln w="12700">
            <a:solidFill>
              <a:srgbClr val="D9D2C5"/>
            </a:solidFill>
            <a:prstDash val="solid"/>
          </a:ln>
        </p:spPr>
      </p:sp>
      <p:sp>
        <p:nvSpPr>
          <p:cNvPr id="18" name="Text 16"/>
          <p:cNvSpPr txBox="1"/>
          <p:nvPr/>
        </p:nvSpPr>
        <p:spPr>
          <a:xfrm>
            <a:off x="1920240" y="5120640"/>
            <a:ext cx="8351215" cy="731520"/>
          </a:xfrm>
          <a:prstGeom prst="rect">
            <a:avLst/>
          </a:prstGeom>
          <a:noFill/>
          <a:ln/>
        </p:spPr>
        <p:txBody>
          <a:bodyPr wrap="square" lIns="0" tIns="0" rIns="0" bIns="0" rtlCol="0" anchor="ctr">
            <a:normAutofit/>
          </a:bodyPr>
          <a:lstStyle/>
          <a:p>
            <a:pPr algn="ctr" indent="0" marL="0">
              <a:lnSpc>
                <a:spcPct val="105000"/>
              </a:lnSpc>
              <a:buNone/>
            </a:pPr>
            <a:r>
              <a:rPr lang="en-US" sz="1600" b="1" dirty="0">
                <a:solidFill>
                  <a:srgbClr val="B85042"/>
                </a:solidFill>
                <a:latin typeface="DM Sans" pitchFamily="34" charset="0"/>
                <a:ea typeface="DM Sans" pitchFamily="34" charset="-122"/>
                <a:cs typeface="DM Sans" pitchFamily="34" charset="-120"/>
              </a:rPr>
              <a:t>[PLACEHOLDER: application URL]</a:t>
            </a:r>
            <a:pPr algn="ctr" indent="0" marL="0">
              <a:lnSpc>
                <a:spcPct val="105000"/>
              </a:lnSpc>
              <a:buNone/>
            </a:pPr>
            <a:r>
              <a:rPr lang="en-US" sz="1700" b="1" dirty="0">
                <a:solidFill>
                  <a:srgbClr val="1E4A4A"/>
                </a:solidFill>
                <a:latin typeface="DM Sans" pitchFamily="34" charset="0"/>
                <a:ea typeface="DM Sans" pitchFamily="34" charset="-122"/>
                <a:cs typeface="DM Sans" pitchFamily="34" charset="-120"/>
              </a:rPr>
              <a:t> · Next cohort: </a:t>
            </a:r>
            <a:pPr algn="ctr" indent="0" marL="0">
              <a:lnSpc>
                <a:spcPct val="105000"/>
              </a:lnSpc>
              <a:buNone/>
            </a:pPr>
            <a:r>
              <a:rPr lang="en-US" sz="1600" b="1" dirty="0">
                <a:solidFill>
                  <a:srgbClr val="B85042"/>
                </a:solidFill>
                <a:latin typeface="DM Sans" pitchFamily="34" charset="0"/>
                <a:ea typeface="DM Sans" pitchFamily="34" charset="-122"/>
                <a:cs typeface="DM Sans" pitchFamily="34" charset="-120"/>
              </a:rPr>
              <a:t>[PLACEHOLDER: start date]</a:t>
            </a:r>
            <a:endParaRPr lang="en-US" sz="16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AA6A3"/>
                </a:solidFill>
                <a:latin typeface="DM Sans"/>
                <a:ea typeface="DM Sans"/>
                <a:cs typeface="DM Sans"/>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1E4A4A"/>
        </a:solidFill>
      </p:bgPr>
    </p:bg>
    <p:spTree>
      <p:nvGrpSpPr>
        <p:cNvPr id="1" name=""/>
        <p:cNvGrpSpPr/>
        <p:nvPr/>
      </p:nvGrpSpPr>
      <p:grpSpPr>
        <a:xfrm>
          <a:off x="0" y="0"/>
          <a:ext cx="0" cy="0"/>
          <a:chOff x="0" y="0"/>
          <a:chExt cx="0" cy="0"/>
        </a:xfrm>
      </p:grpSpPr>
      <p:sp>
        <p:nvSpPr>
          <p:cNvPr id="2" name="Shape 0"/>
          <p:cNvSpPr/>
          <p:nvPr/>
        </p:nvSpPr>
        <p:spPr>
          <a:xfrm>
            <a:off x="320040" y="320040"/>
            <a:ext cx="11551615" cy="6217920"/>
          </a:xfrm>
          <a:prstGeom prst="rect">
            <a:avLst/>
          </a:prstGeom>
          <a:ln w="12700">
            <a:solidFill>
              <a:srgbClr val="4F7A72"/>
            </a:solidFill>
            <a:prstDash val="solid"/>
          </a:ln>
        </p:spPr>
      </p:sp>
      <p:sp>
        <p:nvSpPr>
          <p:cNvPr id="3" name="Text 1"/>
          <p:cNvSpPr txBox="1"/>
          <p:nvPr/>
        </p:nvSpPr>
        <p:spPr>
          <a:xfrm>
            <a:off x="914400" y="2148840"/>
            <a:ext cx="10362895" cy="320040"/>
          </a:xfrm>
          <a:prstGeom prst="rect">
            <a:avLst/>
          </a:prstGeom>
          <a:noFill/>
          <a:ln/>
        </p:spPr>
        <p:txBody>
          <a:bodyPr wrap="square" lIns="0" tIns="0" rIns="0" bIns="0" rtlCol="0" anchor="ctr">
            <a:normAutofit/>
          </a:bodyPr>
          <a:lstStyle/>
          <a:p>
            <a:pPr algn="ctr" indent="0" marL="0">
              <a:lnSpc>
                <a:spcPct val="105000"/>
              </a:lnSpc>
              <a:buNone/>
            </a:pPr>
            <a:r>
              <a:rPr lang="en-US" sz="1200" b="1" spc="300" kern="0" dirty="0">
                <a:solidFill>
                  <a:srgbClr val="8AAF8A"/>
                </a:solidFill>
                <a:latin typeface="DM Sans" pitchFamily="34" charset="0"/>
                <a:ea typeface="DM Sans" pitchFamily="34" charset="-122"/>
                <a:cs typeface="DM Sans" pitchFamily="34" charset="-120"/>
              </a:rPr>
              <a:t>APPLY NOW</a:t>
            </a:r>
            <a:endParaRPr lang="en-US" sz="1200" dirty="0"/>
          </a:p>
        </p:txBody>
      </p:sp>
      <p:sp>
        <p:nvSpPr>
          <p:cNvPr id="4" name="Shape 2"/>
          <p:cNvSpPr/>
          <p:nvPr/>
        </p:nvSpPr>
        <p:spPr>
          <a:xfrm>
            <a:off x="5730088" y="2606040"/>
            <a:ext cx="731520" cy="0"/>
          </a:xfrm>
          <a:prstGeom prst="line">
            <a:avLst/>
          </a:prstGeom>
          <a:noFill/>
          <a:ln w="19050">
            <a:solidFill>
              <a:srgbClr val="8AAF8A"/>
            </a:solidFill>
            <a:prstDash val="solid"/>
          </a:ln>
        </p:spPr>
      </p:sp>
      <p:sp>
        <p:nvSpPr>
          <p:cNvPr id="5" name="Text 3"/>
          <p:cNvSpPr txBox="1"/>
          <p:nvPr/>
        </p:nvSpPr>
        <p:spPr>
          <a:xfrm>
            <a:off x="1097280" y="2788920"/>
            <a:ext cx="9997135" cy="1371600"/>
          </a:xfrm>
          <a:prstGeom prst="rect">
            <a:avLst/>
          </a:prstGeom>
          <a:noFill/>
          <a:ln/>
        </p:spPr>
        <p:txBody>
          <a:bodyPr wrap="square" lIns="0" tIns="0" rIns="0" bIns="0" rtlCol="0" anchor="ctr">
            <a:normAutofit/>
          </a:bodyPr>
          <a:lstStyle/>
          <a:p>
            <a:pPr algn="ctr" indent="0" marL="0">
              <a:lnSpc>
                <a:spcPct val="105000"/>
              </a:lnSpc>
              <a:buNone/>
            </a:pPr>
            <a:r>
              <a:rPr lang="en-US" sz="4400" dirty="0">
                <a:solidFill>
                  <a:srgbClr val="FFFFFF"/>
                </a:solidFill>
                <a:latin typeface="Cormorant Garamond" pitchFamily="34" charset="0"/>
                <a:ea typeface="Cormorant Garamond" pitchFamily="34" charset="-122"/>
                <a:cs typeface="Cormorant Garamond" pitchFamily="34" charset="-120"/>
              </a:rPr>
              <a:t>When is it going to be </a:t>
            </a:r>
            <a:pPr algn="ctr" indent="0" marL="0">
              <a:lnSpc>
                <a:spcPct val="105000"/>
              </a:lnSpc>
              <a:buNone/>
            </a:pPr>
            <a:r>
              <a:rPr lang="en-US" sz="4400" b="1" dirty="0">
                <a:solidFill>
                  <a:srgbClr val="B7D3B7"/>
                </a:solidFill>
                <a:latin typeface="Cormorant Garamond" pitchFamily="34" charset="0"/>
                <a:ea typeface="Cormorant Garamond" pitchFamily="34" charset="-122"/>
                <a:cs typeface="Cormorant Garamond" pitchFamily="34" charset="-120"/>
              </a:rPr>
              <a:t>your turn?</a:t>
            </a:r>
            <a:endParaRPr lang="en-US" sz="4400" dirty="0"/>
          </a:p>
        </p:txBody>
      </p:sp>
      <p:sp>
        <p:nvSpPr>
          <p:cNvPr id="6" name="Text 4"/>
          <p:cNvSpPr txBox="1"/>
          <p:nvPr/>
        </p:nvSpPr>
        <p:spPr>
          <a:xfrm>
            <a:off x="1828800" y="4343400"/>
            <a:ext cx="8534095" cy="914400"/>
          </a:xfrm>
          <a:prstGeom prst="rect">
            <a:avLst/>
          </a:prstGeom>
          <a:noFill/>
          <a:ln/>
        </p:spPr>
        <p:txBody>
          <a:bodyPr wrap="square" lIns="0" tIns="0" rIns="0" bIns="0" rtlCol="0" anchor="t">
            <a:normAutofit/>
          </a:bodyPr>
          <a:lstStyle/>
          <a:p>
            <a:pPr algn="ctr" indent="0" marL="0">
              <a:lnSpc>
                <a:spcPct val="105000"/>
              </a:lnSpc>
              <a:buNone/>
            </a:pPr>
            <a:r>
              <a:rPr lang="en-US" sz="2100" i="1" dirty="0">
                <a:solidFill>
                  <a:srgbClr val="B7D3B7"/>
                </a:solidFill>
                <a:latin typeface="Cormorant Garamond" pitchFamily="34" charset="0"/>
                <a:ea typeface="Cormorant Garamond" pitchFamily="34" charset="-122"/>
                <a:cs typeface="Cormorant Garamond" pitchFamily="34" charset="-120"/>
              </a:rPr>
              <a:t>I'm rooting for you.  ·  Tamara Lashchyk  ·  tamaralashchyk.com</a:t>
            </a:r>
            <a:endParaRPr lang="en-US" sz="2100" dirty="0"/>
          </a:p>
        </p:txBody>
      </p:sp>
      <p:sp>
        <p:nvSpPr>
          <p:cNvPr id="25" name="Slide Number Placeholder 0"/>
          <p:cNvSpPr>
            <a:spLocks noGrp="1"/>
          </p:cNvSpPr>
          <p:nvPr>
            <p:ph type="sldNum" sz="quarter" idx="4294967295"/>
          </p:nvPr>
        </p:nvSpPr>
        <p:spPr>
          <a:xfrm>
            <a:off x="11323015" y="6473952"/>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AF8A"/>
                </a:solidFill>
                <a:latin typeface="DM Sans"/>
                <a:ea typeface="DM Sans"/>
                <a:cs typeface="DM Sans"/>
              </a:defRPr>
            </a:lvl1pPr>
          </a:lstStyle>
          <a:p>
            <a:pPr algn="r"/>
            <a:fld id="{F7021451-1387-4CA6-816F-3879F97B5CBC}" type="slidenum">
              <a:rPr b="0" lang="en-US"/>
              <a:t>120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120</Slides>
  <Notes>120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120</vt:i4>
      </vt:variant>
    </vt:vector>
  </HeadingPairs>
  <TitlesOfParts>
    <vt:vector size="1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Done Waiting Your Turn: Tamara Lashchyk Masterclass</dc:title>
  <dc:subject>PptxGenJS Presentation</dc:subject>
  <dc:creator>Beacon Media</dc:creator>
  <cp:lastModifiedBy>Beacon Media</cp:lastModifiedBy>
  <cp:revision>1</cp:revision>
  <dcterms:created xsi:type="dcterms:W3CDTF">2026-10-01T15:18:59Z</dcterms:created>
  <dcterms:modified xsi:type="dcterms:W3CDTF">2026-10-01T15:18:59Z</dcterms:modified>
</cp:coreProperties>
</file>